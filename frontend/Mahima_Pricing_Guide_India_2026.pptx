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SaaS (₹4,492/mo)</c:v>
                </c:pt>
              </c:strCache>
            </c:strRef>
          </c:tx>
          <c:spPr>
            <a:solidFill>
              <a:srgbClr val="1A3C6E"/>
            </a:solidFill>
            <a:ln w="38100" cap="flat">
              <a:solidFill>
                <a:srgbClr val="1A3C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3C6E"/>
              </a:solidFill>
              <a:ln w="9525" cap="flat">
                <a:solidFill>
                  <a:srgbClr val="1A3C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6 mo</c:v>
                  </c:pt>
                  <c:pt idx="2">
                    <c:v>12 mo</c:v>
                  </c:pt>
                  <c:pt idx="3">
                    <c:v>18 mo</c:v>
                  </c:pt>
                  <c:pt idx="4">
                    <c:v>24 mo</c:v>
                  </c:pt>
                  <c:pt idx="5">
                    <c:v>30 mo</c:v>
                  </c:pt>
                  <c:pt idx="6">
                    <c:v>36 mo</c:v>
                  </c:pt>
                  <c:pt idx="7">
                    <c:v>42 mo</c:v>
                  </c:pt>
                  <c:pt idx="8">
                    <c:v>48 mo</c:v>
                  </c:pt>
                  <c:pt idx="9">
                    <c:v>54 mo</c:v>
                  </c:pt>
                  <c:pt idx="10">
                    <c:v>60 mo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27</c:v>
                </c:pt>
                <c:pt idx="2">
                  <c:v>54</c:v>
                </c:pt>
                <c:pt idx="3">
                  <c:v>81</c:v>
                </c:pt>
                <c:pt idx="4">
                  <c:v>108</c:v>
                </c:pt>
                <c:pt idx="5">
                  <c:v>135</c:v>
                </c:pt>
                <c:pt idx="6">
                  <c:v>162</c:v>
                </c:pt>
                <c:pt idx="7">
                  <c:v>189</c:v>
                </c:pt>
                <c:pt idx="8">
                  <c:v>216</c:v>
                </c:pt>
                <c:pt idx="9">
                  <c:v>243</c:v>
                </c:pt>
                <c:pt idx="10">
                  <c:v>270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On-Premise (₹1,27,993 + AMC)</c:v>
                </c:pt>
              </c:strCache>
            </c:strRef>
          </c:tx>
          <c:spPr>
            <a:solidFill>
              <a:srgbClr val="6B3FA0"/>
            </a:solidFill>
            <a:ln w="38100" cap="flat">
              <a:solidFill>
                <a:srgbClr val="6B3F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B3FA0"/>
              </a:solidFill>
              <a:ln w="9525" cap="flat">
                <a:solidFill>
                  <a:srgbClr val="6B3F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6 mo</c:v>
                  </c:pt>
                  <c:pt idx="2">
                    <c:v>12 mo</c:v>
                  </c:pt>
                  <c:pt idx="3">
                    <c:v>18 mo</c:v>
                  </c:pt>
                  <c:pt idx="4">
                    <c:v>24 mo</c:v>
                  </c:pt>
                  <c:pt idx="5">
                    <c:v>30 mo</c:v>
                  </c:pt>
                  <c:pt idx="6">
                    <c:v>36 mo</c:v>
                  </c:pt>
                  <c:pt idx="7">
                    <c:v>42 mo</c:v>
                  </c:pt>
                  <c:pt idx="8">
                    <c:v>48 mo</c:v>
                  </c:pt>
                  <c:pt idx="9">
                    <c:v>54 mo</c:v>
                  </c:pt>
                  <c:pt idx="10">
                    <c:v>60 mo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128</c:v>
                </c:pt>
                <c:pt idx="1">
                  <c:v>142</c:v>
                </c:pt>
                <c:pt idx="2">
                  <c:v>155</c:v>
                </c:pt>
                <c:pt idx="3">
                  <c:v>169</c:v>
                </c:pt>
                <c:pt idx="4">
                  <c:v>183</c:v>
                </c:pt>
                <c:pt idx="5">
                  <c:v>197</c:v>
                </c:pt>
                <c:pt idx="6">
                  <c:v>210</c:v>
                </c:pt>
                <c:pt idx="7">
                  <c:v>224</c:v>
                </c:pt>
                <c:pt idx="8">
                  <c:v>238</c:v>
                </c:pt>
                <c:pt idx="9">
                  <c:v>252</c:v>
                </c:pt>
                <c:pt idx="10">
                  <c:v>265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₹#,##0K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thousands"/>
        </c:dispUnits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701A"/>
          </a:solidFill>
          <a:ln w="12700">
            <a:solidFill>
              <a:srgbClr val="E87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0"/>
            <a:ext cx="5943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MAHIMA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02920" y="20116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Management Platform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257860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B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Costing Guide  |  India  |  June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3090672"/>
            <a:ext cx="2651760" cy="320040"/>
          </a:xfrm>
          <a:prstGeom prst="rect">
            <a:avLst/>
          </a:prstGeom>
          <a:solidFill>
            <a:srgbClr val="E8701A"/>
          </a:solidFill>
          <a:ln w="12700">
            <a:solidFill>
              <a:srgbClr val="E870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0906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· SaaS &amp; On-Premise Editions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prayer,</a:t>
            </a:r>
            <a:endParaRPr lang="en-US" sz="1200" dirty="0"/>
          </a:p>
          <a:p>
            <a:pPr algn="r" indent="0" marL="0">
              <a:buNone/>
            </a:pPr>
            <a:r>
              <a:rPr lang="en-US" sz="12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purpose.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Mahima?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cloud-based, multi-tenant Church Management Platform built for Indian churches of all sizes.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4114800" cy="3429000"/>
          </a:xfrm>
          <a:prstGeom prst="rect">
            <a:avLst/>
          </a:prstGeom>
          <a:solidFill>
            <a:srgbClr val="F8F9FB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5087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47088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directory (Aadhaar, marital, baptism records)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Events &amp; Meetings (RSVP, geo-location)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Prayer requests, Counselling case management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workflow &amp; Baptism certificate (PDF)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 + bulk SMS / email (Twilio, MailKit)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Accounting, Expenses &amp; Staff Payroll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PastorBot AI — multilingual spiritual Q&amp;A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Automation (Daily Word, Night Prayer …)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UI, RBAC, Audit log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389888"/>
            <a:ext cx="4114800" cy="1554480"/>
          </a:xfrm>
          <a:prstGeom prst="rect">
            <a:avLst/>
          </a:prstGeom>
          <a:solidFill>
            <a:srgbClr val="EBF1F9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508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SaaS (Cloud)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8288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by Mahima · monthly or annual billing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infrastructure overhead · auto-updates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3090672"/>
            <a:ext cx="4114800" cy="1554480"/>
          </a:xfrm>
          <a:prstGeom prst="rect">
            <a:avLst/>
          </a:prstGeom>
          <a:solidFill>
            <a:srgbClr val="F0EBF8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32186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On-Premise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354787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on church's own server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perpetual licence + annual AMC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sovereignty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 Plans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617220" cy="228600"/>
          </a:xfrm>
          <a:prstGeom prst="rect">
            <a:avLst>
              <a:gd name="adj" fmla="val 16000"/>
            </a:avLst>
          </a:prstGeom>
          <a:solidFill>
            <a:srgbClr val="E8701A"/>
          </a:solidFill>
          <a:ln w="12700">
            <a:solidFill>
              <a:srgbClr val="E870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49808"/>
            <a:ext cx="6172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2029968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05840"/>
            <a:ext cx="2029968" cy="34747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0058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" y="1389888"/>
            <a:ext cx="2029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200 members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6032" y="1645920"/>
            <a:ext cx="2029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1,499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6032" y="2157984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" y="2395728"/>
            <a:ext cx="1847088" cy="228600"/>
          </a:xfrm>
          <a:prstGeom prst="rect">
            <a:avLst/>
          </a:prstGeom>
          <a:solidFill>
            <a:srgbClr val="EBF1F9"/>
          </a:solidFill>
          <a:ln w="12700">
            <a:solidFill>
              <a:srgbClr val="EBF1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395728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8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14,390 / yr (20% off)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9184" y="2743200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Admin  ·  2 Staff  ·  5 Volunteers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3200400"/>
            <a:ext cx="1847088" cy="237744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320040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8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FREE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" y="3520440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423160" y="1005840"/>
            <a:ext cx="2029968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701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23160" y="1005840"/>
            <a:ext cx="2029968" cy="347472"/>
          </a:xfrm>
          <a:prstGeom prst="rect">
            <a:avLst/>
          </a:prstGeom>
          <a:solidFill>
            <a:srgbClr val="E8701A"/>
          </a:solidFill>
          <a:ln w="12700">
            <a:solidFill>
              <a:srgbClr val="E870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23160" y="10058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0" y="822960"/>
            <a:ext cx="1389888" cy="201168"/>
          </a:xfrm>
          <a:prstGeom prst="rect">
            <a:avLst/>
          </a:prstGeom>
          <a:solidFill>
            <a:srgbClr val="E8701A"/>
          </a:solidFill>
          <a:ln w="12700">
            <a:solidFill>
              <a:srgbClr val="E870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82296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423160" y="1389888"/>
            <a:ext cx="2029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1,000 members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423160" y="1645920"/>
            <a:ext cx="2029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3,799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2423160" y="2157984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14600" y="2395728"/>
            <a:ext cx="1847088" cy="228600"/>
          </a:xfrm>
          <a:prstGeom prst="rect">
            <a:avLst/>
          </a:prstGeom>
          <a:solidFill>
            <a:srgbClr val="EBF1F9"/>
          </a:solidFill>
          <a:ln w="12700">
            <a:solidFill>
              <a:srgbClr val="EBF1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2395728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8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36,470 / yr (20% off)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496312" y="2743200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Admin  ·  8 Staff  ·  20 Volunteers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14600" y="3200400"/>
            <a:ext cx="1847088" cy="237744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4600" y="320040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8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FREE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423160" y="3520440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+ Advanced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90288" y="1005840"/>
            <a:ext cx="2029968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90288" y="1005840"/>
            <a:ext cx="2029968" cy="34747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0288" y="10058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PLUS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90288" y="1389888"/>
            <a:ext cx="2029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5,000 members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90288" y="1645920"/>
            <a:ext cx="2029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7,499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4590288" y="2157984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81728" y="2395728"/>
            <a:ext cx="1847088" cy="228600"/>
          </a:xfrm>
          <a:prstGeom prst="rect">
            <a:avLst/>
          </a:prstGeom>
          <a:solidFill>
            <a:srgbClr val="EBF1F9"/>
          </a:solidFill>
          <a:ln w="12700">
            <a:solidFill>
              <a:srgbClr val="EBF1F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1728" y="2395728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8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71,990 / yr (20% off)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663440" y="2743200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Admin  ·  20 Staff  ·  Unlimited Vol.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81728" y="3200400"/>
            <a:ext cx="1847088" cy="237744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81728" y="320040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8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FREE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90288" y="3520440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757416" y="1005840"/>
            <a:ext cx="2029968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757416" y="1005840"/>
            <a:ext cx="2029968" cy="34747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57416" y="10058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757416" y="1389888"/>
            <a:ext cx="2029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Multi-campus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757416" y="1645920"/>
            <a:ext cx="2029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6757416" y="2157984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848856" y="2395728"/>
            <a:ext cx="1847088" cy="228600"/>
          </a:xfrm>
          <a:prstGeom prst="rect">
            <a:avLst/>
          </a:prstGeom>
          <a:solidFill>
            <a:srgbClr val="EBF1F9"/>
          </a:solidFill>
          <a:ln w="12700">
            <a:solidFill>
              <a:srgbClr val="EBF1F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48856" y="2395728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8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us (20% off)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830568" y="2743200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all roles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848856" y="3200400"/>
            <a:ext cx="1847088" cy="237744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48856" y="320040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8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FREE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757416" y="3520440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+ custom branding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prices in INR, excl. 18% GST. Annual billing = 20% off base plan.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Pricing (SaaS)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plan includes base seats. Additional seats below. Members (congregation) are always FREE.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15568"/>
          <a:ext cx="8503920" cy="3657600"/>
        </p:xfrm>
        <a:graphic>
          <a:graphicData uri="http://schemas.openxmlformats.org/drawingml/2006/table">
            <a:tbl>
              <a:tblPr/>
              <a:tblGrid>
                <a:gridCol w="2926080"/>
                <a:gridCol w="1389888"/>
                <a:gridCol w="1389888"/>
                <a:gridCol w="1389888"/>
                <a:gridCol w="138988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Church Plus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— included seats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Admin (per seat/mo)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7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449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7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374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7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299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— included seats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Staff (per seat/mo)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7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229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7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199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7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149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Volunteer — included seats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Volunteer (per seat/mo)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7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7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(congregation)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Availability by Plan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68096"/>
          <a:ext cx="8503920" cy="4206240"/>
        </p:xfrm>
        <a:graphic>
          <a:graphicData uri="http://schemas.openxmlformats.org/drawingml/2006/table">
            <a:tbl>
              <a:tblPr/>
              <a:tblGrid>
                <a:gridCol w="3657600"/>
                <a:gridCol w="1207008"/>
                <a:gridCol w="1207008"/>
                <a:gridCol w="1207008"/>
                <a:gridCol w="1207008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Church Plus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</a:tr>
              <a:tr h="283464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3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— All Plans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Profiles &amp; Directory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Attendance, Events, Prayer Requests, Sermons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Roles, Permissions, Audit Log, Multi-language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3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— Growth and above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Chat, Counselling, Marriage, Baptism PDF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E87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Add-on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Accounting, Payroll, Expenses, Google Drive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E87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Add-on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3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— Church Plus and above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PastorBot AI (Multilingual Q&amp;A)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E87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Add-on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E87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Add-on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Ministry Automation (Daily Word, Prayer …)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E87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Add-on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E87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Add-on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Dashboards, Priority Support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BBB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BBB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3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Domain, Multi-campus, Account Manager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BBB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BBB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BBB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Add-ons &amp; Discounts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41248"/>
            <a:ext cx="146304" cy="1417320"/>
          </a:xfrm>
          <a:prstGeom prst="rect">
            <a:avLst/>
          </a:prstGeom>
          <a:solidFill>
            <a:srgbClr val="E8701A"/>
          </a:solidFill>
          <a:ln w="12700">
            <a:solidFill>
              <a:srgbClr val="E87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3268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PastorBot 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1,499/mo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on Starter &amp; Growth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from Church Plus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841248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41248"/>
            <a:ext cx="146304" cy="1417320"/>
          </a:xfrm>
          <a:prstGeom prst="rect">
            <a:avLst/>
          </a:prstGeom>
          <a:solidFill>
            <a:srgbClr val="E8701A"/>
          </a:solidFill>
          <a:ln w="12700">
            <a:solidFill>
              <a:srgbClr val="E87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93268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Automation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23444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749/mo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155448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WhatsApp/SMS automation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Twilio message costs*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80760" y="841248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841248"/>
            <a:ext cx="146304" cy="1417320"/>
          </a:xfrm>
          <a:prstGeom prst="rect">
            <a:avLst/>
          </a:prstGeom>
          <a:solidFill>
            <a:srgbClr val="E8701A"/>
          </a:solidFill>
          <a:ln w="12700">
            <a:solidFill>
              <a:srgbClr val="E870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93268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Module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123444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749/mo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155448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on Starter only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from Growth up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414016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414016"/>
            <a:ext cx="146304" cy="1417320"/>
          </a:xfrm>
          <a:prstGeom prst="rect">
            <a:avLst/>
          </a:prstGeom>
          <a:solidFill>
            <a:srgbClr val="E8701A"/>
          </a:solidFill>
          <a:ln w="12700">
            <a:solidFill>
              <a:srgbClr val="E870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50545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Module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280720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449/mo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3127248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on Starter only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from Growth up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2414016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414016"/>
            <a:ext cx="146304" cy="1417320"/>
          </a:xfrm>
          <a:prstGeom prst="rect">
            <a:avLst/>
          </a:prstGeom>
          <a:solidFill>
            <a:srgbClr val="E8701A"/>
          </a:solidFill>
          <a:ln w="12700">
            <a:solidFill>
              <a:srgbClr val="E870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250545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Storage (Drive)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29000" y="280720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299/mo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429000" y="3127248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all plans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0760" y="841248"/>
            <a:ext cx="2743200" cy="1417320"/>
          </a:xfrm>
          <a:prstGeom prst="rect">
            <a:avLst/>
          </a:prstGeom>
          <a:solidFill>
            <a:srgbClr val="E8F5EE"/>
          </a:solidFill>
          <a:ln w="12700">
            <a:solidFill>
              <a:srgbClr val="B2DF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841248"/>
            <a:ext cx="146304" cy="1417320"/>
          </a:xfrm>
          <a:prstGeom prst="rect">
            <a:avLst/>
          </a:prstGeom>
          <a:solidFill>
            <a:srgbClr val="2D8C4E"/>
          </a:solidFill>
          <a:ln w="12700">
            <a:solidFill>
              <a:srgbClr val="2D8C4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93268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Billing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9360" y="123444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8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−20% off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309360" y="155448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plan price billed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for 12 months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80760" y="2414016"/>
            <a:ext cx="2743200" cy="141732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80760" y="2414016"/>
            <a:ext cx="146304" cy="14173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250545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/ Mission Discount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09360" y="280720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−30% off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309360" y="3127248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12A / 80G certificate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Twilio message costs ~₹ 0.35 – ₹ 0.80/message billed directly by Twilio. Mahima does not mark up messaging.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— Sample Cost Scenarios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2029968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BF1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41248"/>
            <a:ext cx="2029968" cy="27432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4124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1188720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Church · 80 members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719072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1,499/mo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7472" y="2240280"/>
            <a:ext cx="1847088" cy="256032"/>
          </a:xfrm>
          <a:prstGeom prst="rect">
            <a:avLst/>
          </a:prstGeom>
          <a:solidFill>
            <a:srgbClr val="EBF1F9"/>
          </a:solidFill>
          <a:ln w="12700">
            <a:solidFill>
              <a:srgbClr val="EBF1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24028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8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14,390/yr (annual)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" y="2578608"/>
            <a:ext cx="184708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Admin + 2 Staff + 5 Vol — all included in base plan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23160" y="841248"/>
            <a:ext cx="2029968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BF1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841248"/>
            <a:ext cx="2029968" cy="27432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84124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14600" y="1188720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Church · 350 members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14600" y="1719072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4,492/mo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514600" y="2240280"/>
            <a:ext cx="1847088" cy="256032"/>
          </a:xfrm>
          <a:prstGeom prst="rect">
            <a:avLst/>
          </a:prstGeom>
          <a:solidFill>
            <a:srgbClr val="EBF1F9"/>
          </a:solidFill>
          <a:ln w="12700">
            <a:solidFill>
              <a:srgbClr val="EBF1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24028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8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 43,123/yr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14600" y="2578608"/>
            <a:ext cx="184708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₹3,799 + 2 extra Staff×₹199 + 5 extra Vol×₹59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90288" y="841248"/>
            <a:ext cx="2029968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BF1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90288" y="841248"/>
            <a:ext cx="2029968" cy="27432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0288" y="84124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PLUS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1728" y="1188720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Church · 2,000 members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81728" y="1719072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8,989/mo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4681728" y="2240280"/>
            <a:ext cx="1847088" cy="256032"/>
          </a:xfrm>
          <a:prstGeom prst="rect">
            <a:avLst/>
          </a:prstGeom>
          <a:solidFill>
            <a:srgbClr val="EBF1F9"/>
          </a:solidFill>
          <a:ln w="12700">
            <a:solidFill>
              <a:srgbClr val="EBF1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224028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8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 86,294/yr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81728" y="2578608"/>
            <a:ext cx="184708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₹7,499 + 10 extra Staff×₹149 · PastorBot included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757416" y="841248"/>
            <a:ext cx="2029968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BF1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57416" y="841248"/>
            <a:ext cx="2029968" cy="27432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57416" y="84124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48856" y="1188720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Denomination · 5 campuses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48856" y="1719072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848856" y="2240280"/>
            <a:ext cx="1847088" cy="256032"/>
          </a:xfrm>
          <a:prstGeom prst="rect">
            <a:avLst/>
          </a:prstGeom>
          <a:solidFill>
            <a:srgbClr val="EBF1F9"/>
          </a:solidFill>
          <a:ln w="12700">
            <a:solidFill>
              <a:srgbClr val="EBF1F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8856" y="224028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8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sales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48856" y="2578608"/>
            <a:ext cx="184708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domain, multi-campus, dedicated account manager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assume monthly billing. Scroll up for annual rates (20% off).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0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Edition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02920" y="1920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Perpetual Licence + Annual Maintenance Contract (AMC)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254203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Installed on the church's own server or private cloud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304495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One-time perpetual software licence — own it forever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54787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Annual AMC covers all updates, patches &amp; support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405079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Full data sovereignty — data never leaves your premises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Perpetual Licence Fees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1051560" cy="228600"/>
          </a:xfrm>
          <a:prstGeom prst="rect">
            <a:avLst>
              <a:gd name="adj" fmla="val 16000"/>
            </a:avLst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4980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2029968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05840"/>
            <a:ext cx="2029968" cy="34747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0058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" y="1389888"/>
            <a:ext cx="2029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200 members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6032" y="1645920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6032" y="181051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44,999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47472" y="2331720"/>
            <a:ext cx="1847088" cy="256032"/>
          </a:xfrm>
          <a:prstGeom prst="rect">
            <a:avLst/>
          </a:prstGeom>
          <a:solidFill>
            <a:srgbClr val="F0EBF8"/>
          </a:solidFill>
          <a:ln w="12700">
            <a:solidFill>
              <a:srgbClr val="F0EB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33172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₹ 11,249/yr AMC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" y="2724912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Admin · 2 Staff · 5 Vol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3182112"/>
            <a:ext cx="1847088" cy="237744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3182112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8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FREE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" y="349300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 = 25% of licence/yr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423160" y="1005840"/>
            <a:ext cx="2029968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23160" y="1005840"/>
            <a:ext cx="2029968" cy="34747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23160" y="10058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0" y="822960"/>
            <a:ext cx="1389888" cy="20116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82296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423160" y="1389888"/>
            <a:ext cx="2029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1,000 members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423160" y="1645920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423160" y="181051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1,09,999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2514600" y="2331720"/>
            <a:ext cx="1847088" cy="256032"/>
          </a:xfrm>
          <a:prstGeom prst="rect">
            <a:avLst/>
          </a:prstGeom>
          <a:solidFill>
            <a:srgbClr val="F0EBF8"/>
          </a:solidFill>
          <a:ln w="12700">
            <a:solidFill>
              <a:srgbClr val="F0EB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233172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₹ 27,499/yr AMC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96312" y="2724912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Admin · 8 Staff · 20 Vol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14600" y="3182112"/>
            <a:ext cx="1847088" cy="237744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4600" y="3182112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8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FREE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423160" y="349300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 = 25% of licence/yr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90288" y="1005840"/>
            <a:ext cx="2029968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90288" y="1005840"/>
            <a:ext cx="2029968" cy="34747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0288" y="10058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PLUS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90288" y="1389888"/>
            <a:ext cx="2029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5,000 members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90288" y="1645920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90288" y="181051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2,24,999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4681728" y="2331720"/>
            <a:ext cx="1847088" cy="256032"/>
          </a:xfrm>
          <a:prstGeom prst="rect">
            <a:avLst/>
          </a:prstGeom>
          <a:solidFill>
            <a:srgbClr val="F0EBF8"/>
          </a:solidFill>
          <a:ln w="12700">
            <a:solidFill>
              <a:srgbClr val="F0EB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1728" y="233172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₹ 56,249/yr AMC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63440" y="2724912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Admin · 20 Staff · Unlim.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81728" y="3182112"/>
            <a:ext cx="1847088" cy="237744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81728" y="3182112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8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FREE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90288" y="349300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 = 25% of licence/yr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757416" y="1005840"/>
            <a:ext cx="2029968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757416" y="1005840"/>
            <a:ext cx="2029968" cy="34747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57416" y="10058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757416" y="1389888"/>
            <a:ext cx="2029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Multi-campus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757416" y="1645920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757416" y="181051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6848856" y="2331720"/>
            <a:ext cx="1847088" cy="256032"/>
          </a:xfrm>
          <a:prstGeom prst="rect">
            <a:avLst/>
          </a:prstGeom>
          <a:solidFill>
            <a:srgbClr val="F0EBF8"/>
          </a:solidFill>
          <a:ln w="12700">
            <a:solidFill>
              <a:srgbClr val="F0EBF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48856" y="233172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Custom AMC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830568" y="2724912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all roles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848856" y="3182112"/>
            <a:ext cx="1847088" cy="237744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48856" y="3182112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8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FREE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757416" y="349300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 = 25% of licence/yr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fee payable in full before software delivery. AMC invoiced annually in advance. All prices excl. 18% GST.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— Additional User Licences (One-Time)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licence includes the same seat counts as the SaaS plans. Extra users require a one-time per-user purchase.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8503920" cy="3520440"/>
        </p:xfrm>
        <a:graphic>
          <a:graphicData uri="http://schemas.openxmlformats.org/drawingml/2006/table">
            <a:tbl>
              <a:tblPr/>
              <a:tblGrid>
                <a:gridCol w="2926080"/>
                <a:gridCol w="1389888"/>
                <a:gridCol w="1389888"/>
                <a:gridCol w="1389888"/>
                <a:gridCol w="138988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Church Plus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— included seats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Admin (one-time/user)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6,999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5,999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4,499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— included seats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Staff (one-time/user)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3,499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2,999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2,249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Volunteer — included seats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Volunteer (one-time/user)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1,499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999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(congregation)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663440"/>
            <a:ext cx="8503920" cy="292608"/>
          </a:xfrm>
          <a:prstGeom prst="rect">
            <a:avLst/>
          </a:prstGeom>
          <a:solidFill>
            <a:srgbClr val="F0EBF8"/>
          </a:solidFill>
          <a:ln w="12700">
            <a:solidFill>
              <a:srgbClr val="F0EB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46634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Add-ons (one-time):  PastorBot AI ₹44,999  ·  Ministry Automation ₹24,999  ·  Accounting ₹19,999  ·  Payroll ₹12,999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— Sample Cost Scenarios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202996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B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41248"/>
            <a:ext cx="2029968" cy="2743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4124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1170432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Church · 80 members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682496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44,999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7472" y="2103120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licence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" y="2340864"/>
            <a:ext cx="1847088" cy="256032"/>
          </a:xfrm>
          <a:prstGeom prst="rect">
            <a:avLst/>
          </a:prstGeom>
          <a:solidFill>
            <a:srgbClr val="F0EBF8"/>
          </a:solidFill>
          <a:ln w="12700">
            <a:solidFill>
              <a:srgbClr val="F0EB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3408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₹ 11,249/yr AMC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2688336"/>
            <a:ext cx="18470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vs SaaS in ~30 months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23160" y="841248"/>
            <a:ext cx="202996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B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23160" y="841248"/>
            <a:ext cx="2029968" cy="2743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84124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14600" y="1170432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Church · 350 members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14600" y="1682496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1,27,993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514600" y="2103120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total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14600" y="2340864"/>
            <a:ext cx="1847088" cy="256032"/>
          </a:xfrm>
          <a:prstGeom prst="rect">
            <a:avLst/>
          </a:prstGeom>
          <a:solidFill>
            <a:srgbClr val="F0EBF8"/>
          </a:solidFill>
          <a:ln w="12700">
            <a:solidFill>
              <a:srgbClr val="F0EB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23408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₹ 27,499/yr AMC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14600" y="2688336"/>
            <a:ext cx="18470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+ 2 extra Staff seats (₹2,999 each)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90288" y="841248"/>
            <a:ext cx="202996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B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90288" y="841248"/>
            <a:ext cx="2029968" cy="2743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0288" y="84124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PLUS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81728" y="1170432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Church · 2,000 members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81728" y="1682496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2,47,489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681728" y="2103120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total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81728" y="2340864"/>
            <a:ext cx="1847088" cy="256032"/>
          </a:xfrm>
          <a:prstGeom prst="rect">
            <a:avLst/>
          </a:prstGeom>
          <a:solidFill>
            <a:srgbClr val="F0EBF8"/>
          </a:solidFill>
          <a:ln w="12700">
            <a:solidFill>
              <a:srgbClr val="F0EB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1728" y="23408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₹ 56,249/yr AMC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81728" y="2688336"/>
            <a:ext cx="18470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+ 10 extra Staff (₹2,249 each)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57416" y="841248"/>
            <a:ext cx="202996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B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57416" y="841248"/>
            <a:ext cx="2029968" cy="2743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57416" y="84124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48856" y="1170432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Denomination · 5 campuses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48856" y="1682496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848856" y="2103120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48856" y="2340864"/>
            <a:ext cx="1847088" cy="256032"/>
          </a:xfrm>
          <a:prstGeom prst="rect">
            <a:avLst/>
          </a:prstGeom>
          <a:solidFill>
            <a:srgbClr val="F0EBF8"/>
          </a:solidFill>
          <a:ln w="12700">
            <a:solidFill>
              <a:srgbClr val="F0EB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48856" y="23408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AMC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48856" y="2688336"/>
            <a:ext cx="18470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install, private cloud, custom SLA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costs (server, IT) borne by the church. Break-even is approximate, assuming monthly SaaS billing.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vs On-Premise — Which is Right for You?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68096"/>
          <a:ext cx="8503920" cy="4224528"/>
        </p:xfrm>
        <a:graphic>
          <a:graphicData uri="http://schemas.openxmlformats.org/drawingml/2006/table">
            <a:tbl>
              <a:tblPr/>
              <a:tblGrid>
                <a:gridCol w="2560320"/>
                <a:gridCol w="2971800"/>
                <a:gridCol w="29718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☁️  SaaS (Cloud)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🖥️  On-Premise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Upfront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3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monthly / annual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— one-time licence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(5 yr)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3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— recurring fees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— licence + AMC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3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Mahima managed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Church-managed server needed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Sovereignty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3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Hosted in India-region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on-site, max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Updates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3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Automatic, always latest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AMC — manual deployment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3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Instant, no IT effort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server upgrade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Team Required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3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(or outsourced 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Required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3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always online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 use possible offline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3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churches (fast start)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churches / seminaries with IT staff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On-premise typically break-even vs SaaS in 24–36 months.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Cost Over 5 Years — Growth Plan Example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49808"/>
          <a:ext cx="84124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 = months from go-live · Y-axis = cumulative cost (₹ thousands). Crossover ≈ 28 months for Growth plan.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Onboarding Fees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for both SaaS and On-Premise customers. One-time services.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97280"/>
          <a:ext cx="8503920" cy="3749040"/>
        </p:xfrm>
        <a:graphic>
          <a:graphicData uri="http://schemas.openxmlformats.org/drawingml/2006/table">
            <a:tbl>
              <a:tblPr/>
              <a:tblGrid>
                <a:gridCol w="3474720"/>
                <a:gridCol w="1737360"/>
                <a:gridCol w="3291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 (INR)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Self-Onboarding (SaaS only)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D8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Guided wizard + video tutorials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Assisted Onboarding (up to 4 hrs)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7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7,499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Screen-share setup + data import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Migration (data + staff training)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7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14,999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CSV/Excel migration + 2 training sessions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On-Premise Remote Installation (On-Prem)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19,999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setup, DB config, SSL, smoke-testing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On-Site Installation (travel extra)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34,999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 visit + on-site staff training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Development / Integration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7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2,250/hr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 connectors, custom reports, denomination integrations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prices excl. 18% GST. On-premise installation fees are separate from the licence fee.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Commercial Terms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prices in INR, exclusive of 18% GST.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SaaS: monthly billing on 1st via Razorpay / UPI. Annual plans billed upfront, non-refundable after 30 days.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On-Premise: licence fee in full before delivery. AMC invoiced annually in advance.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subscriptions auto-renew unless cancelled 7 days before billing date.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Lapsed AMC renewable with 20% re-activation surcharge. On-Premise AMC rates locked for 3 years.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 (CSV/PDF) available any time at no charge. Church data stored in India-region servers.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revisions with 60 days' advance notice to existing subscribers.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3C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701A"/>
          </a:solidFill>
          <a:ln w="12700">
            <a:solidFill>
              <a:srgbClr val="E87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8229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with Mahima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6642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plan · SaaS or On-Premise · Go live in days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2606040" cy="914400"/>
          </a:xfrm>
          <a:prstGeom prst="rect">
            <a:avLst/>
          </a:prstGeom>
          <a:solidFill>
            <a:srgbClr val="22365A"/>
          </a:solidFill>
          <a:ln w="12700">
            <a:solidFill>
              <a:srgbClr val="3A5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3774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267919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sales@mahimaapp.in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2286000"/>
            <a:ext cx="2606040" cy="914400"/>
          </a:xfrm>
          <a:prstGeom prst="rect">
            <a:avLst/>
          </a:prstGeom>
          <a:solidFill>
            <a:srgbClr val="22365A"/>
          </a:solidFill>
          <a:ln w="12700">
            <a:solidFill>
              <a:srgbClr val="3A5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23774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37560" y="267919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98XXX XXXXX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2286000"/>
            <a:ext cx="2606040" cy="914400"/>
          </a:xfrm>
          <a:prstGeom prst="rect">
            <a:avLst/>
          </a:prstGeom>
          <a:solidFill>
            <a:srgbClr val="22365A"/>
          </a:solidFill>
          <a:ln w="12700">
            <a:solidFill>
              <a:srgbClr val="3A5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23774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72200" y="267919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www.mahimaapp.in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474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02920" y="40416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Plans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06040" y="3474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2606040" y="40416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Models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3474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8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709160" y="40416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Seat Cost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12280" y="3474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812280" y="40416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Billing Saving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773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Prices in INR excl. GST · Version 2.0 · June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Mahima – Pricing &amp; Costing Guide India 2026</dc:title>
  <dc:subject>Pricing</dc:subject>
  <dc:creator>Mahima Team</dc:creator>
  <cp:lastModifiedBy>Mahima Team</cp:lastModifiedBy>
  <cp:revision>1</cp:revision>
  <dcterms:created xsi:type="dcterms:W3CDTF">2026-06-11T09:28:52Z</dcterms:created>
  <dcterms:modified xsi:type="dcterms:W3CDTF">2026-06-11T09:28:52Z</dcterms:modified>
</cp:coreProperties>
</file>