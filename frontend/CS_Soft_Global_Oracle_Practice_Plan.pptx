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($K)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M15</c:v>
                  </c:pt>
                  <c:pt idx="13">
                    <c:v>M18</c:v>
                  </c:pt>
                  <c:pt idx="14">
                    <c:v>M21</c:v>
                  </c:pt>
                  <c:pt idx="15">
                    <c:v>M24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20</c:v>
                </c:pt>
                <c:pt idx="3">
                  <c:v>50</c:v>
                </c:pt>
                <c:pt idx="4">
                  <c:v>75</c:v>
                </c:pt>
                <c:pt idx="5">
                  <c:v>100</c:v>
                </c:pt>
                <c:pt idx="6">
                  <c:v>140</c:v>
                </c:pt>
                <c:pt idx="7">
                  <c:v>190</c:v>
                </c:pt>
                <c:pt idx="8">
                  <c:v>250</c:v>
                </c:pt>
                <c:pt idx="9">
                  <c:v>320</c:v>
                </c:pt>
                <c:pt idx="10">
                  <c:v>400</c:v>
                </c:pt>
                <c:pt idx="11">
                  <c:v>480</c:v>
                </c:pt>
                <c:pt idx="12">
                  <c:v>620</c:v>
                </c:pt>
                <c:pt idx="13">
                  <c:v>780</c:v>
                </c:pt>
                <c:pt idx="14">
                  <c:v>900</c:v>
                </c:pt>
                <c:pt idx="15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C74634"/>
            </a:solidFill>
            <a:ln w="38100" cap="flat">
              <a:solidFill>
                <a:srgbClr val="C746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4634"/>
              </a:solidFill>
              <a:ln w="9525" cap="flat">
                <a:solidFill>
                  <a:srgbClr val="C746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M15</c:v>
                  </c:pt>
                  <c:pt idx="13">
                    <c:v>M18</c:v>
                  </c:pt>
                  <c:pt idx="14">
                    <c:v>M21</c:v>
                  </c:pt>
                  <c:pt idx="15">
                    <c:v>M24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  <c:pt idx="5">
                  <c:v>13</c:v>
                </c:pt>
                <c:pt idx="6">
                  <c:v>15</c:v>
                </c:pt>
                <c:pt idx="7">
                  <c:v>17</c:v>
                </c:pt>
                <c:pt idx="8">
                  <c:v>19</c:v>
                </c:pt>
                <c:pt idx="9">
                  <c:v>21</c:v>
                </c:pt>
                <c:pt idx="10">
                  <c:v>24</c:v>
                </c:pt>
                <c:pt idx="11">
                  <c:v>26</c:v>
                </c:pt>
                <c:pt idx="12">
                  <c:v>32</c:v>
                </c:pt>
                <c:pt idx="13">
                  <c:v>38</c:v>
                </c:pt>
                <c:pt idx="14">
                  <c:v>44</c:v>
                </c:pt>
                <c:pt idx="15">
                  <c:v>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tTriangle">
            <a:avLst/>
          </a:prstGeom>
          <a:solidFill>
            <a:srgbClr val="1E306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 Solutions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7899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Oracle Practice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84048" y="17922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84048" y="26700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GTM  ·  New Logo Acquisition Playbook  ·  Regional Execution  ·  24-Month Roadmap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3255264"/>
            <a:ext cx="2606040" cy="31089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25526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 Global #1 BSS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3255264"/>
            <a:ext cx="2606040" cy="31089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325526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· UIM · ASAP  5G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61888" y="3255264"/>
            <a:ext cx="2606040" cy="31089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325526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 2033 Runway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8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APAC   ·   🌍  Middle East   ·   🌍  Africa   ·   🌎  Europe   ·   🌎  Americas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Oracle Services Opportunity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749808"/>
            <a:ext cx="202996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7863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$45B+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" y="1353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Oracle technology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market (2025)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68880" y="749808"/>
            <a:ext cx="202996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7863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1353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worldwide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Oracle BRM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45152" y="749808"/>
            <a:ext cx="202996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7863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45152" y="1353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globally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Oracle Siebel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21424" y="749808"/>
            <a:ext cx="202996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21424" y="78638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$1.1T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21424" y="1353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5G capex 2023-30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OSS demand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" y="2176272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286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 Soft — Right Now, Globally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2633472"/>
            <a:ext cx="379476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runs billing for 350+ operators across 80+ countries — every 5G upgrade, migration and expansion is a services opportunity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Accenture, IBM and Capgemini dominate Oracle delivery globally but carry 40-50% overhead — boutique specialists win on speed, depth and price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Oracle's RODOD program actively funnels last-mile delivery to certified partners — CS Soft's niche depth is exactly what Oracle needs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Premier Support extended to 2033: 5,000+ global enterprises face upgrade, migration or support renewal decisions — long revenue tail with scarce talent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176272"/>
            <a:ext cx="4160520" cy="2651760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22860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 Soft Global Edge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2633472"/>
            <a:ext cx="379476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delivery hub = 60-70% cost arbitrage vs Western SIs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BRM/OSS/Siebel depth — not commodity Oracle ERP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revenue from Month 3; direct logos from Month 6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partner co-sell: Oracle pushes deals to us, not just the other way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sequence: India first, Middle East Month 4, APAC Month 8, Europe Month 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Priority Matrix — Sequence of Market Entry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88920" cy="3840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60604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 Month 0–6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base · Largest sub-vendor opportunity · Fastest hiring · Telco BSS/OSS boom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2395728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· Airtel · Vi · BSNL · Tata Comm · HDFC · ICICI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999232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" y="3200400"/>
            <a:ext cx="2569464" cy="256032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200400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$35–65/hr (sub-vendor billing)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529584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VIA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4048" y="3730752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· Wipro · Infosys · TechM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18688" y="749808"/>
            <a:ext cx="27889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749808"/>
            <a:ext cx="278892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7498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🇦🇪 Middle East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10128" y="1188720"/>
            <a:ext cx="260604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18872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 Month 4–10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28416" y="1481328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bill rates globally · Vision 2030/UAE Agenda · BRM/OSS deeply embedded · Fast decisions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28416" y="2194560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28416" y="2395728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 (Etisalat) · STC · Zain · Ooredoo · du · Batelco · Mobily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28416" y="2999232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28416" y="3200400"/>
            <a:ext cx="2569464" cy="256032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3200400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$120–180/hr direct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28416" y="3529584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VIA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28416" y="3730752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· IBM · Capgemini 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63056" y="749808"/>
            <a:ext cx="27889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2C7B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749808"/>
            <a:ext cx="2788920" cy="384048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7498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APAC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54496" y="1188720"/>
            <a:ext cx="2606040" cy="219456"/>
          </a:xfrm>
          <a:prstGeom prst="rect">
            <a:avLst/>
          </a:prstGeom>
          <a:solidFill>
            <a:srgbClr val="000000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118872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 Month 6–12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72784" y="1481328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Singtel/Telstra on BRM 12.x migration · APAC 5G fastest rollout · Strong Oracle partner ecosystem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72784" y="2194560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ACCOUNTS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72784" y="2395728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Singtel · Telstra · Axiata · AIS · PCCW/HKT · Globe · XL Axiata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72784" y="2999232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272784" y="3200400"/>
            <a:ext cx="2569464" cy="256032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2784" y="3200400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$90–140/hr direct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72784" y="3529584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VIA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72784" y="3730752"/>
            <a:ext cx="25694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APAC · Capgemini · NTT Data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20040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200400"/>
            <a:ext cx="4251960" cy="34747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2004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🇪🇺 Europe  —  WAVE 3  Month 10–18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" y="3621024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BT/Vodafone/DT on Oracle BRM · Siebel BFSI deep base · Higher rates · longer sales cycles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4048" y="4114800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Group · Vodafone · Deutsche Telekom · Orange · HSBC · Standard Chartered | $140–200/hr direct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17720" y="3200400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5A3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3200400"/>
            <a:ext cx="4251960" cy="347472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2004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Africa / LATAM  —  WAVE 3  Month 12–24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27448" y="3621024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MTN/Airtel Africa on Oracle BRM · Claro/Telefónica OSS · Lower rates but fast-growing, underserved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27448" y="4114800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Group · Airtel Africa · Safaricom · América Móvil · Telefónica | $70–110/hr direct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Focus — Deliberate Depth, Global Reach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4320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43200" cy="3840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70078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weightage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560320" cy="219456"/>
          </a:xfrm>
          <a:prstGeom prst="rect">
            <a:avLst/>
          </a:prstGeom>
          <a:solidFill>
            <a:srgbClr val="F4F7F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2024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#1 global BSS platform · 350+ operators · Highest demand · Best rates · BRM 12.x migration wave active globally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 Core Engine · Elastic Charging Engine (ECE) · Pipeline Manager · Balance Management · BRM-OCS Integration · BRM on OCI Cloud · Mediation · Self-Care Portal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CLIENT BASE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34015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Americas: AT&amp;T, Bell Canada, Claro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BT, Vodafone, DT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ME: e&amp;, STC, Zain, Ooredoo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APAC: Singtel, Telstra, Axiata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4096512"/>
            <a:ext cx="2560320" cy="274320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$110–220/hr (global) · ₹3,500–5,500/hr (India sub-vnd)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72968" y="749808"/>
            <a:ext cx="274320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2C7B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749808"/>
            <a:ext cx="2743200" cy="384048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7498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OSS Suite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72968" y="11521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172968" y="170078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weightage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64408" y="1920240"/>
            <a:ext cx="2560320" cy="219456"/>
          </a:xfrm>
          <a:prstGeom prst="rect">
            <a:avLst/>
          </a:prstGeom>
          <a:solidFill>
            <a:srgbClr val="F4F7F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192024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5G driving massive OSS upgrades globally · Scarcest talent = highest rates · Long-duration programs 18-36mo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64408" y="21945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64408" y="239572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(Order &amp; Service Mgmt) · UIM (Unified Inventory) · ASAP Activation · OCSM · Network Design &amp; Analysis · MSO · 5G NR inventory modelling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64408" y="3200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CLIENT BASE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64408" y="34015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APAC: Singtel, Telstra, Globe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ME: STC, Ooredoo, 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BT, Orange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Jio, Airtel, BSNL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64408" y="4096512"/>
            <a:ext cx="2560320" cy="274320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$130–250/hr (global) · ₹4,000–6,500/hr (India)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71616" y="749808"/>
            <a:ext cx="2743200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749808"/>
            <a:ext cx="2743200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7498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Siebel CRM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71616" y="11521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6071616" y="170078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weightage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63056" y="1920240"/>
            <a:ext cx="2560320" cy="219456"/>
          </a:xfrm>
          <a:prstGeom prst="rect">
            <a:avLst/>
          </a:prstGeom>
          <a:solidFill>
            <a:srgbClr val="F4F7F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1920240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5,000+ global enterprises · Extended to 2033 · Architects retiring = scarcity premium · Fusion CX migration projects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63056" y="21945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63056" y="239572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8.x/IP19/IP20 · Open UI · EIM/EAI · CTI · Siebel Analytics · Fusion CX Migration Roadmap · Siebel REST integration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63056" y="3200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CLIENT BASE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63056" y="340156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HSBC, Standard Chartered, BT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Americas: AT&amp;T, insurance firms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ME: Emirates NBD, FAB, QNB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APAC: ANZ, OCBC, DBS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63056" y="4096512"/>
            <a:ext cx="2560320" cy="274320"/>
          </a:xfrm>
          <a:prstGeom prst="rect">
            <a:avLst/>
          </a:prstGeom>
          <a:solidFill>
            <a:srgbClr val="E6F4EE"/>
          </a:solidFill>
          <a:ln w="12700">
            <a:solidFill>
              <a:srgbClr val="A8D8B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$100–200/hr (global) · ₹2,500–4,500/hr (India)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Global Market Tailwinds — Why the Timing Is Perfect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57200" cy="1325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82296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5G Rollout — $1.1T Capex Through 2030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133856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operator globally is mid-build on 5G. Network inventory (UIM), order orchestration (OSM) and activation (ASAP) all require upgrade or greenfield deployment. Jio, STC, e&amp;, Singtel, Telstra — all active NOW. This is a 5-7 year runway.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49808"/>
            <a:ext cx="457200" cy="1325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57800" y="82296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7.x/11.x End of Primary Support — Global Migration Wave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57800" y="1133856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Oracle's EoL announcement forces 200+ operators to migrate to BRM 12.x. Each migration is 18-36 months, $5-40M programme size. Active migrations: Telstra (AU), STC (KSA), Airtel (IN), Singtel (SG), BT (UK). CS Soft gets in as sub-vendor on any of these.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457200" cy="1325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4203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226771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Extended to 2033 — Long Tail Across 5,000 Enterprises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2578608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enterprises globally are on Siebel with no plans to exit. HSBC, Standard Chartered, ANZ, Emirates NBD, AT&amp;T — all running Siebel for contact centre, collections, field service. Senior architects are retiring. Scarcity premium is 30-40% above Salesforce rates.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94560"/>
            <a:ext cx="457200" cy="1325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54203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57800" y="226771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Infrastructure (OCI) Push — Lift BRM/Siebel to Cloud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57800" y="2578608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is aggressively pushing customers to run BRM and Siebel on OCI. Every on-premise customer is a cloud migration opportunity. Oracle co-sells OCI licences + RODOD partner delivers — CS Soft earns on both the services and licence margin.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39312"/>
            <a:ext cx="457200" cy="1325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867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" y="37124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Talent Shortage — 2,000 Senior Consultants Worldwide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2,000 truly senior BRM/OSM/UIM/Siebel consultants exist globally. Demand is growing 20%+ YoY as 5G and migrations accelerate. Bill rates rose 18-25% YoY in 2024 across Middle East and APAC. This shortage makes CS Soft's delivery hub model uniquely profitable.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63931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39312"/>
            <a:ext cx="457200" cy="1325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9867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57800" y="371246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RODOD / OPN — Oracle Sells Deals, Partners Deliver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57800" y="4023360"/>
            <a:ext cx="354787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Oracle's sales team has revenue targets but limited delivery capacity. OPN Gold RODOD partners get deal registrations, co-sell motions, and Oracle-sourced leads. Oracle's Alliance Managers are incentivised to bring CS Soft into RFPs. One strong relationship = 3-5 deals/year.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0972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Launch Model — 4 Phases, 24 Months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delivery hub → Middle East &amp; APAC direct logos → Europe expansion → Full global practice at $12-18M ARR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2029968" cy="3858768"/>
          </a:xfrm>
          <a:prstGeom prst="rect">
            <a:avLst/>
          </a:prstGeom>
          <a:solidFill>
            <a:srgbClr val="1E3060"/>
          </a:solidFill>
          <a:ln w="254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060704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56032" y="16459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99339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" y="2286000"/>
            <a:ext cx="1664208" cy="182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56032" y="25603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hires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7472" y="301752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" y="321868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" y="3840480"/>
            <a:ext cx="184708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8404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Register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32304" y="987552"/>
            <a:ext cx="2029968" cy="3858768"/>
          </a:xfrm>
          <a:prstGeom prst="rect">
            <a:avLst/>
          </a:prstGeom>
          <a:solidFill>
            <a:srgbClr val="1E3060"/>
          </a:solidFill>
          <a:ln w="25400">
            <a:solidFill>
              <a:srgbClr val="2C9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1060704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2432304" y="16459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Revenue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32304" y="199339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15184" y="2286000"/>
            <a:ext cx="1664208" cy="18288"/>
          </a:xfrm>
          <a:prstGeom prst="rect">
            <a:avLst/>
          </a:prstGeom>
          <a:solidFill>
            <a:srgbClr val="2C9A5A"/>
          </a:solidFill>
          <a:ln w="12700">
            <a:solidFill>
              <a:srgbClr val="2C9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32304" y="25603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total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2523744" y="301752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32304" y="321868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$80–150K/mo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523744" y="3840480"/>
            <a:ext cx="1847088" cy="256032"/>
          </a:xfrm>
          <a:prstGeom prst="rect">
            <a:avLst/>
          </a:prstGeom>
          <a:solidFill>
            <a:srgbClr val="2C9A5A"/>
          </a:solidFill>
          <a:ln w="12700">
            <a:solidFill>
              <a:srgbClr val="2C9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744" y="38404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+ India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08576" y="987552"/>
            <a:ext cx="2029968" cy="3858768"/>
          </a:xfrm>
          <a:prstGeom prst="rect">
            <a:avLst/>
          </a:prstGeom>
          <a:solidFill>
            <a:srgbClr val="1E3060"/>
          </a:solidFill>
          <a:ln w="25400">
            <a:solidFill>
              <a:srgbClr val="2C7B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1060704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608576" y="16459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08576" y="199339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6–18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91456" y="2286000"/>
            <a:ext cx="1664208" cy="18288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8576" y="25603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18–28 total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4700016" y="301752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08576" y="321868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$350–700K/mo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00016" y="3840480"/>
            <a:ext cx="1847088" cy="2560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8404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+ APAC Logos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987552"/>
            <a:ext cx="2029968" cy="3858768"/>
          </a:xfrm>
          <a:prstGeom prst="rect">
            <a:avLst/>
          </a:prstGeom>
          <a:solidFill>
            <a:srgbClr val="1E3060"/>
          </a:solidFill>
          <a:ln w="25400">
            <a:solidFill>
              <a:srgbClr val="C746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1060704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39" name="Text 37"/>
          <p:cNvSpPr/>
          <p:nvPr/>
        </p:nvSpPr>
        <p:spPr>
          <a:xfrm>
            <a:off x="6784848" y="16459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84848" y="1993392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18–24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67728" y="2286000"/>
            <a:ext cx="1664208" cy="1828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237744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84848" y="25603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 total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6876288" y="3017520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84848" y="3218688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$1M+/mo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76288" y="3840480"/>
            <a:ext cx="184708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3840480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+ Managed Svc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86000" y="235915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4462272" y="235915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638544" y="235915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73152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Acquisition Playbook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parallel motions running simultaneously — each produces logos on a different timeline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24528" cy="1280160"/>
          </a:xfrm>
          <a:prstGeom prst="rect">
            <a:avLst/>
          </a:prstGeom>
          <a:solidFill>
            <a:srgbClr val="1E306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875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77824" y="987552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OPN Co-sell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77824" y="1261872"/>
            <a:ext cx="100584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261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3–8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56816" y="1261872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OPN Silver Day 1 · Request Alliance Manager intro Week 2 · Attend every Oracle sales call you are invited to · Co-bid on 2+ RFPs per quarter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1481328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OPN → Oracle Alliance Manager brings CS Soft into live RFPs as preferred delivery partner. Oracle's sales team is incentivised to close deals faster with a delivery partner pre-attached. Target: 1 co-sell logo per quarter from Month 6.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0016" y="914400"/>
            <a:ext cx="4224528" cy="1280160"/>
          </a:xfrm>
          <a:prstGeom prst="rect">
            <a:avLst/>
          </a:prstGeom>
          <a:solidFill>
            <a:srgbClr val="1E3060"/>
          </a:solidFill>
          <a:ln w="19050">
            <a:solidFill>
              <a:srgbClr val="2C9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9875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21808" y="987552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Sub-vendor → Direct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21808" y="1261872"/>
            <a:ext cx="1005840" cy="182880"/>
          </a:xfrm>
          <a:prstGeom prst="rect">
            <a:avLst/>
          </a:prstGeom>
          <a:solidFill>
            <a:srgbClr val="2C9A5A"/>
          </a:solidFill>
          <a:ln w="12700">
            <a:solidFill>
              <a:srgbClr val="2C9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12618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3–12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0" y="1261872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profiles Week 3 · Place resource at client site · CS Soft resource wears client badge but builds CS Soft relationships · Identify renewal date Day 1 of engagement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21808" y="1481328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account as sub-vendor via TCS/Wipro/Accenture. Build relationship with end-client's Oracle technical team. At contract renewal (typically 12-18 months), present direct MSA at 15-20% lower total cost. Conversion rate: 1 in 3 sub-vendor accounts becomes direct.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304288"/>
            <a:ext cx="4224528" cy="1280160"/>
          </a:xfrm>
          <a:prstGeom prst="rect">
            <a:avLst/>
          </a:prstGeom>
          <a:solidFill>
            <a:srgbClr val="1E3060"/>
          </a:solidFill>
          <a:ln w="19050">
            <a:solidFill>
              <a:srgbClr val="2C7B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77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77824" y="237744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Conference ABM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" y="2651760"/>
            <a:ext cx="1005840" cy="18288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2651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4–12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956816" y="2651760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30 target attendees pre-event · LinkedIn connect 2 weeks prior · Book 10 meetings pre-event · Follow up within 48 hours · One deal from every major event is the KPI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" y="2871216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CloudWorld (Oct, Las Vegas), TM Forum DTW (Jun, Copenhagen), GITEX (Oct, Dubai), Oracle OCP Summit (India), Gartner IT Summit ME. Each event = 50+ qualified conversations. Budget $15K/event, expect 3-5 pipeline deals per major event.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0016" y="2304288"/>
            <a:ext cx="4224528" cy="1280160"/>
          </a:xfrm>
          <a:prstGeom prst="rect">
            <a:avLst/>
          </a:prstGeom>
          <a:solidFill>
            <a:srgbClr val="1E3060"/>
          </a:solidFill>
          <a:ln w="19050">
            <a:solidFill>
              <a:srgbClr val="5A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377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21808" y="2377440"/>
            <a:ext cx="3310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Account-Based Outreach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21808" y="2651760"/>
            <a:ext cx="1005840" cy="182880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265176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ongoing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400800" y="2651760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ICP list of 200 contacts in Week 1 · Hire 1 SDR in Month 2 · Track in CRM · 90-day nurture cadence · Offer free BRM health check as conversation starter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21808" y="2871216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IT Director / VP Technology / CTO at 50 named accounts. Personalised InMail referencing their specific Oracle stack and current challenge (e.g. 'I saw STC announced BRM migration — we've done 4 of these'). 2x content posts/week on LinkedIn. 20 outreaches/week = 2-3 meetings/month = 1 proposal/month.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3694176"/>
            <a:ext cx="8631936" cy="1280160"/>
          </a:xfrm>
          <a:prstGeom prst="rect">
            <a:avLst/>
          </a:prstGeom>
          <a:solidFill>
            <a:srgbClr val="1E3060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77824" y="3767328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RFP Deal Registration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" y="4041648"/>
            <a:ext cx="1005840" cy="1828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40416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ongoing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956816" y="4041648"/>
            <a:ext cx="6638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RFP lead in Month 2 · Create modular proposal library (BRM, OSS, Siebel) · Register every deal with Oracle before responding · Include Oracle reference architecture in every bid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77824" y="4261104"/>
            <a:ext cx="771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deal registration gives CS Soft a 5-10% price advantage on Oracle license components in joint bids. Subscribe to Tendersinfo, BidNet, GovHK, OJEU for global Oracle-tagged tenders. Respond to 2 RFPs per month minimum. Win rate target: 1 in 5 from Month 6.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Account Target Board — Priority Tier 1: Month 1–8 Logos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349654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349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HUNT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279392"/>
        </p:xfrm>
        <a:graphic>
          <a:graphicData uri="http://schemas.openxmlformats.org/drawingml/2006/table">
            <a:tbl>
              <a:tblPr/>
              <a:tblGrid>
                <a:gridCol w="1600200"/>
                <a:gridCol w="502920"/>
                <a:gridCol w="914400"/>
                <a:gridCol w="1920240"/>
                <a:gridCol w="1463040"/>
                <a:gridCol w="914400"/>
                <a:gridCol w="822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Motion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Contact Title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Deal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e&amp; (Etisalat Group)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OSM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OPN co-sell + Accenture ME sub-vnd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IT / Oracle CoE Head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4–6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$1.5–3M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STC (Saudi Telecom)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12.x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Alliance intro + GITEX follow-up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BSS / CIO Oracle Programs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4–7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Singtel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ASAP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 APAC sub-vnd →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BSS 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6–9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$1–2.5M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Telstra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12.x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OPN co-sell (Telstra BRM migration live)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 Billing Modernisation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5–8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Zain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KWT/KSA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OSM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ABM + Oracle Alliance KSA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Technology / BSS Head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5–8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$1–2M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Airtel (Direct)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ASAP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from TCS/Wipro sub-vendor to direct MSA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Oracle CoE / VP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6–9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₹20–50Cr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HSBC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UK/APAC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CRM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IBM/Capgemini sub-vnd · RFP response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CRM Architecture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6–9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$800K–1.5M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Ooredoo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UIM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OPN deal registration + Oracle QAT team intro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CIO / Oracle Programme Head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6–10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$1–2M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504748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motion = the specific first-contact play. Named contact title = who to reach. Est. Deal = anticipated Year-1 services value.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Account Target Board — Tier 2: Month 8–18 Logo Pipeline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686154" cy="219456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686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PIPELINE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279392"/>
        </p:xfrm>
        <a:graphic>
          <a:graphicData uri="http://schemas.openxmlformats.org/drawingml/2006/table">
            <a:tbl>
              <a:tblPr/>
              <a:tblGrid>
                <a:gridCol w="1508760"/>
                <a:gridCol w="475488"/>
                <a:gridCol w="960120"/>
                <a:gridCol w="2011680"/>
                <a:gridCol w="1572768"/>
                <a:gridCol w="896112"/>
                <a:gridCol w="80467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Motion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Dependency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Deal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Siebel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Capgemini/IBM sub-vnd; Oracle UK Alliance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for wholesale billing; Siebel contact centre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9–13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$1.5–3M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Deutsche Telekom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OSM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Germany Alliance + CGI sub-vnd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12.x upgrade active; OSM 5G SA rollout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10–14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Chartered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UK/SG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CRM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ABM: Head of CRM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for corporate banking &amp; trade 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9–12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$1–2.5M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MTN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ASAP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Africa Alliance; IBM SA sub-vnd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multi-country billing; 5G ASAP activation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10–15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$1–2M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Axiata 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OSM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 APAC sub-vnd →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across 10 OpCos; OSM transformation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9–14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$1.5–3M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Emirates NBD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CRM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 ME sub-vnd; GITEX connection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for retail banking; Fusion CX migration 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8–12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$800K–1.5M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Globe Telecom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UIM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Philippines Alliance intro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for postpaid; UIM 5G island 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10–14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$800K–1.5M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América Móvil / Claro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LATAM Alliance; IBM LATAM sub-vnd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for 18-country prepaid/postpaid billing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12–18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504748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total Tier 1+2: 17 named accounts · Estimated pipeline value: $18–38M over 24 months · Win 5 = Year 2 target achieved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Sub-vendor &amp; SI Ecosystem — Who to Partner, How to Enter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854403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8544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PARTNERS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Sub-contracting to global SIs is the fastest path to revenue (Month 3) and first-logo relationships. Target 6 primes across 3 tiers.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52144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25296"/>
            <a:ext cx="932688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25296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61872" y="1225296"/>
            <a:ext cx="530352" cy="2011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1225296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47088" y="12070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 · Siebel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145389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Alliance Global via OPN. Accenture Oracle CoE has chronic BRM/OSM talent shortfall. Target Oracle Lead at Accenture London / Dubai / Singapore — chronic sub-vnd need for e&amp;, BT, Singtel projects.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48656" y="120700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Proj: e&amp;, BT, STC, Singtel, HSBC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882128" y="1280160"/>
            <a:ext cx="93268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28016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8595360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865376"/>
            <a:ext cx="932688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865376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261872" y="1865376"/>
            <a:ext cx="530352" cy="2011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1865376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847088" y="18470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Siebel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61872" y="209397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Supplier Portal (ibm.com/procurement). IBM GBS Oracle practice sub-contracts niche Oracle work for BFSI and government accounts in ME and EU. Warm intro via Oracle Alliance preferred.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248656" y="184708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Proj: MTN, Standard Chartered, DT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82128" y="1920240"/>
            <a:ext cx="93268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82128" y="192024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2432304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505456"/>
            <a:ext cx="932688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505456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261872" y="2505456"/>
            <a:ext cx="530352" cy="2011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61872" y="2505456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EU/ME/APAC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47088" y="24871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 · Siebel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61872" y="273405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Telecom, Media &amp; Technology practice. Oracle Alliance events in London/Paris. Capgemini ME (Dubai) is smaller, more approachable — start there for ME account entry.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48656" y="248716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Proj: Orange, BT, DT, Ooredoo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82128" y="2560320"/>
            <a:ext cx="93268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82128" y="256032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74320" y="3072384"/>
            <a:ext cx="8595360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145536"/>
            <a:ext cx="932688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145536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 Group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61872" y="3145536"/>
            <a:ext cx="530352" cy="2011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61872" y="3145536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Europe/Canada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47088" y="31272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Siebel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61872" y="337413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 Oracle practice UK and Canada. Smaller than Big 3 — faster MSA. CGI UK Oracle Practice Director contactable directly via LinkedIn. Also CGI Canada for Bell Canada access.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48656" y="312724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Proj: BT, Bell Canada, UK Siebel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882128" y="3200400"/>
            <a:ext cx="93268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82128" y="320040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74320" y="3712464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785616"/>
            <a:ext cx="932688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785616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DXC Technology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261872" y="3785616"/>
            <a:ext cx="530352" cy="2011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61872" y="3785616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847088" y="3767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· BRM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261872" y="401421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DXC has one of the world's largest Siebel support bases (HP/CSC legacy). Always needs Siebel resources on short notice. Contact DXC Oracle CoE Sydney / London directly.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48656" y="376732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Proj: ANZ, insurance Siebel, AT&amp;T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882128" y="3840480"/>
            <a:ext cx="932688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82128" y="384048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74320" y="4352544"/>
            <a:ext cx="8595360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4425696"/>
            <a:ext cx="932688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425696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· Wipro · Infosys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261872" y="4425696"/>
            <a:ext cx="530352" cy="2011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61872" y="4425696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Global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847088" y="44074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 · Siebel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261872" y="4654296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entry via supplier portals (supplier.tcs.com, Wipro PVMS). Also approach global Oracle CoEs for APAC and ME projects. Fastest MSA — start here Month 1.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248656" y="440740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Proj: All Indian telcos + global via CoE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882128" y="4480560"/>
            <a:ext cx="932688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82128" y="4480560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" y="4828032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Get one BRM resource placed inside Accenture's e&amp; or STC project — in 6 months you know the client's Oracle team better than Accenture does.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GTM — Wave 2 (Month 4–10): Highest Global Bill Rates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181405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1814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telcos pay $130–180/hr for Oracle BRM/OSS — the highest rates globally. Decisions are fast. e&amp;, STC, Zain, Ooredoo are all on Oracle. This is CS Soft's first international priority.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070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ME Target Accounts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499616"/>
            <a:ext cx="4041648" cy="201168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1790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 (Etisalat Group)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51790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05456" y="1517904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 · UIM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29584" y="1517904"/>
            <a:ext cx="7863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$150–180/hr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1719072"/>
            <a:ext cx="40416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737360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 (Saudi Telecom)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173736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05456" y="17373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 Migration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9584" y="1737360"/>
            <a:ext cx="7863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$140–170/hr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1938528"/>
            <a:ext cx="4041648" cy="201168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1956816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 Group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195681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KWT/KSA/AFR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05456" y="195681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ASAP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29584" y="1956816"/>
            <a:ext cx="7863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$120–150/hr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2157984"/>
            <a:ext cx="40416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176272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Ooredoo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21762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05456" y="2176272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UIM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29584" y="2176272"/>
            <a:ext cx="7863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$130–160/hr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2377440"/>
            <a:ext cx="4041648" cy="201168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395728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(EITC)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239572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05456" y="2395728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· ASAP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29584" y="2395728"/>
            <a:ext cx="7863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$130–155/hr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2596896"/>
            <a:ext cx="404164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2615184"/>
            <a:ext cx="138988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28800" y="261518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05456" y="2615184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Core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29584" y="2615184"/>
            <a:ext cx="78638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$120–145/hr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1115568"/>
            <a:ext cx="420624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12070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Sequence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1481328"/>
            <a:ext cx="385876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4: Attend GITEX Dubai — meet e&amp; and STC Oracle IT leads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4: Oracle UAE/KSA Alliance Manager intro via OPN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5: Accenture ME vendor portal registration (Dubai)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5: LinkedIn ABM — 30 ME telco IT contacts targeted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6: Submit profiles to Accenture ME Oracle projects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8: First direct CS Soft meeting at ME telco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30358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ME-Specific Execution Tactics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84048" y="3328416"/>
            <a:ext cx="2029968" cy="1426464"/>
          </a:xfrm>
          <a:prstGeom prst="rect">
            <a:avLst/>
          </a:prstGeom>
          <a:solidFill>
            <a:srgbClr val="E8EDF8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4015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GITEX Global (Oct, Dubai)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" y="3712464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ME tech event. Pre-schedule 10 meetings. $10K investment → 5-8 ME pipeline conversations. Non-negotiable for ME GTM.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42032" y="3328416"/>
            <a:ext cx="2029968" cy="1426464"/>
          </a:xfrm>
          <a:prstGeom prst="rect">
            <a:avLst/>
          </a:prstGeom>
          <a:solidFill>
            <a:srgbClr val="FFF3D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34015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ME Alliance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633472" y="3712464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UAE and KSA have dedicated telco Alliance Managers. Get on 'preferred delivery partner' list. They bring RFPs. Attend every Oracle ME event.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0016" y="3328416"/>
            <a:ext cx="2029968" cy="1426464"/>
          </a:xfrm>
          <a:prstGeom prst="rect">
            <a:avLst/>
          </a:prstGeom>
          <a:solidFill>
            <a:srgbClr val="E8EDF8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34015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Capability Deck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91456" y="3712464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Arabic version of CS Soft brochure. ME telco IT leadership prefers Arabic materials. Shows cultural commitment — differentiates from Western SIs.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3328416"/>
            <a:ext cx="2029968" cy="1426464"/>
          </a:xfrm>
          <a:prstGeom prst="rect">
            <a:avLst/>
          </a:prstGeom>
          <a:solidFill>
            <a:srgbClr val="FFF3DC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340156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Dubai/ADGM Entity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49440" y="3712464"/>
            <a:ext cx="184708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Dubai DIFC or ADGM free zone (~AED 12K). Required for direct contracts with UAE entities and ME telcos. Do in Month 6 when first ME pipeline is live.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GTM — Wave 2 (Month 6–12): Singtel, Telstra, Axiata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592531" cy="21945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5925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2296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is the world's fastest 5G growth region. Singtel and Telstra are mid-BRM 12.x migration. India time zones align perfectly. Sub-vendor entry via Accenture APAC; direct from Month 10.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87552"/>
          <a:ext cx="8595360" cy="1901952"/>
        </p:xfrm>
        <a:graphic>
          <a:graphicData uri="http://schemas.openxmlformats.org/drawingml/2006/table">
            <a:tbl>
              <a:tblPr/>
              <a:tblGrid>
                <a:gridCol w="1188720"/>
                <a:gridCol w="658368"/>
                <a:gridCol w="960120"/>
                <a:gridCol w="1920240"/>
                <a:gridCol w="2450592"/>
                <a:gridCol w="1417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7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ASAP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12.x upgrade funded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 SG → 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$120–145/hr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Telstra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12.x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migration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OPN co-sell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$130–160/hr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Axiata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OSM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Multi-OpCo BRM consolidation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Accenture KL sub-vnd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$90–115/hr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Globe Telecom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· UIM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 UIM build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PH Alliance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$85–110/hr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 / True Corp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· ASAP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5G OSS transformation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ABM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$80–105/hr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PCCW/HKT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· BRM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support + BRM OpEx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DXC sub-vnd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$100–130/hr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017520"/>
            <a:ext cx="420624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1089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Entry Playbook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419856"/>
            <a:ext cx="3858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6: Oracle APAC Alliance intro via OPN — Singapore Alliance Manager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6: Register on Accenture APAC Supplier Portal (Singapore HQ)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7: Attend Oracle CloudWorld APAC or TM Forum APAC Singapore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8: Submit BRM/OSM profiles to Accenture SG for Singtel/Axiata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9: LinkedIn ABM — 40 APAC telco IT leaders, personalised outreach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10: First CS Soft direct meeting with Singtel or Telstra Oracle team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63440" y="3017520"/>
            <a:ext cx="4206240" cy="1847088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31089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APAC Works for CS Soft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3419856"/>
            <a:ext cx="3858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 overlap: India IST works perfectly for Singapore and Australia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familiarity: large Indian diaspora in APAC tech leadership roles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primary business language across APAC telcos — no barrier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30-40% above India sub-vendor, 20-30% below Europe — best margin zone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Singtel/Telstra BRM migrations = 2-3 year sticky programmes once in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Americas GTM — Wave 3 (Month 10–18): BT, Vodafone, HSBC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349654" cy="219456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349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+ AMERICAS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96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— Key Accounts &amp; Entry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07008"/>
            <a:ext cx="4041648" cy="694944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4358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Group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65376" y="1243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Siebel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2928" y="124358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$155–190/hr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499616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for wholesale billing; Siebel contact centre (60K seats). Entry via Capgemini UK or IBM UK sub-vnd. BT dedicated Oracle supplier portal.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975104"/>
            <a:ext cx="4041648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011680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Group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65376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2928" y="2011680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$140–175/hr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26771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BRM deployed across 20+ OpCos. Oracle UK Alliance will intro. Vodafone BRM CoE in Pune — target UK/DE OpCo directly from Month 12.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743200"/>
            <a:ext cx="4041648" cy="694944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779776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Telekom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65376" y="277977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52928" y="277977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$165–200/hr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035808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5G OSS transformation live. BRM 12.x upgrade. Capgemini Germany or Oracle Germany Alliance. German data residency — local entity needed (Month 12+).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511296"/>
            <a:ext cx="4041648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547872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65376" y="35478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CRM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52928" y="3547872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$165–205/hr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" y="3803904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world's largest Siebel installations — retail + corporate banking. IBM UK or Capgemini Siebel practice sub-vnd. High compliance overhead but extremely sticky.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4279392"/>
            <a:ext cx="4041648" cy="694944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315968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Group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65376" y="43159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52928" y="431596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$150–185/hr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4572000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fixed and mobile. OSM 5G transformation. Oracle France Alliance active. Capgemini FR has Orange account — approach Capgemini first for sub-vnd entry.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804672"/>
            <a:ext cx="420624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896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 — Key Accounts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36592" y="1207008"/>
            <a:ext cx="4041648" cy="512064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1243584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63056" y="1243584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Siebel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95744" y="1243584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$185–225/hr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148132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BRM for enterprise billing; Siebel for B2B. IBM and Accenture are primes.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36592" y="1773936"/>
            <a:ext cx="404164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18105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Canada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63056" y="1810512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· OSM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95744" y="181051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$155–185/hr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2048256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CGI Canada is prime — approach CGI for sub-vnd. Oracle Canada Alliance.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36592" y="2340864"/>
            <a:ext cx="4041648" cy="512064"/>
          </a:xfrm>
          <a:prstGeom prst="rect">
            <a:avLst/>
          </a:prstGeom>
          <a:solidFill>
            <a:srgbClr val="F4F7FC"/>
          </a:solidFill>
          <a:ln w="6350">
            <a:solidFill>
              <a:srgbClr val="E0EA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377440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América Móvil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63056" y="2377440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95744" y="2377440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$110–135/hr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28032" y="2615184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18-country BRM multi-instance. Oracle LATAM + IBM LATAM sub-vnd.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2999232"/>
            <a:ext cx="4206240" cy="2121408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46320" y="30906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/ Americas Entry Tactics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46320" y="3401568"/>
            <a:ext cx="385876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10: UK entity registration (Companies House) for BT/HSBC contracts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10: Oracle OpenWorld Europe London — 10+ pre-scheduled meetings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11: Capgemini UK/FR sub-vendor registration for BT and Orange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12: IBM UK Oracle practice intro via Oracle Alliance London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13: First direct RFP response via OPN deal registration EU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Americas: CGI Canada is fastest entry — smaller, quicker MSA than US primes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Foundation: Month 0 to 3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530352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6070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First Hires — The Founding Team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5084064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264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Head / Global Delivery Manager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426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94176" y="1426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₹55–75 LPA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client relationships globally + sub-vendor connects; must have contacts at TCS/Wipro + 1 ME/APAC SI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029968"/>
            <a:ext cx="50840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66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Architect / Technical Lead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06654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94176" y="2066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₹38–50 LPA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34086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12.x, ECE, Pipeline — the revenue engine; global BRM delivery experience preferred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2670048"/>
            <a:ext cx="5084064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066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Senior Developer (×2)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27066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yr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94176" y="27066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₹22–32 LPA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8094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Day 1 via India sub-vendor; 2 gives redundancy and faster ramp to ME/APAC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4048" y="3310128"/>
            <a:ext cx="508406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467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Architect / Senior Consultant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33467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94176" y="33467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₹30–42 LPA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62102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BFSI + global HSBC/SCB demand; support and upgrade deals — long tail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" y="3950208"/>
            <a:ext cx="5084064" cy="566928"/>
          </a:xfrm>
          <a:prstGeom prst="rect">
            <a:avLst/>
          </a:prstGeom>
          <a:solidFill>
            <a:srgbClr val="F4F7FC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86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OSM/UIM/ASAP Lead Consultant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39867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yr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94176" y="39867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₹34–48 LPA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26110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Rarest global skill — commands $160-200/hr in ME/EU. Non-negotiable hire.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52160" y="969264"/>
            <a:ext cx="2999232" cy="3858768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1060704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0–3 Actions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0" y="1389888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1389888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45936" y="138988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OPN Silver — free; unlocks global deal registration Day 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43600" y="1728216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1728216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45936" y="172821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JDs on LinkedIn Recruiter + Naukri + referral bonus ₹50K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43600" y="2066544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2066544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45936" y="206654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Oracle India Alliance Manager via OPN portal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43600" y="2404872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2404872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45936" y="240487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ICP list: 200 named contacts at global target accounts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43600" y="2743200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2743200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45936" y="274320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outreach: Accenture/IBM Oracle CoE leads via LinkedIn InMail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0" y="3081528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3081528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345936" y="308152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interviews; register on TCS Supplier Portal + Wipro PVMS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43600" y="3419856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3419856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345936" y="341985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2-page capability deck (English + Arabic) for global SI submission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943600" y="3758184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3758184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345936" y="375818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first 2 offers: Practice Head + BRM Architect priority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43600" y="4096512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0" y="4096512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2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345936" y="409651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4–5 hires; create global rate card (INR + USD)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43600" y="4434840"/>
            <a:ext cx="347472" cy="2468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4434840"/>
            <a:ext cx="347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3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45936" y="443484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profiles to 3 requirements; sign first sub-vendor MSA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74320" y="48646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Phase 1 Investment: ₹60–85 L (salaries + OPN + event travel + tools)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First Revenue via Sub-vendor Deployment: Month 3–6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8449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969264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4241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Sub-vendor Revenue Machine — India Hub, Global SI Primes, International End Clients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335024"/>
            <a:ext cx="13716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350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Resource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1536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66544" y="1335024"/>
            <a:ext cx="1371600" cy="65836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13350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38144" y="1536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94176" y="1335024"/>
            <a:ext cx="1371600" cy="658368"/>
          </a:xfrm>
          <a:prstGeom prst="rect">
            <a:avLst/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13350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(Accenture/TCS/IBM)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65776" y="1536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21808" y="1335024"/>
            <a:ext cx="1371600" cy="658368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13350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Deploys 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93408" y="1536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1335024"/>
            <a:ext cx="1371600" cy="658368"/>
          </a:xfrm>
          <a:prstGeom prst="rect">
            <a:avLst/>
          </a:prstGeom>
          <a:solidFill>
            <a:srgbClr val="1A5F8A"/>
          </a:solidFill>
          <a:ln w="12700">
            <a:solidFill>
              <a:srgbClr val="1A5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33502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Client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(e&amp;/Telstra/HSBC)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340864"/>
            <a:ext cx="41605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43230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Margin Model (per resource, USD billing)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761488"/>
            <a:ext cx="3977640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79806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rate to Prime SI (BRM Sr. Dev)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82112" y="279806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$65/hr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108960"/>
            <a:ext cx="3977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1455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 (8hr × 22 days)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82112" y="3145536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$11,440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56432"/>
            <a:ext cx="3977640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4930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CTC ₹28L → monthly cost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82112" y="3493008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$2,980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03904"/>
            <a:ext cx="3977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84048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+ 35% overhead (benefits, infra, ops)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182112" y="3840480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151376"/>
            <a:ext cx="3977640" cy="310896"/>
          </a:xfrm>
          <a:prstGeom prst="rect">
            <a:avLst/>
          </a:prstGeom>
          <a:solidFill>
            <a:srgbClr val="F4F7FC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1879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per resource / month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82112" y="418795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$4,023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498848"/>
            <a:ext cx="3977640" cy="310896"/>
          </a:xfrm>
          <a:prstGeom prst="rect">
            <a:avLst/>
          </a:prstGeom>
          <a:solidFill>
            <a:srgbClr val="E6F4EE"/>
          </a:solidFill>
          <a:ln w="6350">
            <a:solidFill>
              <a:srgbClr val="E0E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5354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 resource/month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82112" y="453542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$7,417  (65%)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90872" y="2340864"/>
            <a:ext cx="4160520" cy="2487168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73752" y="243230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Revenue Targets (USD)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82312" y="2761488"/>
            <a:ext cx="3977640" cy="438912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8163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60720" y="28163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deployed (India)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87184" y="2816352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$15–22K/mo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82312" y="3273552"/>
            <a:ext cx="3977640" cy="438912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32841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60720" y="33284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deployed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87184" y="3328416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$38–50K/mo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82312" y="3785616"/>
            <a:ext cx="3977640" cy="438912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8404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60720" y="38404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deployed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87184" y="3840480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$55–75K/mo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82312" y="4297680"/>
            <a:ext cx="3977640" cy="438912"/>
          </a:xfrm>
          <a:prstGeom prst="rect">
            <a:avLst/>
          </a:prstGeom>
          <a:solidFill>
            <a:srgbClr val="223060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43525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760720" y="43525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deployed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187184" y="4352544"/>
            <a:ext cx="1444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D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$80–110K/mo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782312" y="473659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2-3 more in Month 4-5 so Phase 3 ME/APAC push starts immediately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Hire Strategy — Global Talent Pools &amp; How to Attract Them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" y="713232"/>
            <a:ext cx="1770278" cy="21945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13232"/>
            <a:ext cx="1770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talent is India-based (cost efficiency). Target India-based professionals with global delivery experience. That combination is CS Soft's pricing power.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7432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15568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Oracle CoE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08176" y="11155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/ Telecom CoE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Siruseri, Pune, Hyderabad, Singapore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LinkedIn 'Oracle BRM TCS', 'Siebel TCS'. TCS bonuses mediocre — 15-18% CTC premium converts. Target TCS resources on global accounts (Vodafone Global, Singtel, Airtel).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115568"/>
            <a:ext cx="27432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115568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Oracle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06824" y="11155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CoE (India delivery)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64408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Bangalore, Hyderabad, Mumbai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64408" y="166420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India Oracle CoE delivers globally to e&amp;, BT, Singtel. Resources know global standards. Harder to convert (better comp) but invaluable for ME/APAC lead roles.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71616" y="1115568"/>
            <a:ext cx="27432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115568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ACS / Consulting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05472" y="1115568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Consulting India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63056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Bengaluru, Hyderabad, Dubai, SGP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63056" y="1664208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Ex-Oracle employees know product roadmap AND client relationships. 'Oracle ACS BRM', 'Oracle Consulting Siebel' on LinkedIn. Highest-value hire — command 20% premium, worth it.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27432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99232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99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/ Infosys Oracle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08176" y="299923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Communications Practice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33284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Bangalore, Pune, ME/APAC delivery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354787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'BRM Wipro', 'OSM UIM Infosys' on LinkedIn. Bench consultants especially receptive. Target those with ME/APAC client exposure for CS Soft's global push.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72968" y="2999232"/>
            <a:ext cx="27432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2968" y="2999232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72968" y="2999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/ Capgemini India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06824" y="299923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practices, India delivery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64408" y="33284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Bangalore, Pune, Chennai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64408" y="354787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GBS and Capgemini India Oracle practices deliver to global accounts. Resources with global client exposure at India CTC. Target: 5-8 years in, seeking growth path.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71616" y="2999232"/>
            <a:ext cx="27432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71616" y="2999232"/>
            <a:ext cx="27432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2999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/ APAC Local Hires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05472" y="299923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client directors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63056" y="33284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 Dubai, Abu Dhabi, Singapore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63056" y="354787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1 ME + 1 APAC-based senior consultant as CS Soft's local face. They know the market, speak the language. Local presence dramatically improves win rate. Budget $80-100K USD/yr each.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846320"/>
            <a:ext cx="8449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1 ME-based client director by Month 5 — before GITEX. Local presence closes deals that remote pitches cannot. ROI = first ME logo.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Talent Profiles, CTC Benchmarks &amp; Bill Rates by Region</a:t>
            </a:r>
            <a:endParaRPr lang="en-US" sz="1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13232"/>
          <a:ext cx="8631936" cy="4315968"/>
        </p:xfrm>
        <a:graphic>
          <a:graphicData uri="http://schemas.openxmlformats.org/drawingml/2006/table">
            <a:tbl>
              <a:tblPr/>
              <a:tblGrid>
                <a:gridCol w="1481328"/>
                <a:gridCol w="548640"/>
                <a:gridCol w="877824"/>
                <a:gridCol w="1152144"/>
                <a:gridCol w="1152144"/>
                <a:gridCol w="1152144"/>
                <a:gridCol w="1097280"/>
                <a:gridCol w="7132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CTC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India/Sub-vnd $/hr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 Direct $/hr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 Direct $/hr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EU/US $/hr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Architect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10–14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₹40–52L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$65–80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$120–145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$175–220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44–52%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Sr. Developer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6–9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₹24–34L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$48–62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$110–140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$90–115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$140–175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BRM Developer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₹13–20L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$30–42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$75–100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$65–85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OSM/UIM Architect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₹40–55L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$68–85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$160–200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$130–160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$200–250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46–55%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ASAP / OSM Senior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₹26–38L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$55–70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$120–155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$155–190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Architect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₹34–48L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$58–75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$130–170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$100–135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$150–200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42–50%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Sr. Consultant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₹20–28L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$42–56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$100–130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7B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$80–105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$120–160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38–46%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Head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yr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₹58–80L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Non-billable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Non-billable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96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Gen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56032" y="4882896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sub-vendor rates in USD at ₹83/$ blended rate. ME/APAC/EU direct rates are market rates for CS Soft-primed engagements. Margin after India CTC + 35% overhead.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 — Global Scale to Full Practice (Month 6–24)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206240" cy="329184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Global Scale (Month 6–18)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8587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Headcount: 18–28 total; add 2 ME/APAC-based client directors (local presence)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run-rate: $350–700K/month by Month 15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mix: 50% sub-vendor → 50% direct by Month 15; direct accelerating fast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 direct logo live (e&amp; or STC) via OPN co-sell or Accenture sub-vnd conversion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APAC direct logo live (Singtel or Telstra) via Accenture APAC sub-vnd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Gold unlock: deal registration priority + Oracle licence co-sell margin 15-25%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managed services: BRM/Siebel L1/L2/L3 support — recurring revenue stream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reusable IP: BRM 12.x migration accelerator toolkit (cuts delivery time 30%)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+ Singapore entities registered; ready for direct ME/APAC contracts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06240" cy="4133088"/>
          </a:xfrm>
          <a:prstGeom prst="rect">
            <a:avLst/>
          </a:prstGeom>
          <a:solidFill>
            <a:srgbClr val="1A2744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498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Full Global Practice (Month 18–24)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38587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Headcount: 35–50 (28+ billable); mix of India + ME/APAC/EU local hires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run-rate: $1M+/month → $12–18M ARR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25% sub-vendor, 75% direct — commoditise sub-vnd and move up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direct named logos across India, ME, APAC, EU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cloud practice: BRM on OCI + Siebel SaaS migration projects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licence resell: 15-25% margin on Oracle licences co-sold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APAC/ME Partner of the Year — nomination target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services: 8-12 AMS contracts = 40% of total revenue (high margin)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practice live: UK + Germany entities, 2 EU logos, EU delivery capacity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Financial Projections — Revenue Ramp (24 Months, USD)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5577840" cy="3127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943600" y="749808"/>
          <a:ext cx="2907792" cy="3127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31920"/>
          <a:ext cx="8595360" cy="118872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74320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Year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Year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Billable Headcount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 Run-rate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$480–600K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74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$1.0–1.3M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$3–4.5M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$10–15M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44–52%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Geographies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+ 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India/ME/APAC/EU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Logos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Partner Network (OPN) — Global Partnership Ladder &amp; Benefits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365760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Silver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24688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706624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logo usage · Partner portal access · Global deal registration · Oracle University discounts · Co-marketing templates · Access to OPN Competency Centre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804672"/>
            <a:ext cx="2743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804672"/>
            <a:ext cx="2743200" cy="365760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804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Gold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243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~$3K/yr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20482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377440"/>
            <a:ext cx="24688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10128" y="2706624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registration priority (5-10% price advantage) · Co-sell with Oracle sales globally · Oracle licence resell at partner pricing · RODOD delivery engagements · Joint GTM planning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804672"/>
            <a:ext cx="274320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804672"/>
            <a:ext cx="2743200" cy="3657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804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 Platinum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08776" y="12435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8776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invite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08776" y="18470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20482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08776" y="2377440"/>
            <a:ext cx="246888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08776" y="2706624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Oracle Alliance Manager · Joint press releases · Oracle-sourced global leads · Conference speaking slots (CloudWorld, OCP Summit) · Partner of the Year eligibility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46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663440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Programme: CS Soft's Oracle RODOD status unlocks licence resell alongside consulting — 15-25% margin on Oracle licence sales. Register at partnernetwork.oracle.com Day 1.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7472" y="4901184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CloudWorld (Las Vegas, Oct) · OCP Summit India · DTW Copenhagen (Jun) · GITEX Dubai (Oct) — attend all four for maximum OPN network leverage.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0"/>
            <a:ext cx="8449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Global Mitigation Plan</a:t>
            </a:r>
            <a:endParaRPr lang="en-US" sz="1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13232"/>
          <a:ext cx="8595360" cy="4315968"/>
        </p:xfrm>
        <a:graphic>
          <a:graphicData uri="http://schemas.openxmlformats.org/drawingml/2006/table">
            <a:tbl>
              <a:tblPr/>
              <a:tblGrid>
                <a:gridCol w="2267712"/>
                <a:gridCol w="749808"/>
                <a:gridCol w="749808"/>
                <a:gridCol w="48280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Talent scarcity / counter-offers globally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10-15% above market CTC + retention bonus after 12 months. ESOP/profit share roadmap. ME/APAC hires on USD-linked comp — inflation-proof. Start referral pipeline Day 1; ₹50K referral bonus.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 cost during ramp (no billing)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hire against confirmed or near-confirmed demand. Use 30-day notice period as deployment buffer. Sub-vendor model means revenue starts Month 3 — limits bench exposure.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Sub-vendor margin compression by global 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direct client pipeline from Month 4. Negotiate multi-year sub-vendor rates upfront. Diversify: 4+ SIs across India, ME, APAC — no single SI &gt;40% of revenue.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risk in ME (conflict, policy shifts)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 via Dubai DIFC entity (politically stable, treaty-protected). Diversify: never &gt;30% of revenue from any single geography. Maintain India revenue base as anchor.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person dependency / attrition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people per technology minimum. Cross-train BRM dev on OSM basics. Document all client-specific config. Equity / senior role = retention lever for founding team.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product sunset / architecture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Siebel extended to 2033 — long runway. BRM is mission-critical billing: will not disappear. OCI cloud migration ADDS work. Position cloud migration capability from Month 12 as an upsell.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sales cycle for direct international logos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46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Sub-vendor revenue bridges the gap (cash flow positive from Month 3). Set realistic direct-logo timelines (Month 6-9 first close). Local ME/APAC presence shortens cycle by 30-40%.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686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1–4 Global Execution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A9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irreversible actions across hiring, OPN, SI partnerships and named-account outreach — start all four tracks simultaneously.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51960" cy="2560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Register Oracle OPN Silver at partnernetwork.oracle.com — 30 min, FREE — unlocks global deal registration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" y="1545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ICP list: 200 named contacts at 17 Tier-1/2 target accounts (LinkedIn Sales Navigator)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" y="18836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 5 JDs on LinkedIn Premium + Naukri: BRM Arch, BRM Dev×2, Siebel Arch, OSM/UIM Lead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2221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Cold outreach: 10 personalised InMails to Accenture/IBM/Capgemini Oracle CoE leads globally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Contact Oracle India Alliance Manager via OPN portal — request intro call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914400"/>
            <a:ext cx="425196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91440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91456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LinkedIn ABM: send 20 personalised InMails to IT Director/VP Tech at ME target accounts (e&amp;, STC, Zain)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545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Register on TCS Supplier Portal (supplier.tcs.com) + Wipro PVMS — begin vendor onboarding docs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91456" y="18836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2-page global capability deck (English version) focused on BRM/OSM/Siebel delivery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91456" y="2221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Research GITEX Dubai Oct — register, book hotel, begin scheduling meetings (6 months out is not too early)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91456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Shortlist first 5-6 candidates per role from Week 1 JD responses; schedule technical screens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62656"/>
            <a:ext cx="4251960" cy="256032"/>
          </a:xfrm>
          <a:prstGeom prst="rect">
            <a:avLst/>
          </a:prstGeom>
          <a:solidFill>
            <a:srgbClr val="2C9A5A"/>
          </a:solidFill>
          <a:ln w="12700">
            <a:solidFill>
              <a:srgbClr val="2C9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6265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" y="32552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Conduct 15-20 first-round interviews; shortlist top 3 per role for final round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" y="3593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Submit initial profiles to any open sub-vendor requirements at TCS/Wipro Oracle CoE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9184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Contact Accenture Dubai / Singapore procurement teams directly via LinkedIn for sub-vnd intake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" y="4270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Begin Oracle OPN Cloud learning paths (free) — BRM Specialist and CX certifications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" y="4608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Negotiate and sign first sub-vendor NDA with one India prime SI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18304" y="2962656"/>
            <a:ext cx="4251960" cy="2560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96265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91456" y="32552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Make first 2 offers: Practice Head + BRM Architect — highest priority, non-negotiable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91456" y="35935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Close first sub-vendor MSA with India SI prime; register first deal in OPN portal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91456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Arabic capability deck: commission translation (2-page, professional) — ready before GITEX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91456" y="4270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first BRM/Siebel profiles against open global requirements via sub-vendor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91456" y="4608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 up CRM (HubSpot free tier): enter 200 ICP contacts, begin 90-day nurture cadence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548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Is Global.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84048" y="14813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12.x migrations are live at STC, Telstra, Airtel and Singtel. 5G is forcing OSS transformation across 80 countries.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talent is retiring. Oracle's Alliance team needs CS Soft — they have deals but not enough boutique delivery capacity.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2304288"/>
            <a:ext cx="2633472" cy="2212848"/>
          </a:xfrm>
          <a:prstGeom prst="rect">
            <a:avLst/>
          </a:prstGeom>
          <a:solidFill>
            <a:srgbClr val="1E3060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3957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75488" y="292608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First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3291840"/>
            <a:ext cx="24231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Sub-vendor revenue by Month 3 via TCS/Wipro/Infosys. India is the cash engine that funds the global expansion.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304288"/>
            <a:ext cx="2633472" cy="2212848"/>
          </a:xfrm>
          <a:prstGeom prst="rect">
            <a:avLst/>
          </a:prstGeom>
          <a:solidFill>
            <a:srgbClr val="1E3060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3957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Second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3291840"/>
            <a:ext cx="24231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GITEX in Month 4. OPN co-sell. e&amp; or STC as first global logo by Month 7. Highest rates in the world — non-negotiable.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16752" y="2304288"/>
            <a:ext cx="2633472" cy="2212848"/>
          </a:xfrm>
          <a:prstGeom prst="rect">
            <a:avLst/>
          </a:prstGeom>
          <a:solidFill>
            <a:srgbClr val="1E3060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23957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08192" y="292608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Third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08192" y="3291840"/>
            <a:ext cx="24231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A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SG sub-vnd → Singtel or Telstra direct by Month 10. India time zone + diaspora = unfair advantage.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Soft Solutions  ·  Global Oracle Practice Launch  ·  Confidential  ·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Soft Solutions – Global Oracle Practice Launch Plan</dc:title>
  <dc:subject>Oracle Practice Global GTM</dc:subject>
  <dc:creator>CS Soft Solutions</dc:creator>
  <cp:lastModifiedBy>CS Soft Solutions</cp:lastModifiedBy>
  <cp:revision>1</cp:revision>
  <dcterms:created xsi:type="dcterms:W3CDTF">2026-06-12T21:14:32Z</dcterms:created>
  <dcterms:modified xsi:type="dcterms:W3CDTF">2026-06-12T21:14:32Z</dcterms:modified>
</cp:coreProperties>
</file>