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F6E"/>
          </a:solidFill>
          <a:ln/>
        </p:spPr>
      </p:sp>
      <p:sp>
        <p:nvSpPr>
          <p:cNvPr id="3" name="Shape 1"/>
          <p:cNvSpPr/>
          <p:nvPr/>
        </p:nvSpPr>
        <p:spPr>
          <a:xfrm>
            <a:off x="6583680" y="-914400"/>
            <a:ext cx="3200400" cy="3200400"/>
          </a:xfrm>
          <a:prstGeom prst="ellipse">
            <a:avLst/>
          </a:prstGeom>
          <a:solidFill>
            <a:srgbClr val="253D80"/>
          </a:solidFill>
          <a:ln/>
        </p:spPr>
      </p:sp>
      <p:sp>
        <p:nvSpPr>
          <p:cNvPr id="4" name="Shape 2"/>
          <p:cNvSpPr/>
          <p:nvPr/>
        </p:nvSpPr>
        <p:spPr>
          <a:xfrm>
            <a:off x="-1005840" y="3474720"/>
            <a:ext cx="2560320" cy="2560320"/>
          </a:xfrm>
          <a:prstGeom prst="ellipse">
            <a:avLst/>
          </a:prstGeom>
          <a:solidFill>
            <a:srgbClr val="253D80"/>
          </a:solidFill>
          <a:ln/>
        </p:spPr>
      </p:sp>
      <p:sp>
        <p:nvSpPr>
          <p:cNvPr id="5" name="Shape 3"/>
          <p:cNvSpPr/>
          <p:nvPr/>
        </p:nvSpPr>
        <p:spPr>
          <a:xfrm>
            <a:off x="5943600" y="3200400"/>
            <a:ext cx="1645920" cy="1645920"/>
          </a:xfrm>
          <a:prstGeom prst="ellipse">
            <a:avLst/>
          </a:prstGeom>
          <a:solidFill>
            <a:srgbClr val="2A4090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8" name="Shape 6"/>
          <p:cNvSpPr/>
          <p:nvPr/>
        </p:nvSpPr>
        <p:spPr>
          <a:xfrm>
            <a:off x="2926080" y="502920"/>
            <a:ext cx="3291840" cy="29260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0" y="50292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✓  ALREADY-BUILT PLATFORM  ·  ANM RFP SOLUTION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365760" y="914400"/>
            <a:ext cx="8412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</a:rPr>
              <a:t>Mahima Community</a:t>
            </a:r>
            <a:endParaRPr lang="en-US" sz="4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</a:rPr>
              <a:t>Platform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365760" y="228600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1FAE5"/>
                </a:solidFill>
              </a:rPr>
              <a:t>for ANM Health Community Programme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560320" y="2743200"/>
            <a:ext cx="4023360" cy="36576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926080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0A500"/>
                </a:solidFill>
              </a:rPr>
              <a:t>V4.0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31520" y="3255264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1FAE5"/>
                </a:solidFill>
              </a:rPr>
              <a:t>Released Platform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697480" y="2926080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0A500"/>
                </a:solidFill>
              </a:rPr>
              <a:t>8 Weeks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697480" y="3255264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1FAE5"/>
                </a:solidFill>
              </a:rPr>
              <a:t>to Go-Live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663440" y="2926080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0A500"/>
                </a:solidFill>
              </a:rPr>
              <a:t>20+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663440" y="3255264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1FAE5"/>
                </a:solidFill>
              </a:rPr>
              <a:t>Built Modules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629400" y="2926080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0A500"/>
                </a:solidFill>
              </a:rPr>
              <a:t>.NET 8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629400" y="3255264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1FAE5"/>
                </a:solidFill>
              </a:rPr>
              <a:t>Enterprise Grade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65760" y="361188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ASP.NET Core  ·  React + Ionic/Capacitor  ·  PostgreSQL  ·  AWS S3  ·  Twilio  ·  Firebase Auth  ·  AI Bot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65760" y="388620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Submitted by: Your Company Name  |  Date: June 2025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0" y="4969764"/>
            <a:ext cx="9144000" cy="173736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24" name="Text 22"/>
          <p:cNvSpPr/>
          <p:nvPr/>
        </p:nvSpPr>
        <p:spPr>
          <a:xfrm>
            <a:off x="0" y="4971593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B2F6E"/>
                </a:solidFill>
              </a:rPr>
              <a:t>Mahima Community Platform  ·  ANM RFP Proposal  ·  Confidential  ·  June 2025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B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B2F6E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9144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140" kern="0" dirty="0">
                <a:solidFill>
                  <a:srgbClr val="F0A500"/>
                </a:solidFill>
              </a:rPr>
              <a:t>•  EXECUTIVE SUMMARY  •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0" y="292608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2F6E"/>
                </a:solidFill>
              </a:rPr>
              <a:t>Why Mahima Platform for ANM?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02920" y="914400"/>
            <a:ext cx="8138160" cy="3657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8" name="Shape 6"/>
          <p:cNvSpPr/>
          <p:nvPr/>
        </p:nvSpPr>
        <p:spPr>
          <a:xfrm>
            <a:off x="201168" y="1115568"/>
            <a:ext cx="2066544" cy="3547872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9" name="Shape 7"/>
          <p:cNvSpPr/>
          <p:nvPr/>
        </p:nvSpPr>
        <p:spPr>
          <a:xfrm>
            <a:off x="164592" y="1078992"/>
            <a:ext cx="2066544" cy="3547872"/>
          </a:xfrm>
          <a:prstGeom prst="rect">
            <a:avLst/>
          </a:prstGeom>
          <a:solidFill>
            <a:srgbClr val="1B2F6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64592" y="1207008"/>
            <a:ext cx="20665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🏗️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56032" y="1609344"/>
            <a:ext cx="18836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Already Built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2029968"/>
            <a:ext cx="1664208" cy="2743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256032" y="2121408"/>
            <a:ext cx="1883664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Mahima V4.0 is a production-grade community management platform with 20+ live modules — no greenfield build, no surprises.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414016" y="1115568"/>
            <a:ext cx="2066544" cy="3547872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5" name="Shape 13"/>
          <p:cNvSpPr/>
          <p:nvPr/>
        </p:nvSpPr>
        <p:spPr>
          <a:xfrm>
            <a:off x="2377440" y="1078992"/>
            <a:ext cx="2066544" cy="3547872"/>
          </a:xfrm>
          <a:prstGeom prst="rect">
            <a:avLst/>
          </a:prstGeom>
          <a:solidFill>
            <a:srgbClr val="05966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377440" y="1207008"/>
            <a:ext cx="20665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2468880" y="1609344"/>
            <a:ext cx="18836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8-Week Delivery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578608" y="2029968"/>
            <a:ext cx="1664208" cy="2743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9" name="Text 17"/>
          <p:cNvSpPr/>
          <p:nvPr/>
        </p:nvSpPr>
        <p:spPr>
          <a:xfrm>
            <a:off x="2468880" y="2121408"/>
            <a:ext cx="1883664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Deploy a fully-customised ANM platform in 8 weeks vs. 10+ weeks for greenfield — faster ROI, earlier community impact.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26864" y="1115568"/>
            <a:ext cx="2066544" cy="3547872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1" name="Shape 19"/>
          <p:cNvSpPr/>
          <p:nvPr/>
        </p:nvSpPr>
        <p:spPr>
          <a:xfrm>
            <a:off x="4590288" y="1078992"/>
            <a:ext cx="2066544" cy="3547872"/>
          </a:xfrm>
          <a:prstGeom prst="rect">
            <a:avLst/>
          </a:prstGeom>
          <a:solidFill>
            <a:srgbClr val="F0A50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590288" y="1207008"/>
            <a:ext cx="20665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💰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681728" y="1609344"/>
            <a:ext cx="18836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F6E"/>
                </a:solidFill>
              </a:rPr>
              <a:t>$164,500 All-In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91456" y="2029968"/>
            <a:ext cx="1664208" cy="2743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5" name="Text 23"/>
          <p:cNvSpPr/>
          <p:nvPr/>
        </p:nvSpPr>
        <p:spPr>
          <a:xfrm>
            <a:off x="4681728" y="2121408"/>
            <a:ext cx="1883664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B2F6E"/>
                </a:solidFill>
              </a:rPr>
              <a:t>One-time customisation investment — 43% less than greenfield alternatives. Proven platform, reduced project risk.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839712" y="1115568"/>
            <a:ext cx="2066544" cy="3547872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7" name="Shape 25"/>
          <p:cNvSpPr/>
          <p:nvPr/>
        </p:nvSpPr>
        <p:spPr>
          <a:xfrm>
            <a:off x="6803136" y="1078992"/>
            <a:ext cx="2066544" cy="3547872"/>
          </a:xfrm>
          <a:prstGeom prst="rect">
            <a:avLst/>
          </a:prstGeom>
          <a:solidFill>
            <a:srgbClr val="7C3AED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803136" y="1207008"/>
            <a:ext cx="20665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🏛️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894576" y="1609344"/>
            <a:ext cx="18836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Enterprise .NET 8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7004304" y="2029968"/>
            <a:ext cx="1664208" cy="2743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1" name="Text 29"/>
          <p:cNvSpPr/>
          <p:nvPr/>
        </p:nvSpPr>
        <p:spPr>
          <a:xfrm>
            <a:off x="6894576" y="2121408"/>
            <a:ext cx="1883664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ASP.NET Core .NET 8 backend with PostgreSQL — enterprise-grade security, audit logs, RBAC, and built-in AI assistant.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64592" y="4754880"/>
            <a:ext cx="88148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Mahima V4.0 is in active production. No proof-of-concept — a real platform adapted for ANM community health workflows.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0" y="4969764"/>
            <a:ext cx="9144000" cy="173736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34" name="Text 32"/>
          <p:cNvSpPr/>
          <p:nvPr/>
        </p:nvSpPr>
        <p:spPr>
          <a:xfrm>
            <a:off x="0" y="4971593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B2F6E"/>
                </a:solidFill>
              </a:rPr>
              <a:t>Mahima Community Platform  ·  ANM RFP Proposal  ·  Confidential  ·  June 2025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B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B2F6E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9144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140" kern="0" dirty="0">
                <a:solidFill>
                  <a:srgbClr val="F0A500"/>
                </a:solidFill>
              </a:rPr>
              <a:t>•  MAHIMA V4.0  ·  PLATFORM OVERVIEW  •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0" y="292608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F6E"/>
                </a:solidFill>
              </a:rPr>
              <a:t>What's Already Built in Mahima V4.0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02920" y="914400"/>
            <a:ext cx="8138160" cy="3657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969264"/>
            <a:ext cx="8412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A fully-functional, production-deployed community platform with enterprise architecture — ready to adapt for ANM health workflows.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64592" y="1261872"/>
            <a:ext cx="1389888" cy="1152144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64592" y="1261872"/>
            <a:ext cx="1389888" cy="457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1" name="Text 9"/>
          <p:cNvSpPr/>
          <p:nvPr/>
        </p:nvSpPr>
        <p:spPr>
          <a:xfrm>
            <a:off x="164592" y="1316736"/>
            <a:ext cx="13898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👥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19456" y="1609344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2F6E"/>
                </a:solidFill>
              </a:rPr>
              <a:t>User &amp; Role Management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219456" y="1901952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RBAC, multi-role, audit logs, Google OAuth + JWT</a:t>
            </a:r>
            <a:endParaRPr lang="en-US" sz="650" dirty="0"/>
          </a:p>
        </p:txBody>
      </p:sp>
      <p:sp>
        <p:nvSpPr>
          <p:cNvPr id="14" name="Shape 12"/>
          <p:cNvSpPr/>
          <p:nvPr/>
        </p:nvSpPr>
        <p:spPr>
          <a:xfrm>
            <a:off x="1600200" y="1261872"/>
            <a:ext cx="1389888" cy="1152144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600200" y="1261872"/>
            <a:ext cx="1389888" cy="457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6" name="Text 14"/>
          <p:cNvSpPr/>
          <p:nvPr/>
        </p:nvSpPr>
        <p:spPr>
          <a:xfrm>
            <a:off x="1600200" y="1316736"/>
            <a:ext cx="13898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🏘️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655064" y="1609344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2F6E"/>
                </a:solidFill>
              </a:rPr>
              <a:t>Teams &amp; Groups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655064" y="1901952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Create teams, assign leaders, bulk member management</a:t>
            </a:r>
            <a:endParaRPr lang="en-US" sz="650" dirty="0"/>
          </a:p>
        </p:txBody>
      </p:sp>
      <p:sp>
        <p:nvSpPr>
          <p:cNvPr id="19" name="Shape 17"/>
          <p:cNvSpPr/>
          <p:nvPr/>
        </p:nvSpPr>
        <p:spPr>
          <a:xfrm>
            <a:off x="3035808" y="1261872"/>
            <a:ext cx="1389888" cy="1152144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035808" y="1261872"/>
            <a:ext cx="1389888" cy="457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1" name="Text 19"/>
          <p:cNvSpPr/>
          <p:nvPr/>
        </p:nvSpPr>
        <p:spPr>
          <a:xfrm>
            <a:off x="3035808" y="1316736"/>
            <a:ext cx="13898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📅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090672" y="1609344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2F6E"/>
                </a:solidFill>
              </a:rPr>
              <a:t>Meetings &amp; Scheduling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3090672" y="1901952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GPS-enabled events, RSVP, attendance tracking</a:t>
            </a:r>
            <a:endParaRPr lang="en-US" sz="650" dirty="0"/>
          </a:p>
        </p:txBody>
      </p:sp>
      <p:sp>
        <p:nvSpPr>
          <p:cNvPr id="24" name="Shape 22"/>
          <p:cNvSpPr/>
          <p:nvPr/>
        </p:nvSpPr>
        <p:spPr>
          <a:xfrm>
            <a:off x="4471416" y="1261872"/>
            <a:ext cx="1389888" cy="1152144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471416" y="1261872"/>
            <a:ext cx="1389888" cy="457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6" name="Text 24"/>
          <p:cNvSpPr/>
          <p:nvPr/>
        </p:nvSpPr>
        <p:spPr>
          <a:xfrm>
            <a:off x="4471416" y="1316736"/>
            <a:ext cx="13898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526280" y="1609344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2F6E"/>
                </a:solidFill>
              </a:rPr>
              <a:t>Task Management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526280" y="1901952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Assign tasks, track status, role-based analytics</a:t>
            </a:r>
            <a:endParaRPr lang="en-US" sz="650" dirty="0"/>
          </a:p>
        </p:txBody>
      </p:sp>
      <p:sp>
        <p:nvSpPr>
          <p:cNvPr id="29" name="Shape 27"/>
          <p:cNvSpPr/>
          <p:nvPr/>
        </p:nvSpPr>
        <p:spPr>
          <a:xfrm>
            <a:off x="5907024" y="1261872"/>
            <a:ext cx="1389888" cy="1152144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907024" y="1261872"/>
            <a:ext cx="1389888" cy="457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1" name="Text 29"/>
          <p:cNvSpPr/>
          <p:nvPr/>
        </p:nvSpPr>
        <p:spPr>
          <a:xfrm>
            <a:off x="5907024" y="1316736"/>
            <a:ext cx="13898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📋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961888" y="1609344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2F6E"/>
                </a:solidFill>
              </a:rPr>
              <a:t>Attendance Tracking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5961888" y="1901952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Daily check-in/out, status per member per day</a:t>
            </a:r>
            <a:endParaRPr lang="en-US" sz="650" dirty="0"/>
          </a:p>
        </p:txBody>
      </p:sp>
      <p:sp>
        <p:nvSpPr>
          <p:cNvPr id="34" name="Shape 32"/>
          <p:cNvSpPr/>
          <p:nvPr/>
        </p:nvSpPr>
        <p:spPr>
          <a:xfrm>
            <a:off x="7342632" y="1261872"/>
            <a:ext cx="1389888" cy="1152144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342632" y="1261872"/>
            <a:ext cx="1389888" cy="457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6" name="Text 34"/>
          <p:cNvSpPr/>
          <p:nvPr/>
        </p:nvSpPr>
        <p:spPr>
          <a:xfrm>
            <a:off x="7342632" y="1316736"/>
            <a:ext cx="13898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💬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397496" y="1609344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2F6E"/>
                </a:solidFill>
              </a:rPr>
              <a:t>Chat &amp; Messaging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7397496" y="1901952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Group chats, DMs, read receipts, bulk SMS (Twilio)</a:t>
            </a:r>
            <a:endParaRPr lang="en-US" sz="650" dirty="0"/>
          </a:p>
        </p:txBody>
      </p:sp>
      <p:sp>
        <p:nvSpPr>
          <p:cNvPr id="39" name="Shape 37"/>
          <p:cNvSpPr/>
          <p:nvPr/>
        </p:nvSpPr>
        <p:spPr>
          <a:xfrm>
            <a:off x="164592" y="2459736"/>
            <a:ext cx="1389888" cy="1152144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164592" y="2459736"/>
            <a:ext cx="1389888" cy="457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1" name="Text 39"/>
          <p:cNvSpPr/>
          <p:nvPr/>
        </p:nvSpPr>
        <p:spPr>
          <a:xfrm>
            <a:off x="164592" y="2514600"/>
            <a:ext cx="13898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📝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219456" y="2807208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2F6E"/>
                </a:solidFill>
              </a:rPr>
              <a:t>Request Workflows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219456" y="3099816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Submit → review → approve → complete (baptism/marriage model)</a:t>
            </a:r>
            <a:endParaRPr lang="en-US" sz="650" dirty="0"/>
          </a:p>
        </p:txBody>
      </p:sp>
      <p:sp>
        <p:nvSpPr>
          <p:cNvPr id="44" name="Shape 42"/>
          <p:cNvSpPr/>
          <p:nvPr/>
        </p:nvSpPr>
        <p:spPr>
          <a:xfrm>
            <a:off x="1600200" y="2459736"/>
            <a:ext cx="1389888" cy="1152144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1600200" y="2459736"/>
            <a:ext cx="1389888" cy="457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6" name="Text 44"/>
          <p:cNvSpPr/>
          <p:nvPr/>
        </p:nvSpPr>
        <p:spPr>
          <a:xfrm>
            <a:off x="1600200" y="2514600"/>
            <a:ext cx="13898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🤝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1655064" y="2807208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2F6E"/>
                </a:solidFill>
              </a:rPr>
              <a:t>Counselling Module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1655064" y="3099816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Candidates, sessions, cases with status enums</a:t>
            </a:r>
            <a:endParaRPr lang="en-US" sz="650" dirty="0"/>
          </a:p>
        </p:txBody>
      </p:sp>
      <p:sp>
        <p:nvSpPr>
          <p:cNvPr id="49" name="Shape 47"/>
          <p:cNvSpPr/>
          <p:nvPr/>
        </p:nvSpPr>
        <p:spPr>
          <a:xfrm>
            <a:off x="3035808" y="2459736"/>
            <a:ext cx="1389888" cy="1152144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3035808" y="2459736"/>
            <a:ext cx="1389888" cy="457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51" name="Text 49"/>
          <p:cNvSpPr/>
          <p:nvPr/>
        </p:nvSpPr>
        <p:spPr>
          <a:xfrm>
            <a:off x="3035808" y="2514600"/>
            <a:ext cx="13898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💰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3090672" y="2807208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2F6E"/>
                </a:solidFill>
              </a:rPr>
              <a:t>Expense &amp; Payroll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3090672" y="3099816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Category expenses, payroll runs, payslip PDF generation</a:t>
            </a:r>
            <a:endParaRPr lang="en-US" sz="650" dirty="0"/>
          </a:p>
        </p:txBody>
      </p:sp>
      <p:sp>
        <p:nvSpPr>
          <p:cNvPr id="54" name="Shape 52"/>
          <p:cNvSpPr/>
          <p:nvPr/>
        </p:nvSpPr>
        <p:spPr>
          <a:xfrm>
            <a:off x="4471416" y="2459736"/>
            <a:ext cx="1389888" cy="1152144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4471416" y="2459736"/>
            <a:ext cx="1389888" cy="457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56" name="Text 54"/>
          <p:cNvSpPr/>
          <p:nvPr/>
        </p:nvSpPr>
        <p:spPr>
          <a:xfrm>
            <a:off x="4471416" y="2514600"/>
            <a:ext cx="13898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4526280" y="2807208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2F6E"/>
                </a:solidFill>
              </a:rPr>
              <a:t>Analytics Dashboard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4526280" y="3099816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User, task, prayer overview — snapshot analytics</a:t>
            </a:r>
            <a:endParaRPr lang="en-US" sz="650" dirty="0"/>
          </a:p>
        </p:txBody>
      </p:sp>
      <p:sp>
        <p:nvSpPr>
          <p:cNvPr id="59" name="Shape 57"/>
          <p:cNvSpPr/>
          <p:nvPr/>
        </p:nvSpPr>
        <p:spPr>
          <a:xfrm>
            <a:off x="5907024" y="2459736"/>
            <a:ext cx="1389888" cy="1152144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5907024" y="2459736"/>
            <a:ext cx="1389888" cy="457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61" name="Text 59"/>
          <p:cNvSpPr/>
          <p:nvPr/>
        </p:nvSpPr>
        <p:spPr>
          <a:xfrm>
            <a:off x="5907024" y="2514600"/>
            <a:ext cx="13898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🤖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5961888" y="2807208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2F6E"/>
                </a:solidFill>
              </a:rPr>
              <a:t>AI Assistant Bot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5961888" y="3099816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OpenAI-compatible bot (PastorBot → HealthBot adaptation)</a:t>
            </a:r>
            <a:endParaRPr lang="en-US" sz="650" dirty="0"/>
          </a:p>
        </p:txBody>
      </p:sp>
      <p:sp>
        <p:nvSpPr>
          <p:cNvPr id="64" name="Shape 62"/>
          <p:cNvSpPr/>
          <p:nvPr/>
        </p:nvSpPr>
        <p:spPr>
          <a:xfrm>
            <a:off x="7342632" y="2459736"/>
            <a:ext cx="1389888" cy="1152144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7342632" y="2459736"/>
            <a:ext cx="1389888" cy="457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66" name="Text 64"/>
          <p:cNvSpPr/>
          <p:nvPr/>
        </p:nvSpPr>
        <p:spPr>
          <a:xfrm>
            <a:off x="7342632" y="2514600"/>
            <a:ext cx="13898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📁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7397496" y="2807208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2F6E"/>
                </a:solidFill>
              </a:rPr>
              <a:t>Document Management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7397496" y="3099816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AWS S3 attachments, file uploads, Google Drive sync</a:t>
            </a:r>
            <a:endParaRPr lang="en-US" sz="650" dirty="0"/>
          </a:p>
        </p:txBody>
      </p:sp>
      <p:sp>
        <p:nvSpPr>
          <p:cNvPr id="69" name="Shape 67"/>
          <p:cNvSpPr/>
          <p:nvPr/>
        </p:nvSpPr>
        <p:spPr>
          <a:xfrm>
            <a:off x="164592" y="3657600"/>
            <a:ext cx="1389888" cy="1152144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164592" y="3657600"/>
            <a:ext cx="1389888" cy="457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71" name="Text 69"/>
          <p:cNvSpPr/>
          <p:nvPr/>
        </p:nvSpPr>
        <p:spPr>
          <a:xfrm>
            <a:off x="164592" y="3712464"/>
            <a:ext cx="13898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🔔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219456" y="4005072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2F6E"/>
                </a:solidFill>
              </a:rPr>
              <a:t>Notifications &amp; Automation</a:t>
            </a:r>
            <a:endParaRPr lang="en-US" sz="750" dirty="0"/>
          </a:p>
        </p:txBody>
      </p:sp>
      <p:sp>
        <p:nvSpPr>
          <p:cNvPr id="73" name="Text 71"/>
          <p:cNvSpPr/>
          <p:nvPr/>
        </p:nvSpPr>
        <p:spPr>
          <a:xfrm>
            <a:off x="219456" y="42976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Recurring task alerts, scheduled bulk messages</a:t>
            </a:r>
            <a:endParaRPr lang="en-US" sz="650" dirty="0"/>
          </a:p>
        </p:txBody>
      </p:sp>
      <p:sp>
        <p:nvSpPr>
          <p:cNvPr id="74" name="Shape 72"/>
          <p:cNvSpPr/>
          <p:nvPr/>
        </p:nvSpPr>
        <p:spPr>
          <a:xfrm>
            <a:off x="1600200" y="3657600"/>
            <a:ext cx="1389888" cy="1152144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5" name="Shape 73"/>
          <p:cNvSpPr/>
          <p:nvPr/>
        </p:nvSpPr>
        <p:spPr>
          <a:xfrm>
            <a:off x="1600200" y="3657600"/>
            <a:ext cx="1389888" cy="457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76" name="Text 74"/>
          <p:cNvSpPr/>
          <p:nvPr/>
        </p:nvSpPr>
        <p:spPr>
          <a:xfrm>
            <a:off x="1600200" y="3712464"/>
            <a:ext cx="13898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🌐</a:t>
            </a:r>
            <a:endParaRPr lang="en-US" sz="1600" dirty="0"/>
          </a:p>
        </p:txBody>
      </p:sp>
      <p:sp>
        <p:nvSpPr>
          <p:cNvPr id="77" name="Text 75"/>
          <p:cNvSpPr/>
          <p:nvPr/>
        </p:nvSpPr>
        <p:spPr>
          <a:xfrm>
            <a:off x="1655064" y="4005072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2F6E"/>
                </a:solidFill>
              </a:rPr>
              <a:t>Multi-Language CMS</a:t>
            </a:r>
            <a:endParaRPr lang="en-US" sz="750" dirty="0"/>
          </a:p>
        </p:txBody>
      </p:sp>
      <p:sp>
        <p:nvSpPr>
          <p:cNvPr id="78" name="Text 76"/>
          <p:cNvSpPr/>
          <p:nvPr/>
        </p:nvSpPr>
        <p:spPr>
          <a:xfrm>
            <a:off x="1655064" y="42976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Admin-controlled UI translations + content pages</a:t>
            </a:r>
            <a:endParaRPr lang="en-US" sz="650" dirty="0"/>
          </a:p>
        </p:txBody>
      </p:sp>
      <p:sp>
        <p:nvSpPr>
          <p:cNvPr id="79" name="Shape 77"/>
          <p:cNvSpPr/>
          <p:nvPr/>
        </p:nvSpPr>
        <p:spPr>
          <a:xfrm>
            <a:off x="3035808" y="3657600"/>
            <a:ext cx="1389888" cy="1152144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0" name="Shape 78"/>
          <p:cNvSpPr/>
          <p:nvPr/>
        </p:nvSpPr>
        <p:spPr>
          <a:xfrm>
            <a:off x="3035808" y="3657600"/>
            <a:ext cx="1389888" cy="457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81" name="Text 79"/>
          <p:cNvSpPr/>
          <p:nvPr/>
        </p:nvSpPr>
        <p:spPr>
          <a:xfrm>
            <a:off x="3035808" y="3712464"/>
            <a:ext cx="13898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📄</a:t>
            </a:r>
            <a:endParaRPr lang="en-US" sz="1600" dirty="0"/>
          </a:p>
        </p:txBody>
      </p:sp>
      <p:sp>
        <p:nvSpPr>
          <p:cNvPr id="82" name="Text 80"/>
          <p:cNvSpPr/>
          <p:nvPr/>
        </p:nvSpPr>
        <p:spPr>
          <a:xfrm>
            <a:off x="3090672" y="4005072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2F6E"/>
                </a:solidFill>
              </a:rPr>
              <a:t>PDF Generation</a:t>
            </a:r>
            <a:endParaRPr lang="en-US" sz="750" dirty="0"/>
          </a:p>
        </p:txBody>
      </p:sp>
      <p:sp>
        <p:nvSpPr>
          <p:cNvPr id="83" name="Text 81"/>
          <p:cNvSpPr/>
          <p:nvPr/>
        </p:nvSpPr>
        <p:spPr>
          <a:xfrm>
            <a:off x="3090672" y="42976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iText7 + QuestPDF — certificates, reports, payslips</a:t>
            </a:r>
            <a:endParaRPr lang="en-US" sz="650" dirty="0"/>
          </a:p>
        </p:txBody>
      </p:sp>
      <p:sp>
        <p:nvSpPr>
          <p:cNvPr id="84" name="Shape 82"/>
          <p:cNvSpPr/>
          <p:nvPr/>
        </p:nvSpPr>
        <p:spPr>
          <a:xfrm>
            <a:off x="4471416" y="3657600"/>
            <a:ext cx="1389888" cy="1152144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5" name="Shape 83"/>
          <p:cNvSpPr/>
          <p:nvPr/>
        </p:nvSpPr>
        <p:spPr>
          <a:xfrm>
            <a:off x="4471416" y="3657600"/>
            <a:ext cx="1389888" cy="457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86" name="Text 84"/>
          <p:cNvSpPr/>
          <p:nvPr/>
        </p:nvSpPr>
        <p:spPr>
          <a:xfrm>
            <a:off x="4471416" y="3712464"/>
            <a:ext cx="13898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🔒</a:t>
            </a:r>
            <a:endParaRPr lang="en-US" sz="1600" dirty="0"/>
          </a:p>
        </p:txBody>
      </p:sp>
      <p:sp>
        <p:nvSpPr>
          <p:cNvPr id="87" name="Text 85"/>
          <p:cNvSpPr/>
          <p:nvPr/>
        </p:nvSpPr>
        <p:spPr>
          <a:xfrm>
            <a:off x="4526280" y="4005072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2F6E"/>
                </a:solidFill>
              </a:rPr>
              <a:t>Security &amp; Audit</a:t>
            </a:r>
            <a:endParaRPr lang="en-US" sz="750" dirty="0"/>
          </a:p>
        </p:txBody>
      </p:sp>
      <p:sp>
        <p:nvSpPr>
          <p:cNvPr id="88" name="Text 86"/>
          <p:cNvSpPr/>
          <p:nvPr/>
        </p:nvSpPr>
        <p:spPr>
          <a:xfrm>
            <a:off x="4526280" y="42976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Full audit trail, role permissions, JWT + Google Auth</a:t>
            </a:r>
            <a:endParaRPr lang="en-US" sz="650" dirty="0"/>
          </a:p>
        </p:txBody>
      </p:sp>
      <p:sp>
        <p:nvSpPr>
          <p:cNvPr id="89" name="Shape 87"/>
          <p:cNvSpPr/>
          <p:nvPr/>
        </p:nvSpPr>
        <p:spPr>
          <a:xfrm>
            <a:off x="5907024" y="3657600"/>
            <a:ext cx="1389888" cy="1152144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0" name="Shape 88"/>
          <p:cNvSpPr/>
          <p:nvPr/>
        </p:nvSpPr>
        <p:spPr>
          <a:xfrm>
            <a:off x="5907024" y="3657600"/>
            <a:ext cx="1389888" cy="457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91" name="Text 89"/>
          <p:cNvSpPr/>
          <p:nvPr/>
        </p:nvSpPr>
        <p:spPr>
          <a:xfrm>
            <a:off x="5907024" y="3712464"/>
            <a:ext cx="13898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📧</a:t>
            </a:r>
            <a:endParaRPr lang="en-US" sz="1600" dirty="0"/>
          </a:p>
        </p:txBody>
      </p:sp>
      <p:sp>
        <p:nvSpPr>
          <p:cNvPr id="92" name="Text 90"/>
          <p:cNvSpPr/>
          <p:nvPr/>
        </p:nvSpPr>
        <p:spPr>
          <a:xfrm>
            <a:off x="5961888" y="4005072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2F6E"/>
                </a:solidFill>
              </a:rPr>
              <a:t>Email Notifications</a:t>
            </a:r>
            <a:endParaRPr lang="en-US" sz="750" dirty="0"/>
          </a:p>
        </p:txBody>
      </p:sp>
      <p:sp>
        <p:nvSpPr>
          <p:cNvPr id="93" name="Text 91"/>
          <p:cNvSpPr/>
          <p:nvPr/>
        </p:nvSpPr>
        <p:spPr>
          <a:xfrm>
            <a:off x="5961888" y="42976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MailKit SMTP — automated event &amp; task emails</a:t>
            </a:r>
            <a:endParaRPr lang="en-US" sz="650" dirty="0"/>
          </a:p>
        </p:txBody>
      </p:sp>
      <p:sp>
        <p:nvSpPr>
          <p:cNvPr id="94" name="Shape 92"/>
          <p:cNvSpPr/>
          <p:nvPr/>
        </p:nvSpPr>
        <p:spPr>
          <a:xfrm>
            <a:off x="7342632" y="3657600"/>
            <a:ext cx="1389888" cy="1152144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5" name="Shape 93"/>
          <p:cNvSpPr/>
          <p:nvPr/>
        </p:nvSpPr>
        <p:spPr>
          <a:xfrm>
            <a:off x="7342632" y="3657600"/>
            <a:ext cx="1389888" cy="457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96" name="Text 94"/>
          <p:cNvSpPr/>
          <p:nvPr/>
        </p:nvSpPr>
        <p:spPr>
          <a:xfrm>
            <a:off x="7342632" y="3712464"/>
            <a:ext cx="13898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⏱️</a:t>
            </a:r>
            <a:endParaRPr lang="en-US" sz="1600" dirty="0"/>
          </a:p>
        </p:txBody>
      </p:sp>
      <p:sp>
        <p:nvSpPr>
          <p:cNvPr id="97" name="Text 95"/>
          <p:cNvSpPr/>
          <p:nvPr/>
        </p:nvSpPr>
        <p:spPr>
          <a:xfrm>
            <a:off x="7397496" y="4005072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2F6E"/>
                </a:solidFill>
              </a:rPr>
              <a:t>Timesheets</a:t>
            </a:r>
            <a:endParaRPr lang="en-US" sz="750" dirty="0"/>
          </a:p>
        </p:txBody>
      </p:sp>
      <p:sp>
        <p:nvSpPr>
          <p:cNvPr id="98" name="Text 96"/>
          <p:cNvSpPr/>
          <p:nvPr/>
        </p:nvSpPr>
        <p:spPr>
          <a:xfrm>
            <a:off x="7397496" y="42976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Staff time tracking, hours logging, payroll integration</a:t>
            </a:r>
            <a:endParaRPr lang="en-US" sz="650" dirty="0"/>
          </a:p>
        </p:txBody>
      </p:sp>
      <p:sp>
        <p:nvSpPr>
          <p:cNvPr id="99" name="Shape 97"/>
          <p:cNvSpPr/>
          <p:nvPr/>
        </p:nvSpPr>
        <p:spPr>
          <a:xfrm>
            <a:off x="0" y="4969764"/>
            <a:ext cx="9144000" cy="173736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100" name="Text 98"/>
          <p:cNvSpPr/>
          <p:nvPr/>
        </p:nvSpPr>
        <p:spPr>
          <a:xfrm>
            <a:off x="0" y="4971593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B2F6E"/>
                </a:solidFill>
              </a:rPr>
              <a:t>Mahima Community Platform  ·  ANM RFP Proposal  ·  Confidential  ·  June 2025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F6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-731520"/>
            <a:ext cx="2926080" cy="2926080"/>
          </a:xfrm>
          <a:prstGeom prst="ellipse">
            <a:avLst/>
          </a:prstGeom>
          <a:solidFill>
            <a:srgbClr val="253D80"/>
          </a:solidFill>
          <a:ln/>
        </p:spPr>
      </p:sp>
      <p:sp>
        <p:nvSpPr>
          <p:cNvPr id="5" name="Shape 3"/>
          <p:cNvSpPr/>
          <p:nvPr/>
        </p:nvSpPr>
        <p:spPr>
          <a:xfrm>
            <a:off x="-731520" y="3291840"/>
            <a:ext cx="2194560" cy="2194560"/>
          </a:xfrm>
          <a:prstGeom prst="ellipse">
            <a:avLst/>
          </a:prstGeom>
          <a:solidFill>
            <a:srgbClr val="253D80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9144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140" kern="0" dirty="0">
                <a:solidFill>
                  <a:srgbClr val="F0A500"/>
                </a:solidFill>
              </a:rPr>
              <a:t>•  TECHNOLOGY ARCHITECTURE  •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0" y="2743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Mahima V4.0 — Technology Stack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02920" y="896112"/>
            <a:ext cx="8138160" cy="3657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9" name="Shape 7"/>
          <p:cNvSpPr/>
          <p:nvPr/>
        </p:nvSpPr>
        <p:spPr>
          <a:xfrm>
            <a:off x="201168" y="1152144"/>
            <a:ext cx="2148840" cy="34747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0" name="Shape 8"/>
          <p:cNvSpPr/>
          <p:nvPr/>
        </p:nvSpPr>
        <p:spPr>
          <a:xfrm>
            <a:off x="164592" y="1115568"/>
            <a:ext cx="2148840" cy="3474720"/>
          </a:xfrm>
          <a:prstGeom prst="rect">
            <a:avLst/>
          </a:prstGeom>
          <a:solidFill>
            <a:srgbClr val="253B8A"/>
          </a:solidFill>
          <a:ln w="12700">
            <a:solidFill>
              <a:srgbClr val="3050A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4592" y="1115568"/>
            <a:ext cx="214884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2" name="Text 10"/>
          <p:cNvSpPr/>
          <p:nvPr/>
        </p:nvSpPr>
        <p:spPr>
          <a:xfrm>
            <a:off x="237744" y="1207008"/>
            <a:ext cx="20025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9669"/>
                </a:solidFill>
              </a:rPr>
              <a:t>MOBILE FRONTEND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74320" y="1517904"/>
            <a:ext cx="1929384" cy="2286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4" name="Text 12"/>
          <p:cNvSpPr/>
          <p:nvPr/>
        </p:nvSpPr>
        <p:spPr>
          <a:xfrm>
            <a:off x="256032" y="1627632"/>
            <a:ext cx="1965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1FAE5"/>
                </a:solidFill>
              </a:rPr>
              <a:t>▸  React + Vite + TypeScript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56032" y="2139696"/>
            <a:ext cx="1965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1FAE5"/>
                </a:solidFill>
              </a:rPr>
              <a:t>▸  Ionic / Capacitor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56032" y="2651760"/>
            <a:ext cx="1965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1FAE5"/>
                </a:solidFill>
              </a:rPr>
              <a:t>▸  Firebase Auth SDK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56032" y="3163824"/>
            <a:ext cx="1965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1FAE5"/>
                </a:solidFill>
              </a:rPr>
              <a:t>▸  Socket.IO Client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56032" y="3675888"/>
            <a:ext cx="1965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1FAE5"/>
                </a:solidFill>
              </a:rPr>
              <a:t>▸  iOS + Android Builds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487168" y="1152144"/>
            <a:ext cx="2148840" cy="34747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0" name="Shape 18"/>
          <p:cNvSpPr/>
          <p:nvPr/>
        </p:nvSpPr>
        <p:spPr>
          <a:xfrm>
            <a:off x="2450592" y="1115568"/>
            <a:ext cx="2148840" cy="3474720"/>
          </a:xfrm>
          <a:prstGeom prst="rect">
            <a:avLst/>
          </a:prstGeom>
          <a:solidFill>
            <a:srgbClr val="253B8A"/>
          </a:solidFill>
          <a:ln w="12700">
            <a:solidFill>
              <a:srgbClr val="3050A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450592" y="1115568"/>
            <a:ext cx="2148840" cy="54864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22" name="Text 20"/>
          <p:cNvSpPr/>
          <p:nvPr/>
        </p:nvSpPr>
        <p:spPr>
          <a:xfrm>
            <a:off x="2523744" y="1207008"/>
            <a:ext cx="20025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0A500"/>
                </a:solidFill>
              </a:rPr>
              <a:t>BACKEND API (.NET 8)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560320" y="1517904"/>
            <a:ext cx="1929384" cy="2286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24" name="Text 22"/>
          <p:cNvSpPr/>
          <p:nvPr/>
        </p:nvSpPr>
        <p:spPr>
          <a:xfrm>
            <a:off x="2542032" y="1627632"/>
            <a:ext cx="1965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1FAE5"/>
                </a:solidFill>
              </a:rPr>
              <a:t>▸  ASP.NET Core C#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542032" y="2139696"/>
            <a:ext cx="1965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1FAE5"/>
                </a:solidFill>
              </a:rPr>
              <a:t>▸  JWT + Google OAuth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542032" y="2651760"/>
            <a:ext cx="1965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1FAE5"/>
                </a:solidFill>
              </a:rPr>
              <a:t>▸  Socket.IO Hub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542032" y="3163824"/>
            <a:ext cx="1965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1FAE5"/>
                </a:solidFill>
              </a:rPr>
              <a:t>▸  MailKit  ·  Twilio SMS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2542032" y="3675888"/>
            <a:ext cx="1965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1FAE5"/>
                </a:solidFill>
              </a:rPr>
              <a:t>▸  Swagger / OpenAPI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773168" y="1152144"/>
            <a:ext cx="2148840" cy="34747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0" name="Shape 28"/>
          <p:cNvSpPr/>
          <p:nvPr/>
        </p:nvSpPr>
        <p:spPr>
          <a:xfrm>
            <a:off x="4736592" y="1115568"/>
            <a:ext cx="2148840" cy="3474720"/>
          </a:xfrm>
          <a:prstGeom prst="rect">
            <a:avLst/>
          </a:prstGeom>
          <a:solidFill>
            <a:srgbClr val="253B8A"/>
          </a:solidFill>
          <a:ln w="12700">
            <a:solidFill>
              <a:srgbClr val="3050A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36592" y="1115568"/>
            <a:ext cx="214884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2" name="Text 30"/>
          <p:cNvSpPr/>
          <p:nvPr/>
        </p:nvSpPr>
        <p:spPr>
          <a:xfrm>
            <a:off x="4809744" y="1207008"/>
            <a:ext cx="20025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B5CF6"/>
                </a:solidFill>
              </a:rPr>
              <a:t>DATA &amp; STORAGE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846320" y="1517904"/>
            <a:ext cx="1929384" cy="2286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4" name="Text 32"/>
          <p:cNvSpPr/>
          <p:nvPr/>
        </p:nvSpPr>
        <p:spPr>
          <a:xfrm>
            <a:off x="4828032" y="1627632"/>
            <a:ext cx="1965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1FAE5"/>
                </a:solidFill>
              </a:rPr>
              <a:t>▸  PostgreSQL via Npgsql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828032" y="2139696"/>
            <a:ext cx="1965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1FAE5"/>
                </a:solidFill>
              </a:rPr>
              <a:t>▸  EF Core 8 Migrations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828032" y="2651760"/>
            <a:ext cx="1965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1FAE5"/>
                </a:solidFill>
              </a:rPr>
              <a:t>▸  AWS S3 Attachments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828032" y="3163824"/>
            <a:ext cx="1965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1FAE5"/>
                </a:solidFill>
              </a:rPr>
              <a:t>▸  Google Drive API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828032" y="3675888"/>
            <a:ext cx="1965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1FAE5"/>
                </a:solidFill>
              </a:rPr>
              <a:t>▸  iText7 + QuestPDF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7059168" y="1152144"/>
            <a:ext cx="1956816" cy="34747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0" name="Shape 38"/>
          <p:cNvSpPr/>
          <p:nvPr/>
        </p:nvSpPr>
        <p:spPr>
          <a:xfrm>
            <a:off x="7022592" y="1115568"/>
            <a:ext cx="1956816" cy="3474720"/>
          </a:xfrm>
          <a:prstGeom prst="rect">
            <a:avLst/>
          </a:prstGeom>
          <a:solidFill>
            <a:srgbClr val="253B8A"/>
          </a:solidFill>
          <a:ln w="12700">
            <a:solidFill>
              <a:srgbClr val="3050A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022592" y="1115568"/>
            <a:ext cx="1956816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2" name="Text 40"/>
          <p:cNvSpPr/>
          <p:nvPr/>
        </p:nvSpPr>
        <p:spPr>
          <a:xfrm>
            <a:off x="7095744" y="1207008"/>
            <a:ext cx="1810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9488"/>
                </a:solidFill>
              </a:rPr>
              <a:t>INFRA &amp; AI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7132320" y="1517904"/>
            <a:ext cx="1737360" cy="228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4" name="Text 42"/>
          <p:cNvSpPr/>
          <p:nvPr/>
        </p:nvSpPr>
        <p:spPr>
          <a:xfrm>
            <a:off x="7114032" y="1627632"/>
            <a:ext cx="17739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1FAE5"/>
                </a:solidFill>
              </a:rPr>
              <a:t>▸  AWS EC2 + RDS + S3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7114032" y="2139696"/>
            <a:ext cx="17739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1FAE5"/>
                </a:solidFill>
              </a:rPr>
              <a:t>▸  CloudFront CDN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7114032" y="2651760"/>
            <a:ext cx="17739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1FAE5"/>
                </a:solidFill>
              </a:rPr>
              <a:t>▸  Nginx + SSL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7114032" y="3163824"/>
            <a:ext cx="17739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1FAE5"/>
                </a:solidFill>
              </a:rPr>
              <a:t>▸  OpenAI LLM (HealthBot)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7114032" y="3675888"/>
            <a:ext cx="17739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1FAE5"/>
                </a:solidFill>
              </a:rPr>
              <a:t>▸  GitHub Actions CI/CD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274320" y="4736592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All services containerised with Docker · Deployable on AWS ECS Fargate or EC2 · CI/CD via GitHub Actions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0" y="4969764"/>
            <a:ext cx="9144000" cy="173736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51" name="Text 49"/>
          <p:cNvSpPr/>
          <p:nvPr/>
        </p:nvSpPr>
        <p:spPr>
          <a:xfrm>
            <a:off x="0" y="4971593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B2F6E"/>
                </a:solidFill>
              </a:rPr>
              <a:t>Mahima Community Platform  ·  ANM RFP Proposal  ·  Confidential  ·  June 2025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B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B2F6E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9144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140" kern="0" dirty="0">
                <a:solidFill>
                  <a:srgbClr val="F0A500"/>
                </a:solidFill>
              </a:rPr>
              <a:t>•  FEATURE ALIGNMENT  •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0" y="2743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F6E"/>
                </a:solidFill>
              </a:rPr>
              <a:t>ANM RFP Requirements → Mahima Module Mapping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02920" y="896112"/>
            <a:ext cx="8138160" cy="3657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8" name="Shape 6"/>
          <p:cNvSpPr/>
          <p:nvPr/>
        </p:nvSpPr>
        <p:spPr>
          <a:xfrm>
            <a:off x="274320" y="950976"/>
            <a:ext cx="2468880" cy="20116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950976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✓  Ready to Deploy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017520" y="950976"/>
            <a:ext cx="2468880" cy="201168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11" name="Text 9"/>
          <p:cNvSpPr/>
          <p:nvPr/>
        </p:nvSpPr>
        <p:spPr>
          <a:xfrm>
            <a:off x="3017520" y="950976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⚙  Adapt / Configure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760720" y="950976"/>
            <a:ext cx="2468880" cy="20116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5760720" y="950976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🔧  New Build for ANM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91440" y="1225296"/>
            <a:ext cx="8961120" cy="274320"/>
          </a:xfrm>
          <a:prstGeom prst="rect">
            <a:avLst/>
          </a:prstGeom>
          <a:solidFill>
            <a:srgbClr val="1B2F6E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" y="122529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ANM RFP Requirement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063240" y="122529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Mahima Module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035040" y="122529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Status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7909560" y="1225296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Effort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91440" y="1517904"/>
            <a:ext cx="8961120" cy="274320"/>
          </a:xfrm>
          <a:prstGeom prst="rect">
            <a:avLst/>
          </a:prstGeom>
          <a:solidFill>
            <a:srgbClr val="ECFDF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4592" y="1536192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</a:rPr>
              <a:t>ANM Worker Registration &amp; Profiles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3090672" y="1536192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Users + Role Management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6053328" y="1554480"/>
            <a:ext cx="1783080" cy="20116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3" name="Text 21"/>
          <p:cNvSpPr/>
          <p:nvPr/>
        </p:nvSpPr>
        <p:spPr>
          <a:xfrm>
            <a:off x="6053328" y="155448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Ready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7936992" y="155448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59669"/>
                </a:solidFill>
              </a:rPr>
              <a:t>None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91440" y="1801368"/>
            <a:ext cx="89611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64592" y="1819656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</a:rPr>
              <a:t>Team / Sub-Centre Grouping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3090672" y="1819656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Teams + Team Members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6053328" y="1837944"/>
            <a:ext cx="1783080" cy="20116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9" name="Text 27"/>
          <p:cNvSpPr/>
          <p:nvPr/>
        </p:nvSpPr>
        <p:spPr>
          <a:xfrm>
            <a:off x="6053328" y="1837944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Ready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7936992" y="183794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59669"/>
                </a:solidFill>
              </a:rPr>
              <a:t>None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91440" y="2084832"/>
            <a:ext cx="8961120" cy="274320"/>
          </a:xfrm>
          <a:prstGeom prst="rect">
            <a:avLst/>
          </a:prstGeom>
          <a:solidFill>
            <a:srgbClr val="ECFDF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64592" y="2103120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</a:rPr>
              <a:t>Field Visit Scheduling (GPS)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3090672" y="2103120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Meetings (lat/lng enabled)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6053328" y="2121408"/>
            <a:ext cx="1783080" cy="201168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35" name="Text 33"/>
          <p:cNvSpPr/>
          <p:nvPr/>
        </p:nvSpPr>
        <p:spPr>
          <a:xfrm>
            <a:off x="6053328" y="2121408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Adapt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7936992" y="212140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0A500"/>
                </a:solidFill>
              </a:rPr>
              <a:t>2 days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91440" y="2368296"/>
            <a:ext cx="89611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64592" y="2386584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</a:rPr>
              <a:t>Beneficiary Registration (ANC/Immunisation)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3090672" y="2386584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Baptism/Marriage Workflow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6053328" y="2404872"/>
            <a:ext cx="1783080" cy="201168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41" name="Text 39"/>
          <p:cNvSpPr/>
          <p:nvPr/>
        </p:nvSpPr>
        <p:spPr>
          <a:xfrm>
            <a:off x="6053328" y="2404872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Adapt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7936992" y="240487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0A500"/>
                </a:solidFill>
              </a:rPr>
              <a:t>5 days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91440" y="2651760"/>
            <a:ext cx="8961120" cy="274320"/>
          </a:xfrm>
          <a:prstGeom prst="rect">
            <a:avLst/>
          </a:prstGeom>
          <a:solidFill>
            <a:srgbClr val="ECFDF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64592" y="2670048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</a:rPr>
              <a:t>Health Counselling Sessions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3090672" y="2670048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Counselling Module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6053328" y="2688336"/>
            <a:ext cx="1783080" cy="201168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47" name="Text 45"/>
          <p:cNvSpPr/>
          <p:nvPr/>
        </p:nvSpPr>
        <p:spPr>
          <a:xfrm>
            <a:off x="6053328" y="2688336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Adapt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7936992" y="2688336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0A500"/>
                </a:solidFill>
              </a:rPr>
              <a:t>3 days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91440" y="2935224"/>
            <a:ext cx="89611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64592" y="2953512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</a:rPr>
              <a:t>Attendance &amp; Daily Check-in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3090672" y="2953512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Attendance Records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6053328" y="2971800"/>
            <a:ext cx="1783080" cy="20116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53" name="Text 51"/>
          <p:cNvSpPr/>
          <p:nvPr/>
        </p:nvSpPr>
        <p:spPr>
          <a:xfrm>
            <a:off x="6053328" y="297180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Ready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7936992" y="297180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59669"/>
                </a:solidFill>
              </a:rPr>
              <a:t>None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91440" y="3218688"/>
            <a:ext cx="8961120" cy="274320"/>
          </a:xfrm>
          <a:prstGeom prst="rect">
            <a:avLst/>
          </a:prstGeom>
          <a:solidFill>
            <a:srgbClr val="ECFDF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64592" y="3236976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</a:rPr>
              <a:t>Task &amp; Duty Assignments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3090672" y="3236976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Task Management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6053328" y="3255264"/>
            <a:ext cx="1783080" cy="20116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59" name="Text 57"/>
          <p:cNvSpPr/>
          <p:nvPr/>
        </p:nvSpPr>
        <p:spPr>
          <a:xfrm>
            <a:off x="6053328" y="3255264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Ready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7936992" y="325526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59669"/>
                </a:solidFill>
              </a:rPr>
              <a:t>None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91440" y="3502152"/>
            <a:ext cx="89611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64592" y="3520440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</a:rPr>
              <a:t>Chat &amp; Bulk SMS Broadcast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3090672" y="3520440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Chat + Twilio SMS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6053328" y="3538728"/>
            <a:ext cx="1783080" cy="20116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65" name="Text 63"/>
          <p:cNvSpPr/>
          <p:nvPr/>
        </p:nvSpPr>
        <p:spPr>
          <a:xfrm>
            <a:off x="6053328" y="3538728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Ready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7936992" y="353872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59669"/>
                </a:solidFill>
              </a:rPr>
              <a:t>None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91440" y="3785616"/>
            <a:ext cx="8961120" cy="274320"/>
          </a:xfrm>
          <a:prstGeom prst="rect">
            <a:avLst/>
          </a:prstGeom>
          <a:solidFill>
            <a:srgbClr val="ECFDF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64592" y="3803904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</a:rPr>
              <a:t>MCP / RCH Report Generation</a:t>
            </a:r>
            <a:endParaRPr lang="en-US" sz="750" dirty="0"/>
          </a:p>
        </p:txBody>
      </p:sp>
      <p:sp>
        <p:nvSpPr>
          <p:cNvPr id="69" name="Text 67"/>
          <p:cNvSpPr/>
          <p:nvPr/>
        </p:nvSpPr>
        <p:spPr>
          <a:xfrm>
            <a:off x="3090672" y="3803904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QuestPDF + iText7 (new templates)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6053328" y="3822192"/>
            <a:ext cx="1783080" cy="20116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71" name="Text 69"/>
          <p:cNvSpPr/>
          <p:nvPr/>
        </p:nvSpPr>
        <p:spPr>
          <a:xfrm>
            <a:off x="6053328" y="3822192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New Build</a:t>
            </a:r>
            <a:endParaRPr lang="en-US" sz="700" dirty="0"/>
          </a:p>
        </p:txBody>
      </p:sp>
      <p:sp>
        <p:nvSpPr>
          <p:cNvPr id="72" name="Text 70"/>
          <p:cNvSpPr/>
          <p:nvPr/>
        </p:nvSpPr>
        <p:spPr>
          <a:xfrm>
            <a:off x="7936992" y="382219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7C3AED"/>
                </a:solidFill>
              </a:rPr>
              <a:t>8 days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91440" y="4069080"/>
            <a:ext cx="89611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64592" y="4087368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</a:rPr>
              <a:t>Analytics &amp; KPI Dashboard</a:t>
            </a:r>
            <a:endParaRPr lang="en-US" sz="750" dirty="0"/>
          </a:p>
        </p:txBody>
      </p:sp>
      <p:sp>
        <p:nvSpPr>
          <p:cNvPr id="75" name="Text 73"/>
          <p:cNvSpPr/>
          <p:nvPr/>
        </p:nvSpPr>
        <p:spPr>
          <a:xfrm>
            <a:off x="3090672" y="4087368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Analytics Module + Admin Landing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6053328" y="4105656"/>
            <a:ext cx="1783080" cy="201168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77" name="Text 75"/>
          <p:cNvSpPr/>
          <p:nvPr/>
        </p:nvSpPr>
        <p:spPr>
          <a:xfrm>
            <a:off x="6053328" y="4105656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Adapt</a:t>
            </a:r>
            <a:endParaRPr lang="en-US" sz="700" dirty="0"/>
          </a:p>
        </p:txBody>
      </p:sp>
      <p:sp>
        <p:nvSpPr>
          <p:cNvPr id="78" name="Text 76"/>
          <p:cNvSpPr/>
          <p:nvPr/>
        </p:nvSpPr>
        <p:spPr>
          <a:xfrm>
            <a:off x="7936992" y="4105656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0A500"/>
                </a:solidFill>
              </a:rPr>
              <a:t>4 days</a:t>
            </a:r>
            <a:endParaRPr lang="en-US" sz="750" dirty="0"/>
          </a:p>
        </p:txBody>
      </p:sp>
      <p:sp>
        <p:nvSpPr>
          <p:cNvPr id="79" name="Shape 77"/>
          <p:cNvSpPr/>
          <p:nvPr/>
        </p:nvSpPr>
        <p:spPr>
          <a:xfrm>
            <a:off x="91440" y="4352544"/>
            <a:ext cx="8961120" cy="274320"/>
          </a:xfrm>
          <a:prstGeom prst="rect">
            <a:avLst/>
          </a:prstGeom>
          <a:solidFill>
            <a:srgbClr val="ECFDF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164592" y="4370832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</a:rPr>
              <a:t>Document &amp; Media Upload</a:t>
            </a:r>
            <a:endParaRPr lang="en-US" sz="750" dirty="0"/>
          </a:p>
        </p:txBody>
      </p:sp>
      <p:sp>
        <p:nvSpPr>
          <p:cNvPr id="81" name="Text 79"/>
          <p:cNvSpPr/>
          <p:nvPr/>
        </p:nvSpPr>
        <p:spPr>
          <a:xfrm>
            <a:off x="3090672" y="4370832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Attachments (AWS S3)</a:t>
            </a:r>
            <a:endParaRPr lang="en-US" sz="750" dirty="0"/>
          </a:p>
        </p:txBody>
      </p:sp>
      <p:sp>
        <p:nvSpPr>
          <p:cNvPr id="82" name="Shape 80"/>
          <p:cNvSpPr/>
          <p:nvPr/>
        </p:nvSpPr>
        <p:spPr>
          <a:xfrm>
            <a:off x="6053328" y="4389120"/>
            <a:ext cx="1783080" cy="20116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83" name="Text 81"/>
          <p:cNvSpPr/>
          <p:nvPr/>
        </p:nvSpPr>
        <p:spPr>
          <a:xfrm>
            <a:off x="6053328" y="438912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Ready</a:t>
            </a:r>
            <a:endParaRPr lang="en-US" sz="700" dirty="0"/>
          </a:p>
        </p:txBody>
      </p:sp>
      <p:sp>
        <p:nvSpPr>
          <p:cNvPr id="84" name="Text 82"/>
          <p:cNvSpPr/>
          <p:nvPr/>
        </p:nvSpPr>
        <p:spPr>
          <a:xfrm>
            <a:off x="7936992" y="438912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59669"/>
                </a:solidFill>
              </a:rPr>
              <a:t>None</a:t>
            </a:r>
            <a:endParaRPr lang="en-US" sz="750" dirty="0"/>
          </a:p>
        </p:txBody>
      </p:sp>
      <p:sp>
        <p:nvSpPr>
          <p:cNvPr id="85" name="Shape 83"/>
          <p:cNvSpPr/>
          <p:nvPr/>
        </p:nvSpPr>
        <p:spPr>
          <a:xfrm>
            <a:off x="91440" y="4636008"/>
            <a:ext cx="89611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164592" y="4654296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</a:rPr>
              <a:t>AI Health Assistant</a:t>
            </a:r>
            <a:endParaRPr lang="en-US" sz="750" dirty="0"/>
          </a:p>
        </p:txBody>
      </p:sp>
      <p:sp>
        <p:nvSpPr>
          <p:cNvPr id="87" name="Text 85"/>
          <p:cNvSpPr/>
          <p:nvPr/>
        </p:nvSpPr>
        <p:spPr>
          <a:xfrm>
            <a:off x="3090672" y="4654296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PastorBot → HealthBot</a:t>
            </a:r>
            <a:endParaRPr lang="en-US" sz="750" dirty="0"/>
          </a:p>
        </p:txBody>
      </p:sp>
      <p:sp>
        <p:nvSpPr>
          <p:cNvPr id="88" name="Shape 86"/>
          <p:cNvSpPr/>
          <p:nvPr/>
        </p:nvSpPr>
        <p:spPr>
          <a:xfrm>
            <a:off x="6053328" y="4672584"/>
            <a:ext cx="1783080" cy="201168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89" name="Text 87"/>
          <p:cNvSpPr/>
          <p:nvPr/>
        </p:nvSpPr>
        <p:spPr>
          <a:xfrm>
            <a:off x="6053328" y="4672584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Adapt</a:t>
            </a:r>
            <a:endParaRPr lang="en-US" sz="700" dirty="0"/>
          </a:p>
        </p:txBody>
      </p:sp>
      <p:sp>
        <p:nvSpPr>
          <p:cNvPr id="90" name="Text 88"/>
          <p:cNvSpPr/>
          <p:nvPr/>
        </p:nvSpPr>
        <p:spPr>
          <a:xfrm>
            <a:off x="7936992" y="467258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0A500"/>
                </a:solidFill>
              </a:rPr>
              <a:t>1 day</a:t>
            </a:r>
            <a:endParaRPr lang="en-US" sz="750" dirty="0"/>
          </a:p>
        </p:txBody>
      </p:sp>
      <p:sp>
        <p:nvSpPr>
          <p:cNvPr id="91" name="Shape 89"/>
          <p:cNvSpPr/>
          <p:nvPr/>
        </p:nvSpPr>
        <p:spPr>
          <a:xfrm>
            <a:off x="0" y="4969764"/>
            <a:ext cx="9144000" cy="173736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92" name="Text 90"/>
          <p:cNvSpPr/>
          <p:nvPr/>
        </p:nvSpPr>
        <p:spPr>
          <a:xfrm>
            <a:off x="0" y="4971593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B2F6E"/>
                </a:solidFill>
              </a:rPr>
              <a:t>Mahima Community Platform  ·  ANM RFP Proposal  ·  Confidential  ·  June 2025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F6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Shape 2"/>
          <p:cNvSpPr/>
          <p:nvPr/>
        </p:nvSpPr>
        <p:spPr>
          <a:xfrm>
            <a:off x="7132320" y="-548640"/>
            <a:ext cx="2560320" cy="2560320"/>
          </a:xfrm>
          <a:prstGeom prst="ellipse">
            <a:avLst/>
          </a:prstGeom>
          <a:solidFill>
            <a:srgbClr val="253D80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9144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140" kern="0" dirty="0">
                <a:solidFill>
                  <a:srgbClr val="F0A500"/>
                </a:solidFill>
              </a:rPr>
              <a:t>•  WHAT'S INCLUDED  •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0" y="2743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Pre-Built Modules vs. ANM-Specific New Builds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02920" y="896112"/>
            <a:ext cx="8138160" cy="3657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8" name="Shape 6"/>
          <p:cNvSpPr/>
          <p:nvPr/>
        </p:nvSpPr>
        <p:spPr>
          <a:xfrm>
            <a:off x="164592" y="1042416"/>
            <a:ext cx="4114800" cy="3767328"/>
          </a:xfrm>
          <a:prstGeom prst="rect">
            <a:avLst/>
          </a:prstGeom>
          <a:solidFill>
            <a:srgbClr val="1D3A7A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" y="1042416"/>
            <a:ext cx="411480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0" name="Text 8"/>
          <p:cNvSpPr/>
          <p:nvPr/>
        </p:nvSpPr>
        <p:spPr>
          <a:xfrm>
            <a:off x="237744" y="1115568"/>
            <a:ext cx="39684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9669"/>
                </a:solidFill>
              </a:rPr>
              <a:t>✓  PRE-BUILT · READY FOR ANM  (saves ~70% build cost)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74320" y="14630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1FAE5"/>
                </a:solidFill>
              </a:rPr>
              <a:t>✓  User registration, login &amp; role-based access control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74320" y="173278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1FAE5"/>
                </a:solidFill>
              </a:rPr>
              <a:t>✓  Teams, group management &amp; team leader assignment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74320" y="200253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1FAE5"/>
                </a:solidFill>
              </a:rPr>
              <a:t>✓  Meeting/event scheduling with GPS location capture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74320" y="227228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1FAE5"/>
                </a:solidFill>
              </a:rPr>
              <a:t>✓  Daily attendance check-in &amp; status tracking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74320" y="254203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1FAE5"/>
                </a:solidFill>
              </a:rPr>
              <a:t>✓  Task creation, assignment &amp; completion tracking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74320" y="281178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1FAE5"/>
                </a:solidFill>
              </a:rPr>
              <a:t>✓  Group chat rooms &amp; 1-on-1 direct messaging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74320" y="308152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1FAE5"/>
                </a:solidFill>
              </a:rPr>
              <a:t>✓  Twilio SMS broadcast for bulk notifications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74320" y="335127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1FAE5"/>
                </a:solidFill>
              </a:rPr>
              <a:t>✓  Expense tracking, payroll &amp; PDF payslips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74320" y="362102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1FAE5"/>
                </a:solidFill>
              </a:rPr>
              <a:t>✓  AWS S3 document &amp; media file storage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74320" y="389077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1FAE5"/>
                </a:solidFill>
              </a:rPr>
              <a:t>✓  Audit logs, role permissions &amp; security controls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74320" y="41605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1FAE5"/>
                </a:solidFill>
              </a:rPr>
              <a:t>✓  AI chatbot (OpenAI-compatible, easy prompt swap)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74320" y="443026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1FAE5"/>
                </a:solidFill>
              </a:rPr>
              <a:t>✓  Multi-language CMS &amp; automated message scheduler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462272" y="1042416"/>
            <a:ext cx="4517136" cy="3767328"/>
          </a:xfrm>
          <a:prstGeom prst="rect">
            <a:avLst/>
          </a:prstGeom>
          <a:solidFill>
            <a:srgbClr val="1D3A7A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62272" y="1042416"/>
            <a:ext cx="4517136" cy="54864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25" name="Text 23"/>
          <p:cNvSpPr/>
          <p:nvPr/>
        </p:nvSpPr>
        <p:spPr>
          <a:xfrm>
            <a:off x="4535424" y="1115568"/>
            <a:ext cx="43708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0A500"/>
                </a:solidFill>
              </a:rPr>
              <a:t>🔧  NEW BUILD FOR ANM  (targeted custom work)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553712" y="1481328"/>
            <a:ext cx="4297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A500"/>
                </a:solidFill>
              </a:rPr>
              <a:t>▸  Beneficiary Registration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53712" y="1700784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E5FF"/>
                </a:solidFill>
              </a:rPr>
              <a:t>   ANC card, pregnancy tracking, newborn registration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553712" y="1938528"/>
            <a:ext cx="4297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A500"/>
                </a:solidFill>
              </a:rPr>
              <a:t>▸  Immunisation Schedule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53712" y="2157984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E5FF"/>
                </a:solidFill>
              </a:rPr>
              <a:t>   Vaccination calendar, dose tracker, due-date alerts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553712" y="2395728"/>
            <a:ext cx="4297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A500"/>
                </a:solidFill>
              </a:rPr>
              <a:t>▸  Home Visit Report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553712" y="2615184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E5FF"/>
                </a:solidFill>
              </a:rPr>
              <a:t>   Structured field visit form with GPS stamp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553712" y="2852928"/>
            <a:ext cx="4297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A500"/>
                </a:solidFill>
              </a:rPr>
              <a:t>▸  MCP / RCH Report Templates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553712" y="3072384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E5FF"/>
                </a:solidFill>
              </a:rPr>
              <a:t>   Government report formats using QuestPDF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553712" y="3310128"/>
            <a:ext cx="4297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A500"/>
                </a:solidFill>
              </a:rPr>
              <a:t>▸  Health KPI Dashboard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553712" y="3529584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E5FF"/>
                </a:solidFill>
              </a:rPr>
              <a:t>   Maternal health metrics, coverage %, alerts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553712" y="3767328"/>
            <a:ext cx="4297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A500"/>
                </a:solidFill>
              </a:rPr>
              <a:t>▸  ANM Mobile UI (iOS)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553712" y="3986784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E5FF"/>
                </a:solidFill>
              </a:rPr>
              <a:t>   Capacitor iOS build + ANM-branded screens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553712" y="4224528"/>
            <a:ext cx="4297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A500"/>
                </a:solidFill>
              </a:rPr>
              <a:t>▸  Map View — Field Visits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553712" y="4443984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E5FF"/>
                </a:solidFill>
              </a:rPr>
              <a:t>   Leaflet/MapBox map of visit locations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0" y="4969764"/>
            <a:ext cx="9144000" cy="173736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41" name="Text 39"/>
          <p:cNvSpPr/>
          <p:nvPr/>
        </p:nvSpPr>
        <p:spPr>
          <a:xfrm>
            <a:off x="0" y="4971593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B2F6E"/>
                </a:solidFill>
              </a:rPr>
              <a:t>Mahima Community Platform  ·  ANM RFP Proposal  ·  Confidential  ·  June 2025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B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B2F6E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9144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140" kern="0" dirty="0">
                <a:solidFill>
                  <a:srgbClr val="F0A500"/>
                </a:solidFill>
              </a:rPr>
              <a:t>•  IMPLEMENTATION APPROACH  •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0" y="2743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F6E"/>
                </a:solidFill>
              </a:rPr>
              <a:t>5-Phase Customisation &amp; Deployment Plan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02920" y="896112"/>
            <a:ext cx="8138160" cy="3657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8" name="Shape 6"/>
          <p:cNvSpPr/>
          <p:nvPr/>
        </p:nvSpPr>
        <p:spPr>
          <a:xfrm>
            <a:off x="201168" y="1207008"/>
            <a:ext cx="1609344" cy="3602736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9" name="Shape 7"/>
          <p:cNvSpPr/>
          <p:nvPr/>
        </p:nvSpPr>
        <p:spPr>
          <a:xfrm>
            <a:off x="164592" y="1170432"/>
            <a:ext cx="1609344" cy="3602736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64592" y="1170432"/>
            <a:ext cx="1609344" cy="64008"/>
          </a:xfrm>
          <a:prstGeom prst="rect">
            <a:avLst/>
          </a:prstGeom>
          <a:solidFill>
            <a:srgbClr val="1B2F6E"/>
          </a:solidFill>
          <a:ln/>
        </p:spPr>
      </p:sp>
      <p:sp>
        <p:nvSpPr>
          <p:cNvPr id="11" name="Shape 9"/>
          <p:cNvSpPr/>
          <p:nvPr/>
        </p:nvSpPr>
        <p:spPr>
          <a:xfrm>
            <a:off x="676656" y="1261872"/>
            <a:ext cx="585216" cy="585216"/>
          </a:xfrm>
          <a:prstGeom prst="ellipse">
            <a:avLst/>
          </a:prstGeom>
          <a:solidFill>
            <a:srgbClr val="1B2F6E"/>
          </a:solidFill>
          <a:ln/>
        </p:spPr>
      </p:sp>
      <p:sp>
        <p:nvSpPr>
          <p:cNvPr id="12" name="Text 10"/>
          <p:cNvSpPr/>
          <p:nvPr/>
        </p:nvSpPr>
        <p:spPr>
          <a:xfrm>
            <a:off x="676656" y="126187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56032" y="1920240"/>
            <a:ext cx="1426464" cy="20116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4" name="Text 12"/>
          <p:cNvSpPr/>
          <p:nvPr/>
        </p:nvSpPr>
        <p:spPr>
          <a:xfrm>
            <a:off x="256032" y="1920240"/>
            <a:ext cx="14264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2F6E"/>
                </a:solidFill>
              </a:rPr>
              <a:t>Weeks 1–2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237744" y="2176272"/>
            <a:ext cx="1463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F6E"/>
                </a:solidFill>
              </a:rPr>
              <a:t>Platform Kickoff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B2F6E"/>
                </a:solidFill>
              </a:rPr>
              <a:t>&amp; Discovery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10896" y="2724912"/>
            <a:ext cx="1316736" cy="2286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17" name="Text 15"/>
          <p:cNvSpPr/>
          <p:nvPr/>
        </p:nvSpPr>
        <p:spPr>
          <a:xfrm>
            <a:off x="256032" y="2798064"/>
            <a:ext cx="142646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•  RFP requirements mapping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56032" y="3255264"/>
            <a:ext cx="142646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•  Domain vocabulary alignment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56032" y="3712464"/>
            <a:ext cx="142646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•  ANM UI wireframes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56032" y="4169664"/>
            <a:ext cx="142646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•  Dev environment setup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1883664" y="1207008"/>
            <a:ext cx="1609344" cy="3602736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2" name="Shape 20"/>
          <p:cNvSpPr/>
          <p:nvPr/>
        </p:nvSpPr>
        <p:spPr>
          <a:xfrm>
            <a:off x="1847088" y="1170432"/>
            <a:ext cx="1609344" cy="3602736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847088" y="1170432"/>
            <a:ext cx="1609344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4" name="Shape 22"/>
          <p:cNvSpPr/>
          <p:nvPr/>
        </p:nvSpPr>
        <p:spPr>
          <a:xfrm>
            <a:off x="2359152" y="1261872"/>
            <a:ext cx="585216" cy="58521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5" name="Text 23"/>
          <p:cNvSpPr/>
          <p:nvPr/>
        </p:nvSpPr>
        <p:spPr>
          <a:xfrm>
            <a:off x="2359152" y="126187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1938528" y="1920240"/>
            <a:ext cx="1426464" cy="20116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7" name="Text 25"/>
          <p:cNvSpPr/>
          <p:nvPr/>
        </p:nvSpPr>
        <p:spPr>
          <a:xfrm>
            <a:off x="1938528" y="1920240"/>
            <a:ext cx="14264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9488"/>
                </a:solidFill>
              </a:rPr>
              <a:t>Weeks 3–4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920240" y="2176272"/>
            <a:ext cx="1463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Domain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Customisation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993392" y="2724912"/>
            <a:ext cx="1316736" cy="2286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30" name="Text 28"/>
          <p:cNvSpPr/>
          <p:nvPr/>
        </p:nvSpPr>
        <p:spPr>
          <a:xfrm>
            <a:off x="1938528" y="2798064"/>
            <a:ext cx="142646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•  Rebrand UI → ANM theme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938528" y="3255264"/>
            <a:ext cx="142646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•  Rename modules (beneficiary, visit)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938528" y="3712464"/>
            <a:ext cx="142646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•  Configure roles &amp; permissions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938528" y="4169664"/>
            <a:ext cx="142646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•  Adapt existing workflows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566160" y="1207008"/>
            <a:ext cx="1609344" cy="3602736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35" name="Shape 33"/>
          <p:cNvSpPr/>
          <p:nvPr/>
        </p:nvSpPr>
        <p:spPr>
          <a:xfrm>
            <a:off x="3529584" y="1170432"/>
            <a:ext cx="1609344" cy="3602736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529584" y="1170432"/>
            <a:ext cx="1609344" cy="6400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7" name="Shape 35"/>
          <p:cNvSpPr/>
          <p:nvPr/>
        </p:nvSpPr>
        <p:spPr>
          <a:xfrm>
            <a:off x="4041648" y="1261872"/>
            <a:ext cx="585216" cy="585216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38" name="Text 36"/>
          <p:cNvSpPr/>
          <p:nvPr/>
        </p:nvSpPr>
        <p:spPr>
          <a:xfrm>
            <a:off x="4041648" y="126187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3621024" y="1920240"/>
            <a:ext cx="1426464" cy="20116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0" name="Text 38"/>
          <p:cNvSpPr/>
          <p:nvPr/>
        </p:nvSpPr>
        <p:spPr>
          <a:xfrm>
            <a:off x="3621024" y="1920240"/>
            <a:ext cx="14264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59669"/>
                </a:solidFill>
              </a:rPr>
              <a:t>Weeks 5–6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3602736" y="2176272"/>
            <a:ext cx="1463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</a:rPr>
              <a:t>ANM-Specific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</a:rPr>
              <a:t>Modules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675888" y="2724912"/>
            <a:ext cx="1316736" cy="2286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43" name="Text 41"/>
          <p:cNvSpPr/>
          <p:nvPr/>
        </p:nvSpPr>
        <p:spPr>
          <a:xfrm>
            <a:off x="3621024" y="2798064"/>
            <a:ext cx="142646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•  Beneficiary registration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3621024" y="3255264"/>
            <a:ext cx="142646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•  Immunisation tracker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3621024" y="3712464"/>
            <a:ext cx="142646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•  Home visit GPS form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3621024" y="4169664"/>
            <a:ext cx="142646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•  MCP/RCH report templates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5248656" y="1207008"/>
            <a:ext cx="1609344" cy="3602736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48" name="Shape 46"/>
          <p:cNvSpPr/>
          <p:nvPr/>
        </p:nvSpPr>
        <p:spPr>
          <a:xfrm>
            <a:off x="5212080" y="1170432"/>
            <a:ext cx="1609344" cy="3602736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5212080" y="1170432"/>
            <a:ext cx="1609344" cy="640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0" name="Shape 48"/>
          <p:cNvSpPr/>
          <p:nvPr/>
        </p:nvSpPr>
        <p:spPr>
          <a:xfrm>
            <a:off x="5724144" y="1261872"/>
            <a:ext cx="585216" cy="585216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51" name="Text 49"/>
          <p:cNvSpPr/>
          <p:nvPr/>
        </p:nvSpPr>
        <p:spPr>
          <a:xfrm>
            <a:off x="5724144" y="126187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5303520" y="1920240"/>
            <a:ext cx="1426464" cy="20116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3" name="Text 51"/>
          <p:cNvSpPr/>
          <p:nvPr/>
        </p:nvSpPr>
        <p:spPr>
          <a:xfrm>
            <a:off x="5303520" y="1920240"/>
            <a:ext cx="14264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7C3AED"/>
                </a:solidFill>
              </a:rPr>
              <a:t>Week 7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5285232" y="2176272"/>
            <a:ext cx="1463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</a:rPr>
              <a:t>Integration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</a:rPr>
              <a:t>&amp; iOS Build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5358384" y="2724912"/>
            <a:ext cx="1316736" cy="2286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56" name="Text 54"/>
          <p:cNvSpPr/>
          <p:nvPr/>
        </p:nvSpPr>
        <p:spPr>
          <a:xfrm>
            <a:off x="5303520" y="2798064"/>
            <a:ext cx="142646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•  Capacitor iOS build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5303520" y="3255264"/>
            <a:ext cx="142646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•  End-to-end integration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5303520" y="3712464"/>
            <a:ext cx="142646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•  Security &amp; performance test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5303520" y="4169664"/>
            <a:ext cx="142646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•  App Store submission prep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6931152" y="1207008"/>
            <a:ext cx="1609344" cy="3602736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61" name="Shape 59"/>
          <p:cNvSpPr/>
          <p:nvPr/>
        </p:nvSpPr>
        <p:spPr>
          <a:xfrm>
            <a:off x="6894576" y="1170432"/>
            <a:ext cx="1609344" cy="3602736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6894576" y="1170432"/>
            <a:ext cx="1609344" cy="64008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63" name="Shape 61"/>
          <p:cNvSpPr/>
          <p:nvPr/>
        </p:nvSpPr>
        <p:spPr>
          <a:xfrm>
            <a:off x="7406640" y="1261872"/>
            <a:ext cx="585216" cy="585216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64" name="Text 62"/>
          <p:cNvSpPr/>
          <p:nvPr/>
        </p:nvSpPr>
        <p:spPr>
          <a:xfrm>
            <a:off x="7406640" y="126187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65" name="Shape 63"/>
          <p:cNvSpPr/>
          <p:nvPr/>
        </p:nvSpPr>
        <p:spPr>
          <a:xfrm>
            <a:off x="6986016" y="1920240"/>
            <a:ext cx="1426464" cy="20116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66" name="Text 64"/>
          <p:cNvSpPr/>
          <p:nvPr/>
        </p:nvSpPr>
        <p:spPr>
          <a:xfrm>
            <a:off x="6986016" y="1920240"/>
            <a:ext cx="14264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A580C"/>
                </a:solidFill>
              </a:rPr>
              <a:t>Week 8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6967728" y="2176272"/>
            <a:ext cx="1463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A580C"/>
                </a:solidFill>
              </a:rPr>
              <a:t>UAT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EA580C"/>
                </a:solidFill>
              </a:rPr>
              <a:t>Go-Live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7040880" y="2724912"/>
            <a:ext cx="1316736" cy="2286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69" name="Text 67"/>
          <p:cNvSpPr/>
          <p:nvPr/>
        </p:nvSpPr>
        <p:spPr>
          <a:xfrm>
            <a:off x="6986016" y="2798064"/>
            <a:ext cx="142646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•  User acceptance testing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6986016" y="3255264"/>
            <a:ext cx="142646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•  Production deployment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6986016" y="3712464"/>
            <a:ext cx="142646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•  Training &amp; handover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6986016" y="4169664"/>
            <a:ext cx="142646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•  App Store submissions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164592" y="4791456"/>
            <a:ext cx="8814816" cy="16459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74" name="Text 72"/>
          <p:cNvSpPr/>
          <p:nvPr/>
        </p:nvSpPr>
        <p:spPr>
          <a:xfrm>
            <a:off x="164592" y="4791456"/>
            <a:ext cx="88148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★  Weeks 9–10: FREE 1-Month Hypercare  ·  Bug fixes · Monitoring · Onboarding · Health check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0" y="4969764"/>
            <a:ext cx="9144000" cy="173736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76" name="Text 74"/>
          <p:cNvSpPr/>
          <p:nvPr/>
        </p:nvSpPr>
        <p:spPr>
          <a:xfrm>
            <a:off x="0" y="4971593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B2F6E"/>
                </a:solidFill>
              </a:rPr>
              <a:t>Mahima Community Platform  ·  ANM RFP Proposal  ·  Confidential  ·  June 2025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B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B2F6E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9144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140" kern="0" dirty="0">
                <a:solidFill>
                  <a:srgbClr val="F0A500"/>
                </a:solidFill>
              </a:rPr>
              <a:t>•  8-WEEK IMPLEMENTATION GANTT  •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0" y="2743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F6E"/>
                </a:solidFill>
              </a:rPr>
              <a:t>Delivery Roadmap — Mahima ANM Platform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02920" y="896112"/>
            <a:ext cx="8138160" cy="3657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8" name="Shape 6"/>
          <p:cNvSpPr/>
          <p:nvPr/>
        </p:nvSpPr>
        <p:spPr>
          <a:xfrm>
            <a:off x="137160" y="987552"/>
            <a:ext cx="2331720" cy="274320"/>
          </a:xfrm>
          <a:prstGeom prst="rect">
            <a:avLst/>
          </a:prstGeom>
          <a:solidFill>
            <a:srgbClr val="1B2F6E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" y="987552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Workstream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542032" y="987552"/>
            <a:ext cx="603504" cy="274320"/>
          </a:xfrm>
          <a:prstGeom prst="rect">
            <a:avLst/>
          </a:prstGeom>
          <a:solidFill>
            <a:srgbClr val="1B2F6E"/>
          </a:solidFill>
          <a:ln/>
        </p:spPr>
      </p:sp>
      <p:sp>
        <p:nvSpPr>
          <p:cNvPr id="11" name="Text 9"/>
          <p:cNvSpPr/>
          <p:nvPr/>
        </p:nvSpPr>
        <p:spPr>
          <a:xfrm>
            <a:off x="2542032" y="987552"/>
            <a:ext cx="6035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W1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3163824" y="987552"/>
            <a:ext cx="603504" cy="274320"/>
          </a:xfrm>
          <a:prstGeom prst="rect">
            <a:avLst/>
          </a:prstGeom>
          <a:solidFill>
            <a:srgbClr val="1B2F6E"/>
          </a:solidFill>
          <a:ln/>
        </p:spPr>
      </p:sp>
      <p:sp>
        <p:nvSpPr>
          <p:cNvPr id="13" name="Text 11"/>
          <p:cNvSpPr/>
          <p:nvPr/>
        </p:nvSpPr>
        <p:spPr>
          <a:xfrm>
            <a:off x="3163824" y="987552"/>
            <a:ext cx="6035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W2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3785616" y="987552"/>
            <a:ext cx="603504" cy="274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3785616" y="987552"/>
            <a:ext cx="6035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W3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407408" y="987552"/>
            <a:ext cx="603504" cy="274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4407408" y="987552"/>
            <a:ext cx="6035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W4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5029200" y="987552"/>
            <a:ext cx="603504" cy="2743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0" y="987552"/>
            <a:ext cx="6035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W5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5650992" y="987552"/>
            <a:ext cx="603504" cy="2743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1" name="Text 19"/>
          <p:cNvSpPr/>
          <p:nvPr/>
        </p:nvSpPr>
        <p:spPr>
          <a:xfrm>
            <a:off x="5650992" y="987552"/>
            <a:ext cx="6035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W6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6272784" y="987552"/>
            <a:ext cx="603504" cy="2743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3" name="Text 21"/>
          <p:cNvSpPr/>
          <p:nvPr/>
        </p:nvSpPr>
        <p:spPr>
          <a:xfrm>
            <a:off x="6272784" y="987552"/>
            <a:ext cx="6035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W7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894576" y="987552"/>
            <a:ext cx="603504" cy="27432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25" name="Text 23"/>
          <p:cNvSpPr/>
          <p:nvPr/>
        </p:nvSpPr>
        <p:spPr>
          <a:xfrm>
            <a:off x="6894576" y="987552"/>
            <a:ext cx="6035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W8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7516368" y="987552"/>
            <a:ext cx="603504" cy="274320"/>
          </a:xfrm>
          <a:prstGeom prst="rect">
            <a:avLst/>
          </a:prstGeom>
          <a:solidFill>
            <a:srgbClr val="D49200"/>
          </a:solidFill>
          <a:ln/>
        </p:spPr>
      </p:sp>
      <p:sp>
        <p:nvSpPr>
          <p:cNvPr id="27" name="Text 25"/>
          <p:cNvSpPr/>
          <p:nvPr/>
        </p:nvSpPr>
        <p:spPr>
          <a:xfrm>
            <a:off x="7516368" y="987552"/>
            <a:ext cx="6035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HC1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8138160" y="987552"/>
            <a:ext cx="603504" cy="274320"/>
          </a:xfrm>
          <a:prstGeom prst="rect">
            <a:avLst/>
          </a:prstGeom>
          <a:solidFill>
            <a:srgbClr val="D49200"/>
          </a:solidFill>
          <a:ln/>
        </p:spPr>
      </p:sp>
      <p:sp>
        <p:nvSpPr>
          <p:cNvPr id="29" name="Text 27"/>
          <p:cNvSpPr/>
          <p:nvPr/>
        </p:nvSpPr>
        <p:spPr>
          <a:xfrm>
            <a:off x="8138160" y="987552"/>
            <a:ext cx="6035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HC2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137160" y="1280160"/>
            <a:ext cx="23317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92024" y="1316736"/>
            <a:ext cx="22219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</a:rPr>
              <a:t>Project Management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2569464" y="1316736"/>
            <a:ext cx="548640" cy="237744"/>
          </a:xfrm>
          <a:prstGeom prst="rect">
            <a:avLst/>
          </a:prstGeom>
          <a:solidFill>
            <a:srgbClr val="1B2F6E"/>
          </a:solidFill>
          <a:ln/>
        </p:spPr>
      </p:sp>
      <p:sp>
        <p:nvSpPr>
          <p:cNvPr id="33" name="Shape 31"/>
          <p:cNvSpPr/>
          <p:nvPr/>
        </p:nvSpPr>
        <p:spPr>
          <a:xfrm>
            <a:off x="3191256" y="1316736"/>
            <a:ext cx="548640" cy="237744"/>
          </a:xfrm>
          <a:prstGeom prst="rect">
            <a:avLst/>
          </a:prstGeom>
          <a:solidFill>
            <a:srgbClr val="1B2F6E"/>
          </a:solidFill>
          <a:ln/>
        </p:spPr>
      </p:sp>
      <p:sp>
        <p:nvSpPr>
          <p:cNvPr id="34" name="Shape 32"/>
          <p:cNvSpPr/>
          <p:nvPr/>
        </p:nvSpPr>
        <p:spPr>
          <a:xfrm>
            <a:off x="3813048" y="1316736"/>
            <a:ext cx="548640" cy="237744"/>
          </a:xfrm>
          <a:prstGeom prst="rect">
            <a:avLst/>
          </a:prstGeom>
          <a:solidFill>
            <a:srgbClr val="1B2F6E"/>
          </a:solidFill>
          <a:ln/>
        </p:spPr>
      </p:sp>
      <p:sp>
        <p:nvSpPr>
          <p:cNvPr id="35" name="Shape 33"/>
          <p:cNvSpPr/>
          <p:nvPr/>
        </p:nvSpPr>
        <p:spPr>
          <a:xfrm>
            <a:off x="4434840" y="1316736"/>
            <a:ext cx="548640" cy="237744"/>
          </a:xfrm>
          <a:prstGeom prst="rect">
            <a:avLst/>
          </a:prstGeom>
          <a:solidFill>
            <a:srgbClr val="1B2F6E"/>
          </a:solidFill>
          <a:ln/>
        </p:spPr>
      </p:sp>
      <p:sp>
        <p:nvSpPr>
          <p:cNvPr id="36" name="Shape 34"/>
          <p:cNvSpPr/>
          <p:nvPr/>
        </p:nvSpPr>
        <p:spPr>
          <a:xfrm>
            <a:off x="5056632" y="1316736"/>
            <a:ext cx="548640" cy="237744"/>
          </a:xfrm>
          <a:prstGeom prst="rect">
            <a:avLst/>
          </a:prstGeom>
          <a:solidFill>
            <a:srgbClr val="1B2F6E"/>
          </a:solidFill>
          <a:ln/>
        </p:spPr>
      </p:sp>
      <p:sp>
        <p:nvSpPr>
          <p:cNvPr id="37" name="Shape 35"/>
          <p:cNvSpPr/>
          <p:nvPr/>
        </p:nvSpPr>
        <p:spPr>
          <a:xfrm>
            <a:off x="5678424" y="1316736"/>
            <a:ext cx="548640" cy="237744"/>
          </a:xfrm>
          <a:prstGeom prst="rect">
            <a:avLst/>
          </a:prstGeom>
          <a:solidFill>
            <a:srgbClr val="1B2F6E"/>
          </a:solidFill>
          <a:ln/>
        </p:spPr>
      </p:sp>
      <p:sp>
        <p:nvSpPr>
          <p:cNvPr id="38" name="Shape 36"/>
          <p:cNvSpPr/>
          <p:nvPr/>
        </p:nvSpPr>
        <p:spPr>
          <a:xfrm>
            <a:off x="6300216" y="1316736"/>
            <a:ext cx="548640" cy="237744"/>
          </a:xfrm>
          <a:prstGeom prst="rect">
            <a:avLst/>
          </a:prstGeom>
          <a:solidFill>
            <a:srgbClr val="1B2F6E"/>
          </a:solidFill>
          <a:ln/>
        </p:spPr>
      </p:sp>
      <p:sp>
        <p:nvSpPr>
          <p:cNvPr id="39" name="Shape 37"/>
          <p:cNvSpPr/>
          <p:nvPr/>
        </p:nvSpPr>
        <p:spPr>
          <a:xfrm>
            <a:off x="6922008" y="1316736"/>
            <a:ext cx="548640" cy="237744"/>
          </a:xfrm>
          <a:prstGeom prst="rect">
            <a:avLst/>
          </a:prstGeom>
          <a:solidFill>
            <a:srgbClr val="1B2F6E"/>
          </a:solidFill>
          <a:ln/>
        </p:spPr>
      </p:sp>
      <p:sp>
        <p:nvSpPr>
          <p:cNvPr id="40" name="Shape 38"/>
          <p:cNvSpPr/>
          <p:nvPr/>
        </p:nvSpPr>
        <p:spPr>
          <a:xfrm>
            <a:off x="7543800" y="1316736"/>
            <a:ext cx="548640" cy="237744"/>
          </a:xfrm>
          <a:prstGeom prst="rect">
            <a:avLst/>
          </a:prstGeom>
          <a:solidFill>
            <a:srgbClr val="1B2F6E"/>
          </a:solidFill>
          <a:ln/>
        </p:spPr>
      </p:sp>
      <p:sp>
        <p:nvSpPr>
          <p:cNvPr id="41" name="Shape 39"/>
          <p:cNvSpPr/>
          <p:nvPr/>
        </p:nvSpPr>
        <p:spPr>
          <a:xfrm>
            <a:off x="8165592" y="1316736"/>
            <a:ext cx="548640" cy="237744"/>
          </a:xfrm>
          <a:prstGeom prst="rect">
            <a:avLst/>
          </a:prstGeom>
          <a:solidFill>
            <a:srgbClr val="1B2F6E"/>
          </a:solidFill>
          <a:ln/>
        </p:spPr>
      </p:sp>
      <p:sp>
        <p:nvSpPr>
          <p:cNvPr id="42" name="Shape 40"/>
          <p:cNvSpPr/>
          <p:nvPr/>
        </p:nvSpPr>
        <p:spPr>
          <a:xfrm>
            <a:off x="137160" y="1613916"/>
            <a:ext cx="2331720" cy="310896"/>
          </a:xfrm>
          <a:prstGeom prst="rect">
            <a:avLst/>
          </a:prstGeom>
          <a:solidFill>
            <a:srgbClr val="ECFDF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92024" y="1650492"/>
            <a:ext cx="22219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</a:rPr>
              <a:t>Platform Discovery &amp; Mapping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2569464" y="1650492"/>
            <a:ext cx="548640" cy="237744"/>
          </a:xfrm>
          <a:prstGeom prst="rect">
            <a:avLst/>
          </a:prstGeom>
          <a:solidFill>
            <a:srgbClr val="1B2F6E"/>
          </a:solidFill>
          <a:ln/>
        </p:spPr>
      </p:sp>
      <p:sp>
        <p:nvSpPr>
          <p:cNvPr id="45" name="Shape 43"/>
          <p:cNvSpPr/>
          <p:nvPr/>
        </p:nvSpPr>
        <p:spPr>
          <a:xfrm>
            <a:off x="3191256" y="1650492"/>
            <a:ext cx="548640" cy="237744"/>
          </a:xfrm>
          <a:prstGeom prst="rect">
            <a:avLst/>
          </a:prstGeom>
          <a:solidFill>
            <a:srgbClr val="1B2F6E"/>
          </a:solidFill>
          <a:ln/>
        </p:spPr>
      </p:sp>
      <p:sp>
        <p:nvSpPr>
          <p:cNvPr id="46" name="Shape 44"/>
          <p:cNvSpPr/>
          <p:nvPr/>
        </p:nvSpPr>
        <p:spPr>
          <a:xfrm>
            <a:off x="3785616" y="1613916"/>
            <a:ext cx="603504" cy="310896"/>
          </a:xfrm>
          <a:prstGeom prst="rect">
            <a:avLst/>
          </a:prstGeom>
          <a:solidFill>
            <a:srgbClr val="ECFDF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407408" y="1613916"/>
            <a:ext cx="603504" cy="310896"/>
          </a:xfrm>
          <a:prstGeom prst="rect">
            <a:avLst/>
          </a:prstGeom>
          <a:solidFill>
            <a:srgbClr val="ECFDF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029200" y="1613916"/>
            <a:ext cx="603504" cy="310896"/>
          </a:xfrm>
          <a:prstGeom prst="rect">
            <a:avLst/>
          </a:prstGeom>
          <a:solidFill>
            <a:srgbClr val="ECFDF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650992" y="1613916"/>
            <a:ext cx="603504" cy="310896"/>
          </a:xfrm>
          <a:prstGeom prst="rect">
            <a:avLst/>
          </a:prstGeom>
          <a:solidFill>
            <a:srgbClr val="ECFDF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272784" y="1613916"/>
            <a:ext cx="603504" cy="310896"/>
          </a:xfrm>
          <a:prstGeom prst="rect">
            <a:avLst/>
          </a:prstGeom>
          <a:solidFill>
            <a:srgbClr val="ECFDF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894576" y="1613916"/>
            <a:ext cx="603504" cy="310896"/>
          </a:xfrm>
          <a:prstGeom prst="rect">
            <a:avLst/>
          </a:prstGeom>
          <a:solidFill>
            <a:srgbClr val="ECFDF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516368" y="1613916"/>
            <a:ext cx="603504" cy="310896"/>
          </a:xfrm>
          <a:prstGeom prst="rect">
            <a:avLst/>
          </a:prstGeom>
          <a:solidFill>
            <a:srgbClr val="ECFDF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138160" y="1613916"/>
            <a:ext cx="603504" cy="310896"/>
          </a:xfrm>
          <a:prstGeom prst="rect">
            <a:avLst/>
          </a:prstGeom>
          <a:solidFill>
            <a:srgbClr val="ECFDF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37160" y="1947672"/>
            <a:ext cx="23317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92024" y="1984248"/>
            <a:ext cx="22219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</a:rPr>
              <a:t>UI/UX Design (ANM)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2569464" y="1984248"/>
            <a:ext cx="548640" cy="23774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7" name="Shape 55"/>
          <p:cNvSpPr/>
          <p:nvPr/>
        </p:nvSpPr>
        <p:spPr>
          <a:xfrm>
            <a:off x="3191256" y="1984248"/>
            <a:ext cx="548640" cy="23774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8" name="Shape 56"/>
          <p:cNvSpPr/>
          <p:nvPr/>
        </p:nvSpPr>
        <p:spPr>
          <a:xfrm>
            <a:off x="3813048" y="1984248"/>
            <a:ext cx="548640" cy="23774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9" name="Shape 57"/>
          <p:cNvSpPr/>
          <p:nvPr/>
        </p:nvSpPr>
        <p:spPr>
          <a:xfrm>
            <a:off x="4434840" y="1984248"/>
            <a:ext cx="548640" cy="23774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0" name="Shape 58"/>
          <p:cNvSpPr/>
          <p:nvPr/>
        </p:nvSpPr>
        <p:spPr>
          <a:xfrm>
            <a:off x="5029200" y="1947672"/>
            <a:ext cx="603504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650992" y="1947672"/>
            <a:ext cx="603504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272784" y="1947672"/>
            <a:ext cx="603504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894576" y="1947672"/>
            <a:ext cx="603504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516368" y="1947672"/>
            <a:ext cx="603504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138160" y="1947672"/>
            <a:ext cx="603504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37160" y="2281428"/>
            <a:ext cx="2331720" cy="310896"/>
          </a:xfrm>
          <a:prstGeom prst="rect">
            <a:avLst/>
          </a:prstGeom>
          <a:solidFill>
            <a:srgbClr val="ECFDF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92024" y="2318004"/>
            <a:ext cx="22219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</a:rPr>
              <a:t>Domain Customisation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2542032" y="2281428"/>
            <a:ext cx="603504" cy="310896"/>
          </a:xfrm>
          <a:prstGeom prst="rect">
            <a:avLst/>
          </a:prstGeom>
          <a:solidFill>
            <a:srgbClr val="ECFDF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3163824" y="2281428"/>
            <a:ext cx="603504" cy="310896"/>
          </a:xfrm>
          <a:prstGeom prst="rect">
            <a:avLst/>
          </a:prstGeom>
          <a:solidFill>
            <a:srgbClr val="ECFDF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3813048" y="2318004"/>
            <a:ext cx="548640" cy="23774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1" name="Shape 69"/>
          <p:cNvSpPr/>
          <p:nvPr/>
        </p:nvSpPr>
        <p:spPr>
          <a:xfrm>
            <a:off x="4434840" y="2318004"/>
            <a:ext cx="548640" cy="23774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2" name="Shape 70"/>
          <p:cNvSpPr/>
          <p:nvPr/>
        </p:nvSpPr>
        <p:spPr>
          <a:xfrm>
            <a:off x="5029200" y="2281428"/>
            <a:ext cx="603504" cy="310896"/>
          </a:xfrm>
          <a:prstGeom prst="rect">
            <a:avLst/>
          </a:prstGeom>
          <a:solidFill>
            <a:srgbClr val="ECFDF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5650992" y="2281428"/>
            <a:ext cx="603504" cy="310896"/>
          </a:xfrm>
          <a:prstGeom prst="rect">
            <a:avLst/>
          </a:prstGeom>
          <a:solidFill>
            <a:srgbClr val="ECFDF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6272784" y="2281428"/>
            <a:ext cx="603504" cy="310896"/>
          </a:xfrm>
          <a:prstGeom prst="rect">
            <a:avLst/>
          </a:prstGeom>
          <a:solidFill>
            <a:srgbClr val="ECFDF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6894576" y="2281428"/>
            <a:ext cx="603504" cy="310896"/>
          </a:xfrm>
          <a:prstGeom prst="rect">
            <a:avLst/>
          </a:prstGeom>
          <a:solidFill>
            <a:srgbClr val="ECFDF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7516368" y="2281428"/>
            <a:ext cx="603504" cy="310896"/>
          </a:xfrm>
          <a:prstGeom prst="rect">
            <a:avLst/>
          </a:prstGeom>
          <a:solidFill>
            <a:srgbClr val="ECFDF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8138160" y="2281428"/>
            <a:ext cx="603504" cy="310896"/>
          </a:xfrm>
          <a:prstGeom prst="rect">
            <a:avLst/>
          </a:prstGeom>
          <a:solidFill>
            <a:srgbClr val="ECFDF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37160" y="2615184"/>
            <a:ext cx="23317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192024" y="2651760"/>
            <a:ext cx="22219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</a:rPr>
              <a:t>Beneficiary &amp; ANC Modules</a:t>
            </a:r>
            <a:endParaRPr lang="en-US" sz="750" dirty="0"/>
          </a:p>
        </p:txBody>
      </p:sp>
      <p:sp>
        <p:nvSpPr>
          <p:cNvPr id="80" name="Shape 78"/>
          <p:cNvSpPr/>
          <p:nvPr/>
        </p:nvSpPr>
        <p:spPr>
          <a:xfrm>
            <a:off x="2542032" y="2615184"/>
            <a:ext cx="603504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3163824" y="2615184"/>
            <a:ext cx="603504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3785616" y="2615184"/>
            <a:ext cx="603504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4407408" y="2615184"/>
            <a:ext cx="603504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5056632" y="2651760"/>
            <a:ext cx="548640" cy="23774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85" name="Shape 83"/>
          <p:cNvSpPr/>
          <p:nvPr/>
        </p:nvSpPr>
        <p:spPr>
          <a:xfrm>
            <a:off x="5678424" y="2651760"/>
            <a:ext cx="548640" cy="23774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86" name="Shape 84"/>
          <p:cNvSpPr/>
          <p:nvPr/>
        </p:nvSpPr>
        <p:spPr>
          <a:xfrm>
            <a:off x="6272784" y="2615184"/>
            <a:ext cx="603504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6894576" y="2615184"/>
            <a:ext cx="603504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7516368" y="2615184"/>
            <a:ext cx="603504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8138160" y="2615184"/>
            <a:ext cx="603504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137160" y="2948940"/>
            <a:ext cx="2331720" cy="310896"/>
          </a:xfrm>
          <a:prstGeom prst="rect">
            <a:avLst/>
          </a:prstGeom>
          <a:solidFill>
            <a:srgbClr val="ECFDF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192024" y="2985516"/>
            <a:ext cx="22219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</a:rPr>
              <a:t>Immunisation &amp; Visit Forms</a:t>
            </a:r>
            <a:endParaRPr lang="en-US" sz="750" dirty="0"/>
          </a:p>
        </p:txBody>
      </p:sp>
      <p:sp>
        <p:nvSpPr>
          <p:cNvPr id="92" name="Shape 90"/>
          <p:cNvSpPr/>
          <p:nvPr/>
        </p:nvSpPr>
        <p:spPr>
          <a:xfrm>
            <a:off x="2542032" y="2948940"/>
            <a:ext cx="603504" cy="310896"/>
          </a:xfrm>
          <a:prstGeom prst="rect">
            <a:avLst/>
          </a:prstGeom>
          <a:solidFill>
            <a:srgbClr val="ECFDF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3163824" y="2948940"/>
            <a:ext cx="603504" cy="310896"/>
          </a:xfrm>
          <a:prstGeom prst="rect">
            <a:avLst/>
          </a:prstGeom>
          <a:solidFill>
            <a:srgbClr val="ECFDF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3785616" y="2948940"/>
            <a:ext cx="603504" cy="310896"/>
          </a:xfrm>
          <a:prstGeom prst="rect">
            <a:avLst/>
          </a:prstGeom>
          <a:solidFill>
            <a:srgbClr val="ECFDF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4407408" y="2948940"/>
            <a:ext cx="603504" cy="310896"/>
          </a:xfrm>
          <a:prstGeom prst="rect">
            <a:avLst/>
          </a:prstGeom>
          <a:solidFill>
            <a:srgbClr val="ECFDF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5056632" y="2985516"/>
            <a:ext cx="548640" cy="23774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97" name="Shape 95"/>
          <p:cNvSpPr/>
          <p:nvPr/>
        </p:nvSpPr>
        <p:spPr>
          <a:xfrm>
            <a:off x="5678424" y="2985516"/>
            <a:ext cx="548640" cy="23774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98" name="Shape 96"/>
          <p:cNvSpPr/>
          <p:nvPr/>
        </p:nvSpPr>
        <p:spPr>
          <a:xfrm>
            <a:off x="6272784" y="2948940"/>
            <a:ext cx="603504" cy="310896"/>
          </a:xfrm>
          <a:prstGeom prst="rect">
            <a:avLst/>
          </a:prstGeom>
          <a:solidFill>
            <a:srgbClr val="ECFDF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6894576" y="2948940"/>
            <a:ext cx="603504" cy="310896"/>
          </a:xfrm>
          <a:prstGeom prst="rect">
            <a:avLst/>
          </a:prstGeom>
          <a:solidFill>
            <a:srgbClr val="ECFDF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7516368" y="2948940"/>
            <a:ext cx="603504" cy="310896"/>
          </a:xfrm>
          <a:prstGeom prst="rect">
            <a:avLst/>
          </a:prstGeom>
          <a:solidFill>
            <a:srgbClr val="ECFDF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8138160" y="2948940"/>
            <a:ext cx="603504" cy="310896"/>
          </a:xfrm>
          <a:prstGeom prst="rect">
            <a:avLst/>
          </a:prstGeom>
          <a:solidFill>
            <a:srgbClr val="ECFDF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137160" y="3282696"/>
            <a:ext cx="23317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192024" y="3319272"/>
            <a:ext cx="22219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</a:rPr>
              <a:t>MCP/RCH Report Templates</a:t>
            </a:r>
            <a:endParaRPr lang="en-US" sz="750" dirty="0"/>
          </a:p>
        </p:txBody>
      </p:sp>
      <p:sp>
        <p:nvSpPr>
          <p:cNvPr id="104" name="Shape 102"/>
          <p:cNvSpPr/>
          <p:nvPr/>
        </p:nvSpPr>
        <p:spPr>
          <a:xfrm>
            <a:off x="2542032" y="3282696"/>
            <a:ext cx="603504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3163824" y="3282696"/>
            <a:ext cx="603504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3785616" y="3282696"/>
            <a:ext cx="603504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4434840" y="3319272"/>
            <a:ext cx="548640" cy="23774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056632" y="3319272"/>
            <a:ext cx="548640" cy="23774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09" name="Shape 107"/>
          <p:cNvSpPr/>
          <p:nvPr/>
        </p:nvSpPr>
        <p:spPr>
          <a:xfrm>
            <a:off x="5650992" y="3282696"/>
            <a:ext cx="603504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6272784" y="3282696"/>
            <a:ext cx="603504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6894576" y="3282696"/>
            <a:ext cx="603504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7516368" y="3282696"/>
            <a:ext cx="603504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8138160" y="3282696"/>
            <a:ext cx="603504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137160" y="3616452"/>
            <a:ext cx="2331720" cy="310896"/>
          </a:xfrm>
          <a:prstGeom prst="rect">
            <a:avLst/>
          </a:prstGeom>
          <a:solidFill>
            <a:srgbClr val="ECFDF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192024" y="3653028"/>
            <a:ext cx="22219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</a:rPr>
              <a:t>iOS Build + Integration</a:t>
            </a:r>
            <a:endParaRPr lang="en-US" sz="750" dirty="0"/>
          </a:p>
        </p:txBody>
      </p:sp>
      <p:sp>
        <p:nvSpPr>
          <p:cNvPr id="116" name="Shape 114"/>
          <p:cNvSpPr/>
          <p:nvPr/>
        </p:nvSpPr>
        <p:spPr>
          <a:xfrm>
            <a:off x="2542032" y="3616452"/>
            <a:ext cx="603504" cy="310896"/>
          </a:xfrm>
          <a:prstGeom prst="rect">
            <a:avLst/>
          </a:prstGeom>
          <a:solidFill>
            <a:srgbClr val="ECFDF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3163824" y="3616452"/>
            <a:ext cx="603504" cy="310896"/>
          </a:xfrm>
          <a:prstGeom prst="rect">
            <a:avLst/>
          </a:prstGeom>
          <a:solidFill>
            <a:srgbClr val="ECFDF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3785616" y="3616452"/>
            <a:ext cx="603504" cy="310896"/>
          </a:xfrm>
          <a:prstGeom prst="rect">
            <a:avLst/>
          </a:prstGeom>
          <a:solidFill>
            <a:srgbClr val="ECFDF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4407408" y="3616452"/>
            <a:ext cx="603504" cy="310896"/>
          </a:xfrm>
          <a:prstGeom prst="rect">
            <a:avLst/>
          </a:prstGeom>
          <a:solidFill>
            <a:srgbClr val="ECFDF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5029200" y="3616452"/>
            <a:ext cx="603504" cy="310896"/>
          </a:xfrm>
          <a:prstGeom prst="rect">
            <a:avLst/>
          </a:prstGeom>
          <a:solidFill>
            <a:srgbClr val="ECFDF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5650992" y="3616452"/>
            <a:ext cx="603504" cy="310896"/>
          </a:xfrm>
          <a:prstGeom prst="rect">
            <a:avLst/>
          </a:prstGeom>
          <a:solidFill>
            <a:srgbClr val="ECFDF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6300216" y="3653028"/>
            <a:ext cx="548640" cy="23774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23" name="Shape 121"/>
          <p:cNvSpPr/>
          <p:nvPr/>
        </p:nvSpPr>
        <p:spPr>
          <a:xfrm>
            <a:off x="6894576" y="3616452"/>
            <a:ext cx="603504" cy="310896"/>
          </a:xfrm>
          <a:prstGeom prst="rect">
            <a:avLst/>
          </a:prstGeom>
          <a:solidFill>
            <a:srgbClr val="ECFDF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7516368" y="3616452"/>
            <a:ext cx="603504" cy="310896"/>
          </a:xfrm>
          <a:prstGeom prst="rect">
            <a:avLst/>
          </a:prstGeom>
          <a:solidFill>
            <a:srgbClr val="ECFDF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8138160" y="3616452"/>
            <a:ext cx="603504" cy="310896"/>
          </a:xfrm>
          <a:prstGeom prst="rect">
            <a:avLst/>
          </a:prstGeom>
          <a:solidFill>
            <a:srgbClr val="ECFDF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137160" y="3950208"/>
            <a:ext cx="23317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192024" y="3986784"/>
            <a:ext cx="22219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</a:rPr>
              <a:t>QA &amp; Security Testing</a:t>
            </a:r>
            <a:endParaRPr lang="en-US" sz="750" dirty="0"/>
          </a:p>
        </p:txBody>
      </p:sp>
      <p:sp>
        <p:nvSpPr>
          <p:cNvPr id="128" name="Shape 126"/>
          <p:cNvSpPr/>
          <p:nvPr/>
        </p:nvSpPr>
        <p:spPr>
          <a:xfrm>
            <a:off x="2542032" y="3950208"/>
            <a:ext cx="603504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3163824" y="3950208"/>
            <a:ext cx="603504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3785616" y="3950208"/>
            <a:ext cx="603504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4407408" y="3950208"/>
            <a:ext cx="603504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5029200" y="3950208"/>
            <a:ext cx="603504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5678424" y="3986784"/>
            <a:ext cx="548640" cy="23774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4" name="Shape 132"/>
          <p:cNvSpPr/>
          <p:nvPr/>
        </p:nvSpPr>
        <p:spPr>
          <a:xfrm>
            <a:off x="6300216" y="3986784"/>
            <a:ext cx="548640" cy="23774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5" name="Shape 133"/>
          <p:cNvSpPr/>
          <p:nvPr/>
        </p:nvSpPr>
        <p:spPr>
          <a:xfrm>
            <a:off x="6894576" y="3950208"/>
            <a:ext cx="603504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7516368" y="3950208"/>
            <a:ext cx="603504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8138160" y="3950208"/>
            <a:ext cx="603504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137160" y="4283964"/>
            <a:ext cx="2331720" cy="310896"/>
          </a:xfrm>
          <a:prstGeom prst="rect">
            <a:avLst/>
          </a:prstGeom>
          <a:solidFill>
            <a:srgbClr val="ECFDF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192024" y="4320540"/>
            <a:ext cx="22219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</a:rPr>
              <a:t>UAT &amp; Production Deploy</a:t>
            </a:r>
            <a:endParaRPr lang="en-US" sz="750" dirty="0"/>
          </a:p>
        </p:txBody>
      </p:sp>
      <p:sp>
        <p:nvSpPr>
          <p:cNvPr id="140" name="Shape 138"/>
          <p:cNvSpPr/>
          <p:nvPr/>
        </p:nvSpPr>
        <p:spPr>
          <a:xfrm>
            <a:off x="2542032" y="4283964"/>
            <a:ext cx="603504" cy="310896"/>
          </a:xfrm>
          <a:prstGeom prst="rect">
            <a:avLst/>
          </a:prstGeom>
          <a:solidFill>
            <a:srgbClr val="ECFDF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3163824" y="4283964"/>
            <a:ext cx="603504" cy="310896"/>
          </a:xfrm>
          <a:prstGeom prst="rect">
            <a:avLst/>
          </a:prstGeom>
          <a:solidFill>
            <a:srgbClr val="ECFDF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3785616" y="4283964"/>
            <a:ext cx="603504" cy="310896"/>
          </a:xfrm>
          <a:prstGeom prst="rect">
            <a:avLst/>
          </a:prstGeom>
          <a:solidFill>
            <a:srgbClr val="ECFDF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4407408" y="4283964"/>
            <a:ext cx="603504" cy="310896"/>
          </a:xfrm>
          <a:prstGeom prst="rect">
            <a:avLst/>
          </a:prstGeom>
          <a:solidFill>
            <a:srgbClr val="ECFDF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5029200" y="4283964"/>
            <a:ext cx="603504" cy="310896"/>
          </a:xfrm>
          <a:prstGeom prst="rect">
            <a:avLst/>
          </a:prstGeom>
          <a:solidFill>
            <a:srgbClr val="ECFDF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5650992" y="4283964"/>
            <a:ext cx="603504" cy="310896"/>
          </a:xfrm>
          <a:prstGeom prst="rect">
            <a:avLst/>
          </a:prstGeom>
          <a:solidFill>
            <a:srgbClr val="ECFDF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6272784" y="4283964"/>
            <a:ext cx="603504" cy="310896"/>
          </a:xfrm>
          <a:prstGeom prst="rect">
            <a:avLst/>
          </a:prstGeom>
          <a:solidFill>
            <a:srgbClr val="ECFDF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6922008" y="4320540"/>
            <a:ext cx="548640" cy="237744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48" name="Shape 146"/>
          <p:cNvSpPr/>
          <p:nvPr/>
        </p:nvSpPr>
        <p:spPr>
          <a:xfrm>
            <a:off x="7516368" y="4283964"/>
            <a:ext cx="603504" cy="310896"/>
          </a:xfrm>
          <a:prstGeom prst="rect">
            <a:avLst/>
          </a:prstGeom>
          <a:solidFill>
            <a:srgbClr val="ECFDF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8138160" y="4283964"/>
            <a:ext cx="603504" cy="310896"/>
          </a:xfrm>
          <a:prstGeom prst="rect">
            <a:avLst/>
          </a:prstGeom>
          <a:solidFill>
            <a:srgbClr val="ECFDF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137160" y="4617720"/>
            <a:ext cx="23317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1" name="Text 149"/>
          <p:cNvSpPr/>
          <p:nvPr/>
        </p:nvSpPr>
        <p:spPr>
          <a:xfrm>
            <a:off x="192024" y="4654296"/>
            <a:ext cx="22219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</a:rPr>
              <a:t>Hypercare Support</a:t>
            </a:r>
            <a:endParaRPr lang="en-US" sz="750" dirty="0"/>
          </a:p>
        </p:txBody>
      </p:sp>
      <p:sp>
        <p:nvSpPr>
          <p:cNvPr id="152" name="Shape 150"/>
          <p:cNvSpPr/>
          <p:nvPr/>
        </p:nvSpPr>
        <p:spPr>
          <a:xfrm>
            <a:off x="2542032" y="4617720"/>
            <a:ext cx="603504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3163824" y="4617720"/>
            <a:ext cx="603504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3785616" y="4617720"/>
            <a:ext cx="603504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4407408" y="4617720"/>
            <a:ext cx="603504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5029200" y="4617720"/>
            <a:ext cx="603504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5650992" y="4617720"/>
            <a:ext cx="603504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6272784" y="4617720"/>
            <a:ext cx="603504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6894576" y="4617720"/>
            <a:ext cx="603504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7543800" y="4654296"/>
            <a:ext cx="548640" cy="237744"/>
          </a:xfrm>
          <a:prstGeom prst="rect">
            <a:avLst/>
          </a:prstGeom>
          <a:solidFill>
            <a:srgbClr val="D49200"/>
          </a:solidFill>
          <a:ln/>
        </p:spPr>
      </p:sp>
      <p:sp>
        <p:nvSpPr>
          <p:cNvPr id="161" name="Shape 159"/>
          <p:cNvSpPr/>
          <p:nvPr/>
        </p:nvSpPr>
        <p:spPr>
          <a:xfrm>
            <a:off x="8165592" y="4654296"/>
            <a:ext cx="548640" cy="237744"/>
          </a:xfrm>
          <a:prstGeom prst="rect">
            <a:avLst/>
          </a:prstGeom>
          <a:solidFill>
            <a:srgbClr val="D49200"/>
          </a:solidFill>
          <a:ln/>
        </p:spPr>
      </p:sp>
      <p:sp>
        <p:nvSpPr>
          <p:cNvPr id="162" name="Shape 160"/>
          <p:cNvSpPr/>
          <p:nvPr/>
        </p:nvSpPr>
        <p:spPr>
          <a:xfrm>
            <a:off x="2542032" y="4782312"/>
            <a:ext cx="1225296" cy="164592"/>
          </a:xfrm>
          <a:prstGeom prst="rect">
            <a:avLst/>
          </a:prstGeom>
          <a:solidFill>
            <a:srgbClr val="1B2F6E"/>
          </a:solidFill>
          <a:ln/>
        </p:spPr>
      </p:sp>
      <p:sp>
        <p:nvSpPr>
          <p:cNvPr id="163" name="Text 161"/>
          <p:cNvSpPr/>
          <p:nvPr/>
        </p:nvSpPr>
        <p:spPr>
          <a:xfrm>
            <a:off x="2542032" y="4782312"/>
            <a:ext cx="122529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Phase 1</a:t>
            </a:r>
            <a:endParaRPr lang="en-US" sz="700" dirty="0"/>
          </a:p>
        </p:txBody>
      </p:sp>
      <p:sp>
        <p:nvSpPr>
          <p:cNvPr id="164" name="Shape 162"/>
          <p:cNvSpPr/>
          <p:nvPr/>
        </p:nvSpPr>
        <p:spPr>
          <a:xfrm>
            <a:off x="3785616" y="4782312"/>
            <a:ext cx="1225296" cy="16459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5" name="Text 163"/>
          <p:cNvSpPr/>
          <p:nvPr/>
        </p:nvSpPr>
        <p:spPr>
          <a:xfrm>
            <a:off x="3785616" y="4782312"/>
            <a:ext cx="122529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Phase 2</a:t>
            </a:r>
            <a:endParaRPr lang="en-US" sz="700" dirty="0"/>
          </a:p>
        </p:txBody>
      </p:sp>
      <p:sp>
        <p:nvSpPr>
          <p:cNvPr id="166" name="Shape 164"/>
          <p:cNvSpPr/>
          <p:nvPr/>
        </p:nvSpPr>
        <p:spPr>
          <a:xfrm>
            <a:off x="5029200" y="4782312"/>
            <a:ext cx="1225296" cy="16459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67" name="Text 165"/>
          <p:cNvSpPr/>
          <p:nvPr/>
        </p:nvSpPr>
        <p:spPr>
          <a:xfrm>
            <a:off x="5029200" y="4782312"/>
            <a:ext cx="122529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Phase 3</a:t>
            </a:r>
            <a:endParaRPr lang="en-US" sz="700" dirty="0"/>
          </a:p>
        </p:txBody>
      </p:sp>
      <p:sp>
        <p:nvSpPr>
          <p:cNvPr id="168" name="Shape 166"/>
          <p:cNvSpPr/>
          <p:nvPr/>
        </p:nvSpPr>
        <p:spPr>
          <a:xfrm>
            <a:off x="6272784" y="4782312"/>
            <a:ext cx="603504" cy="16459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69" name="Text 167"/>
          <p:cNvSpPr/>
          <p:nvPr/>
        </p:nvSpPr>
        <p:spPr>
          <a:xfrm>
            <a:off x="6272784" y="4782312"/>
            <a:ext cx="60350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Phase 4</a:t>
            </a:r>
            <a:endParaRPr lang="en-US" sz="700" dirty="0"/>
          </a:p>
        </p:txBody>
      </p:sp>
      <p:sp>
        <p:nvSpPr>
          <p:cNvPr id="170" name="Shape 168"/>
          <p:cNvSpPr/>
          <p:nvPr/>
        </p:nvSpPr>
        <p:spPr>
          <a:xfrm>
            <a:off x="6894576" y="4782312"/>
            <a:ext cx="603504" cy="164592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71" name="Text 169"/>
          <p:cNvSpPr/>
          <p:nvPr/>
        </p:nvSpPr>
        <p:spPr>
          <a:xfrm>
            <a:off x="6894576" y="4782312"/>
            <a:ext cx="60350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Phase 5</a:t>
            </a:r>
            <a:endParaRPr lang="en-US" sz="700" dirty="0"/>
          </a:p>
        </p:txBody>
      </p:sp>
      <p:sp>
        <p:nvSpPr>
          <p:cNvPr id="172" name="Shape 170"/>
          <p:cNvSpPr/>
          <p:nvPr/>
        </p:nvSpPr>
        <p:spPr>
          <a:xfrm>
            <a:off x="7516368" y="4782312"/>
            <a:ext cx="1225296" cy="164592"/>
          </a:xfrm>
          <a:prstGeom prst="rect">
            <a:avLst/>
          </a:prstGeom>
          <a:solidFill>
            <a:srgbClr val="D49200"/>
          </a:solidFill>
          <a:ln/>
        </p:spPr>
      </p:sp>
      <p:sp>
        <p:nvSpPr>
          <p:cNvPr id="173" name="Text 171"/>
          <p:cNvSpPr/>
          <p:nvPr/>
        </p:nvSpPr>
        <p:spPr>
          <a:xfrm>
            <a:off x="7516368" y="4782312"/>
            <a:ext cx="122529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Hypercare</a:t>
            </a:r>
            <a:endParaRPr lang="en-US" sz="700" dirty="0"/>
          </a:p>
        </p:txBody>
      </p:sp>
      <p:sp>
        <p:nvSpPr>
          <p:cNvPr id="174" name="Shape 172"/>
          <p:cNvSpPr/>
          <p:nvPr/>
        </p:nvSpPr>
        <p:spPr>
          <a:xfrm>
            <a:off x="0" y="4969764"/>
            <a:ext cx="9144000" cy="173736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175" name="Text 173"/>
          <p:cNvSpPr/>
          <p:nvPr/>
        </p:nvSpPr>
        <p:spPr>
          <a:xfrm>
            <a:off x="0" y="4971593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B2F6E"/>
                </a:solidFill>
              </a:rPr>
              <a:t>Mahima Community Platform  ·  ANM RFP Proposal  ·  Confidential  ·  June 2025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B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B2F6E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9144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140" kern="0" dirty="0">
                <a:solidFill>
                  <a:srgbClr val="F0A500"/>
                </a:solidFill>
              </a:rPr>
              <a:t>•  RESOURCE LOADING  •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0" y="2743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F6E"/>
                </a:solidFill>
              </a:rPr>
              <a:t>Team Allocation &amp; Day Matrix — 8-Week + Hypercare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02920" y="896112"/>
            <a:ext cx="8138160" cy="3657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" y="987552"/>
            <a:ext cx="8979408" cy="256032"/>
          </a:xfrm>
          <a:prstGeom prst="rect">
            <a:avLst/>
          </a:prstGeom>
          <a:solidFill>
            <a:srgbClr val="1B2F6E"/>
          </a:solidFill>
          <a:ln/>
        </p:spPr>
      </p:sp>
      <p:sp>
        <p:nvSpPr>
          <p:cNvPr id="9" name="Text 7"/>
          <p:cNvSpPr/>
          <p:nvPr/>
        </p:nvSpPr>
        <p:spPr>
          <a:xfrm>
            <a:off x="91440" y="987552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Role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2084832" y="987552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Day Rate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2770632" y="987552"/>
            <a:ext cx="5120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W1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300984" y="987552"/>
            <a:ext cx="5120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W2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831336" y="987552"/>
            <a:ext cx="5120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W3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4361688" y="987552"/>
            <a:ext cx="5120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W4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4892040" y="987552"/>
            <a:ext cx="5120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W5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5422392" y="987552"/>
            <a:ext cx="5120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W6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5952744" y="987552"/>
            <a:ext cx="5120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W7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6483096" y="987552"/>
            <a:ext cx="5120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W8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7013448" y="987552"/>
            <a:ext cx="5120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HC1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7543800" y="987552"/>
            <a:ext cx="5120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HC2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8275320" y="987552"/>
            <a:ext cx="5303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Days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91440" y="1243584"/>
            <a:ext cx="8979408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28016" y="1280160"/>
            <a:ext cx="18928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1A2E"/>
                </a:solidFill>
              </a:rPr>
              <a:t>Project Manager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084832" y="1280160"/>
            <a:ext cx="6583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2F6E"/>
                </a:solidFill>
              </a:rPr>
              <a:t>$900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798064" y="1307592"/>
            <a:ext cx="457200" cy="25603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6" name="Text 24"/>
          <p:cNvSpPr/>
          <p:nvPr/>
        </p:nvSpPr>
        <p:spPr>
          <a:xfrm>
            <a:off x="2798064" y="13075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5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328416" y="1307592"/>
            <a:ext cx="457200" cy="25603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8" name="Text 26"/>
          <p:cNvSpPr/>
          <p:nvPr/>
        </p:nvSpPr>
        <p:spPr>
          <a:xfrm>
            <a:off x="3328416" y="13075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5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858768" y="1307592"/>
            <a:ext cx="457200" cy="25603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0" name="Text 28"/>
          <p:cNvSpPr/>
          <p:nvPr/>
        </p:nvSpPr>
        <p:spPr>
          <a:xfrm>
            <a:off x="3858768" y="13075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389120" y="1307592"/>
            <a:ext cx="457200" cy="25603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2" name="Text 30"/>
          <p:cNvSpPr/>
          <p:nvPr/>
        </p:nvSpPr>
        <p:spPr>
          <a:xfrm>
            <a:off x="4389120" y="13075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919472" y="1307592"/>
            <a:ext cx="457200" cy="25603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4" name="Text 32"/>
          <p:cNvSpPr/>
          <p:nvPr/>
        </p:nvSpPr>
        <p:spPr>
          <a:xfrm>
            <a:off x="4919472" y="13075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5449824" y="1307592"/>
            <a:ext cx="457200" cy="25603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6" name="Text 34"/>
          <p:cNvSpPr/>
          <p:nvPr/>
        </p:nvSpPr>
        <p:spPr>
          <a:xfrm>
            <a:off x="5449824" y="13075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5980176" y="1307592"/>
            <a:ext cx="457200" cy="25603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8" name="Text 36"/>
          <p:cNvSpPr/>
          <p:nvPr/>
        </p:nvSpPr>
        <p:spPr>
          <a:xfrm>
            <a:off x="5980176" y="13075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6510528" y="1307592"/>
            <a:ext cx="457200" cy="25603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0" name="Text 38"/>
          <p:cNvSpPr/>
          <p:nvPr/>
        </p:nvSpPr>
        <p:spPr>
          <a:xfrm>
            <a:off x="6510528" y="13075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7040880" y="1307592"/>
            <a:ext cx="457200" cy="256032"/>
          </a:xfrm>
          <a:prstGeom prst="rect">
            <a:avLst/>
          </a:prstGeom>
          <a:solidFill>
            <a:srgbClr val="D49200"/>
          </a:solidFill>
          <a:ln/>
        </p:spPr>
      </p:sp>
      <p:sp>
        <p:nvSpPr>
          <p:cNvPr id="42" name="Text 40"/>
          <p:cNvSpPr/>
          <p:nvPr/>
        </p:nvSpPr>
        <p:spPr>
          <a:xfrm>
            <a:off x="7040880" y="13075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7571232" y="1307592"/>
            <a:ext cx="457200" cy="256032"/>
          </a:xfrm>
          <a:prstGeom prst="rect">
            <a:avLst/>
          </a:prstGeom>
          <a:solidFill>
            <a:srgbClr val="D49200"/>
          </a:solidFill>
          <a:ln/>
        </p:spPr>
      </p:sp>
      <p:sp>
        <p:nvSpPr>
          <p:cNvPr id="44" name="Text 42"/>
          <p:cNvSpPr/>
          <p:nvPr/>
        </p:nvSpPr>
        <p:spPr>
          <a:xfrm>
            <a:off x="7571232" y="13075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8275320" y="1298448"/>
            <a:ext cx="530352" cy="274320"/>
          </a:xfrm>
          <a:prstGeom prst="rect">
            <a:avLst/>
          </a:prstGeom>
          <a:solidFill>
            <a:srgbClr val="1B2F6E"/>
          </a:solidFill>
          <a:ln/>
        </p:spPr>
      </p:sp>
      <p:sp>
        <p:nvSpPr>
          <p:cNvPr id="46" name="Text 44"/>
          <p:cNvSpPr/>
          <p:nvPr/>
        </p:nvSpPr>
        <p:spPr>
          <a:xfrm>
            <a:off x="8275320" y="1298448"/>
            <a:ext cx="530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27d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91440" y="1645920"/>
            <a:ext cx="8979408" cy="384048"/>
          </a:xfrm>
          <a:prstGeom prst="rect">
            <a:avLst/>
          </a:prstGeom>
          <a:solidFill>
            <a:srgbClr val="ECFDF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28016" y="1682496"/>
            <a:ext cx="18928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1A2E"/>
                </a:solidFill>
              </a:rPr>
              <a:t>Solution Architect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2084832" y="1682496"/>
            <a:ext cx="6583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2F6E"/>
                </a:solidFill>
              </a:rPr>
              <a:t>$1,200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2798064" y="1709928"/>
            <a:ext cx="457200" cy="25603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51" name="Text 49"/>
          <p:cNvSpPr/>
          <p:nvPr/>
        </p:nvSpPr>
        <p:spPr>
          <a:xfrm>
            <a:off x="2798064" y="1709928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3328416" y="1709928"/>
            <a:ext cx="457200" cy="25603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53" name="Text 51"/>
          <p:cNvSpPr/>
          <p:nvPr/>
        </p:nvSpPr>
        <p:spPr>
          <a:xfrm>
            <a:off x="3328416" y="1709928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3858768" y="1709928"/>
            <a:ext cx="457200" cy="25603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55" name="Text 53"/>
          <p:cNvSpPr/>
          <p:nvPr/>
        </p:nvSpPr>
        <p:spPr>
          <a:xfrm>
            <a:off x="3858768" y="1709928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6510528" y="1709928"/>
            <a:ext cx="457200" cy="25603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57" name="Text 55"/>
          <p:cNvSpPr/>
          <p:nvPr/>
        </p:nvSpPr>
        <p:spPr>
          <a:xfrm>
            <a:off x="6510528" y="1709928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8275320" y="1700784"/>
            <a:ext cx="530352" cy="274320"/>
          </a:xfrm>
          <a:prstGeom prst="rect">
            <a:avLst/>
          </a:prstGeom>
          <a:solidFill>
            <a:srgbClr val="1B2F6E"/>
          </a:solidFill>
          <a:ln/>
        </p:spPr>
      </p:sp>
      <p:sp>
        <p:nvSpPr>
          <p:cNvPr id="59" name="Text 57"/>
          <p:cNvSpPr/>
          <p:nvPr/>
        </p:nvSpPr>
        <p:spPr>
          <a:xfrm>
            <a:off x="8275320" y="1700784"/>
            <a:ext cx="530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9d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91440" y="2048256"/>
            <a:ext cx="8979408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28016" y="2084832"/>
            <a:ext cx="18928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1A2E"/>
                </a:solidFill>
              </a:rPr>
              <a:t>UI/UX Designer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2084832" y="2084832"/>
            <a:ext cx="6583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2F6E"/>
                </a:solidFill>
              </a:rPr>
              <a:t>$800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2798064" y="2112264"/>
            <a:ext cx="457200" cy="25603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64" name="Text 62"/>
          <p:cNvSpPr/>
          <p:nvPr/>
        </p:nvSpPr>
        <p:spPr>
          <a:xfrm>
            <a:off x="2798064" y="211226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3328416" y="2112264"/>
            <a:ext cx="457200" cy="25603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66" name="Text 64"/>
          <p:cNvSpPr/>
          <p:nvPr/>
        </p:nvSpPr>
        <p:spPr>
          <a:xfrm>
            <a:off x="3328416" y="211226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5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3858768" y="2112264"/>
            <a:ext cx="457200" cy="25603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68" name="Text 66"/>
          <p:cNvSpPr/>
          <p:nvPr/>
        </p:nvSpPr>
        <p:spPr>
          <a:xfrm>
            <a:off x="3858768" y="211226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4389120" y="2112264"/>
            <a:ext cx="457200" cy="25603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70" name="Text 68"/>
          <p:cNvSpPr/>
          <p:nvPr/>
        </p:nvSpPr>
        <p:spPr>
          <a:xfrm>
            <a:off x="4389120" y="211226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8275320" y="2103120"/>
            <a:ext cx="530352" cy="274320"/>
          </a:xfrm>
          <a:prstGeom prst="rect">
            <a:avLst/>
          </a:prstGeom>
          <a:solidFill>
            <a:srgbClr val="1B2F6E"/>
          </a:solidFill>
          <a:ln/>
        </p:spPr>
      </p:sp>
      <p:sp>
        <p:nvSpPr>
          <p:cNvPr id="72" name="Text 70"/>
          <p:cNvSpPr/>
          <p:nvPr/>
        </p:nvSpPr>
        <p:spPr>
          <a:xfrm>
            <a:off x="8275320" y="2103120"/>
            <a:ext cx="530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13d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91440" y="2450592"/>
            <a:ext cx="8979408" cy="384048"/>
          </a:xfrm>
          <a:prstGeom prst="rect">
            <a:avLst/>
          </a:prstGeom>
          <a:solidFill>
            <a:srgbClr val="ECFDF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28016" y="2487168"/>
            <a:ext cx="18928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1A2E"/>
                </a:solidFill>
              </a:rPr>
              <a:t>Full-Stack Dev (.NET)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2084832" y="2487168"/>
            <a:ext cx="6583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2F6E"/>
                </a:solidFill>
              </a:rPr>
              <a:t>$950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2798064" y="2514600"/>
            <a:ext cx="457200" cy="25603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77" name="Text 75"/>
          <p:cNvSpPr/>
          <p:nvPr/>
        </p:nvSpPr>
        <p:spPr>
          <a:xfrm>
            <a:off x="2798064" y="251460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3328416" y="2514600"/>
            <a:ext cx="457200" cy="25603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79" name="Text 77"/>
          <p:cNvSpPr/>
          <p:nvPr/>
        </p:nvSpPr>
        <p:spPr>
          <a:xfrm>
            <a:off x="3328416" y="251460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3858768" y="2514600"/>
            <a:ext cx="457200" cy="25603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81" name="Text 79"/>
          <p:cNvSpPr/>
          <p:nvPr/>
        </p:nvSpPr>
        <p:spPr>
          <a:xfrm>
            <a:off x="3858768" y="251460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5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4389120" y="2514600"/>
            <a:ext cx="457200" cy="25603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83" name="Text 81"/>
          <p:cNvSpPr/>
          <p:nvPr/>
        </p:nvSpPr>
        <p:spPr>
          <a:xfrm>
            <a:off x="4389120" y="251460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5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4919472" y="2514600"/>
            <a:ext cx="457200" cy="25603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85" name="Text 83"/>
          <p:cNvSpPr/>
          <p:nvPr/>
        </p:nvSpPr>
        <p:spPr>
          <a:xfrm>
            <a:off x="4919472" y="251460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5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5449824" y="2514600"/>
            <a:ext cx="457200" cy="25603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87" name="Text 85"/>
          <p:cNvSpPr/>
          <p:nvPr/>
        </p:nvSpPr>
        <p:spPr>
          <a:xfrm>
            <a:off x="5449824" y="251460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88" name="Shape 86"/>
          <p:cNvSpPr/>
          <p:nvPr/>
        </p:nvSpPr>
        <p:spPr>
          <a:xfrm>
            <a:off x="5980176" y="2514600"/>
            <a:ext cx="457200" cy="25603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89" name="Text 87"/>
          <p:cNvSpPr/>
          <p:nvPr/>
        </p:nvSpPr>
        <p:spPr>
          <a:xfrm>
            <a:off x="5980176" y="251460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90" name="Shape 88"/>
          <p:cNvSpPr/>
          <p:nvPr/>
        </p:nvSpPr>
        <p:spPr>
          <a:xfrm>
            <a:off x="7040880" y="2514600"/>
            <a:ext cx="457200" cy="256032"/>
          </a:xfrm>
          <a:prstGeom prst="rect">
            <a:avLst/>
          </a:prstGeom>
          <a:solidFill>
            <a:srgbClr val="D49200"/>
          </a:solidFill>
          <a:ln/>
        </p:spPr>
      </p:sp>
      <p:sp>
        <p:nvSpPr>
          <p:cNvPr id="91" name="Text 89"/>
          <p:cNvSpPr/>
          <p:nvPr/>
        </p:nvSpPr>
        <p:spPr>
          <a:xfrm>
            <a:off x="7040880" y="251460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92" name="Shape 90"/>
          <p:cNvSpPr/>
          <p:nvPr/>
        </p:nvSpPr>
        <p:spPr>
          <a:xfrm>
            <a:off x="8275320" y="2505456"/>
            <a:ext cx="530352" cy="274320"/>
          </a:xfrm>
          <a:prstGeom prst="rect">
            <a:avLst/>
          </a:prstGeom>
          <a:solidFill>
            <a:srgbClr val="1B2F6E"/>
          </a:solidFill>
          <a:ln/>
        </p:spPr>
      </p:sp>
      <p:sp>
        <p:nvSpPr>
          <p:cNvPr id="93" name="Text 91"/>
          <p:cNvSpPr/>
          <p:nvPr/>
        </p:nvSpPr>
        <p:spPr>
          <a:xfrm>
            <a:off x="8275320" y="2505456"/>
            <a:ext cx="530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23d</a:t>
            </a:r>
            <a:endParaRPr lang="en-US" sz="850" dirty="0"/>
          </a:p>
        </p:txBody>
      </p:sp>
      <p:sp>
        <p:nvSpPr>
          <p:cNvPr id="94" name="Shape 92"/>
          <p:cNvSpPr/>
          <p:nvPr/>
        </p:nvSpPr>
        <p:spPr>
          <a:xfrm>
            <a:off x="91440" y="2852928"/>
            <a:ext cx="8979408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128016" y="2889504"/>
            <a:ext cx="18928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1A2E"/>
                </a:solidFill>
              </a:rPr>
              <a:t>Mobile Developer</a:t>
            </a:r>
            <a:endParaRPr lang="en-US" sz="800" dirty="0"/>
          </a:p>
        </p:txBody>
      </p:sp>
      <p:sp>
        <p:nvSpPr>
          <p:cNvPr id="96" name="Text 94"/>
          <p:cNvSpPr/>
          <p:nvPr/>
        </p:nvSpPr>
        <p:spPr>
          <a:xfrm>
            <a:off x="2084832" y="2889504"/>
            <a:ext cx="6583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2F6E"/>
                </a:solidFill>
              </a:rPr>
              <a:t>$950</a:t>
            </a:r>
            <a:endParaRPr lang="en-US" sz="800" dirty="0"/>
          </a:p>
        </p:txBody>
      </p:sp>
      <p:sp>
        <p:nvSpPr>
          <p:cNvPr id="97" name="Shape 95"/>
          <p:cNvSpPr/>
          <p:nvPr/>
        </p:nvSpPr>
        <p:spPr>
          <a:xfrm>
            <a:off x="3328416" y="2916936"/>
            <a:ext cx="457200" cy="25603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98" name="Text 96"/>
          <p:cNvSpPr/>
          <p:nvPr/>
        </p:nvSpPr>
        <p:spPr>
          <a:xfrm>
            <a:off x="3328416" y="291693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99" name="Shape 97"/>
          <p:cNvSpPr/>
          <p:nvPr/>
        </p:nvSpPr>
        <p:spPr>
          <a:xfrm>
            <a:off x="3858768" y="2916936"/>
            <a:ext cx="457200" cy="25603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00" name="Text 98"/>
          <p:cNvSpPr/>
          <p:nvPr/>
        </p:nvSpPr>
        <p:spPr>
          <a:xfrm>
            <a:off x="3858768" y="291693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101" name="Shape 99"/>
          <p:cNvSpPr/>
          <p:nvPr/>
        </p:nvSpPr>
        <p:spPr>
          <a:xfrm>
            <a:off x="4389120" y="2916936"/>
            <a:ext cx="457200" cy="25603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02" name="Text 100"/>
          <p:cNvSpPr/>
          <p:nvPr/>
        </p:nvSpPr>
        <p:spPr>
          <a:xfrm>
            <a:off x="4389120" y="291693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103" name="Shape 101"/>
          <p:cNvSpPr/>
          <p:nvPr/>
        </p:nvSpPr>
        <p:spPr>
          <a:xfrm>
            <a:off x="4919472" y="2916936"/>
            <a:ext cx="457200" cy="25603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04" name="Text 102"/>
          <p:cNvSpPr/>
          <p:nvPr/>
        </p:nvSpPr>
        <p:spPr>
          <a:xfrm>
            <a:off x="4919472" y="291693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  <p:sp>
        <p:nvSpPr>
          <p:cNvPr id="105" name="Shape 103"/>
          <p:cNvSpPr/>
          <p:nvPr/>
        </p:nvSpPr>
        <p:spPr>
          <a:xfrm>
            <a:off x="5449824" y="2916936"/>
            <a:ext cx="457200" cy="25603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06" name="Text 104"/>
          <p:cNvSpPr/>
          <p:nvPr/>
        </p:nvSpPr>
        <p:spPr>
          <a:xfrm>
            <a:off x="5449824" y="291693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5</a:t>
            </a:r>
            <a:endParaRPr lang="en-US" sz="800" dirty="0"/>
          </a:p>
        </p:txBody>
      </p:sp>
      <p:sp>
        <p:nvSpPr>
          <p:cNvPr id="107" name="Shape 105"/>
          <p:cNvSpPr/>
          <p:nvPr/>
        </p:nvSpPr>
        <p:spPr>
          <a:xfrm>
            <a:off x="5980176" y="2916936"/>
            <a:ext cx="457200" cy="25603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08" name="Text 106"/>
          <p:cNvSpPr/>
          <p:nvPr/>
        </p:nvSpPr>
        <p:spPr>
          <a:xfrm>
            <a:off x="5980176" y="291693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109" name="Shape 107"/>
          <p:cNvSpPr/>
          <p:nvPr/>
        </p:nvSpPr>
        <p:spPr>
          <a:xfrm>
            <a:off x="6510528" y="2916936"/>
            <a:ext cx="457200" cy="25603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10" name="Text 108"/>
          <p:cNvSpPr/>
          <p:nvPr/>
        </p:nvSpPr>
        <p:spPr>
          <a:xfrm>
            <a:off x="6510528" y="291693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111" name="Shape 109"/>
          <p:cNvSpPr/>
          <p:nvPr/>
        </p:nvSpPr>
        <p:spPr>
          <a:xfrm>
            <a:off x="7040880" y="2916936"/>
            <a:ext cx="457200" cy="256032"/>
          </a:xfrm>
          <a:prstGeom prst="rect">
            <a:avLst/>
          </a:prstGeom>
          <a:solidFill>
            <a:srgbClr val="D49200"/>
          </a:solidFill>
          <a:ln/>
        </p:spPr>
      </p:sp>
      <p:sp>
        <p:nvSpPr>
          <p:cNvPr id="112" name="Text 110"/>
          <p:cNvSpPr/>
          <p:nvPr/>
        </p:nvSpPr>
        <p:spPr>
          <a:xfrm>
            <a:off x="7040880" y="291693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113" name="Shape 111"/>
          <p:cNvSpPr/>
          <p:nvPr/>
        </p:nvSpPr>
        <p:spPr>
          <a:xfrm>
            <a:off x="7571232" y="2916936"/>
            <a:ext cx="457200" cy="256032"/>
          </a:xfrm>
          <a:prstGeom prst="rect">
            <a:avLst/>
          </a:prstGeom>
          <a:solidFill>
            <a:srgbClr val="D49200"/>
          </a:solidFill>
          <a:ln/>
        </p:spPr>
      </p:sp>
      <p:sp>
        <p:nvSpPr>
          <p:cNvPr id="114" name="Text 112"/>
          <p:cNvSpPr/>
          <p:nvPr/>
        </p:nvSpPr>
        <p:spPr>
          <a:xfrm>
            <a:off x="7571232" y="291693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115" name="Shape 113"/>
          <p:cNvSpPr/>
          <p:nvPr/>
        </p:nvSpPr>
        <p:spPr>
          <a:xfrm>
            <a:off x="8275320" y="2907792"/>
            <a:ext cx="530352" cy="274320"/>
          </a:xfrm>
          <a:prstGeom prst="rect">
            <a:avLst/>
          </a:prstGeom>
          <a:solidFill>
            <a:srgbClr val="1B2F6E"/>
          </a:solidFill>
          <a:ln/>
        </p:spPr>
      </p:sp>
      <p:sp>
        <p:nvSpPr>
          <p:cNvPr id="116" name="Text 114"/>
          <p:cNvSpPr/>
          <p:nvPr/>
        </p:nvSpPr>
        <p:spPr>
          <a:xfrm>
            <a:off x="8275320" y="2907792"/>
            <a:ext cx="530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21d</a:t>
            </a:r>
            <a:endParaRPr lang="en-US" sz="850" dirty="0"/>
          </a:p>
        </p:txBody>
      </p:sp>
      <p:sp>
        <p:nvSpPr>
          <p:cNvPr id="117" name="Shape 115"/>
          <p:cNvSpPr/>
          <p:nvPr/>
        </p:nvSpPr>
        <p:spPr>
          <a:xfrm>
            <a:off x="91440" y="3255264"/>
            <a:ext cx="8979408" cy="384048"/>
          </a:xfrm>
          <a:prstGeom prst="rect">
            <a:avLst/>
          </a:prstGeom>
          <a:solidFill>
            <a:srgbClr val="ECFDF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128016" y="3291840"/>
            <a:ext cx="18928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1A2E"/>
                </a:solidFill>
              </a:rPr>
              <a:t>DevOps Engineer</a:t>
            </a:r>
            <a:endParaRPr lang="en-US" sz="800" dirty="0"/>
          </a:p>
        </p:txBody>
      </p:sp>
      <p:sp>
        <p:nvSpPr>
          <p:cNvPr id="119" name="Text 117"/>
          <p:cNvSpPr/>
          <p:nvPr/>
        </p:nvSpPr>
        <p:spPr>
          <a:xfrm>
            <a:off x="2084832" y="3291840"/>
            <a:ext cx="6583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2F6E"/>
                </a:solidFill>
              </a:rPr>
              <a:t>$850</a:t>
            </a:r>
            <a:endParaRPr lang="en-US" sz="800" dirty="0"/>
          </a:p>
        </p:txBody>
      </p:sp>
      <p:sp>
        <p:nvSpPr>
          <p:cNvPr id="120" name="Shape 118"/>
          <p:cNvSpPr/>
          <p:nvPr/>
        </p:nvSpPr>
        <p:spPr>
          <a:xfrm>
            <a:off x="2798064" y="3319272"/>
            <a:ext cx="457200" cy="25603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21" name="Text 119"/>
          <p:cNvSpPr/>
          <p:nvPr/>
        </p:nvSpPr>
        <p:spPr>
          <a:xfrm>
            <a:off x="2798064" y="331927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122" name="Shape 120"/>
          <p:cNvSpPr/>
          <p:nvPr/>
        </p:nvSpPr>
        <p:spPr>
          <a:xfrm>
            <a:off x="3328416" y="3319272"/>
            <a:ext cx="457200" cy="25603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23" name="Text 121"/>
          <p:cNvSpPr/>
          <p:nvPr/>
        </p:nvSpPr>
        <p:spPr>
          <a:xfrm>
            <a:off x="3328416" y="331927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124" name="Shape 122"/>
          <p:cNvSpPr/>
          <p:nvPr/>
        </p:nvSpPr>
        <p:spPr>
          <a:xfrm>
            <a:off x="3858768" y="3319272"/>
            <a:ext cx="457200" cy="25603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25" name="Text 123"/>
          <p:cNvSpPr/>
          <p:nvPr/>
        </p:nvSpPr>
        <p:spPr>
          <a:xfrm>
            <a:off x="3858768" y="331927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126" name="Shape 124"/>
          <p:cNvSpPr/>
          <p:nvPr/>
        </p:nvSpPr>
        <p:spPr>
          <a:xfrm>
            <a:off x="4389120" y="3319272"/>
            <a:ext cx="457200" cy="25603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27" name="Text 125"/>
          <p:cNvSpPr/>
          <p:nvPr/>
        </p:nvSpPr>
        <p:spPr>
          <a:xfrm>
            <a:off x="4389120" y="331927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128" name="Shape 126"/>
          <p:cNvSpPr/>
          <p:nvPr/>
        </p:nvSpPr>
        <p:spPr>
          <a:xfrm>
            <a:off x="4919472" y="3319272"/>
            <a:ext cx="457200" cy="25603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29" name="Text 127"/>
          <p:cNvSpPr/>
          <p:nvPr/>
        </p:nvSpPr>
        <p:spPr>
          <a:xfrm>
            <a:off x="4919472" y="331927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130" name="Shape 128"/>
          <p:cNvSpPr/>
          <p:nvPr/>
        </p:nvSpPr>
        <p:spPr>
          <a:xfrm>
            <a:off x="5449824" y="3319272"/>
            <a:ext cx="457200" cy="25603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31" name="Text 129"/>
          <p:cNvSpPr/>
          <p:nvPr/>
        </p:nvSpPr>
        <p:spPr>
          <a:xfrm>
            <a:off x="5449824" y="331927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132" name="Shape 130"/>
          <p:cNvSpPr/>
          <p:nvPr/>
        </p:nvSpPr>
        <p:spPr>
          <a:xfrm>
            <a:off x="5980176" y="3319272"/>
            <a:ext cx="457200" cy="25603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33" name="Text 131"/>
          <p:cNvSpPr/>
          <p:nvPr/>
        </p:nvSpPr>
        <p:spPr>
          <a:xfrm>
            <a:off x="5980176" y="331927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134" name="Shape 132"/>
          <p:cNvSpPr/>
          <p:nvPr/>
        </p:nvSpPr>
        <p:spPr>
          <a:xfrm>
            <a:off x="6510528" y="3319272"/>
            <a:ext cx="457200" cy="25603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35" name="Text 133"/>
          <p:cNvSpPr/>
          <p:nvPr/>
        </p:nvSpPr>
        <p:spPr>
          <a:xfrm>
            <a:off x="6510528" y="331927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136" name="Shape 134"/>
          <p:cNvSpPr/>
          <p:nvPr/>
        </p:nvSpPr>
        <p:spPr>
          <a:xfrm>
            <a:off x="7040880" y="3319272"/>
            <a:ext cx="457200" cy="256032"/>
          </a:xfrm>
          <a:prstGeom prst="rect">
            <a:avLst/>
          </a:prstGeom>
          <a:solidFill>
            <a:srgbClr val="D49200"/>
          </a:solidFill>
          <a:ln/>
        </p:spPr>
      </p:sp>
      <p:sp>
        <p:nvSpPr>
          <p:cNvPr id="137" name="Text 135"/>
          <p:cNvSpPr/>
          <p:nvPr/>
        </p:nvSpPr>
        <p:spPr>
          <a:xfrm>
            <a:off x="7040880" y="331927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138" name="Shape 136"/>
          <p:cNvSpPr/>
          <p:nvPr/>
        </p:nvSpPr>
        <p:spPr>
          <a:xfrm>
            <a:off x="7571232" y="3319272"/>
            <a:ext cx="457200" cy="256032"/>
          </a:xfrm>
          <a:prstGeom prst="rect">
            <a:avLst/>
          </a:prstGeom>
          <a:solidFill>
            <a:srgbClr val="D49200"/>
          </a:solidFill>
          <a:ln/>
        </p:spPr>
      </p:sp>
      <p:sp>
        <p:nvSpPr>
          <p:cNvPr id="139" name="Text 137"/>
          <p:cNvSpPr/>
          <p:nvPr/>
        </p:nvSpPr>
        <p:spPr>
          <a:xfrm>
            <a:off x="7571232" y="331927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140" name="Shape 138"/>
          <p:cNvSpPr/>
          <p:nvPr/>
        </p:nvSpPr>
        <p:spPr>
          <a:xfrm>
            <a:off x="8275320" y="3310128"/>
            <a:ext cx="530352" cy="274320"/>
          </a:xfrm>
          <a:prstGeom prst="rect">
            <a:avLst/>
          </a:prstGeom>
          <a:solidFill>
            <a:srgbClr val="1B2F6E"/>
          </a:solidFill>
          <a:ln/>
        </p:spPr>
      </p:sp>
      <p:sp>
        <p:nvSpPr>
          <p:cNvPr id="141" name="Text 139"/>
          <p:cNvSpPr/>
          <p:nvPr/>
        </p:nvSpPr>
        <p:spPr>
          <a:xfrm>
            <a:off x="8275320" y="3310128"/>
            <a:ext cx="530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17d</a:t>
            </a:r>
            <a:endParaRPr lang="en-US" sz="850" dirty="0"/>
          </a:p>
        </p:txBody>
      </p:sp>
      <p:sp>
        <p:nvSpPr>
          <p:cNvPr id="142" name="Shape 140"/>
          <p:cNvSpPr/>
          <p:nvPr/>
        </p:nvSpPr>
        <p:spPr>
          <a:xfrm>
            <a:off x="91440" y="3657600"/>
            <a:ext cx="8979408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128016" y="3694176"/>
            <a:ext cx="18928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1A2E"/>
                </a:solidFill>
              </a:rPr>
              <a:t>QA Engineer</a:t>
            </a:r>
            <a:endParaRPr lang="en-US" sz="800" dirty="0"/>
          </a:p>
        </p:txBody>
      </p:sp>
      <p:sp>
        <p:nvSpPr>
          <p:cNvPr id="144" name="Text 142"/>
          <p:cNvSpPr/>
          <p:nvPr/>
        </p:nvSpPr>
        <p:spPr>
          <a:xfrm>
            <a:off x="2084832" y="3694176"/>
            <a:ext cx="6583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2F6E"/>
                </a:solidFill>
              </a:rPr>
              <a:t>$750</a:t>
            </a:r>
            <a:endParaRPr lang="en-US" sz="800" dirty="0"/>
          </a:p>
        </p:txBody>
      </p:sp>
      <p:sp>
        <p:nvSpPr>
          <p:cNvPr id="145" name="Shape 143"/>
          <p:cNvSpPr/>
          <p:nvPr/>
        </p:nvSpPr>
        <p:spPr>
          <a:xfrm>
            <a:off x="3858768" y="3721608"/>
            <a:ext cx="457200" cy="25603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46" name="Text 144"/>
          <p:cNvSpPr/>
          <p:nvPr/>
        </p:nvSpPr>
        <p:spPr>
          <a:xfrm>
            <a:off x="3858768" y="3721608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147" name="Shape 145"/>
          <p:cNvSpPr/>
          <p:nvPr/>
        </p:nvSpPr>
        <p:spPr>
          <a:xfrm>
            <a:off x="4389120" y="3721608"/>
            <a:ext cx="457200" cy="25603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48" name="Text 146"/>
          <p:cNvSpPr/>
          <p:nvPr/>
        </p:nvSpPr>
        <p:spPr>
          <a:xfrm>
            <a:off x="4389120" y="3721608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149" name="Shape 147"/>
          <p:cNvSpPr/>
          <p:nvPr/>
        </p:nvSpPr>
        <p:spPr>
          <a:xfrm>
            <a:off x="4919472" y="3721608"/>
            <a:ext cx="457200" cy="25603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50" name="Text 148"/>
          <p:cNvSpPr/>
          <p:nvPr/>
        </p:nvSpPr>
        <p:spPr>
          <a:xfrm>
            <a:off x="4919472" y="3721608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151" name="Shape 149"/>
          <p:cNvSpPr/>
          <p:nvPr/>
        </p:nvSpPr>
        <p:spPr>
          <a:xfrm>
            <a:off x="5449824" y="3721608"/>
            <a:ext cx="457200" cy="25603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52" name="Text 150"/>
          <p:cNvSpPr/>
          <p:nvPr/>
        </p:nvSpPr>
        <p:spPr>
          <a:xfrm>
            <a:off x="5449824" y="3721608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153" name="Shape 151"/>
          <p:cNvSpPr/>
          <p:nvPr/>
        </p:nvSpPr>
        <p:spPr>
          <a:xfrm>
            <a:off x="5980176" y="3721608"/>
            <a:ext cx="457200" cy="25603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54" name="Text 152"/>
          <p:cNvSpPr/>
          <p:nvPr/>
        </p:nvSpPr>
        <p:spPr>
          <a:xfrm>
            <a:off x="5980176" y="3721608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  <p:sp>
        <p:nvSpPr>
          <p:cNvPr id="155" name="Shape 153"/>
          <p:cNvSpPr/>
          <p:nvPr/>
        </p:nvSpPr>
        <p:spPr>
          <a:xfrm>
            <a:off x="6510528" y="3721608"/>
            <a:ext cx="457200" cy="25603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56" name="Text 154"/>
          <p:cNvSpPr/>
          <p:nvPr/>
        </p:nvSpPr>
        <p:spPr>
          <a:xfrm>
            <a:off x="6510528" y="3721608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157" name="Shape 155"/>
          <p:cNvSpPr/>
          <p:nvPr/>
        </p:nvSpPr>
        <p:spPr>
          <a:xfrm>
            <a:off x="7040880" y="3721608"/>
            <a:ext cx="457200" cy="256032"/>
          </a:xfrm>
          <a:prstGeom prst="rect">
            <a:avLst/>
          </a:prstGeom>
          <a:solidFill>
            <a:srgbClr val="D49200"/>
          </a:solidFill>
          <a:ln/>
        </p:spPr>
      </p:sp>
      <p:sp>
        <p:nvSpPr>
          <p:cNvPr id="158" name="Text 156"/>
          <p:cNvSpPr/>
          <p:nvPr/>
        </p:nvSpPr>
        <p:spPr>
          <a:xfrm>
            <a:off x="7040880" y="3721608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159" name="Shape 157"/>
          <p:cNvSpPr/>
          <p:nvPr/>
        </p:nvSpPr>
        <p:spPr>
          <a:xfrm>
            <a:off x="7571232" y="3721608"/>
            <a:ext cx="457200" cy="256032"/>
          </a:xfrm>
          <a:prstGeom prst="rect">
            <a:avLst/>
          </a:prstGeom>
          <a:solidFill>
            <a:srgbClr val="D49200"/>
          </a:solidFill>
          <a:ln/>
        </p:spPr>
      </p:sp>
      <p:sp>
        <p:nvSpPr>
          <p:cNvPr id="160" name="Text 158"/>
          <p:cNvSpPr/>
          <p:nvPr/>
        </p:nvSpPr>
        <p:spPr>
          <a:xfrm>
            <a:off x="7571232" y="3721608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161" name="Shape 159"/>
          <p:cNvSpPr/>
          <p:nvPr/>
        </p:nvSpPr>
        <p:spPr>
          <a:xfrm>
            <a:off x="8275320" y="3712464"/>
            <a:ext cx="530352" cy="274320"/>
          </a:xfrm>
          <a:prstGeom prst="rect">
            <a:avLst/>
          </a:prstGeom>
          <a:solidFill>
            <a:srgbClr val="1B2F6E"/>
          </a:solidFill>
          <a:ln/>
        </p:spPr>
      </p:sp>
      <p:sp>
        <p:nvSpPr>
          <p:cNvPr id="162" name="Text 160"/>
          <p:cNvSpPr/>
          <p:nvPr/>
        </p:nvSpPr>
        <p:spPr>
          <a:xfrm>
            <a:off x="8275320" y="3712464"/>
            <a:ext cx="530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13d</a:t>
            </a:r>
            <a:endParaRPr lang="en-US" sz="850" dirty="0"/>
          </a:p>
        </p:txBody>
      </p:sp>
      <p:sp>
        <p:nvSpPr>
          <p:cNvPr id="163" name="Shape 161"/>
          <p:cNvSpPr/>
          <p:nvPr/>
        </p:nvSpPr>
        <p:spPr>
          <a:xfrm>
            <a:off x="91440" y="4059936"/>
            <a:ext cx="8979408" cy="329184"/>
          </a:xfrm>
          <a:prstGeom prst="rect">
            <a:avLst/>
          </a:prstGeom>
          <a:solidFill>
            <a:srgbClr val="1B2F6E"/>
          </a:solidFill>
          <a:ln/>
        </p:spPr>
      </p:sp>
      <p:sp>
        <p:nvSpPr>
          <p:cNvPr id="164" name="Text 162"/>
          <p:cNvSpPr/>
          <p:nvPr/>
        </p:nvSpPr>
        <p:spPr>
          <a:xfrm>
            <a:off x="128016" y="4096512"/>
            <a:ext cx="18928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DAILY TOTAL</a:t>
            </a:r>
            <a:endParaRPr lang="en-US" sz="800" dirty="0"/>
          </a:p>
        </p:txBody>
      </p:sp>
      <p:sp>
        <p:nvSpPr>
          <p:cNvPr id="165" name="Text 163"/>
          <p:cNvSpPr/>
          <p:nvPr/>
        </p:nvSpPr>
        <p:spPr>
          <a:xfrm>
            <a:off x="2770632" y="4096512"/>
            <a:ext cx="5120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0A500"/>
                </a:solidFill>
              </a:rPr>
              <a:t>18</a:t>
            </a:r>
            <a:endParaRPr lang="en-US" sz="800" dirty="0"/>
          </a:p>
        </p:txBody>
      </p:sp>
      <p:sp>
        <p:nvSpPr>
          <p:cNvPr id="166" name="Text 164"/>
          <p:cNvSpPr/>
          <p:nvPr/>
        </p:nvSpPr>
        <p:spPr>
          <a:xfrm>
            <a:off x="3300984" y="4096512"/>
            <a:ext cx="5120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0A500"/>
                </a:solidFill>
              </a:rPr>
              <a:t>18</a:t>
            </a:r>
            <a:endParaRPr lang="en-US" sz="800" dirty="0"/>
          </a:p>
        </p:txBody>
      </p:sp>
      <p:sp>
        <p:nvSpPr>
          <p:cNvPr id="167" name="Text 165"/>
          <p:cNvSpPr/>
          <p:nvPr/>
        </p:nvSpPr>
        <p:spPr>
          <a:xfrm>
            <a:off x="3831336" y="4096512"/>
            <a:ext cx="5120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0A500"/>
                </a:solidFill>
              </a:rPr>
              <a:t>16</a:t>
            </a:r>
            <a:endParaRPr lang="en-US" sz="800" dirty="0"/>
          </a:p>
        </p:txBody>
      </p:sp>
      <p:sp>
        <p:nvSpPr>
          <p:cNvPr id="168" name="Text 166"/>
          <p:cNvSpPr/>
          <p:nvPr/>
        </p:nvSpPr>
        <p:spPr>
          <a:xfrm>
            <a:off x="4361688" y="4096512"/>
            <a:ext cx="5120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0A500"/>
                </a:solidFill>
              </a:rPr>
              <a:t>13</a:t>
            </a:r>
            <a:endParaRPr lang="en-US" sz="800" dirty="0"/>
          </a:p>
        </p:txBody>
      </p:sp>
      <p:sp>
        <p:nvSpPr>
          <p:cNvPr id="169" name="Text 167"/>
          <p:cNvSpPr/>
          <p:nvPr/>
        </p:nvSpPr>
        <p:spPr>
          <a:xfrm>
            <a:off x="4892040" y="4096512"/>
            <a:ext cx="5120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0A500"/>
                </a:solidFill>
              </a:rPr>
              <a:t>13</a:t>
            </a:r>
            <a:endParaRPr lang="en-US" sz="800" dirty="0"/>
          </a:p>
        </p:txBody>
      </p:sp>
      <p:sp>
        <p:nvSpPr>
          <p:cNvPr id="170" name="Text 168"/>
          <p:cNvSpPr/>
          <p:nvPr/>
        </p:nvSpPr>
        <p:spPr>
          <a:xfrm>
            <a:off x="5422392" y="4096512"/>
            <a:ext cx="5120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0A500"/>
                </a:solidFill>
              </a:rPr>
              <a:t>12</a:t>
            </a:r>
            <a:endParaRPr lang="en-US" sz="800" dirty="0"/>
          </a:p>
        </p:txBody>
      </p:sp>
      <p:sp>
        <p:nvSpPr>
          <p:cNvPr id="171" name="Text 169"/>
          <p:cNvSpPr/>
          <p:nvPr/>
        </p:nvSpPr>
        <p:spPr>
          <a:xfrm>
            <a:off x="5952744" y="4096512"/>
            <a:ext cx="5120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0A500"/>
                </a:solidFill>
              </a:rPr>
              <a:t>12</a:t>
            </a:r>
            <a:endParaRPr lang="en-US" sz="800" dirty="0"/>
          </a:p>
        </p:txBody>
      </p:sp>
      <p:sp>
        <p:nvSpPr>
          <p:cNvPr id="172" name="Text 170"/>
          <p:cNvSpPr/>
          <p:nvPr/>
        </p:nvSpPr>
        <p:spPr>
          <a:xfrm>
            <a:off x="6483096" y="4096512"/>
            <a:ext cx="5120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0A500"/>
                </a:solidFill>
              </a:rPr>
              <a:t>11</a:t>
            </a:r>
            <a:endParaRPr lang="en-US" sz="800" dirty="0"/>
          </a:p>
        </p:txBody>
      </p:sp>
      <p:sp>
        <p:nvSpPr>
          <p:cNvPr id="173" name="Text 171"/>
          <p:cNvSpPr/>
          <p:nvPr/>
        </p:nvSpPr>
        <p:spPr>
          <a:xfrm>
            <a:off x="7013448" y="4096512"/>
            <a:ext cx="5120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0A500"/>
                </a:solidFill>
              </a:rPr>
              <a:t>7</a:t>
            </a:r>
            <a:endParaRPr lang="en-US" sz="800" dirty="0"/>
          </a:p>
        </p:txBody>
      </p:sp>
      <p:sp>
        <p:nvSpPr>
          <p:cNvPr id="174" name="Text 172"/>
          <p:cNvSpPr/>
          <p:nvPr/>
        </p:nvSpPr>
        <p:spPr>
          <a:xfrm>
            <a:off x="7543800" y="4096512"/>
            <a:ext cx="5120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0A500"/>
                </a:solidFill>
              </a:rPr>
              <a:t>4</a:t>
            </a:r>
            <a:endParaRPr lang="en-US" sz="800" dirty="0"/>
          </a:p>
        </p:txBody>
      </p:sp>
      <p:sp>
        <p:nvSpPr>
          <p:cNvPr id="175" name="Text 173"/>
          <p:cNvSpPr/>
          <p:nvPr/>
        </p:nvSpPr>
        <p:spPr>
          <a:xfrm>
            <a:off x="8275320" y="4096512"/>
            <a:ext cx="5303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0A500"/>
                </a:solidFill>
              </a:rPr>
              <a:t>123d</a:t>
            </a:r>
            <a:endParaRPr lang="en-US" sz="850" dirty="0"/>
          </a:p>
        </p:txBody>
      </p:sp>
      <p:sp>
        <p:nvSpPr>
          <p:cNvPr id="176" name="Text 174"/>
          <p:cNvSpPr/>
          <p:nvPr/>
        </p:nvSpPr>
        <p:spPr>
          <a:xfrm>
            <a:off x="91440" y="4736592"/>
            <a:ext cx="89794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4748B"/>
                </a:solidFill>
              </a:rPr>
              <a:t>123 total days across 7 roles over 8 weeks + 2 weeks hypercare.  All rates are USD day rates.</a:t>
            </a:r>
            <a:endParaRPr lang="en-US" sz="750" dirty="0"/>
          </a:p>
        </p:txBody>
      </p:sp>
      <p:sp>
        <p:nvSpPr>
          <p:cNvPr id="177" name="Shape 175"/>
          <p:cNvSpPr/>
          <p:nvPr/>
        </p:nvSpPr>
        <p:spPr>
          <a:xfrm>
            <a:off x="0" y="4969764"/>
            <a:ext cx="9144000" cy="173736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178" name="Text 176"/>
          <p:cNvSpPr/>
          <p:nvPr/>
        </p:nvSpPr>
        <p:spPr>
          <a:xfrm>
            <a:off x="0" y="4971593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B2F6E"/>
                </a:solidFill>
              </a:rPr>
              <a:t>Mahima Community Platform  ·  ANM RFP Proposal  ·  Confidential  ·  June 2025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F6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-731520"/>
            <a:ext cx="2743200" cy="2743200"/>
          </a:xfrm>
          <a:prstGeom prst="ellipse">
            <a:avLst/>
          </a:prstGeom>
          <a:solidFill>
            <a:srgbClr val="253D80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9144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140" kern="0" dirty="0">
                <a:solidFill>
                  <a:srgbClr val="F0A500"/>
                </a:solidFill>
              </a:rPr>
              <a:t>•  COMPETITIVE ADVANTAGE  •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0" y="2743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Mahima Platform vs. Greenfield Build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02920" y="896112"/>
            <a:ext cx="8138160" cy="3657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8" name="Shape 6"/>
          <p:cNvSpPr/>
          <p:nvPr/>
        </p:nvSpPr>
        <p:spPr>
          <a:xfrm>
            <a:off x="137160" y="1024128"/>
            <a:ext cx="8869680" cy="274320"/>
          </a:xfrm>
          <a:prstGeom prst="rect">
            <a:avLst/>
          </a:prstGeom>
          <a:solidFill>
            <a:srgbClr val="2A4090"/>
          </a:solidFill>
          <a:ln/>
        </p:spPr>
      </p:sp>
      <p:sp>
        <p:nvSpPr>
          <p:cNvPr id="9" name="Text 7"/>
          <p:cNvSpPr/>
          <p:nvPr/>
        </p:nvSpPr>
        <p:spPr>
          <a:xfrm>
            <a:off x="173736" y="1024128"/>
            <a:ext cx="3401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CE5FF"/>
                </a:solidFill>
              </a:rPr>
              <a:t>Dimension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694176" y="1024128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CE5FF"/>
                </a:solidFill>
              </a:rPr>
              <a:t>Greenfield Build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208776" y="1024128"/>
            <a:ext cx="27614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0A500"/>
                </a:solidFill>
              </a:rPr>
              <a:t>Mahima Platform (Recommended ★)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37160" y="1316736"/>
            <a:ext cx="8869680" cy="310896"/>
          </a:xfrm>
          <a:prstGeom prst="rect">
            <a:avLst/>
          </a:prstGeom>
          <a:solidFill>
            <a:srgbClr val="1E3580"/>
          </a:solidFill>
          <a:ln w="12700">
            <a:solidFill>
              <a:srgbClr val="3050A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1168" y="1353312"/>
            <a:ext cx="33467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1FAE5"/>
                </a:solidFill>
              </a:rPr>
              <a:t>Timeline to Go-Live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694176" y="1353312"/>
            <a:ext cx="2395728" cy="237744"/>
          </a:xfrm>
          <a:prstGeom prst="rect">
            <a:avLst/>
          </a:prstGeom>
          <a:solidFill>
            <a:srgbClr val="5C0A0A"/>
          </a:solidFill>
          <a:ln/>
        </p:spPr>
      </p:sp>
      <p:sp>
        <p:nvSpPr>
          <p:cNvPr id="15" name="Text 13"/>
          <p:cNvSpPr/>
          <p:nvPr/>
        </p:nvSpPr>
        <p:spPr>
          <a:xfrm>
            <a:off x="3694176" y="1353312"/>
            <a:ext cx="23957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9999"/>
                </a:solidFill>
              </a:rPr>
              <a:t>10–14 weeks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208776" y="1353312"/>
            <a:ext cx="2761488" cy="237744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17" name="Text 15"/>
          <p:cNvSpPr/>
          <p:nvPr/>
        </p:nvSpPr>
        <p:spPr>
          <a:xfrm>
            <a:off x="6208776" y="1353312"/>
            <a:ext cx="27614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1FAE5"/>
                </a:solidFill>
              </a:rPr>
              <a:t>8 weeks  ✓ 30% faster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37160" y="1645920"/>
            <a:ext cx="8869680" cy="310896"/>
          </a:xfrm>
          <a:prstGeom prst="rect">
            <a:avLst/>
          </a:prstGeom>
          <a:solidFill>
            <a:srgbClr val="253B8A"/>
          </a:solidFill>
          <a:ln w="12700">
            <a:solidFill>
              <a:srgbClr val="3050A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1168" y="1682496"/>
            <a:ext cx="33467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1FAE5"/>
                </a:solidFill>
              </a:rPr>
              <a:t>Implementation Cost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694176" y="1682496"/>
            <a:ext cx="2395728" cy="237744"/>
          </a:xfrm>
          <a:prstGeom prst="rect">
            <a:avLst/>
          </a:prstGeom>
          <a:solidFill>
            <a:srgbClr val="5C0A0A"/>
          </a:solidFill>
          <a:ln/>
        </p:spPr>
      </p:sp>
      <p:sp>
        <p:nvSpPr>
          <p:cNvPr id="21" name="Text 19"/>
          <p:cNvSpPr/>
          <p:nvPr/>
        </p:nvSpPr>
        <p:spPr>
          <a:xfrm>
            <a:off x="3694176" y="1682496"/>
            <a:ext cx="23957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9999"/>
                </a:solidFill>
              </a:rPr>
              <a:t>$289,800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208776" y="1682496"/>
            <a:ext cx="2761488" cy="237744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23" name="Text 21"/>
          <p:cNvSpPr/>
          <p:nvPr/>
        </p:nvSpPr>
        <p:spPr>
          <a:xfrm>
            <a:off x="6208776" y="1682496"/>
            <a:ext cx="27614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1FAE5"/>
                </a:solidFill>
              </a:rPr>
              <a:t>$164,500  ✓ 43% saving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137160" y="1975104"/>
            <a:ext cx="8869680" cy="310896"/>
          </a:xfrm>
          <a:prstGeom prst="rect">
            <a:avLst/>
          </a:prstGeom>
          <a:solidFill>
            <a:srgbClr val="1E3580"/>
          </a:solidFill>
          <a:ln w="12700">
            <a:solidFill>
              <a:srgbClr val="3050A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01168" y="2011680"/>
            <a:ext cx="33467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1FAE5"/>
                </a:solidFill>
              </a:rPr>
              <a:t>Technology Risk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694176" y="2011680"/>
            <a:ext cx="2395728" cy="237744"/>
          </a:xfrm>
          <a:prstGeom prst="rect">
            <a:avLst/>
          </a:prstGeom>
          <a:solidFill>
            <a:srgbClr val="5C0A0A"/>
          </a:solidFill>
          <a:ln/>
        </p:spPr>
      </p:sp>
      <p:sp>
        <p:nvSpPr>
          <p:cNvPr id="27" name="Text 25"/>
          <p:cNvSpPr/>
          <p:nvPr/>
        </p:nvSpPr>
        <p:spPr>
          <a:xfrm>
            <a:off x="3694176" y="2011680"/>
            <a:ext cx="23957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9999"/>
                </a:solidFill>
              </a:rPr>
              <a:t>High — unproven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208776" y="2011680"/>
            <a:ext cx="2761488" cy="237744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29" name="Text 27"/>
          <p:cNvSpPr/>
          <p:nvPr/>
        </p:nvSpPr>
        <p:spPr>
          <a:xfrm>
            <a:off x="6208776" y="2011680"/>
            <a:ext cx="27614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1FAE5"/>
                </a:solidFill>
              </a:rPr>
              <a:t>Low — production-tested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137160" y="2304288"/>
            <a:ext cx="8869680" cy="310896"/>
          </a:xfrm>
          <a:prstGeom prst="rect">
            <a:avLst/>
          </a:prstGeom>
          <a:solidFill>
            <a:srgbClr val="253B8A"/>
          </a:solidFill>
          <a:ln w="12700">
            <a:solidFill>
              <a:srgbClr val="3050A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01168" y="2340864"/>
            <a:ext cx="33467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1FAE5"/>
                </a:solidFill>
              </a:rPr>
              <a:t>Backend Framework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694176" y="2340864"/>
            <a:ext cx="2395728" cy="237744"/>
          </a:xfrm>
          <a:prstGeom prst="rect">
            <a:avLst/>
          </a:prstGeom>
          <a:solidFill>
            <a:srgbClr val="5C0A0A"/>
          </a:solidFill>
          <a:ln/>
        </p:spPr>
      </p:sp>
      <p:sp>
        <p:nvSpPr>
          <p:cNvPr id="33" name="Text 31"/>
          <p:cNvSpPr/>
          <p:nvPr/>
        </p:nvSpPr>
        <p:spPr>
          <a:xfrm>
            <a:off x="3694176" y="2340864"/>
            <a:ext cx="23957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9999"/>
                </a:solidFill>
              </a:rPr>
              <a:t>Node.js / Express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208776" y="2340864"/>
            <a:ext cx="2761488" cy="237744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35" name="Text 33"/>
          <p:cNvSpPr/>
          <p:nvPr/>
        </p:nvSpPr>
        <p:spPr>
          <a:xfrm>
            <a:off x="6208776" y="2340864"/>
            <a:ext cx="27614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1FAE5"/>
                </a:solidFill>
              </a:rPr>
              <a:t>.NET 8 C# — enterprise grade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137160" y="2633472"/>
            <a:ext cx="8869680" cy="310896"/>
          </a:xfrm>
          <a:prstGeom prst="rect">
            <a:avLst/>
          </a:prstGeom>
          <a:solidFill>
            <a:srgbClr val="1E3580"/>
          </a:solidFill>
          <a:ln w="12700">
            <a:solidFill>
              <a:srgbClr val="3050A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01168" y="2670048"/>
            <a:ext cx="33467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1FAE5"/>
                </a:solidFill>
              </a:rPr>
              <a:t>Database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694176" y="2670048"/>
            <a:ext cx="2395728" cy="237744"/>
          </a:xfrm>
          <a:prstGeom prst="rect">
            <a:avLst/>
          </a:prstGeom>
          <a:solidFill>
            <a:srgbClr val="5C0A0A"/>
          </a:solidFill>
          <a:ln/>
        </p:spPr>
      </p:sp>
      <p:sp>
        <p:nvSpPr>
          <p:cNvPr id="39" name="Text 37"/>
          <p:cNvSpPr/>
          <p:nvPr/>
        </p:nvSpPr>
        <p:spPr>
          <a:xfrm>
            <a:off x="3694176" y="2670048"/>
            <a:ext cx="23957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9999"/>
                </a:solidFill>
              </a:rPr>
              <a:t>MongoDB Atlas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6208776" y="2670048"/>
            <a:ext cx="2761488" cy="237744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41" name="Text 39"/>
          <p:cNvSpPr/>
          <p:nvPr/>
        </p:nvSpPr>
        <p:spPr>
          <a:xfrm>
            <a:off x="6208776" y="2670048"/>
            <a:ext cx="27614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1FAE5"/>
                </a:solidFill>
              </a:rPr>
              <a:t>PostgreSQL — structured health data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137160" y="2962656"/>
            <a:ext cx="8869680" cy="310896"/>
          </a:xfrm>
          <a:prstGeom prst="rect">
            <a:avLst/>
          </a:prstGeom>
          <a:solidFill>
            <a:srgbClr val="253B8A"/>
          </a:solidFill>
          <a:ln w="12700">
            <a:solidFill>
              <a:srgbClr val="3050A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01168" y="2999232"/>
            <a:ext cx="33467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1FAE5"/>
                </a:solidFill>
              </a:rPr>
              <a:t>Built-in AI Assistant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3694176" y="2999232"/>
            <a:ext cx="2395728" cy="237744"/>
          </a:xfrm>
          <a:prstGeom prst="rect">
            <a:avLst/>
          </a:prstGeom>
          <a:solidFill>
            <a:srgbClr val="5C0A0A"/>
          </a:solidFill>
          <a:ln/>
        </p:spPr>
      </p:sp>
      <p:sp>
        <p:nvSpPr>
          <p:cNvPr id="45" name="Text 43"/>
          <p:cNvSpPr/>
          <p:nvPr/>
        </p:nvSpPr>
        <p:spPr>
          <a:xfrm>
            <a:off x="3694176" y="2999232"/>
            <a:ext cx="23957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9999"/>
                </a:solidFill>
              </a:rPr>
              <a:t>Not included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6208776" y="2999232"/>
            <a:ext cx="2761488" cy="237744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47" name="Text 45"/>
          <p:cNvSpPr/>
          <p:nvPr/>
        </p:nvSpPr>
        <p:spPr>
          <a:xfrm>
            <a:off x="6208776" y="2999232"/>
            <a:ext cx="27614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1FAE5"/>
                </a:solidFill>
              </a:rPr>
              <a:t>✓ HealthBot (OpenAI-compatible)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137160" y="3291840"/>
            <a:ext cx="8869680" cy="310896"/>
          </a:xfrm>
          <a:prstGeom prst="rect">
            <a:avLst/>
          </a:prstGeom>
          <a:solidFill>
            <a:srgbClr val="1E3580"/>
          </a:solidFill>
          <a:ln w="12700">
            <a:solidFill>
              <a:srgbClr val="3050A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01168" y="3328416"/>
            <a:ext cx="33467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1FAE5"/>
                </a:solidFill>
              </a:rPr>
              <a:t>Accounting &amp; Payroll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3694176" y="3328416"/>
            <a:ext cx="2395728" cy="237744"/>
          </a:xfrm>
          <a:prstGeom prst="rect">
            <a:avLst/>
          </a:prstGeom>
          <a:solidFill>
            <a:srgbClr val="5C0A0A"/>
          </a:solidFill>
          <a:ln/>
        </p:spPr>
      </p:sp>
      <p:sp>
        <p:nvSpPr>
          <p:cNvPr id="51" name="Text 49"/>
          <p:cNvSpPr/>
          <p:nvPr/>
        </p:nvSpPr>
        <p:spPr>
          <a:xfrm>
            <a:off x="3694176" y="3328416"/>
            <a:ext cx="23957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9999"/>
                </a:solidFill>
              </a:rPr>
              <a:t>Not included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6208776" y="3328416"/>
            <a:ext cx="2761488" cy="237744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53" name="Text 51"/>
          <p:cNvSpPr/>
          <p:nvPr/>
        </p:nvSpPr>
        <p:spPr>
          <a:xfrm>
            <a:off x="6208776" y="3328416"/>
            <a:ext cx="27614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1FAE5"/>
                </a:solidFill>
              </a:rPr>
              <a:t>✓ Full accounting module built-in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137160" y="3621024"/>
            <a:ext cx="8869680" cy="310896"/>
          </a:xfrm>
          <a:prstGeom prst="rect">
            <a:avLst/>
          </a:prstGeom>
          <a:solidFill>
            <a:srgbClr val="253B8A"/>
          </a:solidFill>
          <a:ln w="12700">
            <a:solidFill>
              <a:srgbClr val="3050A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01168" y="3657600"/>
            <a:ext cx="33467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1FAE5"/>
                </a:solidFill>
              </a:rPr>
              <a:t>Multi-Language Support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3694176" y="3657600"/>
            <a:ext cx="2395728" cy="237744"/>
          </a:xfrm>
          <a:prstGeom prst="rect">
            <a:avLst/>
          </a:prstGeom>
          <a:solidFill>
            <a:srgbClr val="5C0A0A"/>
          </a:solidFill>
          <a:ln/>
        </p:spPr>
      </p:sp>
      <p:sp>
        <p:nvSpPr>
          <p:cNvPr id="57" name="Text 55"/>
          <p:cNvSpPr/>
          <p:nvPr/>
        </p:nvSpPr>
        <p:spPr>
          <a:xfrm>
            <a:off x="3694176" y="3657600"/>
            <a:ext cx="23957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9999"/>
                </a:solidFill>
              </a:rPr>
              <a:t>Not included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6208776" y="3657600"/>
            <a:ext cx="2761488" cy="237744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59" name="Text 57"/>
          <p:cNvSpPr/>
          <p:nvPr/>
        </p:nvSpPr>
        <p:spPr>
          <a:xfrm>
            <a:off x="6208776" y="3657600"/>
            <a:ext cx="27614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1FAE5"/>
                </a:solidFill>
              </a:rPr>
              <a:t>✓ Admin-controlled UI translations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137160" y="3950208"/>
            <a:ext cx="8869680" cy="310896"/>
          </a:xfrm>
          <a:prstGeom prst="rect">
            <a:avLst/>
          </a:prstGeom>
          <a:solidFill>
            <a:srgbClr val="1E3580"/>
          </a:solidFill>
          <a:ln w="12700">
            <a:solidFill>
              <a:srgbClr val="3050A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01168" y="3986784"/>
            <a:ext cx="33467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1FAE5"/>
                </a:solidFill>
              </a:rPr>
              <a:t>PDF Report Generation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3694176" y="3986784"/>
            <a:ext cx="2395728" cy="237744"/>
          </a:xfrm>
          <a:prstGeom prst="rect">
            <a:avLst/>
          </a:prstGeom>
          <a:solidFill>
            <a:srgbClr val="5C0A0A"/>
          </a:solidFill>
          <a:ln/>
        </p:spPr>
      </p:sp>
      <p:sp>
        <p:nvSpPr>
          <p:cNvPr id="63" name="Text 61"/>
          <p:cNvSpPr/>
          <p:nvPr/>
        </p:nvSpPr>
        <p:spPr>
          <a:xfrm>
            <a:off x="3694176" y="3986784"/>
            <a:ext cx="23957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9999"/>
                </a:solidFill>
              </a:rPr>
              <a:t>Custom build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6208776" y="3986784"/>
            <a:ext cx="2761488" cy="237744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65" name="Text 63"/>
          <p:cNvSpPr/>
          <p:nvPr/>
        </p:nvSpPr>
        <p:spPr>
          <a:xfrm>
            <a:off x="6208776" y="3986784"/>
            <a:ext cx="27614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1FAE5"/>
                </a:solidFill>
              </a:rPr>
              <a:t>✓ iText7 + QuestPDF pre-integrated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137160" y="4279392"/>
            <a:ext cx="8869680" cy="310896"/>
          </a:xfrm>
          <a:prstGeom prst="rect">
            <a:avLst/>
          </a:prstGeom>
          <a:solidFill>
            <a:srgbClr val="253B8A"/>
          </a:solidFill>
          <a:ln w="12700">
            <a:solidFill>
              <a:srgbClr val="3050A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01168" y="4315968"/>
            <a:ext cx="33467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1FAE5"/>
                </a:solidFill>
              </a:rPr>
              <a:t>Google Drive Integration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3694176" y="4315968"/>
            <a:ext cx="2395728" cy="237744"/>
          </a:xfrm>
          <a:prstGeom prst="rect">
            <a:avLst/>
          </a:prstGeom>
          <a:solidFill>
            <a:srgbClr val="5C0A0A"/>
          </a:solidFill>
          <a:ln/>
        </p:spPr>
      </p:sp>
      <p:sp>
        <p:nvSpPr>
          <p:cNvPr id="69" name="Text 67"/>
          <p:cNvSpPr/>
          <p:nvPr/>
        </p:nvSpPr>
        <p:spPr>
          <a:xfrm>
            <a:off x="3694176" y="4315968"/>
            <a:ext cx="23957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9999"/>
                </a:solidFill>
              </a:rPr>
              <a:t>Not included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6208776" y="4315968"/>
            <a:ext cx="2761488" cy="237744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71" name="Text 69"/>
          <p:cNvSpPr/>
          <p:nvPr/>
        </p:nvSpPr>
        <p:spPr>
          <a:xfrm>
            <a:off x="6208776" y="4315968"/>
            <a:ext cx="27614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1FAE5"/>
                </a:solidFill>
              </a:rPr>
              <a:t>✓ Google Drive sync built-in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137160" y="4608576"/>
            <a:ext cx="8869680" cy="310896"/>
          </a:xfrm>
          <a:prstGeom prst="rect">
            <a:avLst/>
          </a:prstGeom>
          <a:solidFill>
            <a:srgbClr val="1E3580"/>
          </a:solidFill>
          <a:ln w="12700">
            <a:solidFill>
              <a:srgbClr val="3050AA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201168" y="4645152"/>
            <a:ext cx="33467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1FAE5"/>
                </a:solidFill>
              </a:rPr>
              <a:t>Audit Log &amp; Compliance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3694176" y="4645152"/>
            <a:ext cx="2395728" cy="237744"/>
          </a:xfrm>
          <a:prstGeom prst="rect">
            <a:avLst/>
          </a:prstGeom>
          <a:solidFill>
            <a:srgbClr val="5C0A0A"/>
          </a:solidFill>
          <a:ln/>
        </p:spPr>
      </p:sp>
      <p:sp>
        <p:nvSpPr>
          <p:cNvPr id="75" name="Text 73"/>
          <p:cNvSpPr/>
          <p:nvPr/>
        </p:nvSpPr>
        <p:spPr>
          <a:xfrm>
            <a:off x="3694176" y="4645152"/>
            <a:ext cx="23957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9999"/>
                </a:solidFill>
              </a:rPr>
              <a:t>Basic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6208776" y="4645152"/>
            <a:ext cx="2761488" cy="237744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77" name="Text 75"/>
          <p:cNvSpPr/>
          <p:nvPr/>
        </p:nvSpPr>
        <p:spPr>
          <a:xfrm>
            <a:off x="6208776" y="4645152"/>
            <a:ext cx="27614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1FAE5"/>
                </a:solidFill>
              </a:rPr>
              <a:t>✓ Full audit trail on all actions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0" y="4969764"/>
            <a:ext cx="9144000" cy="173736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79" name="Text 77"/>
          <p:cNvSpPr/>
          <p:nvPr/>
        </p:nvSpPr>
        <p:spPr>
          <a:xfrm>
            <a:off x="0" y="4971593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B2F6E"/>
                </a:solidFill>
              </a:rPr>
              <a:t>Mahima Community Platform  ·  ANM RFP Proposal  ·  Confidential  ·  June 2025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F6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-731520"/>
            <a:ext cx="2926080" cy="2926080"/>
          </a:xfrm>
          <a:prstGeom prst="ellipse">
            <a:avLst/>
          </a:prstGeom>
          <a:solidFill>
            <a:srgbClr val="253D80"/>
          </a:solidFill>
          <a:ln/>
        </p:spPr>
      </p:sp>
      <p:sp>
        <p:nvSpPr>
          <p:cNvPr id="5" name="Shape 3"/>
          <p:cNvSpPr/>
          <p:nvPr/>
        </p:nvSpPr>
        <p:spPr>
          <a:xfrm>
            <a:off x="-731520" y="3474720"/>
            <a:ext cx="2286000" cy="2286000"/>
          </a:xfrm>
          <a:prstGeom prst="ellipse">
            <a:avLst/>
          </a:prstGeom>
          <a:solidFill>
            <a:srgbClr val="253D80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9144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140" kern="0" dirty="0">
                <a:solidFill>
                  <a:srgbClr val="F0A500"/>
                </a:solidFill>
              </a:rPr>
              <a:t>•  ONE-TIME CUSTOMISATION INVESTMENT  •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0" y="2743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Mahima Platform Adaptation for ANM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02920" y="896112"/>
            <a:ext cx="8138160" cy="3657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02412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A500"/>
                </a:solidFill>
              </a:rPr>
              <a:t>TOTAL ONE-TIME COST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02920" y="1280160"/>
            <a:ext cx="45720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</a:rPr>
              <a:t>$164,500</a:t>
            </a:r>
            <a:endParaRPr lang="en-US" sz="5800" dirty="0"/>
          </a:p>
        </p:txBody>
      </p:sp>
      <p:sp>
        <p:nvSpPr>
          <p:cNvPr id="11" name="Text 9"/>
          <p:cNvSpPr/>
          <p:nvPr/>
        </p:nvSpPr>
        <p:spPr>
          <a:xfrm>
            <a:off x="502920" y="2103120"/>
            <a:ext cx="4206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9BBFF"/>
                </a:solidFill>
              </a:rPr>
              <a:t>USD  ·  All-inclusive  ·  No hidden costs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02920" y="2395728"/>
            <a:ext cx="4023360" cy="27432"/>
          </a:xfrm>
          <a:prstGeom prst="rect">
            <a:avLst/>
          </a:prstGeom>
          <a:solidFill>
            <a:srgbClr val="253D80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2487168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0A500"/>
                </a:solidFill>
              </a:rPr>
              <a:t>WHAT'S INCLUDED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02920" y="2743200"/>
            <a:ext cx="4206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DDFF"/>
                </a:solidFill>
              </a:rPr>
              <a:t>✓  Mahima V4.0 platform license + full source code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02920" y="2999232"/>
            <a:ext cx="4206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DDFF"/>
                </a:solidFill>
              </a:rPr>
              <a:t>✓  ANM-specific UI rebrand (iOS &amp; Android)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02920" y="3255264"/>
            <a:ext cx="4206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DDFF"/>
                </a:solidFill>
              </a:rPr>
              <a:t>✓  Beneficiary, ANC &amp; immunisation modules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02920" y="3511296"/>
            <a:ext cx="4206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DDFF"/>
                </a:solidFill>
              </a:rPr>
              <a:t>✓  MCP / RCH government report templates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02920" y="3767328"/>
            <a:ext cx="4206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DDFF"/>
                </a:solidFill>
              </a:rPr>
              <a:t>✓  GPS home visit form + map view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02920" y="4023360"/>
            <a:ext cx="4206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DDFF"/>
                </a:solidFill>
              </a:rPr>
              <a:t>✓  Health KPI dashboard customisation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02920" y="4279392"/>
            <a:ext cx="4206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DDFF"/>
                </a:solidFill>
              </a:rPr>
              <a:t>✓  PostgreSQL DB setup + EF Core migrations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02920" y="4535424"/>
            <a:ext cx="4206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DDFF"/>
                </a:solidFill>
              </a:rPr>
              <a:t>✓  AWS deployment (EC2 + RDS + S3 + CloudFront)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892040" y="1005840"/>
            <a:ext cx="4069080" cy="3328416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23" name="Shape 21"/>
          <p:cNvSpPr/>
          <p:nvPr/>
        </p:nvSpPr>
        <p:spPr>
          <a:xfrm>
            <a:off x="4892040" y="1005840"/>
            <a:ext cx="4069080" cy="54864"/>
          </a:xfrm>
          <a:prstGeom prst="rect">
            <a:avLst/>
          </a:prstGeom>
          <a:solidFill>
            <a:srgbClr val="D49200"/>
          </a:solidFill>
          <a:ln/>
        </p:spPr>
      </p:sp>
      <p:sp>
        <p:nvSpPr>
          <p:cNvPr id="24" name="Text 22"/>
          <p:cNvSpPr/>
          <p:nvPr/>
        </p:nvSpPr>
        <p:spPr>
          <a:xfrm>
            <a:off x="4892040" y="1078992"/>
            <a:ext cx="4069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B2F6E"/>
                </a:solidFill>
              </a:rPr>
              <a:t>FREE</a:t>
            </a:r>
            <a:endParaRPr lang="en-US" sz="5400" dirty="0"/>
          </a:p>
        </p:txBody>
      </p:sp>
      <p:sp>
        <p:nvSpPr>
          <p:cNvPr id="25" name="Text 23"/>
          <p:cNvSpPr/>
          <p:nvPr/>
        </p:nvSpPr>
        <p:spPr>
          <a:xfrm>
            <a:off x="4965192" y="1737360"/>
            <a:ext cx="3913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F6E"/>
                </a:solidFill>
              </a:rPr>
              <a:t>1-MONTH HYPERCARE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5029200" y="2029968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3800"/>
                </a:solidFill>
              </a:rPr>
              <a:t>Included in adaptation cost  ·  No extra charge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102352" y="2267712"/>
            <a:ext cx="3767328" cy="27432"/>
          </a:xfrm>
          <a:prstGeom prst="rect">
            <a:avLst/>
          </a:prstGeom>
          <a:solidFill>
            <a:srgbClr val="4A3800"/>
          </a:solidFill>
          <a:ln/>
        </p:spPr>
      </p:sp>
      <p:sp>
        <p:nvSpPr>
          <p:cNvPr id="28" name="Text 26"/>
          <p:cNvSpPr/>
          <p:nvPr/>
        </p:nvSpPr>
        <p:spPr>
          <a:xfrm>
            <a:off x="5047488" y="235915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F6E"/>
                </a:solidFill>
              </a:rPr>
              <a:t>🔧  Bug fixes &amp; same-day response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047488" y="267004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F6E"/>
                </a:solidFill>
              </a:rPr>
              <a:t>📊  AWS CloudWatch monitoring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047488" y="298094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F6E"/>
                </a:solidFill>
              </a:rPr>
              <a:t>🔒  Security patch deployment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047488" y="32918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F6E"/>
                </a:solidFill>
              </a:rPr>
              <a:t>👥  ANM admin onboarding session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047488" y="360273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F6E"/>
                </a:solidFill>
              </a:rPr>
              <a:t>📋  Go-live health check &amp; status report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965192" y="4059936"/>
            <a:ext cx="39136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i="1" dirty="0">
                <a:solidFill>
                  <a:srgbClr val="4A3800"/>
                </a:solidFill>
              </a:rPr>
              <a:t>Estimated value: ~$5,000  ·  Yours absolutely free.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02920" y="446227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A500"/>
                </a:solidFill>
              </a:rPr>
              <a:t>43%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02920" y="4700016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9BBFF"/>
                </a:solidFill>
              </a:rPr>
              <a:t>Less than greenfield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2514600" y="446227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A500"/>
                </a:solidFill>
              </a:rPr>
              <a:t>8 Weeks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2514600" y="4700016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9BBFF"/>
                </a:solidFill>
              </a:rPr>
              <a:t>Go-live timeline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4526280" y="446227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A500"/>
                </a:solidFill>
              </a:rPr>
              <a:t>123 Days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4526280" y="4700016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9BBFF"/>
                </a:solidFill>
              </a:rPr>
              <a:t>Total team effort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6537960" y="446227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A500"/>
                </a:solidFill>
              </a:rPr>
              <a:t>20+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537960" y="4700016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9BBFF"/>
                </a:solidFill>
              </a:rPr>
              <a:t>Modules pre-built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0" y="4969764"/>
            <a:ext cx="9144000" cy="173736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43" name="Text 41"/>
          <p:cNvSpPr/>
          <p:nvPr/>
        </p:nvSpPr>
        <p:spPr>
          <a:xfrm>
            <a:off x="0" y="4971593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B2F6E"/>
                </a:solidFill>
              </a:rPr>
              <a:t>Mahima Community Platform  ·  ANM RFP Proposal  ·  Confidential  ·  June 2025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B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B2F6E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9144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140" kern="0" dirty="0">
                <a:solidFill>
                  <a:srgbClr val="F0A500"/>
                </a:solidFill>
              </a:rPr>
              <a:t>•  PLATFORM &amp; INFRASTRUCTURE CHARGES  •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0" y="2743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F6E"/>
                </a:solidFill>
              </a:rPr>
              <a:t>Monthly Running Costs — Post Go-Live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02920" y="896112"/>
            <a:ext cx="8138160" cy="3657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950976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These are third-party platform costs passed to the client at actuals. All estimates based on up to 500 ANM users.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37160" y="1225296"/>
            <a:ext cx="4251960" cy="3493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37160" y="1225296"/>
            <a:ext cx="4251960" cy="54864"/>
          </a:xfrm>
          <a:prstGeom prst="rect">
            <a:avLst/>
          </a:prstGeom>
          <a:solidFill>
            <a:srgbClr val="1B2F6E"/>
          </a:solidFill>
          <a:ln/>
        </p:spPr>
      </p:sp>
      <p:sp>
        <p:nvSpPr>
          <p:cNvPr id="11" name="Text 9"/>
          <p:cNvSpPr/>
          <p:nvPr/>
        </p:nvSpPr>
        <p:spPr>
          <a:xfrm>
            <a:off x="265176" y="1316736"/>
            <a:ext cx="3995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F6E"/>
                </a:solidFill>
              </a:rPr>
              <a:t>☁️  AWS Infrastructure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28600" y="1664208"/>
            <a:ext cx="4069080" cy="329184"/>
          </a:xfrm>
          <a:prstGeom prst="rect">
            <a:avLst/>
          </a:prstGeom>
          <a:solidFill>
            <a:srgbClr val="F8FBF9"/>
          </a:solidFill>
          <a:ln/>
        </p:spPr>
      </p:sp>
      <p:sp>
        <p:nvSpPr>
          <p:cNvPr id="13" name="Text 11"/>
          <p:cNvSpPr/>
          <p:nvPr/>
        </p:nvSpPr>
        <p:spPr>
          <a:xfrm>
            <a:off x="301752" y="1700784"/>
            <a:ext cx="3685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EC2 t3.medium (App Server)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566160" y="1700784"/>
            <a:ext cx="6949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~$35/mo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28600" y="2066544"/>
            <a:ext cx="406908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301752" y="2103120"/>
            <a:ext cx="3685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RDS db.t3.micro (PostgreSQL)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566160" y="2103120"/>
            <a:ext cx="6949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~$25/mo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28600" y="2468880"/>
            <a:ext cx="4069080" cy="329184"/>
          </a:xfrm>
          <a:prstGeom prst="rect">
            <a:avLst/>
          </a:prstGeom>
          <a:solidFill>
            <a:srgbClr val="F8FBF9"/>
          </a:solidFill>
          <a:ln/>
        </p:spPr>
      </p:sp>
      <p:sp>
        <p:nvSpPr>
          <p:cNvPr id="19" name="Text 17"/>
          <p:cNvSpPr/>
          <p:nvPr/>
        </p:nvSpPr>
        <p:spPr>
          <a:xfrm>
            <a:off x="301752" y="2505456"/>
            <a:ext cx="3685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S3 Storage 100GB + requests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566160" y="2505456"/>
            <a:ext cx="6949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~$10/mo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28600" y="2871216"/>
            <a:ext cx="406908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301752" y="2907792"/>
            <a:ext cx="3685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CloudFront CDN (distribution)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566160" y="2907792"/>
            <a:ext cx="6949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~$8/mo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28600" y="3273552"/>
            <a:ext cx="4069080" cy="329184"/>
          </a:xfrm>
          <a:prstGeom prst="rect">
            <a:avLst/>
          </a:prstGeom>
          <a:solidFill>
            <a:srgbClr val="F8FBF9"/>
          </a:solidFill>
          <a:ln/>
        </p:spPr>
      </p:sp>
      <p:sp>
        <p:nvSpPr>
          <p:cNvPr id="25" name="Text 23"/>
          <p:cNvSpPr/>
          <p:nvPr/>
        </p:nvSpPr>
        <p:spPr>
          <a:xfrm>
            <a:off x="301752" y="3310128"/>
            <a:ext cx="3685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Elastic Load Balancer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566160" y="3310128"/>
            <a:ext cx="6949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~$18/mo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28600" y="3675888"/>
            <a:ext cx="406908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301752" y="3712464"/>
            <a:ext cx="3685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NAT Gateway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566160" y="3712464"/>
            <a:ext cx="6949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~$15/mo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28600" y="4041648"/>
            <a:ext cx="4069080" cy="36576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31" name="Shape 29"/>
          <p:cNvSpPr/>
          <p:nvPr/>
        </p:nvSpPr>
        <p:spPr>
          <a:xfrm>
            <a:off x="228600" y="4078224"/>
            <a:ext cx="4069080" cy="32918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2" name="Text 30"/>
          <p:cNvSpPr/>
          <p:nvPr/>
        </p:nvSpPr>
        <p:spPr>
          <a:xfrm>
            <a:off x="301752" y="4114800"/>
            <a:ext cx="3685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F6E"/>
                </a:solidFill>
              </a:rPr>
              <a:t>AWS Total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566160" y="4114800"/>
            <a:ext cx="6949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B2F6E"/>
                </a:solidFill>
              </a:rPr>
              <a:t>~$111/mo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53712" y="1225296"/>
            <a:ext cx="4453128" cy="3493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553712" y="1225296"/>
            <a:ext cx="4453128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6" name="Text 34"/>
          <p:cNvSpPr/>
          <p:nvPr/>
        </p:nvSpPr>
        <p:spPr>
          <a:xfrm>
            <a:off x="4681728" y="1316736"/>
            <a:ext cx="4197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🔌  Third-Party Services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645152" y="1664208"/>
            <a:ext cx="4270248" cy="329184"/>
          </a:xfrm>
          <a:prstGeom prst="rect">
            <a:avLst/>
          </a:prstGeom>
          <a:solidFill>
            <a:srgbClr val="F8FBF9"/>
          </a:solidFill>
          <a:ln/>
        </p:spPr>
      </p:sp>
      <p:sp>
        <p:nvSpPr>
          <p:cNvPr id="38" name="Text 36"/>
          <p:cNvSpPr/>
          <p:nvPr/>
        </p:nvSpPr>
        <p:spPr>
          <a:xfrm>
            <a:off x="4718304" y="1700784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Twilio SMS (1,000 SMS/mo avg)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8183880" y="1700784"/>
            <a:ext cx="6949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~$8/mo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45152" y="2066544"/>
            <a:ext cx="4270248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Text 39"/>
          <p:cNvSpPr/>
          <p:nvPr/>
        </p:nvSpPr>
        <p:spPr>
          <a:xfrm>
            <a:off x="4718304" y="2103120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Twilio Phone Number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8183880" y="2103120"/>
            <a:ext cx="6949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~$1/mo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645152" y="2468880"/>
            <a:ext cx="4270248" cy="329184"/>
          </a:xfrm>
          <a:prstGeom prst="rect">
            <a:avLst/>
          </a:prstGeom>
          <a:solidFill>
            <a:srgbClr val="F8FBF9"/>
          </a:solidFill>
          <a:ln/>
        </p:spPr>
      </p:sp>
      <p:sp>
        <p:nvSpPr>
          <p:cNvPr id="44" name="Text 42"/>
          <p:cNvSpPr/>
          <p:nvPr/>
        </p:nvSpPr>
        <p:spPr>
          <a:xfrm>
            <a:off x="4718304" y="2505456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Firebase Auth (up to 50K MAU)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8183880" y="2505456"/>
            <a:ext cx="6949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Free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645152" y="2871216"/>
            <a:ext cx="4270248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7" name="Text 45"/>
          <p:cNvSpPr/>
          <p:nvPr/>
        </p:nvSpPr>
        <p:spPr>
          <a:xfrm>
            <a:off x="4718304" y="2907792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MailKit SMTP (SendGrid if needed)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8183880" y="2907792"/>
            <a:ext cx="6949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~$5/mo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645152" y="3273552"/>
            <a:ext cx="4270248" cy="329184"/>
          </a:xfrm>
          <a:prstGeom prst="rect">
            <a:avLst/>
          </a:prstGeom>
          <a:solidFill>
            <a:srgbClr val="F8FBF9"/>
          </a:solidFill>
          <a:ln/>
        </p:spPr>
      </p:sp>
      <p:sp>
        <p:nvSpPr>
          <p:cNvPr id="50" name="Text 48"/>
          <p:cNvSpPr/>
          <p:nvPr/>
        </p:nvSpPr>
        <p:spPr>
          <a:xfrm>
            <a:off x="4718304" y="3310128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Domain Name (annual / 12)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8183880" y="3310128"/>
            <a:ext cx="6949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~$1/mo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645152" y="3675888"/>
            <a:ext cx="4270248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3" name="Text 51"/>
          <p:cNvSpPr/>
          <p:nvPr/>
        </p:nvSpPr>
        <p:spPr>
          <a:xfrm>
            <a:off x="4718304" y="3712464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SSL Certificate (Let's Encrypt)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8183880" y="3712464"/>
            <a:ext cx="6949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Free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645152" y="4041648"/>
            <a:ext cx="4270248" cy="36576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56" name="Shape 54"/>
          <p:cNvSpPr/>
          <p:nvPr/>
        </p:nvSpPr>
        <p:spPr>
          <a:xfrm>
            <a:off x="4645152" y="4078224"/>
            <a:ext cx="4270248" cy="32918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7" name="Text 55"/>
          <p:cNvSpPr/>
          <p:nvPr/>
        </p:nvSpPr>
        <p:spPr>
          <a:xfrm>
            <a:off x="4718304" y="4114800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</a:rPr>
              <a:t>3rd-Party Total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8183880" y="4114800"/>
            <a:ext cx="6949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~$15/mo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137160" y="4745736"/>
            <a:ext cx="8869680" cy="274320"/>
          </a:xfrm>
          <a:prstGeom prst="rect">
            <a:avLst/>
          </a:prstGeom>
          <a:solidFill>
            <a:srgbClr val="1B2F6E"/>
          </a:solidFill>
          <a:ln/>
        </p:spPr>
      </p:sp>
      <p:sp>
        <p:nvSpPr>
          <p:cNvPr id="60" name="Text 58"/>
          <p:cNvSpPr/>
          <p:nvPr/>
        </p:nvSpPr>
        <p:spPr>
          <a:xfrm>
            <a:off x="201168" y="474573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ESTIMATED TOTAL MONTHLY PLATFORM COST: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6583680" y="4745736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0A500"/>
                </a:solidFill>
              </a:rPr>
              <a:t>~$126/month  (≈ $1,512/year)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0" y="4969764"/>
            <a:ext cx="9144000" cy="173736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63" name="Text 61"/>
          <p:cNvSpPr/>
          <p:nvPr/>
        </p:nvSpPr>
        <p:spPr>
          <a:xfrm>
            <a:off x="0" y="4971593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B2F6E"/>
                </a:solidFill>
              </a:rPr>
              <a:t>Mahima Community Platform  ·  ANM RFP Proposal  ·  Confidential  ·  June 2025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B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B2F6E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9144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140" kern="0" dirty="0">
                <a:solidFill>
                  <a:srgbClr val="F0A500"/>
                </a:solidFill>
              </a:rPr>
              <a:t>POST GO-LIVE SUPPORT  ·  AMC BEGINS MONTH 2  ·  MONTH 1 IS FREE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0" y="2743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F6E"/>
                </a:solidFill>
              </a:rPr>
              <a:t>Annual Maintenance &amp; Support (AMC)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02920" y="896112"/>
            <a:ext cx="8138160" cy="3657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8" name="Text 6"/>
          <p:cNvSpPr/>
          <p:nvPr/>
        </p:nvSpPr>
        <p:spPr>
          <a:xfrm>
            <a:off x="0" y="950976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Select the plan that fits your team  ·  Annual billing saves up to $9,000  ·  All prices in USD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98348" y="1225296"/>
            <a:ext cx="2697480" cy="3493008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0" name="Shape 8"/>
          <p:cNvSpPr/>
          <p:nvPr/>
        </p:nvSpPr>
        <p:spPr>
          <a:xfrm>
            <a:off x="461772" y="1188720"/>
            <a:ext cx="2697480" cy="3493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1772" y="1188720"/>
            <a:ext cx="2697480" cy="64008"/>
          </a:xfrm>
          <a:prstGeom prst="rect">
            <a:avLst/>
          </a:prstGeom>
          <a:solidFill>
            <a:srgbClr val="1B2F6E"/>
          </a:solidFill>
          <a:ln/>
        </p:spPr>
      </p:sp>
      <p:sp>
        <p:nvSpPr>
          <p:cNvPr id="12" name="Text 10"/>
          <p:cNvSpPr/>
          <p:nvPr/>
        </p:nvSpPr>
        <p:spPr>
          <a:xfrm>
            <a:off x="589788" y="1298448"/>
            <a:ext cx="24414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F6E"/>
                </a:solidFill>
              </a:rPr>
              <a:t>STARTER CARE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89788" y="1554480"/>
            <a:ext cx="24414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F6E"/>
                </a:solidFill>
              </a:rPr>
              <a:t>$800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589788" y="2029968"/>
            <a:ext cx="24414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per month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89788" y="2267712"/>
            <a:ext cx="2441448" cy="18288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16" name="Text 14"/>
          <p:cNvSpPr/>
          <p:nvPr/>
        </p:nvSpPr>
        <p:spPr>
          <a:xfrm>
            <a:off x="589788" y="2322576"/>
            <a:ext cx="24414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F6E"/>
                </a:solidFill>
              </a:rPr>
              <a:t>$8,000  / year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89788" y="2542032"/>
            <a:ext cx="24414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59669"/>
                </a:solidFill>
              </a:rPr>
              <a:t>Save $1,600/yr vs monthly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89788" y="2779776"/>
            <a:ext cx="2441448" cy="18288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19" name="Text 17"/>
          <p:cNvSpPr/>
          <p:nvPr/>
        </p:nvSpPr>
        <p:spPr>
          <a:xfrm>
            <a:off x="589788" y="2871216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✓  Bug fixes &amp; security patches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89788" y="3118104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✓  OS &amp; dependency updates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89788" y="3364992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✓  Monthly health report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89788" y="3611880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✓  Up to 3 hrs support/month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89788" y="3858768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✓  48-hour response SLA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89788" y="4105656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✓  Dedicated support email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08076" y="4334256"/>
            <a:ext cx="2404872" cy="292608"/>
          </a:xfrm>
          <a:prstGeom prst="rect">
            <a:avLst/>
          </a:prstGeom>
          <a:solidFill>
            <a:srgbClr val="1B2F6E"/>
          </a:solidFill>
          <a:ln/>
        </p:spPr>
      </p:sp>
      <p:sp>
        <p:nvSpPr>
          <p:cNvPr id="26" name="Text 24"/>
          <p:cNvSpPr/>
          <p:nvPr/>
        </p:nvSpPr>
        <p:spPr>
          <a:xfrm>
            <a:off x="608076" y="4334256"/>
            <a:ext cx="2404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GET STARTED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223260" y="987552"/>
            <a:ext cx="2697480" cy="201168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28" name="Text 26"/>
          <p:cNvSpPr/>
          <p:nvPr/>
        </p:nvSpPr>
        <p:spPr>
          <a:xfrm>
            <a:off x="3223260" y="987552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2F6E"/>
                </a:solidFill>
              </a:rPr>
              <a:t>★   MOST POPULAR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223260" y="1188720"/>
            <a:ext cx="2697480" cy="3493008"/>
          </a:xfrm>
          <a:prstGeom prst="rect">
            <a:avLst/>
          </a:prstGeom>
          <a:solidFill>
            <a:srgbClr val="1B2F6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23260" y="1188720"/>
            <a:ext cx="2697480" cy="64008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31" name="Text 29"/>
          <p:cNvSpPr/>
          <p:nvPr/>
        </p:nvSpPr>
        <p:spPr>
          <a:xfrm>
            <a:off x="3351276" y="1298448"/>
            <a:ext cx="24414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A500"/>
                </a:solidFill>
              </a:rPr>
              <a:t>PRO CARE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351276" y="1554480"/>
            <a:ext cx="24414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$1,500</a:t>
            </a:r>
            <a:endParaRPr lang="en-US" sz="3400" dirty="0"/>
          </a:p>
        </p:txBody>
      </p:sp>
      <p:sp>
        <p:nvSpPr>
          <p:cNvPr id="33" name="Text 31"/>
          <p:cNvSpPr/>
          <p:nvPr/>
        </p:nvSpPr>
        <p:spPr>
          <a:xfrm>
            <a:off x="3351276" y="2029968"/>
            <a:ext cx="24414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per month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351276" y="2267712"/>
            <a:ext cx="2441448" cy="18288"/>
          </a:xfrm>
          <a:prstGeom prst="rect">
            <a:avLst/>
          </a:prstGeom>
          <a:solidFill>
            <a:srgbClr val="3050AA"/>
          </a:solidFill>
          <a:ln/>
        </p:spPr>
      </p:sp>
      <p:sp>
        <p:nvSpPr>
          <p:cNvPr id="35" name="Text 33"/>
          <p:cNvSpPr/>
          <p:nvPr/>
        </p:nvSpPr>
        <p:spPr>
          <a:xfrm>
            <a:off x="3351276" y="2322576"/>
            <a:ext cx="24414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$15,000  / year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351276" y="2542032"/>
            <a:ext cx="24414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59669"/>
                </a:solidFill>
              </a:rPr>
              <a:t>Save $3,000/yr vs monthly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351276" y="2779776"/>
            <a:ext cx="2441448" cy="18288"/>
          </a:xfrm>
          <a:prstGeom prst="rect">
            <a:avLst/>
          </a:prstGeom>
          <a:solidFill>
            <a:srgbClr val="3050AA"/>
          </a:solidFill>
          <a:ln/>
        </p:spPr>
      </p:sp>
      <p:sp>
        <p:nvSpPr>
          <p:cNvPr id="38" name="Text 36"/>
          <p:cNvSpPr/>
          <p:nvPr/>
        </p:nvSpPr>
        <p:spPr>
          <a:xfrm>
            <a:off x="3351276" y="2871216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DDFF"/>
                </a:solidFill>
              </a:rPr>
              <a:t>✓  Everything in Starter +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351276" y="3118104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DDFF"/>
                </a:solidFill>
              </a:rPr>
              <a:t>✓  Minor feature enhancements (6 hrs)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3351276" y="3364992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DDFF"/>
                </a:solidFill>
              </a:rPr>
              <a:t>✓  DB performance tuning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3351276" y="3611880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DDFF"/>
                </a:solidFill>
              </a:rPr>
              <a:t>✓  CloudWatch monitoring review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3351276" y="3858768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DDFF"/>
                </a:solidFill>
              </a:rPr>
              <a:t>✓  24-hour response SLA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3351276" y="4105656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DDFF"/>
                </a:solidFill>
              </a:rPr>
              <a:t>✓  Monthly PM check-in call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3369564" y="4334256"/>
            <a:ext cx="2404872" cy="292608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45" name="Text 43"/>
          <p:cNvSpPr/>
          <p:nvPr/>
        </p:nvSpPr>
        <p:spPr>
          <a:xfrm>
            <a:off x="3369564" y="4334256"/>
            <a:ext cx="2404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2F6E"/>
                </a:solidFill>
              </a:rPr>
              <a:t>GET STARTED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6021324" y="1225296"/>
            <a:ext cx="2697480" cy="3493008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47" name="Shape 45"/>
          <p:cNvSpPr/>
          <p:nvPr/>
        </p:nvSpPr>
        <p:spPr>
          <a:xfrm>
            <a:off x="5984748" y="1188720"/>
            <a:ext cx="2697480" cy="3493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984748" y="1188720"/>
            <a:ext cx="2697480" cy="640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9" name="Text 47"/>
          <p:cNvSpPr/>
          <p:nvPr/>
        </p:nvSpPr>
        <p:spPr>
          <a:xfrm>
            <a:off x="6112764" y="1298448"/>
            <a:ext cx="24414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</a:rPr>
              <a:t>ENTERPRISE CARE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112764" y="1554480"/>
            <a:ext cx="24414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F6E"/>
                </a:solidFill>
              </a:rPr>
              <a:t>$2,500</a:t>
            </a:r>
            <a:endParaRPr lang="en-US" sz="3400" dirty="0"/>
          </a:p>
        </p:txBody>
      </p:sp>
      <p:sp>
        <p:nvSpPr>
          <p:cNvPr id="51" name="Text 49"/>
          <p:cNvSpPr/>
          <p:nvPr/>
        </p:nvSpPr>
        <p:spPr>
          <a:xfrm>
            <a:off x="6112764" y="2029968"/>
            <a:ext cx="24414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per month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112764" y="2267712"/>
            <a:ext cx="2441448" cy="18288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53" name="Text 51"/>
          <p:cNvSpPr/>
          <p:nvPr/>
        </p:nvSpPr>
        <p:spPr>
          <a:xfrm>
            <a:off x="6112764" y="2322576"/>
            <a:ext cx="24414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F6E"/>
                </a:solidFill>
              </a:rPr>
              <a:t>$25,000  / year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6112764" y="2542032"/>
            <a:ext cx="24414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59669"/>
                </a:solidFill>
              </a:rPr>
              <a:t>Save $5,000/yr vs monthly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6112764" y="2779776"/>
            <a:ext cx="2441448" cy="18288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56" name="Text 54"/>
          <p:cNvSpPr/>
          <p:nvPr/>
        </p:nvSpPr>
        <p:spPr>
          <a:xfrm>
            <a:off x="6112764" y="2871216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✓  Everything in Pro +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6112764" y="3118104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✓  New features (15 hrs/month)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6112764" y="3364992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✓  Dedicated DevOps oversight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6112764" y="3611880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✓  Quarterly platform version releases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6112764" y="3858768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✓  4-hour emergency SLA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6112764" y="4105656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✓  Weekly stakeholder report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6131052" y="4334256"/>
            <a:ext cx="2404872" cy="2926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3" name="Text 61"/>
          <p:cNvSpPr/>
          <p:nvPr/>
        </p:nvSpPr>
        <p:spPr>
          <a:xfrm>
            <a:off x="6131052" y="4334256"/>
            <a:ext cx="2404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GET STARTED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365760" y="4745736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★  Month 1 hypercare is FREE, included in the one-time customisation cost.  AMC billing begins from Month 2.  Annual plans billed upfront.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0" y="4969764"/>
            <a:ext cx="9144000" cy="173736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66" name="Text 64"/>
          <p:cNvSpPr/>
          <p:nvPr/>
        </p:nvSpPr>
        <p:spPr>
          <a:xfrm>
            <a:off x="0" y="4971593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B2F6E"/>
                </a:solidFill>
              </a:rPr>
              <a:t>Mahima Community Platform  ·  ANM RFP Proposal  ·  Confidential  ·  June 2025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F6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0" y="-457200"/>
            <a:ext cx="3200400" cy="3200400"/>
          </a:xfrm>
          <a:prstGeom prst="ellipse">
            <a:avLst/>
          </a:prstGeom>
          <a:solidFill>
            <a:srgbClr val="253D80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9144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140" kern="0" dirty="0">
                <a:solidFill>
                  <a:srgbClr val="F0A500"/>
                </a:solidFill>
              </a:rPr>
              <a:t>•  COMPLETE COST SUMMARY  •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0" y="2743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Total Cost of Ownership — Year 1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02920" y="896112"/>
            <a:ext cx="8138160" cy="3657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8" name="Shape 6"/>
          <p:cNvSpPr/>
          <p:nvPr/>
        </p:nvSpPr>
        <p:spPr>
          <a:xfrm>
            <a:off x="164592" y="1115568"/>
            <a:ext cx="8814816" cy="603504"/>
          </a:xfrm>
          <a:prstGeom prst="rect">
            <a:avLst/>
          </a:prstGeom>
          <a:solidFill>
            <a:srgbClr val="1D3A7A"/>
          </a:solidFill>
          <a:ln w="12700">
            <a:solidFill>
              <a:srgbClr val="3050A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" y="1115568"/>
            <a:ext cx="54864" cy="603504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10" name="Text 8"/>
          <p:cNvSpPr/>
          <p:nvPr/>
        </p:nvSpPr>
        <p:spPr>
          <a:xfrm>
            <a:off x="310896" y="1170432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One-Time Platform Customisation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10896" y="1444752"/>
            <a:ext cx="6217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E5FF"/>
                </a:solidFill>
              </a:rPr>
              <a:t>8 weeks · 123 days · 7 roles · includes source code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583680" y="1207008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0A500"/>
                </a:solidFill>
              </a:rPr>
              <a:t>$164,500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164592" y="1792224"/>
            <a:ext cx="8814816" cy="603504"/>
          </a:xfrm>
          <a:prstGeom prst="rect">
            <a:avLst/>
          </a:prstGeom>
          <a:solidFill>
            <a:srgbClr val="1D3A7A"/>
          </a:solidFill>
          <a:ln w="12700">
            <a:solidFill>
              <a:srgbClr val="3050A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64592" y="1792224"/>
            <a:ext cx="54864" cy="60350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5" name="Text 13"/>
          <p:cNvSpPr/>
          <p:nvPr/>
        </p:nvSpPr>
        <p:spPr>
          <a:xfrm>
            <a:off x="310896" y="1847088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FREE 1-Month Hypercare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10896" y="2121408"/>
            <a:ext cx="6217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E5FF"/>
                </a:solidFill>
              </a:rPr>
              <a:t>Included in customisation cost (estimated value ~$5,000)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583680" y="1883664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59669"/>
                </a:solidFill>
              </a:rPr>
              <a:t>$0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164592" y="2468880"/>
            <a:ext cx="8814816" cy="603504"/>
          </a:xfrm>
          <a:prstGeom prst="rect">
            <a:avLst/>
          </a:prstGeom>
          <a:solidFill>
            <a:srgbClr val="1D3A7A"/>
          </a:solidFill>
          <a:ln w="12700">
            <a:solidFill>
              <a:srgbClr val="3050A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4592" y="2468880"/>
            <a:ext cx="54864" cy="60350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0" name="Text 18"/>
          <p:cNvSpPr/>
          <p:nvPr/>
        </p:nvSpPr>
        <p:spPr>
          <a:xfrm>
            <a:off x="310896" y="2523744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AWS Infrastructure (12 months)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10896" y="2798064"/>
            <a:ext cx="6217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E5FF"/>
                </a:solidFill>
              </a:rPr>
              <a:t>EC2 + RDS + S3 + CloudFront + ELB · ~$111/month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583680" y="2560320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8B5CF6"/>
                </a:solidFill>
              </a:rPr>
              <a:t>~$1,332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164592" y="3145536"/>
            <a:ext cx="8814816" cy="603504"/>
          </a:xfrm>
          <a:prstGeom prst="rect">
            <a:avLst/>
          </a:prstGeom>
          <a:solidFill>
            <a:srgbClr val="1D3A7A"/>
          </a:solidFill>
          <a:ln w="12700">
            <a:solidFill>
              <a:srgbClr val="3050A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4592" y="3145536"/>
            <a:ext cx="54864" cy="60350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5" name="Text 23"/>
          <p:cNvSpPr/>
          <p:nvPr/>
        </p:nvSpPr>
        <p:spPr>
          <a:xfrm>
            <a:off x="310896" y="320040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Third-Party Services (12 months)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10896" y="3474720"/>
            <a:ext cx="6217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E5FF"/>
                </a:solidFill>
              </a:rPr>
              <a:t>Twilio SMS + email + domain · ~$15/month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583680" y="3236976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D9488"/>
                </a:solidFill>
              </a:rPr>
              <a:t>~$180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164592" y="3822192"/>
            <a:ext cx="8814816" cy="603504"/>
          </a:xfrm>
          <a:prstGeom prst="rect">
            <a:avLst/>
          </a:prstGeom>
          <a:solidFill>
            <a:srgbClr val="1D3A7A"/>
          </a:solidFill>
          <a:ln w="12700">
            <a:solidFill>
              <a:srgbClr val="3050A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64592" y="3822192"/>
            <a:ext cx="54864" cy="603504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30" name="Text 28"/>
          <p:cNvSpPr/>
          <p:nvPr/>
        </p:nvSpPr>
        <p:spPr>
          <a:xfrm>
            <a:off x="310896" y="3877056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AMC — Pro Care (10 months, from M2)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10896" y="4151376"/>
            <a:ext cx="6217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E5FF"/>
                </a:solidFill>
              </a:rPr>
              <a:t>$1,500/month for months 2–11 (Pro plan)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583680" y="3913632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34D399"/>
                </a:solidFill>
              </a:rPr>
              <a:t>$15,000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164592" y="4572000"/>
            <a:ext cx="8814816" cy="347472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34" name="Text 32"/>
          <p:cNvSpPr/>
          <p:nvPr/>
        </p:nvSpPr>
        <p:spPr>
          <a:xfrm>
            <a:off x="274320" y="4572000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F6E"/>
                </a:solidFill>
              </a:rPr>
              <a:t>TOTAL YEAR 1 INVESTMENT (Pro AMC):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675120" y="457200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B2F6E"/>
                </a:solidFill>
              </a:rPr>
              <a:t>~$181,012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0" y="4969764"/>
            <a:ext cx="9144000" cy="173736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37" name="Text 35"/>
          <p:cNvSpPr/>
          <p:nvPr/>
        </p:nvSpPr>
        <p:spPr>
          <a:xfrm>
            <a:off x="0" y="4971593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B2F6E"/>
                </a:solidFill>
              </a:rPr>
              <a:t>Mahima Community Platform  ·  ANM RFP Proposal  ·  Confidential  ·  June 2025</a:t>
            </a:r>
            <a:endParaRPr lang="en-US" sz="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B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B2F6E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9144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140" kern="0" dirty="0">
                <a:solidFill>
                  <a:srgbClr val="F0A500"/>
                </a:solidFill>
              </a:rPr>
              <a:t>•  IMPLEMENTATION SCHEDULE  •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0" y="2743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F6E"/>
                </a:solidFill>
              </a:rPr>
              <a:t>8-Week + Hypercare Delivery Schedule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02920" y="896112"/>
            <a:ext cx="8138160" cy="3657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8" name="Shape 6"/>
          <p:cNvSpPr/>
          <p:nvPr/>
        </p:nvSpPr>
        <p:spPr>
          <a:xfrm>
            <a:off x="192024" y="1106424"/>
            <a:ext cx="1371600" cy="338328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9" name="Shape 7"/>
          <p:cNvSpPr/>
          <p:nvPr/>
        </p:nvSpPr>
        <p:spPr>
          <a:xfrm>
            <a:off x="164592" y="1078992"/>
            <a:ext cx="13716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64592" y="1078992"/>
            <a:ext cx="1371600" cy="64008"/>
          </a:xfrm>
          <a:prstGeom prst="rect">
            <a:avLst/>
          </a:prstGeom>
          <a:solidFill>
            <a:srgbClr val="1B2F6E"/>
          </a:solidFill>
          <a:ln/>
        </p:spPr>
      </p:sp>
      <p:sp>
        <p:nvSpPr>
          <p:cNvPr id="11" name="Shape 9"/>
          <p:cNvSpPr/>
          <p:nvPr/>
        </p:nvSpPr>
        <p:spPr>
          <a:xfrm>
            <a:off x="237744" y="1170432"/>
            <a:ext cx="1225296" cy="201168"/>
          </a:xfrm>
          <a:prstGeom prst="rect">
            <a:avLst/>
          </a:prstGeom>
          <a:solidFill>
            <a:srgbClr val="1B2F6E"/>
          </a:solidFill>
          <a:ln/>
        </p:spPr>
      </p:sp>
      <p:sp>
        <p:nvSpPr>
          <p:cNvPr id="12" name="Text 10"/>
          <p:cNvSpPr/>
          <p:nvPr/>
        </p:nvSpPr>
        <p:spPr>
          <a:xfrm>
            <a:off x="237744" y="1170432"/>
            <a:ext cx="12252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Week 1–2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237744" y="1426464"/>
            <a:ext cx="12252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2F6E"/>
                </a:solidFill>
              </a:rPr>
              <a:t>Phase 1: Kickoff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92608" y="1847088"/>
            <a:ext cx="1115568" cy="2286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15" name="Text 13"/>
          <p:cNvSpPr/>
          <p:nvPr/>
        </p:nvSpPr>
        <p:spPr>
          <a:xfrm>
            <a:off x="256032" y="1920240"/>
            <a:ext cx="1188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•  Requirements finalization &amp; sign-off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256032" y="2542032"/>
            <a:ext cx="1188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•  Platform environment setup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256032" y="3163824"/>
            <a:ext cx="1188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•  ANM domain mapping complete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256032" y="3785616"/>
            <a:ext cx="1188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•  UI wireframe approval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1623060" y="1106424"/>
            <a:ext cx="1371600" cy="338328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0" name="Shape 18"/>
          <p:cNvSpPr/>
          <p:nvPr/>
        </p:nvSpPr>
        <p:spPr>
          <a:xfrm>
            <a:off x="1595628" y="1078992"/>
            <a:ext cx="13716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595628" y="1078992"/>
            <a:ext cx="137160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2" name="Shape 20"/>
          <p:cNvSpPr/>
          <p:nvPr/>
        </p:nvSpPr>
        <p:spPr>
          <a:xfrm>
            <a:off x="1668780" y="1170432"/>
            <a:ext cx="1225296" cy="2011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3" name="Text 21"/>
          <p:cNvSpPr/>
          <p:nvPr/>
        </p:nvSpPr>
        <p:spPr>
          <a:xfrm>
            <a:off x="1668780" y="1170432"/>
            <a:ext cx="12252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Week 3–4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1668780" y="1426464"/>
            <a:ext cx="12252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9488"/>
                </a:solidFill>
              </a:rPr>
              <a:t>Phase 2: Customisation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1723644" y="1847088"/>
            <a:ext cx="1115568" cy="2286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26" name="Text 24"/>
          <p:cNvSpPr/>
          <p:nvPr/>
        </p:nvSpPr>
        <p:spPr>
          <a:xfrm>
            <a:off x="1687068" y="1920240"/>
            <a:ext cx="1188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•  ANM branding &amp; UI theme live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1687068" y="2542032"/>
            <a:ext cx="1188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•  Role vocabulary adapted (ANM/Supervisor/ASHA)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687068" y="3163824"/>
            <a:ext cx="1188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•  Meetings → Field Visits reconfigured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1687068" y="3785616"/>
            <a:ext cx="1188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•  Task module adapted to ANM protocols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3054096" y="1106424"/>
            <a:ext cx="1371600" cy="338328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31" name="Shape 29"/>
          <p:cNvSpPr/>
          <p:nvPr/>
        </p:nvSpPr>
        <p:spPr>
          <a:xfrm>
            <a:off x="3026664" y="1078992"/>
            <a:ext cx="13716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026664" y="1078992"/>
            <a:ext cx="1371600" cy="6400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3" name="Shape 31"/>
          <p:cNvSpPr/>
          <p:nvPr/>
        </p:nvSpPr>
        <p:spPr>
          <a:xfrm>
            <a:off x="3099816" y="1170432"/>
            <a:ext cx="1225296" cy="20116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4" name="Text 32"/>
          <p:cNvSpPr/>
          <p:nvPr/>
        </p:nvSpPr>
        <p:spPr>
          <a:xfrm>
            <a:off x="3099816" y="1170432"/>
            <a:ext cx="12252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Week 5–6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3099816" y="1426464"/>
            <a:ext cx="12252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9669"/>
                </a:solidFill>
              </a:rPr>
              <a:t>Phase 3: ANM Modules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154680" y="1847088"/>
            <a:ext cx="1115568" cy="2286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37" name="Text 35"/>
          <p:cNvSpPr/>
          <p:nvPr/>
        </p:nvSpPr>
        <p:spPr>
          <a:xfrm>
            <a:off x="3118104" y="1920240"/>
            <a:ext cx="1188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•  Beneficiary &amp; ANC registration live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3118104" y="2542032"/>
            <a:ext cx="1188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•  Immunisation schedule tracker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3118104" y="3163824"/>
            <a:ext cx="1188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•  Home visit GPS form deployed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3118104" y="3785616"/>
            <a:ext cx="1188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•  MCP / RCH report templates generated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4485132" y="1106424"/>
            <a:ext cx="1371600" cy="338328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42" name="Shape 40"/>
          <p:cNvSpPr/>
          <p:nvPr/>
        </p:nvSpPr>
        <p:spPr>
          <a:xfrm>
            <a:off x="4457700" y="1078992"/>
            <a:ext cx="13716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457700" y="1078992"/>
            <a:ext cx="1371600" cy="640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4" name="Shape 42"/>
          <p:cNvSpPr/>
          <p:nvPr/>
        </p:nvSpPr>
        <p:spPr>
          <a:xfrm>
            <a:off x="4530852" y="1170432"/>
            <a:ext cx="1225296" cy="20116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5" name="Text 43"/>
          <p:cNvSpPr/>
          <p:nvPr/>
        </p:nvSpPr>
        <p:spPr>
          <a:xfrm>
            <a:off x="4530852" y="1170432"/>
            <a:ext cx="12252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Week 7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4530852" y="1426464"/>
            <a:ext cx="12252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C3AED"/>
                </a:solidFill>
              </a:rPr>
              <a:t>Phase 4: Integration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4585716" y="1847088"/>
            <a:ext cx="1115568" cy="2286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48" name="Text 46"/>
          <p:cNvSpPr/>
          <p:nvPr/>
        </p:nvSpPr>
        <p:spPr>
          <a:xfrm>
            <a:off x="4549140" y="1920240"/>
            <a:ext cx="1188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•  Capacitor iOS build submitted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4549140" y="2542032"/>
            <a:ext cx="1188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•  Full end-to-end integration test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4549140" y="3163824"/>
            <a:ext cx="1188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•  OWASP security scan passed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4549140" y="3785616"/>
            <a:ext cx="1188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•  Performance benchmarking done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5916168" y="1106424"/>
            <a:ext cx="1371600" cy="338328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53" name="Shape 51"/>
          <p:cNvSpPr/>
          <p:nvPr/>
        </p:nvSpPr>
        <p:spPr>
          <a:xfrm>
            <a:off x="5888736" y="1078992"/>
            <a:ext cx="13716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5888736" y="1078992"/>
            <a:ext cx="1371600" cy="64008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55" name="Shape 53"/>
          <p:cNvSpPr/>
          <p:nvPr/>
        </p:nvSpPr>
        <p:spPr>
          <a:xfrm>
            <a:off x="5961888" y="1170432"/>
            <a:ext cx="1225296" cy="201168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56" name="Text 54"/>
          <p:cNvSpPr/>
          <p:nvPr/>
        </p:nvSpPr>
        <p:spPr>
          <a:xfrm>
            <a:off x="5961888" y="1170432"/>
            <a:ext cx="12252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Week 8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5961888" y="1426464"/>
            <a:ext cx="12252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A580C"/>
                </a:solidFill>
              </a:rPr>
              <a:t>Phase 5: Go-Live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6016752" y="1847088"/>
            <a:ext cx="1115568" cy="2286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59" name="Text 57"/>
          <p:cNvSpPr/>
          <p:nvPr/>
        </p:nvSpPr>
        <p:spPr>
          <a:xfrm>
            <a:off x="5980176" y="1920240"/>
            <a:ext cx="1188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•  UAT with ANM stakeholders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5980176" y="2542032"/>
            <a:ext cx="1188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•  Production deployment (AWS)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5980176" y="3163824"/>
            <a:ext cx="1188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•  ANM admin training session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5980176" y="3785616"/>
            <a:ext cx="1188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•  App Store &amp; Play Store live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7347204" y="1106424"/>
            <a:ext cx="1371600" cy="338328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64" name="Shape 62"/>
          <p:cNvSpPr/>
          <p:nvPr/>
        </p:nvSpPr>
        <p:spPr>
          <a:xfrm>
            <a:off x="7319772" y="1078992"/>
            <a:ext cx="13716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7319772" y="1078992"/>
            <a:ext cx="1371600" cy="64008"/>
          </a:xfrm>
          <a:prstGeom prst="rect">
            <a:avLst/>
          </a:prstGeom>
          <a:solidFill>
            <a:srgbClr val="D49200"/>
          </a:solidFill>
          <a:ln/>
        </p:spPr>
      </p:sp>
      <p:sp>
        <p:nvSpPr>
          <p:cNvPr id="66" name="Shape 64"/>
          <p:cNvSpPr/>
          <p:nvPr/>
        </p:nvSpPr>
        <p:spPr>
          <a:xfrm>
            <a:off x="7392924" y="1170432"/>
            <a:ext cx="1225296" cy="201168"/>
          </a:xfrm>
          <a:prstGeom prst="rect">
            <a:avLst/>
          </a:prstGeom>
          <a:solidFill>
            <a:srgbClr val="D49200"/>
          </a:solidFill>
          <a:ln/>
        </p:spPr>
      </p:sp>
      <p:sp>
        <p:nvSpPr>
          <p:cNvPr id="67" name="Text 65"/>
          <p:cNvSpPr/>
          <p:nvPr/>
        </p:nvSpPr>
        <p:spPr>
          <a:xfrm>
            <a:off x="7392924" y="1170432"/>
            <a:ext cx="12252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Weeks 9–10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7392924" y="1426464"/>
            <a:ext cx="12252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49200"/>
                </a:solidFill>
              </a:rPr>
              <a:t>FREE Hypercare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7447788" y="1847088"/>
            <a:ext cx="1115568" cy="2286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70" name="Text 68"/>
          <p:cNvSpPr/>
          <p:nvPr/>
        </p:nvSpPr>
        <p:spPr>
          <a:xfrm>
            <a:off x="7411212" y="1920240"/>
            <a:ext cx="1188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•  Bug triage &amp; fixes (same-day)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7411212" y="2542032"/>
            <a:ext cx="1188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•  Live monitoring &amp; health checks</a:t>
            </a:r>
            <a:endParaRPr lang="en-US" sz="750" dirty="0"/>
          </a:p>
        </p:txBody>
      </p:sp>
      <p:sp>
        <p:nvSpPr>
          <p:cNvPr id="72" name="Text 70"/>
          <p:cNvSpPr/>
          <p:nvPr/>
        </p:nvSpPr>
        <p:spPr>
          <a:xfrm>
            <a:off x="7411212" y="3163824"/>
            <a:ext cx="1188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•  Admin Q&amp;A and onboarding</a:t>
            </a:r>
            <a:endParaRPr lang="en-US" sz="750" dirty="0"/>
          </a:p>
        </p:txBody>
      </p:sp>
      <p:sp>
        <p:nvSpPr>
          <p:cNvPr id="73" name="Text 71"/>
          <p:cNvSpPr/>
          <p:nvPr/>
        </p:nvSpPr>
        <p:spPr>
          <a:xfrm>
            <a:off x="7411212" y="3785616"/>
            <a:ext cx="1188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•  Final status report delivered</a:t>
            </a:r>
            <a:endParaRPr lang="en-US" sz="750" dirty="0"/>
          </a:p>
        </p:txBody>
      </p:sp>
      <p:sp>
        <p:nvSpPr>
          <p:cNvPr id="74" name="Text 72"/>
          <p:cNvSpPr/>
          <p:nvPr/>
        </p:nvSpPr>
        <p:spPr>
          <a:xfrm>
            <a:off x="164592" y="4498848"/>
            <a:ext cx="88148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Milestone review at end of each phase.  Weekly status reports delivered every Friday.  Escalation SLA: 4 hours.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0" y="4969764"/>
            <a:ext cx="9144000" cy="173736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76" name="Text 74"/>
          <p:cNvSpPr/>
          <p:nvPr/>
        </p:nvSpPr>
        <p:spPr>
          <a:xfrm>
            <a:off x="0" y="4971593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B2F6E"/>
                </a:solidFill>
              </a:rPr>
              <a:t>Mahima Community Platform  ·  ANM RFP Proposal  ·  Confidential  ·  June 2025</a:t>
            </a:r>
            <a:endParaRPr lang="en-US" sz="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F6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-548640"/>
            <a:ext cx="2743200" cy="2743200"/>
          </a:xfrm>
          <a:prstGeom prst="ellipse">
            <a:avLst/>
          </a:prstGeom>
          <a:solidFill>
            <a:srgbClr val="253D80"/>
          </a:solidFill>
          <a:ln/>
        </p:spPr>
      </p:sp>
      <p:sp>
        <p:nvSpPr>
          <p:cNvPr id="5" name="Shape 3"/>
          <p:cNvSpPr/>
          <p:nvPr/>
        </p:nvSpPr>
        <p:spPr>
          <a:xfrm>
            <a:off x="-731520" y="3474720"/>
            <a:ext cx="2377440" cy="2377440"/>
          </a:xfrm>
          <a:prstGeom prst="ellipse">
            <a:avLst/>
          </a:prstGeom>
          <a:solidFill>
            <a:srgbClr val="253D80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9144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140" kern="0" dirty="0">
                <a:solidFill>
                  <a:srgbClr val="F0A500"/>
                </a:solidFill>
              </a:rPr>
              <a:t>•  NEXT STEPS  •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0" y="2743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Partner with Mahima Platform for ANM Success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02920" y="896112"/>
            <a:ext cx="8138160" cy="3657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9" name="Shape 7"/>
          <p:cNvSpPr/>
          <p:nvPr/>
        </p:nvSpPr>
        <p:spPr>
          <a:xfrm>
            <a:off x="164592" y="1097280"/>
            <a:ext cx="8814816" cy="804672"/>
          </a:xfrm>
          <a:prstGeom prst="rect">
            <a:avLst/>
          </a:prstGeom>
          <a:solidFill>
            <a:srgbClr val="1D3A7A"/>
          </a:solidFill>
          <a:ln w="12700">
            <a:solidFill>
              <a:srgbClr val="3050A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6032" y="1207008"/>
            <a:ext cx="585216" cy="585216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1" name="Text 9"/>
          <p:cNvSpPr/>
          <p:nvPr/>
        </p:nvSpPr>
        <p:spPr>
          <a:xfrm>
            <a:off x="256032" y="1207008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50976" y="1207008"/>
            <a:ext cx="4572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📞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481328" y="11887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RFP Alignment Call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481328" y="1463040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E5FF"/>
                </a:solidFill>
              </a:rPr>
              <a:t>30-min call to walk through the feature mapping matrix and confirm scope alignment with ANM stakeholders.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64592" y="1993392"/>
            <a:ext cx="8814816" cy="804672"/>
          </a:xfrm>
          <a:prstGeom prst="rect">
            <a:avLst/>
          </a:prstGeom>
          <a:solidFill>
            <a:srgbClr val="1D3A7A"/>
          </a:solidFill>
          <a:ln w="12700">
            <a:solidFill>
              <a:srgbClr val="3050A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6032" y="2103120"/>
            <a:ext cx="585216" cy="585216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7" name="Text 15"/>
          <p:cNvSpPr/>
          <p:nvPr/>
        </p:nvSpPr>
        <p:spPr>
          <a:xfrm>
            <a:off x="256032" y="210312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50976" y="2103120"/>
            <a:ext cx="4572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🖥️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481328" y="20848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Live Platform Demo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481328" y="2359152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E5FF"/>
                </a:solidFill>
              </a:rPr>
              <a:t>Hands-on demo of Mahima V4.0 live instance — see all 20+ modules in action before commitment.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64592" y="2889504"/>
            <a:ext cx="8814816" cy="804672"/>
          </a:xfrm>
          <a:prstGeom prst="rect">
            <a:avLst/>
          </a:prstGeom>
          <a:solidFill>
            <a:srgbClr val="1D3A7A"/>
          </a:solidFill>
          <a:ln w="12700">
            <a:solidFill>
              <a:srgbClr val="3050A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6032" y="2999232"/>
            <a:ext cx="585216" cy="585216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3" name="Text 21"/>
          <p:cNvSpPr/>
          <p:nvPr/>
        </p:nvSpPr>
        <p:spPr>
          <a:xfrm>
            <a:off x="256032" y="299923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50976" y="2999232"/>
            <a:ext cx="4572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✍️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481328" y="298094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Contract &amp; Kickoff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481328" y="3255264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E5FF"/>
                </a:solidFill>
              </a:rPr>
              <a:t>Sign off on scope, customisation checklist, and timeline. Week 1 kickoff begins immediately on execution.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64592" y="3785616"/>
            <a:ext cx="8814816" cy="804672"/>
          </a:xfrm>
          <a:prstGeom prst="rect">
            <a:avLst/>
          </a:prstGeom>
          <a:solidFill>
            <a:srgbClr val="1D3A7A"/>
          </a:solidFill>
          <a:ln w="12700">
            <a:solidFill>
              <a:srgbClr val="3050A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6032" y="3895344"/>
            <a:ext cx="585216" cy="585216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9" name="Text 27"/>
          <p:cNvSpPr/>
          <p:nvPr/>
        </p:nvSpPr>
        <p:spPr>
          <a:xfrm>
            <a:off x="256032" y="3895344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04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50976" y="3895344"/>
            <a:ext cx="4572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🚀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1481328" y="387705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8-Week Delivery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481328" y="4151376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E5FF"/>
                </a:solidFill>
              </a:rPr>
              <a:t>Structured, milestone-driven delivery. Weekly status reports. No surprises — proven platform, proven process.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64592" y="4663440"/>
            <a:ext cx="8814816" cy="20116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4" name="Text 32"/>
          <p:cNvSpPr/>
          <p:nvPr/>
        </p:nvSpPr>
        <p:spPr>
          <a:xfrm>
            <a:off x="164592" y="4663440"/>
            <a:ext cx="88148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Mahima Community Platform — Proven. Production-Ready. ANM-Adapted in 8 Weeks.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0" y="4969764"/>
            <a:ext cx="9144000" cy="173736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36" name="Text 34"/>
          <p:cNvSpPr/>
          <p:nvPr/>
        </p:nvSpPr>
        <p:spPr>
          <a:xfrm>
            <a:off x="0" y="4971593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B2F6E"/>
                </a:solidFill>
              </a:rPr>
              <a:t>Mahima Community Platform  ·  ANM RFP Proposal  ·  Confidential  ·  June 2025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2026-06-14T06:27:24Z</dcterms:created>
  <dcterms:modified xsi:type="dcterms:W3CDTF">2026-06-14T06:27:24Z</dcterms:modified>
</cp:coreProperties>
</file>