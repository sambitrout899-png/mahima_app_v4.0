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243D8C">
              <a:alpha val="30000"/>
            </a:srgbClr>
          </a:solidFill>
          <a:ln w="12700">
            <a:solidFill>
              <a:srgbClr val="243D8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243D8C">
              <a:alpha val="25000"/>
            </a:srgbClr>
          </a:solidFill>
          <a:ln w="12700">
            <a:solidFill>
              <a:srgbClr val="243D8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50292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2C4499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5029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PROPOSAL ·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Community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4023360" y="2377440"/>
            <a:ext cx="109728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51460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cross-platform mobile application to connect members,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spiritual resources, and facilitate prayer — built for every generation.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6002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4728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 Organisation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03120" y="3383280"/>
            <a:ext cx="16002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344728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103120" y="365760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Dev Team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49040" y="3383280"/>
            <a:ext cx="16002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344728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749040" y="365760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Final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94960" y="3383280"/>
            <a:ext cx="16002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344728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394960" y="365760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40880" y="3383280"/>
            <a:ext cx="16002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344728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040880" y="365760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4992624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ANM Community App Proposal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" y="11155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4672" y="148132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63624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63624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Requirements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" y="187452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56816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56816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4672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" y="226771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350008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50008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04672" y="229514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Functionality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" y="2660904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743200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43200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4672" y="26883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Wireframes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" y="3054096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136392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136392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4672" y="30815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" y="344728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529584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529584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4672" y="3474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4672" y="384048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922776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22776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4672" y="38679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4672" y="423367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315968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315968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04672" y="42611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00600" y="1170432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1170432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48072" y="11155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Timeline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148072" y="148132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0600" y="1563624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1563624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48072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148072" y="187452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00600" y="1956816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1956816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148072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148072" y="226771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0600" y="2350008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2350008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48072" y="229514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Strategy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148072" y="2660904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00600" y="2743200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2743200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48072" y="26883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Pricing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148072" y="3054096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00600" y="3136392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3136392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48072" y="30815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148072" y="344728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00600" y="3529584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00600" y="3529584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148072" y="3474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Maintenance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148072" y="384048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800600" y="3922776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00600" y="3922776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148072" y="38679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Us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148072" y="423367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00600" y="4315968"/>
            <a:ext cx="292608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00600" y="4315968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148072" y="42611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 a world-class community mobile app to unify ANM members through intuitive design, robust technology, and a transparent 8–10 week delivery model.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2011680" cy="82296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556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Delivery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33472" y="1719072"/>
            <a:ext cx="2011680" cy="82296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33472" y="17556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33472" y="217627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(iOS + Android)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09744" y="1719072"/>
            <a:ext cx="2011680" cy="82296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9744" y="17556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09744" y="217627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986016" y="1719072"/>
            <a:ext cx="2011680" cy="82296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86016" y="17556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86016" y="217627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SLA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679192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" y="2843784"/>
            <a:ext cx="384048" cy="384048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2852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6" dirty="0">
                <a:solidFill>
                  <a:srgbClr val="000000"/>
                </a:solidFill>
              </a:rPr>
              <a:t>📱</a:t>
            </a:r>
            <a:endParaRPr lang="en-US" sz="756" dirty="0"/>
          </a:p>
        </p:txBody>
      </p:sp>
      <p:sp>
        <p:nvSpPr>
          <p:cNvPr id="21" name="Text 19"/>
          <p:cNvSpPr/>
          <p:nvPr/>
        </p:nvSpPr>
        <p:spPr>
          <a:xfrm>
            <a:off x="548640" y="3300984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App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538728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React Native codebase for iOS &amp; Android. Faster delivery, lower cost.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55848" y="2679192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20440" y="2843784"/>
            <a:ext cx="384048" cy="384048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2852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6" dirty="0">
                <a:solidFill>
                  <a:srgbClr val="000000"/>
                </a:solidFill>
              </a:rPr>
              <a:t>🔒</a:t>
            </a:r>
            <a:endParaRPr lang="en-US" sz="756" dirty="0"/>
          </a:p>
        </p:txBody>
      </p:sp>
      <p:sp>
        <p:nvSpPr>
          <p:cNvPr id="26" name="Text 24"/>
          <p:cNvSpPr/>
          <p:nvPr/>
        </p:nvSpPr>
        <p:spPr>
          <a:xfrm>
            <a:off x="3447288" y="3300984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47288" y="3538728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Auth, JWT tokens, AES-256 encryption at rest, HTTPS/TLS in transit.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54496" y="2679192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19088" y="2843784"/>
            <a:ext cx="384048" cy="384048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30" name="Text 28"/>
          <p:cNvSpPr/>
          <p:nvPr/>
        </p:nvSpPr>
        <p:spPr>
          <a:xfrm>
            <a:off x="6419088" y="2852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6" dirty="0">
                <a:solidFill>
                  <a:srgbClr val="000000"/>
                </a:solidFill>
              </a:rPr>
              <a:t>♿</a:t>
            </a:r>
            <a:endParaRPr lang="en-US" sz="756" dirty="0"/>
          </a:p>
        </p:txBody>
      </p:sp>
      <p:sp>
        <p:nvSpPr>
          <p:cNvPr id="31" name="Text 29"/>
          <p:cNvSpPr/>
          <p:nvPr/>
        </p:nvSpPr>
        <p:spPr>
          <a:xfrm>
            <a:off x="6345936" y="3300984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First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45936" y="3538728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compliant. VoiceOver &amp; TalkBack support. Large fonts, high contrast.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886200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" y="4050792"/>
            <a:ext cx="384048" cy="384048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" y="4059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6" dirty="0">
                <a:solidFill>
                  <a:srgbClr val="000000"/>
                </a:solidFill>
              </a:rPr>
              <a:t>☁️</a:t>
            </a:r>
            <a:endParaRPr lang="en-US" sz="756" dirty="0"/>
          </a:p>
        </p:txBody>
      </p:sp>
      <p:sp>
        <p:nvSpPr>
          <p:cNvPr id="36" name="Text 34"/>
          <p:cNvSpPr/>
          <p:nvPr/>
        </p:nvSpPr>
        <p:spPr>
          <a:xfrm>
            <a:off x="548640" y="4507992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4745736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Fargate, auto-scaling, 99.9% SLA, CloudFront CDN for media globally.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55848" y="3886200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520440" y="4050792"/>
            <a:ext cx="384048" cy="384048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40" name="Text 38"/>
          <p:cNvSpPr/>
          <p:nvPr/>
        </p:nvSpPr>
        <p:spPr>
          <a:xfrm>
            <a:off x="3520440" y="4059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6" dirty="0">
                <a:solidFill>
                  <a:srgbClr val="000000"/>
                </a:solidFill>
              </a:rPr>
              <a:t>🔄</a:t>
            </a:r>
            <a:endParaRPr lang="en-US" sz="756" dirty="0"/>
          </a:p>
        </p:txBody>
      </p:sp>
      <p:sp>
        <p:nvSpPr>
          <p:cNvPr id="41" name="Text 39"/>
          <p:cNvSpPr/>
          <p:nvPr/>
        </p:nvSpPr>
        <p:spPr>
          <a:xfrm>
            <a:off x="3447288" y="4507992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47288" y="4745736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— Phase 2 features added without re-engineering the core.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54496" y="3886200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19088" y="4050792"/>
            <a:ext cx="384048" cy="384048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45" name="Text 43"/>
          <p:cNvSpPr/>
          <p:nvPr/>
        </p:nvSpPr>
        <p:spPr>
          <a:xfrm>
            <a:off x="6419088" y="4059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6" dirty="0">
                <a:solidFill>
                  <a:srgbClr val="000000"/>
                </a:solidFill>
              </a:rPr>
              <a:t>🤝</a:t>
            </a:r>
            <a:endParaRPr lang="en-US" sz="756" dirty="0"/>
          </a:p>
        </p:txBody>
      </p:sp>
      <p:sp>
        <p:nvSpPr>
          <p:cNvPr id="46" name="Text 44"/>
          <p:cNvSpPr/>
          <p:nvPr/>
        </p:nvSpPr>
        <p:spPr>
          <a:xfrm>
            <a:off x="6345936" y="4507992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Process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45936" y="4745736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demos. You see real progress every 7 days, not just a final delivery.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challenges the ANM App must solve: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89888"/>
            <a:ext cx="64008" cy="15727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27048"/>
            <a:ext cx="457200" cy="457200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🤝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151790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Fragmentation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810512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lack a unified channel. Communication is scattered across personal contacts and informal WhatsApp groups with no searchable directory or history log.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389888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89888"/>
            <a:ext cx="64008" cy="15727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1527048"/>
            <a:ext cx="457200" cy="457200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77840" y="151790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&amp; Support Coordination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1810512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prayer requests is done informally — needs get missed. No mechanism for leaders to log follow-ups or view a member's care history in one place.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08960"/>
            <a:ext cx="64008" cy="15727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88720" y="32369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Resource Distribution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529584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Sermons are shared via links in group chats, creating a poor discovery experience with no searchable archive for members wanting to revisit content.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310896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108960"/>
            <a:ext cx="64008" cy="15727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3246120"/>
            <a:ext cx="457200" cy="457200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77840" y="32369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Diversity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3529584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must serve all age groups and varying tech literacy — demanding a clean, minimal UI that is intuitive for a 70-year-old and a 25-year-old equally.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74573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The ANM App is a community care platform — not just a directory. It needs to feel warm, trustworthy, and simple enough for every member.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6070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native-quality cross-platform mobile app on React Native, backed by a Node.js microservices API and a MongoDB Atlas database — delivered on AWS in 8–10 weeks.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4023360" cy="58521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013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+ Android App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0665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0.74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86000" y="2359152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4023360" cy="58521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597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+ Firebase Auth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7249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API Gateway · JWT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286000" y="3017520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72384"/>
            <a:ext cx="4023360" cy="585216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181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Microservices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3832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· ECS Fargate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86000" y="3675888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4023360" cy="585216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7764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+ AWS S3 + Twilio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40416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Media · Messaging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1060704"/>
            <a:ext cx="41605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60704"/>
            <a:ext cx="4160520" cy="347472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69848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at a Glance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64608" y="149047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80760" y="1490472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14+ &amp; Android 10+ via React Native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865376"/>
            <a:ext cx="4160520" cy="429768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192024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80760" y="1920240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LTS + Express.js REST API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64608" y="235000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80760" y="2350008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(M10, auto-scaling)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724912"/>
            <a:ext cx="4160520" cy="429768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277977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80760" y="2779776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JWT access tokens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64608" y="3209544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080760" y="3209544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+ CloudFront CDN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584448"/>
            <a:ext cx="4160520" cy="429768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63931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Calls/Chat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80760" y="3639312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Programmable Voice &amp; Chat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64608" y="406908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80760" y="4069080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 (containerised)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4443984"/>
            <a:ext cx="4160520" cy="429768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449884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080760" y="4498848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weeks to App Store &amp; Play Store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Functionality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60704"/>
            <a:ext cx="4160520" cy="32918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9848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Phase 1 — MVP Features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3560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43560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1609344"/>
            <a:ext cx="3703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 with quick-access tiles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1801368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10512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81051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Directory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1984248"/>
            <a:ext cx="3703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list with role badges &amp; filters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176272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185416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18541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Detail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2359152"/>
            <a:ext cx="3703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profile, call/message/pray actions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2551176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60320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256032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History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" y="2734056"/>
            <a:ext cx="3703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Pastoral notes log with timestamps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2926080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935224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2935224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Requests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" y="3108960"/>
            <a:ext cx="3703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Submit, browse, respond, track status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" y="3300984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31012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331012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Library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2960" y="3483864"/>
            <a:ext cx="3703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Categorised feed with CloudFront streaming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2920" y="3675888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685032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368503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" y="3858768"/>
            <a:ext cx="3703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chat via Twilio with read receipts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" y="4050792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059936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" y="405993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 Calling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22960" y="4233672"/>
            <a:ext cx="3703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calls without sharing phone numbers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02920" y="4425696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434840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" y="44348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2960" y="4608576"/>
            <a:ext cx="3703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biometric login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54880" y="1060704"/>
            <a:ext cx="4160520" cy="329184"/>
          </a:xfrm>
          <a:prstGeom prst="rect">
            <a:avLst/>
          </a:prstGeom>
          <a:solidFill>
            <a:srgbClr val="243D8C"/>
          </a:solidFill>
          <a:ln w="12700">
            <a:solidFill>
              <a:srgbClr val="243D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1069848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Phase 2 — Future Enhancements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1435608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1435608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193792" y="14904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93792" y="1682496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alerts for prayer requests &amp; videos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54880" y="1947672"/>
            <a:ext cx="4160520" cy="45720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1947672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193792" y="20025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 / Forums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93792" y="219456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Multi-member channels by ministry team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54880" y="2459736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28032" y="2459736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193792" y="2514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193792" y="270662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support for 3+ languages with RTL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54880" y="2971800"/>
            <a:ext cx="4160520" cy="45720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28032" y="297180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193792" y="302666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193792" y="3218688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React portal for administrators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54880" y="3483864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28032" y="3483864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5193792" y="353872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Calendar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193792" y="3730752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RSVP-enabled church events with iCal export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54880" y="3995928"/>
            <a:ext cx="4160520" cy="45720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28032" y="3995928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5193792" y="40507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193792" y="4242816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engagement &amp; content metrics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Wireframes — Key Screens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4241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minimal design · Bottom navigation · 44pt touch targets · WCAG 2.1 AA contrast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47472" y="1316736"/>
            <a:ext cx="1481328" cy="3291840"/>
          </a:xfrm>
          <a:prstGeom prst="roundRect">
            <a:avLst>
              <a:gd name="adj" fmla="val 7407"/>
            </a:avLst>
          </a:prstGeom>
          <a:solidFill>
            <a:srgbClr val="1A1A2E"/>
          </a:solidFill>
          <a:ln w="25400">
            <a:solidFill>
              <a:srgbClr val="0A0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08176"/>
            <a:ext cx="1353312" cy="3108960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08176"/>
            <a:ext cx="530352" cy="109728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536192"/>
            <a:ext cx="1353312" cy="42062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9105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84632" y="206654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" y="243230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" y="279806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" y="316382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" y="352958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" y="389534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4151376"/>
            <a:ext cx="13533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5236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2748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" y="4133088"/>
            <a:ext cx="274320" cy="2286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4681728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Home Dashboard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084832" y="1316736"/>
            <a:ext cx="1481328" cy="3291840"/>
          </a:xfrm>
          <a:prstGeom prst="roundRect">
            <a:avLst>
              <a:gd name="adj" fmla="val 7407"/>
            </a:avLst>
          </a:prstGeom>
          <a:solidFill>
            <a:srgbClr val="1A1A2E"/>
          </a:solidFill>
          <a:ln w="25400">
            <a:solidFill>
              <a:srgbClr val="0A0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48840" y="1408176"/>
            <a:ext cx="1353312" cy="3108960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1408176"/>
            <a:ext cx="530352" cy="109728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48840" y="1536192"/>
            <a:ext cx="1353312" cy="420624"/>
          </a:xfrm>
          <a:prstGeom prst="rect">
            <a:avLst/>
          </a:prstGeom>
          <a:solidFill>
            <a:srgbClr val="243D8C"/>
          </a:solidFill>
          <a:ln w="12700">
            <a:solidFill>
              <a:srgbClr val="243D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48840" y="159105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Directory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2221992" y="206654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21992" y="243230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1992" y="279806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21992" y="316382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21992" y="352958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21992" y="389534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48840" y="4151376"/>
            <a:ext cx="13533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48840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482596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16352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150108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993392" y="4681728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Members Directory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822192" y="1316736"/>
            <a:ext cx="1481328" cy="3291840"/>
          </a:xfrm>
          <a:prstGeom prst="roundRect">
            <a:avLst>
              <a:gd name="adj" fmla="val 7407"/>
            </a:avLst>
          </a:prstGeom>
          <a:solidFill>
            <a:srgbClr val="1A1A2E"/>
          </a:solidFill>
          <a:ln w="25400">
            <a:solidFill>
              <a:srgbClr val="0A0A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86200" y="1408176"/>
            <a:ext cx="1353312" cy="3108960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97680" y="1408176"/>
            <a:ext cx="530352" cy="109728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86200" y="1536192"/>
            <a:ext cx="1353312" cy="420624"/>
          </a:xfrm>
          <a:prstGeom prst="rect">
            <a:avLst/>
          </a:prstGeom>
          <a:solidFill>
            <a:srgbClr val="28518A"/>
          </a:solidFill>
          <a:ln w="12700">
            <a:solidFill>
              <a:srgbClr val="2851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86200" y="159105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Detail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3959352" y="206654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59352" y="243230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59352" y="279806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59352" y="316382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959352" y="352958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59352" y="389534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86200" y="4151376"/>
            <a:ext cx="13533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86200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219956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53712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87468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730752" y="4681728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Member Detail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559552" y="1316736"/>
            <a:ext cx="1481328" cy="3291840"/>
          </a:xfrm>
          <a:prstGeom prst="roundRect">
            <a:avLst>
              <a:gd name="adj" fmla="val 7407"/>
            </a:avLst>
          </a:prstGeom>
          <a:solidFill>
            <a:srgbClr val="1A1A2E"/>
          </a:solidFill>
          <a:ln w="25400">
            <a:solidFill>
              <a:srgbClr val="0A0A1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23560" y="1408176"/>
            <a:ext cx="1353312" cy="3108960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35040" y="1408176"/>
            <a:ext cx="530352" cy="109728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623560" y="1536192"/>
            <a:ext cx="1353312" cy="420624"/>
          </a:xfrm>
          <a:prstGeom prst="rect">
            <a:avLst/>
          </a:prstGeom>
          <a:solidFill>
            <a:srgbClr val="1E6B5A"/>
          </a:solidFill>
          <a:ln w="12700">
            <a:solidFill>
              <a:srgbClr val="1E6B5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23560" y="159105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Requests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5696712" y="206654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696712" y="243230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96712" y="279806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696712" y="316382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696712" y="352958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696712" y="389534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623560" y="4151376"/>
            <a:ext cx="13533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23560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957316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291072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624828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468112" y="4681728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Prayer Requests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296912" y="1316736"/>
            <a:ext cx="1481328" cy="3291840"/>
          </a:xfrm>
          <a:prstGeom prst="roundRect">
            <a:avLst>
              <a:gd name="adj" fmla="val 7407"/>
            </a:avLst>
          </a:prstGeom>
          <a:solidFill>
            <a:srgbClr val="1A1A2E"/>
          </a:solidFill>
          <a:ln w="25400">
            <a:solidFill>
              <a:srgbClr val="0A0A1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360920" y="1408176"/>
            <a:ext cx="1353312" cy="3108960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772400" y="1408176"/>
            <a:ext cx="530352" cy="109728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360920" y="1536192"/>
            <a:ext cx="1353312" cy="420624"/>
          </a:xfrm>
          <a:prstGeom prst="rect">
            <a:avLst/>
          </a:prstGeom>
          <a:solidFill>
            <a:srgbClr val="4A3080"/>
          </a:solidFill>
          <a:ln w="12700">
            <a:solidFill>
              <a:srgbClr val="4A30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360920" y="159105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Library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7434072" y="206654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34072" y="243230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434072" y="279806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34072" y="316382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34072" y="352958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34072" y="3895344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360920" y="4151376"/>
            <a:ext cx="13533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60920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694676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8028432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8362188" y="4206240"/>
            <a:ext cx="3337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7205472" y="4681728"/>
            <a:ext cx="1664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Video Library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Final high-fidelity Figma designs delivered in Phase 1 (Week 2) for stakeholder sign-off before development begins.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60704"/>
            <a:ext cx="8458200" cy="8412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00100" y="1316736"/>
            <a:ext cx="2377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" y="1353312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iOS App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6676" y="1591056"/>
            <a:ext cx="2304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· iOS 14+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497580" y="1316736"/>
            <a:ext cx="2377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4156" y="1353312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Android App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34156" y="1591056"/>
            <a:ext cx="2304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· Android 10+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195060" y="1316736"/>
            <a:ext cx="2377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1636" y="1353312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Admin Web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31636" y="1591056"/>
            <a:ext cx="2304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· Phase 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06240" y="190195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0" y="1911096"/>
            <a:ext cx="11887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JWT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457200" y="2029968"/>
            <a:ext cx="8458200" cy="786384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066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&amp; AUTH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00100" y="228600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" y="2322576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AWS API Gateway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36676" y="2560320"/>
            <a:ext cx="2304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· SSL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497580" y="228600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4156" y="2322576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Firebase Auth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34156" y="2560320"/>
            <a:ext cx="2304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· JWT · Biometric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195060" y="228600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1636" y="2322576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Load Balancer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31636" y="2560320"/>
            <a:ext cx="2304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 · Auto-Scale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206240" y="281635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0" y="2825496"/>
            <a:ext cx="11887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JWT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457200" y="2944368"/>
            <a:ext cx="8458200" cy="786384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9809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— Node.js / Express (ECS Fargate)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25780" y="320040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" y="32369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Member Svc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17420" y="320040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53996" y="32369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Prayer Svc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909060" y="320040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5636" y="32369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Video Svc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00700" y="320040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37276" y="32369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Message Svc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92340" y="320040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28916" y="32369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Notify Svc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328916" y="347472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206240" y="373075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40480" y="3739896"/>
            <a:ext cx="11887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JWT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457200" y="3858768"/>
            <a:ext cx="8458200" cy="822960"/>
          </a:xfrm>
          <a:prstGeom prst="rect">
            <a:avLst/>
          </a:prstGeom>
          <a:solidFill>
            <a:srgbClr val="F5F3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38953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EXTERNAL SERVICES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25780" y="4114800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2356" y="41513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MongoDB Atlas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62356" y="438912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DB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217420" y="4114800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53996" y="41513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AWS S3 + CDN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253996" y="438912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Store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909060" y="4114800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45636" y="41513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Twilio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945636" y="438912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Chat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600700" y="4114800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37276" y="41513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Firebase FCM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637276" y="438912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Notifs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292340" y="4114800"/>
            <a:ext cx="1554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28916" y="41513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CloudWatch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328916" y="438912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60704"/>
            <a:ext cx="8458200" cy="310896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0881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26080" y="10881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10881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89888"/>
            <a:ext cx="8458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26464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94560" y="142646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0.74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17720" y="1426464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codebase iOS &amp; Android · 60fps · OTA updates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458200" cy="30175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728216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State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94560" y="17282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+ React Query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17720" y="172821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global state + server-state caching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993392"/>
            <a:ext cx="8458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02996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Backend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94560" y="202996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LTS + Express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17720" y="2029968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I/O · largest npm ecosystem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295144"/>
            <a:ext cx="8458200" cy="30175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331720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Database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194560" y="233172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7.x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17720" y="233172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model fits nested profiles &amp; notes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596896"/>
            <a:ext cx="8458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633472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194560" y="263347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JWT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17720" y="2633472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· social login · biometric · token validation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2898648"/>
            <a:ext cx="8458200" cy="30175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935224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Media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194560" y="293522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+ CloudFront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17720" y="2935224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Infinitely scalable · global CDN for video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200400"/>
            <a:ext cx="8458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236976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Comms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194560" y="32369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Voice &amp; Chat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17720" y="323697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 + messaging · no phone number sharing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3502152"/>
            <a:ext cx="8458200" cy="30175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53872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Infra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194560" y="353872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ECS Fargate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17720" y="3538728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containers · independent scaling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3803904"/>
            <a:ext cx="8458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840480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194560" y="384048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617720" y="384048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delivery iOS &amp; Android · topic targeting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4105656"/>
            <a:ext cx="8458200" cy="30175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142232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Testing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194560" y="414223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Detox + Supertest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617720" y="4142232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E2E mobile · API integration tests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" y="4407408"/>
            <a:ext cx="8458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4443984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CI/CD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194560" y="444398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+ EAS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617720" y="4443984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→ build → deploy pipeline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4709160"/>
            <a:ext cx="8458200" cy="301752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4745736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Monitor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194560" y="474573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+ Sentry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617720" y="474573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metrics + mobile crash reporting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MongoDB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26974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78992"/>
            <a:ext cx="2697480" cy="32918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2471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🗂  users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" y="1481328"/>
            <a:ext cx="2551176" cy="29260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508760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_id, name, email (unique)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30352" y="1810512"/>
            <a:ext cx="255117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37944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phone, role, profilePic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30352" y="2139696"/>
            <a:ext cx="2551176" cy="29260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2167128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groupId, firebaseUid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0352" y="2468880"/>
            <a:ext cx="255117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496312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isActive, createdAt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73552" y="1078992"/>
            <a:ext cx="26974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73552" y="1078992"/>
            <a:ext cx="2697480" cy="32918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112471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🗂  prayer_requests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46704" y="1481328"/>
            <a:ext cx="2551176" cy="29260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1508760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_id, userId (ref→users)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46704" y="1810512"/>
            <a:ext cx="255117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1837944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title, description, status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46704" y="2139696"/>
            <a:ext cx="2551176" cy="29260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2167128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isAnonymous, prayCount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346704" y="2468880"/>
            <a:ext cx="255117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2496312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responses[] { by, message, ts }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89904" y="1078992"/>
            <a:ext cx="26974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9904" y="1078992"/>
            <a:ext cx="2697480" cy="32918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81344" y="112471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🗂  videos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63056" y="1481328"/>
            <a:ext cx="2551176" cy="29260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508760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_id, title, description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163056" y="1810512"/>
            <a:ext cx="255117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837944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category, url, thumbnail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63056" y="2139696"/>
            <a:ext cx="2551176" cy="29260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2167128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uploadedBy (ref→users)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63056" y="2468880"/>
            <a:ext cx="255117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2496312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duration, views, uploadedAt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072384"/>
            <a:ext cx="41148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3072384"/>
            <a:ext cx="4114800" cy="32918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1181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🗂  member_history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0352" y="3474720"/>
            <a:ext cx="3968496" cy="292608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" y="3502152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_id, memberId (indexed)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30352" y="3803904"/>
            <a:ext cx="396849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5216" y="3831336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notes[] { text, type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30352" y="4133088"/>
            <a:ext cx="3968496" cy="292608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5216" y="4160520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(ref→users)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30352" y="4462272"/>
            <a:ext cx="396849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5216" y="4489704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 }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3072384"/>
            <a:ext cx="41148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3072384"/>
            <a:ext cx="4114800" cy="32918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1181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🗂  messages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28032" y="3474720"/>
            <a:ext cx="3968496" cy="29260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82896" y="3502152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_id, from (ref→users)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28032" y="3803904"/>
            <a:ext cx="396849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82896" y="3831336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(ref→users), type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828032" y="4133088"/>
            <a:ext cx="3968496" cy="29260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82896" y="4160520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content, status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828032" y="4462272"/>
            <a:ext cx="396849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82896" y="4489704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7200" y="4773168"/>
            <a:ext cx="8458200" cy="22860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478231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Indexes:  users.email (unique) · users.firebaseUid (unique) · prayer_requests.status · member_history.memberId · messages.to+from (compound)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· JSON responses · JWT Bearer auth required on all endpoints (except /auth/*) · Base: https://api.anm.org/v1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8458200" cy="27432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4416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80160" y="134416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0" y="134416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937760" y="134416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609344"/>
            <a:ext cx="8458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645920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645920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15568" y="16367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/auth/register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22192" y="1636776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19472" y="163677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member with Firebase UID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856232"/>
            <a:ext cx="8458200" cy="24688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92808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892808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15568" y="18836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/auth/login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22192" y="1883664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919472" y="188366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Firebase token for app JWT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103120"/>
            <a:ext cx="8458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139696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139696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15568" y="21305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/members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22192" y="2130552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919472" y="21305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members (paginated, searchable, filterable)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2350008"/>
            <a:ext cx="8458200" cy="24688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386584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386584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15568" y="23774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/members/:id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22192" y="237744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919472" y="23774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member profile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2596896"/>
            <a:ext cx="8458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2633472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633472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115568" y="26243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/members/:id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22192" y="262432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self/admin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919472" y="262432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member profile fields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2843784"/>
            <a:ext cx="8458200" cy="24688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2880360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2880360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115568" y="287121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/members/:id/history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822192" y="2871216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leader+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919472" y="28712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pastoral notes for a member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3090672"/>
            <a:ext cx="8458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" y="3127248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127248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115568" y="311810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/members/:id/history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822192" y="3118104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leader+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919472" y="311810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note to member history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3337560"/>
            <a:ext cx="8458200" cy="24688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2920" y="3374136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3374136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115568" y="33649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/prayer-requests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822192" y="3364992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919472" y="33649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prayer request feed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57200" y="3584448"/>
            <a:ext cx="8458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2920" y="3621024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3621024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115568" y="361188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/prayer-requests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822192" y="361188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919472" y="361188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prayer request (anon supported)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57200" y="3831336"/>
            <a:ext cx="8458200" cy="24688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2920" y="3867912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920" y="3867912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115568" y="385876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/prayer-requests/:id/pray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822192" y="385876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919472" y="385876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pray response &amp; increment count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57200" y="4078224"/>
            <a:ext cx="8458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02920" y="4114800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2920" y="4114800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115568" y="410565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/videos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3822192" y="4105656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4919472" y="41056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list with category filter &amp; pagination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57200" y="4325112"/>
            <a:ext cx="8458200" cy="24688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02920" y="4361688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2920" y="4361688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1115568" y="4352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/videos/:id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3822192" y="4352544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4919472" y="435254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details + signed CloudFront URL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57200" y="4572000"/>
            <a:ext cx="84582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02920" y="4608576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02920" y="4608576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1115568" y="45994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/messages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3822192" y="4599432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4919472" y="459943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direct message via Twilio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57200" y="4818888"/>
            <a:ext cx="8458200" cy="24688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02920" y="4855464"/>
            <a:ext cx="566928" cy="173736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02920" y="4855464"/>
            <a:ext cx="566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1115568" y="48463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/calls/token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3822192" y="484632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4919472" y="484632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Twilio Voice access token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structured phases · Weekly demos · UAT window before launch · Total: 8–10 weeks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1572768" cy="37307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16736"/>
            <a:ext cx="1572768" cy="768096"/>
          </a:xfrm>
          <a:prstGeom prst="rect">
            <a:avLst/>
          </a:prstGeom>
          <a:solidFill>
            <a:srgbClr val="1B2F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35024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Design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15798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Stakeholder workshops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Wireframes &amp; UI design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3054096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 schema sign-off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350215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contract doc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95020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 env setup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29968" y="2633472"/>
            <a:ext cx="118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48840" y="1316736"/>
            <a:ext cx="1572768" cy="37307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48840" y="1316736"/>
            <a:ext cx="1572768" cy="768096"/>
          </a:xfrm>
          <a:prstGeom prst="rect">
            <a:avLst/>
          </a:prstGeom>
          <a:solidFill>
            <a:srgbClr val="065F4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1335024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48840" y="153619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48840" y="1920240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40280" y="215798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 + onboarding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240280" y="260604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Member directory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240280" y="3054096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Member detail + history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40280" y="350215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Prayer requests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40280" y="395020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Video library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240280" y="439826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Messaging &amp; calling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21608" y="2633472"/>
            <a:ext cx="118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0" y="1316736"/>
            <a:ext cx="1572768" cy="373075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1316736"/>
            <a:ext cx="1572768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1335024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40480" y="153619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840480" y="1920240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931920" y="215798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 + integration tests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931920" y="260604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E2E Detox automation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931920" y="3054096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testing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931920" y="350215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audit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31920" y="395020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UAT with ANM team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931920" y="439826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Bug fixes &amp; polish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13248" y="2633472"/>
            <a:ext cx="118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32120" y="1316736"/>
            <a:ext cx="1572768" cy="3730752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32120" y="1316736"/>
            <a:ext cx="1572768" cy="768096"/>
          </a:xfrm>
          <a:prstGeom prst="rect">
            <a:avLst/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32120" y="1335024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532120" y="153619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32120" y="1920240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623560" y="215798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Store submission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23560" y="260604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Play submission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623560" y="3054096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prod deploy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23560" y="350215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CDN &amp; DNS config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623560" y="395020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Monitoring setup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623560" y="439826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🚀 Go-live!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104888" y="2633472"/>
            <a:ext cx="118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223760" y="1316736"/>
            <a:ext cx="1572768" cy="37307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23760" y="1316736"/>
            <a:ext cx="1572768" cy="768096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23760" y="1335024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05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223760" y="153619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Phase 2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223760" y="1920240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10+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315200" y="215798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30-day hypercare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315200" y="260604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monitoring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315200" y="3054096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Push notifications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315200" y="350215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 chat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315200" y="395020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dashboard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315200" y="439826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Multi-language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57200" y="4773168"/>
            <a:ext cx="8458200" cy="237744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479145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Key Milestone: Week 6 — Full MVP feature-complete   |   Week 8 — UAT signed off   |   Week 9 — 🚀 Live on App Store &amp; Google Play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424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lean, senior-heavy team structured to minimise communication overhead while maximising quality and speed.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33856" y="1481328"/>
            <a:ext cx="640080" cy="64008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243D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" y="149047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352" y="216712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450592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· Stakeholder comms · Risk tracking · Weekly reports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606040" y="1371600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82696" y="1481328"/>
            <a:ext cx="640080" cy="64008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243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82696" y="149047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79192" y="216712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79192" y="2450592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· Design system · Figma prototypes · Accessibility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31536" y="1481328"/>
            <a:ext cx="640080" cy="64008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243D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1536" y="149047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28032" y="216712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 ×2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8032" y="2450592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screens · Twilio SDK · Firebase Auth integration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903720" y="1371600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80376" y="1481328"/>
            <a:ext cx="640080" cy="64008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243D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0376" y="149047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76872" y="216712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76872" y="2450592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API · MongoDB · AWS ECS · S3 media pipeline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3154680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133856" y="3264408"/>
            <a:ext cx="640080" cy="64008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243D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3856" y="327355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0352" y="395020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" y="4233672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AWS infra · CloudWatch monitoring · Security hardening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606040" y="3154680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82696" y="3264408"/>
            <a:ext cx="640080" cy="64008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243D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2696" y="327355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679192" y="395020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679192" y="4233672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plans · Detox E2E · Performance benchmarks · UAT coordination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54880" y="3154680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31536" y="3264408"/>
            <a:ext cx="640080" cy="64008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243D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31536" y="327355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828032" y="395020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Consultant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28032" y="4233672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Mobile Top 10 · Penetration testing · Data privacy audit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903720" y="3154680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580376" y="3264408"/>
            <a:ext cx="640080" cy="640080"/>
          </a:xfrm>
          <a:prstGeom prst="ellipse">
            <a:avLst/>
          </a:prstGeom>
          <a:solidFill>
            <a:srgbClr val="1B2F6E"/>
          </a:solidFill>
          <a:ln w="12700">
            <a:solidFill>
              <a:srgbClr val="243D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0376" y="327355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976872" y="395020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76872" y="4233672"/>
            <a:ext cx="1847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oversight · Architecture decisions · Code review · Scalability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243584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252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🔬</a:t>
            </a:r>
            <a:endParaRPr lang="en-US" sz="864" dirty="0"/>
          </a:p>
        </p:txBody>
      </p:sp>
      <p:sp>
        <p:nvSpPr>
          <p:cNvPr id="8" name="Shape 6"/>
          <p:cNvSpPr/>
          <p:nvPr/>
        </p:nvSpPr>
        <p:spPr>
          <a:xfrm>
            <a:off x="1828800" y="1261872"/>
            <a:ext cx="1143000" cy="201168"/>
          </a:xfrm>
          <a:prstGeom prst="roundRect">
            <a:avLst>
              <a:gd name="adj" fmla="val 45455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271016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 code coverage on all service-layer business logic. Runs on every commit via GitHub Actions CI pipeline.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73552" y="10972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38144" y="1243584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14" name="Text 12"/>
          <p:cNvSpPr/>
          <p:nvPr/>
        </p:nvSpPr>
        <p:spPr>
          <a:xfrm>
            <a:off x="3438144" y="1252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🔗</a:t>
            </a:r>
            <a:endParaRPr lang="en-US" sz="864" dirty="0"/>
          </a:p>
        </p:txBody>
      </p:sp>
      <p:sp>
        <p:nvSpPr>
          <p:cNvPr id="15" name="Shape 13"/>
          <p:cNvSpPr/>
          <p:nvPr/>
        </p:nvSpPr>
        <p:spPr>
          <a:xfrm>
            <a:off x="4645152" y="1261872"/>
            <a:ext cx="1143000" cy="201168"/>
          </a:xfrm>
          <a:prstGeom prst="roundRect">
            <a:avLst>
              <a:gd name="adj" fmla="val 45455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1271016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Supertest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64992" y="1737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64992" y="201168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17 API endpoints tested against a seeded MongoDB test database with positive and negative scenarios.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89904" y="10972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54496" y="1243584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21" name="Text 19"/>
          <p:cNvSpPr/>
          <p:nvPr/>
        </p:nvSpPr>
        <p:spPr>
          <a:xfrm>
            <a:off x="6254496" y="1252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📲</a:t>
            </a:r>
            <a:endParaRPr lang="en-US" sz="864" dirty="0"/>
          </a:p>
        </p:txBody>
      </p:sp>
      <p:sp>
        <p:nvSpPr>
          <p:cNvPr id="22" name="Shape 20"/>
          <p:cNvSpPr/>
          <p:nvPr/>
        </p:nvSpPr>
        <p:spPr>
          <a:xfrm>
            <a:off x="7461504" y="1261872"/>
            <a:ext cx="1143000" cy="201168"/>
          </a:xfrm>
          <a:prstGeom prst="roundRect">
            <a:avLst>
              <a:gd name="adj" fmla="val 45455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61504" y="1271016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Detox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181344" y="1737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81344" y="201168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user journeys on iOS Simulator and Android Emulator: login → find member → call → submit prayer request.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980944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" y="3127248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31363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⚡</a:t>
            </a:r>
            <a:endParaRPr lang="en-US" sz="864" dirty="0"/>
          </a:p>
        </p:txBody>
      </p:sp>
      <p:sp>
        <p:nvSpPr>
          <p:cNvPr id="29" name="Shape 27"/>
          <p:cNvSpPr/>
          <p:nvPr/>
        </p:nvSpPr>
        <p:spPr>
          <a:xfrm>
            <a:off x="1828800" y="3145536"/>
            <a:ext cx="1143000" cy="201168"/>
          </a:xfrm>
          <a:prstGeom prst="roundRect">
            <a:avLst>
              <a:gd name="adj" fmla="val 45455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0" y="315468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48640" y="36210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389534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tests simulating 500 concurrent users. Video streaming benchmarked at &lt;2s initial load via CloudFront CDN.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73552" y="2980944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38144" y="3127248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35" name="Text 33"/>
          <p:cNvSpPr/>
          <p:nvPr/>
        </p:nvSpPr>
        <p:spPr>
          <a:xfrm>
            <a:off x="3438144" y="31363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♿</a:t>
            </a:r>
            <a:endParaRPr lang="en-US" sz="864" dirty="0"/>
          </a:p>
        </p:txBody>
      </p:sp>
      <p:sp>
        <p:nvSpPr>
          <p:cNvPr id="36" name="Shape 34"/>
          <p:cNvSpPr/>
          <p:nvPr/>
        </p:nvSpPr>
        <p:spPr>
          <a:xfrm>
            <a:off x="4645152" y="3145536"/>
            <a:ext cx="1143000" cy="201168"/>
          </a:xfrm>
          <a:prstGeom prst="roundRect">
            <a:avLst>
              <a:gd name="adj" fmla="val 45455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5152" y="315468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+ axe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64992" y="36210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Testing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64992" y="389534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 (iOS) and TalkBack (Android) audit. Colour contrast verified. WCAG 2.1 AA compliance target.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89904" y="2980944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54496" y="3127248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42" name="Text 40"/>
          <p:cNvSpPr/>
          <p:nvPr/>
        </p:nvSpPr>
        <p:spPr>
          <a:xfrm>
            <a:off x="6254496" y="31363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🛡️</a:t>
            </a:r>
            <a:endParaRPr lang="en-US" sz="864" dirty="0"/>
          </a:p>
        </p:txBody>
      </p:sp>
      <p:sp>
        <p:nvSpPr>
          <p:cNvPr id="43" name="Shape 41"/>
          <p:cNvSpPr/>
          <p:nvPr/>
        </p:nvSpPr>
        <p:spPr>
          <a:xfrm>
            <a:off x="7461504" y="3145536"/>
            <a:ext cx="1143000" cy="201168"/>
          </a:xfrm>
          <a:prstGeom prst="roundRect">
            <a:avLst>
              <a:gd name="adj" fmla="val 45455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61504" y="315468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181344" y="36210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81344" y="389534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Mobile Top 10 review. JWT expiry &amp; refresh validation. Full penetration test before go-live.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Pricing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4241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engagement models · Fixed-scope MVP · Full source code ownership transferred on final payment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2651760" cy="8229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179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weeks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432304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" y="281635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761488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Directory &amp; Detail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6928" y="314553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09067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Requests (basic)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6928" y="347472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419856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Library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928" y="380390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74904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6928" y="413308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4078224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builds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6928" y="446227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4407408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bug warranty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73552" y="1316736"/>
            <a:ext cx="2743200" cy="35844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73552" y="1316736"/>
            <a:ext cx="27432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73552" y="1371600"/>
            <a:ext cx="2743200" cy="82296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144475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Standard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73552" y="170078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$19,500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273552" y="2048256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weeks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383280" y="239572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2340864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83280" y="27249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2670048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Messaging (Twilio)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83280" y="305409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0" y="2999232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 Calling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83280" y="338328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0" y="332841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History &amp; Notes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383280" y="371246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3657600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+ CloudFront media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83280" y="404164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6160" y="3986784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83280" y="437083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6160" y="4315968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hypercare support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89904" y="14630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89904" y="1463040"/>
            <a:ext cx="2651760" cy="8229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89904" y="15179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089904" y="177393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$32,000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6089904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14 weeks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199632" y="248716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2432304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Standard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99632" y="281635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2512" y="2761488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(FCM)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99632" y="314553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82512" y="309067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 / Forums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199632" y="347472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82512" y="3419856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(3 langs)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199632" y="380390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82512" y="374904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Admin Dashboard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199632" y="413308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82512" y="4078224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Calendar + RSVP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199632" y="446227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82512" y="4407408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support SLA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57200" y="4773168"/>
            <a:ext cx="8458200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478688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Estimated Cloud Infra (AWS): ~$137–200/month  |  MongoDB Atlas $57 · ECS Fargate $35 · S3+CDN $25 · Twilio $20 · Firebase FCM free (&lt; 10K MAU)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60704"/>
            <a:ext cx="8458200" cy="27432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881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17520" y="10881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0" y="10881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10881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353312"/>
            <a:ext cx="8458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1732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Rejection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17520" y="1499616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508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005072" y="1499616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05072" y="1508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74336" y="14081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adherence to Apple/Google guidelines · TestFlight UAT · 1-week buffer in timeline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938528"/>
            <a:ext cx="8458200" cy="56692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00253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17520" y="2084832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209397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005072" y="2084832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05072" y="209397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974336" y="19933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scope doc · Formal change request process · Phase 2 backlog established upfront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523744"/>
            <a:ext cx="8458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58775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API Downtime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17520" y="2670048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267919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005072" y="2670048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05072" y="267919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974336" y="25786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&amp; Firebase have 99.95%+ SLAs · App remains usable (members, videos, prayer) during outage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108960"/>
            <a:ext cx="8458200" cy="56692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17296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/ GDPR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17520" y="3255264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0" y="32644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005072" y="3255264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05072" y="32644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74336" y="31638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 at onboarding · AES-256 at rest · TLS 1.3 in transit · Soft-delete on request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694176"/>
            <a:ext cx="8458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75818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User Adoption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017520" y="3840480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384962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005072" y="3840480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05072" y="384962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74336" y="3749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20-member UAT pilot · Leadership champions programme · Simple 3-step onboarding · Anonymous prayer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4279392"/>
            <a:ext cx="8458200" cy="566928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3434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Under Load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017520" y="4425696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0" y="44348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005072" y="4425696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05072" y="44348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974336" y="433425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auto-scaling · CloudFront CDN offloads video · k6 load test to 500 concurrent users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61872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710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🏆</a:t>
            </a:r>
            <a:endParaRPr lang="en-US" sz="864" dirty="0"/>
          </a:p>
        </p:txBody>
      </p:sp>
      <p:sp>
        <p:nvSpPr>
          <p:cNvPr id="9" name="Text 7"/>
          <p:cNvSpPr/>
          <p:nvPr/>
        </p:nvSpPr>
        <p:spPr>
          <a:xfrm>
            <a:off x="548640" y="17739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App Experience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04825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delivered faith-based apps for 500–5,000 member organisations. We know what makes community platforms succeed.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73552" y="1097280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1097280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6432" y="1261872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12710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🤝</a:t>
            </a:r>
            <a:endParaRPr lang="en-US" sz="864" dirty="0"/>
          </a:p>
        </p:txBody>
      </p:sp>
      <p:sp>
        <p:nvSpPr>
          <p:cNvPr id="15" name="Text 13"/>
          <p:cNvSpPr/>
          <p:nvPr/>
        </p:nvSpPr>
        <p:spPr>
          <a:xfrm>
            <a:off x="3364992" y="17739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Partnership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64992" y="204825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demos = you see real progress every 7 days. No surprises at delivery. Your stakeholders stay aligned throughout.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89904" y="1097280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9904" y="1097280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1261872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20" name="Text 18"/>
          <p:cNvSpPr/>
          <p:nvPr/>
        </p:nvSpPr>
        <p:spPr>
          <a:xfrm>
            <a:off x="6272784" y="12710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📐</a:t>
            </a:r>
            <a:endParaRPr lang="en-US" sz="864" dirty="0"/>
          </a:p>
        </p:txBody>
      </p:sp>
      <p:sp>
        <p:nvSpPr>
          <p:cNvPr id="21" name="Text 19"/>
          <p:cNvSpPr/>
          <p:nvPr/>
        </p:nvSpPr>
        <p:spPr>
          <a:xfrm>
            <a:off x="6181344" y="17739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Accessibility-First Design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1344" y="204825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expertise designing for all age groups. A 65-year-old and a 25-year-old will both feel at home in the ANM App.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2980944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980944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145536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154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🔓</a:t>
            </a:r>
            <a:endParaRPr lang="en-US" sz="864" dirty="0"/>
          </a:p>
        </p:txBody>
      </p:sp>
      <p:sp>
        <p:nvSpPr>
          <p:cNvPr id="27" name="Text 25"/>
          <p:cNvSpPr/>
          <p:nvPr/>
        </p:nvSpPr>
        <p:spPr>
          <a:xfrm>
            <a:off x="548640" y="3657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 Ownership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93192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everything. Code, databases, and AWS infra transferred on final payment. No vendor lock-in, ever.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73552" y="2980944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73552" y="2980944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56432" y="3145536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32" name="Text 30"/>
          <p:cNvSpPr/>
          <p:nvPr/>
        </p:nvSpPr>
        <p:spPr>
          <a:xfrm>
            <a:off x="3456432" y="3154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🚀</a:t>
            </a:r>
            <a:endParaRPr lang="en-US" sz="864" dirty="0"/>
          </a:p>
        </p:txBody>
      </p:sp>
      <p:sp>
        <p:nvSpPr>
          <p:cNvPr id="33" name="Text 31"/>
          <p:cNvSpPr/>
          <p:nvPr/>
        </p:nvSpPr>
        <p:spPr>
          <a:xfrm>
            <a:off x="3364992" y="3657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Tech Stack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64992" y="393192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and Node.js power apps used by hundreds of millions daily. Large talent pools for future team growth.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89904" y="2980944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9904" y="2980944"/>
            <a:ext cx="26517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72784" y="3145536"/>
            <a:ext cx="438912" cy="438912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38" name="Text 36"/>
          <p:cNvSpPr/>
          <p:nvPr/>
        </p:nvSpPr>
        <p:spPr>
          <a:xfrm>
            <a:off x="6272784" y="3154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4" dirty="0">
                <a:solidFill>
                  <a:srgbClr val="000000"/>
                </a:solidFill>
              </a:rPr>
              <a:t>💡</a:t>
            </a:r>
            <a:endParaRPr lang="en-US" sz="864" dirty="0"/>
          </a:p>
        </p:txBody>
      </p:sp>
      <p:sp>
        <p:nvSpPr>
          <p:cNvPr id="39" name="Text 37"/>
          <p:cNvSpPr/>
          <p:nvPr/>
        </p:nvSpPr>
        <p:spPr>
          <a:xfrm>
            <a:off x="6181344" y="3657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Recommendations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81344" y="393192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flag better approaches and cost-saving tweaks as we build. Your success is our portfolio and our reference.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243D8C">
              <a:alpha val="30000"/>
            </a:srgbClr>
          </a:solidFill>
          <a:ln w="12700">
            <a:solidFill>
              <a:srgbClr val="243D8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solidFill>
            <a:srgbClr val="243D8C">
              <a:alpha val="25000"/>
            </a:srgbClr>
          </a:solidFill>
          <a:ln w="12700">
            <a:solidFill>
              <a:srgbClr val="243D8C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 Something Meaningful Together?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566160" y="1737360"/>
            <a:ext cx="20116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fully committed to delivering an ANM Community App that members will genuinely love — secure, accessible, and built on technology that scales with your community's vision.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697480"/>
            <a:ext cx="2514600" cy="10058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76148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6928" y="30906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Discovery Call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338328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call with ANM leadership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91840" y="2697480"/>
            <a:ext cx="251460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76148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91840" y="30906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91840" y="338328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hello@yourstudio.com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16752" y="2697480"/>
            <a:ext cx="251460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6752" y="276148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16752" y="30906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&amp; Get Started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16752" y="338328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deposit to kick off Week 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20116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050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8–10 Weeks to Launch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78608" y="3977640"/>
            <a:ext cx="20116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78608" y="40050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iOS + Android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0016" y="3977640"/>
            <a:ext cx="20116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40050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Source Code Ownership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21424" y="3977640"/>
            <a:ext cx="20116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21424" y="40050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99.9% Uptime SLA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9" name="Text 27"/>
          <p:cNvSpPr/>
          <p:nvPr/>
        </p:nvSpPr>
        <p:spPr>
          <a:xfrm>
            <a:off x="0" y="4992624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ANM Organisation  ·  June 2025  ·  Private &amp;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ANM Community App — Proposal</dc:title>
  <dc:subject>PptxGenJS Presentation</dc:subject>
  <dc:creator>Solution Development Team</dc:creator>
  <cp:lastModifiedBy>Solution Development Team</cp:lastModifiedBy>
  <cp:revision>1</cp:revision>
  <dcterms:created xsi:type="dcterms:W3CDTF">2026-06-14T01:39:42Z</dcterms:created>
  <dcterms:modified xsi:type="dcterms:W3CDTF">2026-06-14T01:39:42Z</dcterms:modified>
</cp:coreProperties>
</file>