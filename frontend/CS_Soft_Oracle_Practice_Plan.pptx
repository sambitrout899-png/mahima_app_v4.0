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 Lakhs)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M15</c:v>
                  </c:pt>
                  <c:pt idx="13">
                    <c:v>M18</c:v>
                  </c:pt>
                  <c:pt idx="14">
                    <c:v>M21</c:v>
                  </c:pt>
                  <c:pt idx="15">
                    <c:v>M24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8</c:v>
                </c:pt>
                <c:pt idx="3">
                  <c:v>18</c:v>
                </c:pt>
                <c:pt idx="4">
                  <c:v>25</c:v>
                </c:pt>
                <c:pt idx="5">
                  <c:v>32</c:v>
                </c:pt>
                <c:pt idx="6">
                  <c:v>40</c:v>
                </c:pt>
                <c:pt idx="7">
                  <c:v>48</c:v>
                </c:pt>
                <c:pt idx="8">
                  <c:v>55</c:v>
                </c:pt>
                <c:pt idx="9">
                  <c:v>62</c:v>
                </c:pt>
                <c:pt idx="10">
                  <c:v>70</c:v>
                </c:pt>
                <c:pt idx="11">
                  <c:v>82</c:v>
                </c:pt>
                <c:pt idx="12">
                  <c:v>100</c:v>
                </c:pt>
                <c:pt idx="13">
                  <c:v>120</c:v>
                </c:pt>
                <c:pt idx="14">
                  <c:v>140</c:v>
                </c:pt>
                <c:pt idx="15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C74634"/>
            </a:solidFill>
            <a:ln w="38100" cap="flat">
              <a:solidFill>
                <a:srgbClr val="C746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4634"/>
              </a:solidFill>
              <a:ln w="9525" cap="flat">
                <a:solidFill>
                  <a:srgbClr val="C746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M15</c:v>
                  </c:pt>
                  <c:pt idx="13">
                    <c:v>M18</c:v>
                  </c:pt>
                  <c:pt idx="14">
                    <c:v>M21</c:v>
                  </c:pt>
                  <c:pt idx="15">
                    <c:v>M24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18</c:v>
                </c:pt>
                <c:pt idx="12">
                  <c:v>22</c:v>
                </c:pt>
                <c:pt idx="13">
                  <c:v>26</c:v>
                </c:pt>
                <c:pt idx="14">
                  <c:v>30</c:v>
                </c:pt>
                <c:pt idx="15">
                  <c:v>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tTriangle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 Solutions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Practice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84048" y="19933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84048" y="2788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Implementation  ·  Lateral Hire Strategy  ·  Sub-vendor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3383280"/>
            <a:ext cx="2468880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383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 25%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3383280"/>
            <a:ext cx="2468880" cy="29260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3383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 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79008" y="3383280"/>
            <a:ext cx="2468880" cy="29260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3383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· UIM · ASAP  35%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60 Seconds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202996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8046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₹2,400 Cr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2608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services addressable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 India (2025–26)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749808"/>
            <a:ext cx="202996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046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Indian telcos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for billing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45152" y="749808"/>
            <a:ext cx="202996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8046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45152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Siebel extended support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revenue tail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21424" y="749808"/>
            <a:ext cx="202996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8046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21424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BRM + OSS consultants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India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267712"/>
            <a:ext cx="4160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3774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 Soft Solutions — Right Now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743200"/>
            <a:ext cx="37947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telecom sector is undergoing its largest-ever BSS/OSS transformation — 5G rollout, spectrum auctions, BRM 12.x migration wave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SIs (TCS, Wipro, Infosys) have Oracle CoEs but are chronically short on niche BRM/OSM/UIM talent — creating a ready sub-vendor opportunity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 still runs in 60%+ of large enterprises; scarce talent commands 30–40% premium over general CRM rates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is actively pushing RODOD partners for last-mile delivery — timing is ideal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90872" y="2267712"/>
            <a:ext cx="416052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23774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Soft Advantage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2743200"/>
            <a:ext cx="37947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structure = faster hiring, higher offer competitiveness vs large 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 politics — lateral hires go directly billable within 30–60 days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model = revenue in Month 3–4, before direct relationships mature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3 high-value stacks only — avoid commodity Oracle 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 for hires = attract talent from stagnant SI environments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73752" y="2743200"/>
            <a:ext cx="37947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structure = faster hiring, higher offer competitiveness vs large 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 politics — lateral hires go directly billable within 30–60 days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model = revenue in Month 3–4, before direct relationships mature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3 high-value stacks only — avoid commodity Oracle 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 for hires = attract talent from stagnant SI environments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2743200"/>
            <a:ext cx="37947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structure — faster hiring, higher offer vs large SIs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 politics — lateral hires go directly billable in 30–60 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model — revenue in Month 3–4, before direct matures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3 high-value stacks — avoid commodity Oracle work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 for hires = attract talent from SI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Oracle Ecosystem — Market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029968" cy="329184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52144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· Airtel · Vi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BSNL · Tata Comm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Global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1847088" cy="274320"/>
          </a:xfrm>
          <a:prstGeom prst="rect">
            <a:avLst/>
          </a:prstGeom>
          <a:solidFill>
            <a:srgbClr val="E8ED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848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UIM · ASAP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749808"/>
            <a:ext cx="2029968" cy="32918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498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078992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152144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· ICICI · SBI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· Axis · LIC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PNB · NABARD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42032" y="2084832"/>
            <a:ext cx="1847088" cy="274320"/>
          </a:xfrm>
          <a:prstGeom prst="rect">
            <a:avLst/>
          </a:prstGeom>
          <a:solidFill>
            <a:srgbClr val="E8ED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0848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 · BRM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749808"/>
            <a:ext cx="2029968" cy="329184"/>
          </a:xfrm>
          <a:prstGeom prst="rect">
            <a:avLst/>
          </a:prstGeom>
          <a:solidFill>
            <a:srgbClr val="8A4A1A"/>
          </a:solidFill>
          <a:ln w="12700">
            <a:solidFill>
              <a:srgbClr val="8A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7498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/ PSU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078992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1152144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· ONGC · IOC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PowerGrid · Adani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DISCOMs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18304" y="2084832"/>
            <a:ext cx="1847088" cy="274320"/>
          </a:xfrm>
          <a:prstGeom prst="rect">
            <a:avLst/>
          </a:prstGeom>
          <a:solidFill>
            <a:srgbClr val="E8ED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0848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· OSS Suite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749808"/>
            <a:ext cx="2029968" cy="329184"/>
          </a:xfrm>
          <a:prstGeom prst="rect">
            <a:avLst/>
          </a:prstGeom>
          <a:solidFill>
            <a:srgbClr val="5A1A8A"/>
          </a:solidFill>
          <a:ln w="12700">
            <a:solidFill>
              <a:srgbClr val="5A1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7498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Govt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3136" y="1078992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12864" y="1152144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· UIDAI · IRCTC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PSUs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Manufacturers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94576" y="2084832"/>
            <a:ext cx="1847088" cy="274320"/>
          </a:xfrm>
          <a:prstGeom prst="rect">
            <a:avLst/>
          </a:prstGeom>
          <a:solidFill>
            <a:srgbClr val="E8ED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20848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 · ASAP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578608"/>
            <a:ext cx="8595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688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Delivering Oracle Services Today — and Where CS Soft Fits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035808"/>
            <a:ext cx="1536192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358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31012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vendor to Airtel, BSNL, HDFC.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Alliance CoE in Siruseri &amp; Pune.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short on BRM/OSM/ASAP talent.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4645152"/>
            <a:ext cx="1536192" cy="201168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4515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SUB-VENDOR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93976" y="3035808"/>
            <a:ext cx="1536192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3976" y="30358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93976" y="331012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Comms practice, key BRM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at Vi, Tata Comm.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sub-vendor intake.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93976" y="4645152"/>
            <a:ext cx="1536192" cy="201168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3976" y="464515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SUB-VENDOR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76472" y="3035808"/>
            <a:ext cx="1536192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6472" y="30358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76472" y="331012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CoE, Telco vertical.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Siebel footprint in BFSI.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 during project spikes.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76472" y="4645152"/>
            <a:ext cx="1536192" cy="201168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76472" y="464515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SUB-VENDOR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58968" y="3035808"/>
            <a:ext cx="1536192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8968" y="30358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58968" y="331012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telco BSS/OSS relationships.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OSM/UIM projects via Comviva + Oracle.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boutique sub-vendors.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58968" y="4645152"/>
            <a:ext cx="1536192" cy="201168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58968" y="464515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SUB-VENDOR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41464" y="3035808"/>
            <a:ext cx="1536192" cy="23774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41464" y="30358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Direct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41464" y="331012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India staffs its own projects.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via RODOD partners.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via OPN program.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41464" y="4645152"/>
            <a:ext cx="1536192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41464" y="464515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CHANNEL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Five Market Tailwinds Driving Urgent Demand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841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Rollout → OSS Modernization Surge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133856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Jio, Airtel and BSNL are mid-roll of the largest 5G infrastructure build in India's history. This directly mandates OSM (order orchestration), UIM (network inventory) and ASAP (activation) upgrades. Projects valued at ₹300-600 Cr are live or in procurement NOW.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7498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49808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0952" y="841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Migration Wave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30952" y="1133856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announced end-of-primary support for BRM 7.x/11.x. India's Tier-1 telcos must migrate to BRM 12.x by 2027 — Airtel and Vi projects already funded. Each migration engagement is 18-36 months, ₹15-80 Cr — ideal long-duration staffing play.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11680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67712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Support Extended to 2033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95728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to fears, Oracle extended Siebel Premier Support to 2033. 60%+ of large Indian enterprises (banking, insurance, PSUs) still run Siebel 8.x. Projects: Innovation Pack upgrades, Siebel → Fusion CX migration roadmaps, performance tuning. Long tail.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11680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67712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30952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Talent Gap = Premium Rates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0952" y="2395728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~800 senior BRM/OSM/UIM/ASAP consultants actively available in India. Demand far exceeds supply. Bill rates for senior BRM architects have risen 22% YoY. CS Soft can command ₹4,000-6,000/hr for the right profiles — margins of 30-40% are routine.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2735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273552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29584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RODOD Program Actively Pushing Partners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657600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India's Alliance team actively funnels deals to certified RODOD partners. OPN Silver (free) registration unlocks deal registration, partner pricing and co-sell motions. CS Soft's niche focus is exactly what Oracle needs — boutique delivery partners, not more large SIs.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73552"/>
            <a:ext cx="438912" cy="1143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529584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364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RODOD Program Actively Pushing Partners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3657600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India's Alliance team actively funnels deals to certified RODOD partners. OPN Silver (free) registration unlocks deal registration, partner pricing and co-sell motions. CS Soft's niche focus is exactly what Oracle needs — boutique delivery partners, not more large SIs.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Technology Focus — Deliberate Depth Over Breadth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43200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2560320" cy="237744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197510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demand · Largest projects · Best rates · India telco is #1 BRM market globally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Core Engine · Billing Pipeline · ECE (Elastic Charging Engine) · Mediation · Self-Care · BRM-OCS Integration · Pipeline Manager · BRM Cloud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· Airtel · Vi · BSNL · Tata Comm · Vodafone Global · Regional ISPs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2560320" cy="29260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684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RATE: ₹2,500 – ₹5,500/hr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72968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749808"/>
            <a:ext cx="2743200" cy="41148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7498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OSS Suite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72968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172968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64408" y="1975104"/>
            <a:ext cx="2560320" cy="237744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197510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48456" y="197510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tailwind · Scarcest talent = highest rates · Long-duration programs · Natural BRM complement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64408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64408" y="250545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(Order &amp; Service Mgmt) · UIM (Unified Inventory Mgmt) · ASAP (Activation) · OCSM · MSO · Network Design &amp;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4408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64408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· Airtel · BSNL · Tech Mahindra · Oracle Direct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64408" y="3968496"/>
            <a:ext cx="2560320" cy="29260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9684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RATE: ₹3,000 – ₹6,000/hr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71616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749808"/>
            <a:ext cx="274320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7498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Siebel CRM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71616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6071616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1975104"/>
            <a:ext cx="2560320" cy="237744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197510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47104" y="197510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widespread · Extended to 2033 · Migration projects · Scarce architect talent = premium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63056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63056" y="250545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8.x/IP19/IP20 · Siebel Open UI · EIM/EAI · Siebel CTI · Siebel Analytics · Fusion CX Migration Roadmap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63056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63056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· ICICI · SBI · Kotak · LIC · State Bank Subsidiaries · Govt PSUs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63056" y="3968496"/>
            <a:ext cx="2560320" cy="29260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39684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RATE: ₹2,000 – ₹4,500/hr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Launch Model — 4 Phases, 24 Months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943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₹10 Cr revenue run-rate in 24 months via a deliberate hire-deploy-scale flywheel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029968" cy="3840480"/>
          </a:xfrm>
          <a:prstGeom prst="rect">
            <a:avLst/>
          </a:prstGeom>
          <a:solidFill>
            <a:srgbClr val="1E3060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7899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56032" y="16642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20116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 –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2322576"/>
            <a:ext cx="1664208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4231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032" y="2633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hires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309067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3291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" y="3840480"/>
            <a:ext cx="1847088" cy="237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84048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&amp;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32304" y="1005840"/>
            <a:ext cx="2029968" cy="3840480"/>
          </a:xfrm>
          <a:prstGeom prst="rect">
            <a:avLst/>
          </a:prstGeom>
          <a:solidFill>
            <a:srgbClr val="1E3060"/>
          </a:solidFill>
          <a:ln w="25400">
            <a:solidFill>
              <a:srgbClr val="2C9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07899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432304" y="16642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32304" y="20116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–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15184" y="2322576"/>
            <a:ext cx="1664208" cy="18288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4231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32304" y="2633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total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23744" y="309067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32304" y="3291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₹15–30L/mo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523744" y="3840480"/>
            <a:ext cx="1847088" cy="237744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384048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Deployed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08576" y="1005840"/>
            <a:ext cx="2029968" cy="3840480"/>
          </a:xfrm>
          <a:prstGeom prst="rect">
            <a:avLst/>
          </a:prstGeom>
          <a:solidFill>
            <a:srgbClr val="1E3060"/>
          </a:solidFill>
          <a:ln w="25400">
            <a:solidFill>
              <a:srgbClr val="2C7B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107899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608576" y="16642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8576" y="20116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– 18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91456" y="2322576"/>
            <a:ext cx="1664208" cy="1828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4231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8576" y="2633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total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00016" y="309067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08576" y="3291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₹50–90L/mo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00016" y="3840480"/>
            <a:ext cx="1847088" cy="237744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84048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Sub-vnd + Direct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1005840"/>
            <a:ext cx="2029968" cy="3840480"/>
          </a:xfrm>
          <a:prstGeom prst="rect">
            <a:avLst/>
          </a:prstGeom>
          <a:solidFill>
            <a:srgbClr val="1E3060"/>
          </a:solidFill>
          <a:ln w="25400">
            <a:solidFill>
              <a:srgbClr val="C746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107899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6784848" y="16642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84848" y="20116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 – 24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67728" y="2322576"/>
            <a:ext cx="1664208" cy="1828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4231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84848" y="2633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total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76288" y="309067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84848" y="3291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Cr+/mo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876288" y="3840480"/>
            <a:ext cx="1847088" cy="23774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384048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+ Project Mode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0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462272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638544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Foundation: Month 0 to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5303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607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First Hires — The Founding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538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Head / Delivery Manager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14538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1453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₹50–70 LPA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1907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client relationships + sub-vendor connects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057400"/>
            <a:ext cx="50840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93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Architect / Technical Lead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08960" y="20939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20939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₹35–48 LPA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12.x, ECE, Pipeline — the revenue engine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697480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34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Senior Developer (×2)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7340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yr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734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₹20–30 LPA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992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Day 1 via sub-vendor; 2 gives redundancy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3337560"/>
            <a:ext cx="50840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741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Architect / Senior Consultant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08960" y="33741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3374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₹28–40 LPA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6393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BFSI + PSU demand; support &amp; upgrade deals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977640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14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OSM/UIM/ASAP Lead Consultant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08960" y="40142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yr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03320" y="4014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₹32–45 LPA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2793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skill — commands highest bill 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969264"/>
            <a:ext cx="2999232" cy="3913632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106070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0-3 Actions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1408176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14081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45936" y="1408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Oracle Partner Network (OPN) Silver — free, unlocks deal reg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0" y="1755648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175564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45936" y="1755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Oracle India Alliance Manager (via OPN portal)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2103120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10312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45936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JDs — LinkedIn Recruiter + Naukri Premium + referral network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0" y="2450592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2450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45936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3–4 Tier-2 sub-vendor partners (Rapsys, Mastech, Evosys)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43600" y="2798064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79806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45936" y="2798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round interviews; shortlist 5–6 candidates per role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0" y="3145536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1455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45936" y="31455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first 2 offers; sign sub-vendor NDA / MSA with 2 primes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0" y="3493008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34930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345936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4–5 hires; create CV bank + rate cards for sub-vendor subs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43600" y="3840480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38404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45936" y="3840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TCS Vendor Portal + Wipro Vendor Management System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43600" y="4187952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0" y="418795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3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345936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profiles to 3 open sub-vendor requirements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43600" y="4535424"/>
            <a:ext cx="3474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45354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45936" y="4535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OPN Cloud learning paths (free) for partner certifications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Phase 1 Investment: ₹55–80 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First Revenue via Sub-vendor Deployment: Month 3–6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60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Sub-vendor Revenue Machine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1371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Resource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10512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66544" y="1371600"/>
            <a:ext cx="1371600" cy="65836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38144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94176" y="1371600"/>
            <a:ext cx="1371600" cy="6583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(TCS/Wipro/Infosys)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65776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1808" y="1371600"/>
            <a:ext cx="1371600" cy="65836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93408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1371600" cy="6583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716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Client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(Jio/Airtel/HDFC)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78608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6883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Margin Model (per resource)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3977640" cy="292608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 to Prime SI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 / hr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337560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55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(8hr × 22 days)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4612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6.16 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3977640" cy="292608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675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CTC (e.g. BRM Sr Dev ₹25L)  →  monthly cost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2.08 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995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+ 40% overhead (benefits, infra)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6120" y="39959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0.83 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3977640" cy="292608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resource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46120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2.91 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3977640" cy="292608"/>
          </a:xfrm>
          <a:prstGeom prst="rect">
            <a:avLst/>
          </a:prstGeom>
          <a:solidFill>
            <a:srgbClr val="E6F4EE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636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resource/month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4636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3.25 L  (53%)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90872" y="2578608"/>
            <a:ext cx="416052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73752" y="26883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Revenue Targets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82312" y="3017520"/>
            <a:ext cx="3977640" cy="402336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5409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30540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deployed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86600" y="30540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82312" y="3493008"/>
            <a:ext cx="3977640" cy="402336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5295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60720" y="35295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86600" y="35295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₹18–22 L/mo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82312" y="3968496"/>
            <a:ext cx="3977640" cy="402336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00507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60720" y="40050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deployed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86600" y="40050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₹22–28 L/mo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82312" y="4443984"/>
            <a:ext cx="3977640" cy="402336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4805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60720" y="44805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deployed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86600" y="44805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₹28–35 L/mo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82312" y="46634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additional 2–3 people in parallel to fuel Phase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Hire Strategy — Where &amp; How to Poach the Best Talent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760781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Talent Pools to Target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115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Alliance / Telecom CoE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Siruseri, Pune, Hyderabad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LinkedIn 'Oracle BRM TCS', 'Siebel TCS'. Reach out directly. TCS bonuses are mediocre — 15% premium usually converts.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11556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24528" y="1115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Communications Practice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Bangalore, Pune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664208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'BRM Wipro', 'OSM UIM Wipro' on LinkedIn. Wipro bench consultants especially receptive — they get paid 50% on bench.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111556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23176" y="1115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CoE / BFS Oracle Practice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3056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Pune, Bangalore, Mysore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63056" y="1664208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Oracle CoE has ~200 BRM/Siebel people. Search Naukri 'Oracle BRM Infosys notice period 30 days'.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0175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BSS/OSS Telco Practice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346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Pune, Hyderabad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OSM/UIM/ASAP pool. Bench periods common. TechM Oracle Comms unit is a goldmine for OSS skills.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72968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3017520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72968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India Direct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24528" y="30175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/ Oracle Consulting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64408" y="3346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Bengaluru, Hyderabad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64408" y="3566160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Ex-Oracle employees are gold — they know the product roadmap. Search 'Oracle ACS BRM', 'Oracle Consulting Siebel'.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71616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71616" y="3017520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Firms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23176" y="30175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Mastech, Hexaware, Coltivare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63056" y="3346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Pan-India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63056" y="3566160"/>
            <a:ext cx="2560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Oracle shops have well-trained staff looking for growth. Approach with equity / senior role as growth path.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828032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One great BRM Architect hire usually knows 4–5 more — ask for referrals from Day 1. Referral bonus of ₹50,000 accelerates this.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Profiles, Compensation Benchmarks &amp; Bill Rates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4224528"/>
        </p:xfrm>
        <a:graphic>
          <a:graphicData uri="http://schemas.openxmlformats.org/drawingml/2006/table">
            <a:tbl>
              <a:tblPr/>
              <a:tblGrid>
                <a:gridCol w="2286000"/>
                <a:gridCol w="658368"/>
                <a:gridCol w="1170432"/>
                <a:gridCol w="1097280"/>
                <a:gridCol w="1234440"/>
                <a:gridCol w="1280160"/>
                <a:gridCol w="868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CTC (LPA)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CTC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Rate (/hr)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Billing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Architect (Lead)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10–14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38–48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40–55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4,500–5,500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7.9–9.7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42–48%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Senior Dev / Consultant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22–32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25–38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3,000–4,000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5.3–7.0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Developer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12–18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14–22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1,800–2,500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3.2–4.4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Architect /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32–45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35–50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4,000–5,000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7.0–8.8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Senior Consultant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18–26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20–30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2,500–3,500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4.4–6.2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/ UIM Architect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38–52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40–58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5,000–6,500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8.8–11.4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ASAP / OSM Senior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24–35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28–40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3,500–4,500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6.2–7.9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Head (Oracle)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55–75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60–85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Non-billable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CTC = current market rate (what others pay). CS Soft to offer 'Target CTC' = competitive enough to attract without overpaying. Monthly billing assumes 8hr/day × 22 working days.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&amp; Deployment Partner Ecosystem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097280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Prime Vendors (Sub-contract target)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86868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25296" y="11704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Siebel · OSM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25296" y="1389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Register on TCS Vendor Portal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(supplier.tcs.com); needs GST + MSME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33088" y="11704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projects: Airtel BRM · BSNL Siebel · HDFC CRM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62672" y="1243584"/>
            <a:ext cx="111556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12435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648"/>
            <a:ext cx="8595360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28800"/>
            <a:ext cx="86868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2880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25296" y="18105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ASAP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25296" y="2029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Wipro Procurement Portal + TL intro from Oracle Alliance events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33088" y="18105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projects: Vi BRM 12.x · Tata Comm OSM · ONGC Siebel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62672" y="1883664"/>
            <a:ext cx="111556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188366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468880"/>
            <a:ext cx="86868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46888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25296" y="24505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· BRM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25296" y="2670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InfyME vendor portal; need ISO or reference from existing vendor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33088" y="24505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projects: ICICI Siebel · SBI Siebel · Kotak BRM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62672" y="2523744"/>
            <a:ext cx="111556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252374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035808"/>
            <a:ext cx="8595360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08960"/>
            <a:ext cx="86868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10896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25296" y="30906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· UIM · ASAP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25296" y="3310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TechM PVMS portal; telecom domain focus helps entry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33088" y="30906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projects: Airtel OSS · BSNL UIM · MTN Africa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62672" y="3163824"/>
            <a:ext cx="111556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316382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3675888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749040"/>
            <a:ext cx="86868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4904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Tech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225296" y="373075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· BRM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225296" y="3950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HCL Vendor Management direct contact via Oracle Alliance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33088" y="37307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projects: ICBC Siebel · SBI BRM · PSU accounts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62672" y="3803904"/>
            <a:ext cx="111556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62672" y="380390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472" y="43708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Oracle Boutiques (faster MSA, smaller margin compression)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Mastech Digital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92224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92224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Rapsys Technologies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36976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36976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Evosys / Nexgen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81728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Coltivare Consulting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26480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Birlasoft Oracle Practice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71232" y="4626864"/>
            <a:ext cx="1298448" cy="256032"/>
          </a:xfrm>
          <a:prstGeom prst="rect">
            <a:avLst/>
          </a:prstGeom>
          <a:solidFill>
            <a:srgbClr val="EAEFF8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46268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Mphasis Oracle CoE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Channel — Building Relationships Beyond Sub-vendor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433779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4337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is the fastest path to revenue but direct relationships are the path to sustainable margins. Build in parallel from Month 4.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25296"/>
            <a:ext cx="658368" cy="2011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252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63040" y="1225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Platforms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47218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UIM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16824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Alliance team introductions; Jio has in-house Oracle team that augments from approved vendors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225296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225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6–9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45152" y="117043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170432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2352" y="1225296"/>
            <a:ext cx="658368" cy="2011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2252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33872" y="1225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47218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ASAP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02352" y="16824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BRM 12.x migration; primary contact via TCS/Wipro subs first; direct SPOC in Airtel IT Oracle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28432" y="1225296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1225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43230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32304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2487168"/>
            <a:ext cx="6583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4871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PSU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63040" y="24871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BSNL / MTNL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27340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· OSM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29443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vendor empanelment required (GeM portal + BSNL-specific). Long-term but sticky once 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2487168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487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9–12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45152" y="243230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45152" y="2432304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487168"/>
            <a:ext cx="658368" cy="20116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4871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833872" y="24871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/ ICICI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02352" y="27340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02352" y="29443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upgrade and support RFPs float every 12–18 months. Register on their vendor portals.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28432" y="2487168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28432" y="2487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9–12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369417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694176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3749040"/>
            <a:ext cx="658368" cy="2011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7490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63040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Communications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" y="39959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ASAP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1520" y="42062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for international billing; direct engagement via Oracle India Alliance events and referrals.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0" y="3749040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749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6–9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45152" y="369417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45152" y="3694176"/>
            <a:ext cx="36576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02352" y="3749040"/>
            <a:ext cx="658368" cy="2011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37490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833872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(Vodafone Idea)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02352" y="39959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02352" y="42062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stabilization and optimization; Vi is budget-constrained but has immediate need — lower rate tolerance.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28432" y="3749040"/>
            <a:ext cx="731520" cy="201168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28432" y="37490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828032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India Alliance events (OCP Summit, CloudWorld India) are the #1 shortcut to direct client introductions. Budget ₹2–3 L/yr for these.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 — Scale to Full Practice (Month 6–24)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 Up (Month 6–18)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Headcount: 15–20 total (12–15 billable at any time)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run-rate: ₹50–90 L/month by Month 12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mix: 60% sub-vendor, 40% direct by Month 12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Siebel Developer + 1 BRM Developer per month from talent pipeline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 direct MSA with 2 customers (Airtel or Jio preferred)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OPN Gold status unlock — opens deal registration + co-sell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project management — move first team to SOW-based delivery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expansion: Hyderabad + Pune delivery centres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campus hiring pipeline for BRM junior developers (2+ yr fresher training program)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413308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Full Practice (Month 18–24)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Headcount: 25–35 (20+ billable)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run-rate: ₹1.0–1.5 Cr/month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mix: 30% sub-vendor, 70% direct/project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practice fully active — co-sell Oracle licences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Oracle Practice Partner of the Year target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CoE: internal knowledge base, reusable BRM/OSM accelerators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offering — BRM/Siebel L1/L2/L3 support contracts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cloud migration practice: BRM on OCI, Siebel SaaS migration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expansion: APAC / Middle East Oracle telco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— Revenue &amp; Headcount Ramp (24 Months)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57784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749808"/>
          <a:ext cx="2907792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23360"/>
          <a:ext cx="8595360" cy="100584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283464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Billable Headcount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Run-rate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70–90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1.4–1.8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3.5–4.5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15–20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(cumulative)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1.5–2.0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3.5–4.5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Deep Dive — Market Intelligence (40% Focus)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508406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508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BRM Opportunities in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335024"/>
            <a:ext cx="4041648" cy="49377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44752"/>
            <a:ext cx="256032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76656" y="1371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" y="15910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Migration from 7.5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27248" y="1444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₹40–80 Cr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901952"/>
            <a:ext cx="404164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11680"/>
            <a:ext cx="256032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676656" y="19385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Idea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" y="21579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Stabilization + ECE Rollout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27248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₹15–30 Cr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468880"/>
            <a:ext cx="4041648" cy="49377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5054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Comm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27249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Billing BRM Upgrade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27248" y="2578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₹10–20 Cr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035808"/>
            <a:ext cx="404164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145536"/>
            <a:ext cx="256032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676656" y="30723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CoE Augmentation (ongoing)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27248" y="31455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Perennial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602736"/>
            <a:ext cx="4041648" cy="49377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6393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" y="38587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Refresh (Govt-funded BSNL revamp)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27248" y="3712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₹20–40 Cr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169664"/>
            <a:ext cx="404164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206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ISPs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" y="4425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SaaS-hosted for cable/ISP billing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27248" y="4279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 Cr each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914400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Skills Inventory — Build First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1335024"/>
            <a:ext cx="3547872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Core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1371600"/>
            <a:ext cx="969264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0336" y="1371600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0" y="1719072"/>
            <a:ext cx="3547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17556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Manager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60336" y="1755648"/>
            <a:ext cx="969264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0336" y="175564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2103120"/>
            <a:ext cx="3547872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1396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Management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60336" y="2139696"/>
            <a:ext cx="969264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0336" y="2139696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54880" y="2487168"/>
            <a:ext cx="3547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5237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(Elastic Charging Engine)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60336" y="2523744"/>
            <a:ext cx="969264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0336" y="2523744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54880" y="2871216"/>
            <a:ext cx="3547872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29077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BRM-OCS Integration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60336" y="2907792"/>
            <a:ext cx="969264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0336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54880" y="3255264"/>
            <a:ext cx="3547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(ILOG)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60336" y="3291840"/>
            <a:ext cx="969264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0336" y="3291840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3639312"/>
            <a:ext cx="3547872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36758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(BRM Portal)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260336" y="3675888"/>
            <a:ext cx="969264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0336" y="367588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54880" y="4023360"/>
            <a:ext cx="3547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40599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on Oracle Cloud (OCI)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260336" y="4059936"/>
            <a:ext cx="969264" cy="21945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0336" y="4059936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754880" y="4407408"/>
            <a:ext cx="3547872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64608" y="44439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BRM-OSM Integration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260336" y="4443984"/>
            <a:ext cx="969264" cy="21945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60336" y="4443984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Deep Dive — OSM / UIM / ASAP Market Intelligence (35% Focus)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508406" cy="21945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5084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2743200" cy="329184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— Order &amp; Service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end-to-end telecom order fulfillment — from customer order to service activation. Critical for 5G service rollout.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256032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Jio 5G, Airtel 5G, BSNL revamp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96112"/>
            <a:ext cx="2743200" cy="329184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UIM — Unified Inventory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2801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resource and service inventory — physical and logical. 5G NR/gNB inventory, IP addressing, spectrum records.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2139696"/>
            <a:ext cx="256032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All 5G operators building UIM 7.x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8961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896112"/>
            <a:ext cx="2743200" cy="329184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 — Activation Solution for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056" y="12801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service activation — connects OSM to network elements. ASAP 7.x with network exposure layer is current ask.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2139696"/>
            <a:ext cx="256032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BFD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Airtel, Tata Comm, BSNL activation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96896"/>
            <a:ext cx="859536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OSS Opportunity Map — India 2025–27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999232"/>
          <a:ext cx="8430768" cy="1737360"/>
        </p:xfrm>
        <a:graphic>
          <a:graphicData uri="http://schemas.openxmlformats.org/drawingml/2006/table">
            <a:tbl>
              <a:tblPr/>
              <a:tblGrid>
                <a:gridCol w="1371600"/>
                <a:gridCol w="1664208"/>
                <a:gridCol w="1664208"/>
                <a:gridCol w="1481328"/>
                <a:gridCol w="22494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UIM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ASAP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UIM 7.x rollout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ASAP 7.x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Alliance or TCS sub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 OSM go-live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TechM / Wipro sub-vendor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BSNL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 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empanelment / TCS BSNL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Comm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or Wipro sub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Deep Dive — Market Intelligence (25% Focus)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760781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to market perception, Siebel is NOT dying. Oracle extended Premier Support to 2033 — creating a long, high-margin revenue tail.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Opportunity by Vertical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591056"/>
            <a:ext cx="4041648" cy="548640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36776"/>
            <a:ext cx="102412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3677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/ NBFC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16184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HDFC, ICICI, Kotak, Axis, SBI — Siebel Contact Centre, Collections, Retail Banking modules. Annual support + IP20 upgrades.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170078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₹3.5–4.5K/hr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58568"/>
            <a:ext cx="102412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58568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22402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LIC, ICICI Pru, HDFC Life — Siebel for policy servicing, complaints, agent management. Very sticky — hard to replace.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0" y="232257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₹3–4K/hr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834640"/>
            <a:ext cx="4041648" cy="548640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80360"/>
            <a:ext cx="102412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8036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7320" y="286207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Airtel, Vi — Siebel for B2B Sales, Trouble Ticketing alongside BRM. Cross-sell entry point from BRM engagements.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0" y="294436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₹3–4.5K/hr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456432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502152"/>
            <a:ext cx="102412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0215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/ PSU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17320" y="348386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ONGC, NTPC, BHEL — Siebel for field service, complaint mgmt. Budget driven, slower but sticky.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0" y="35661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₹2.5–3.5K/hr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078224"/>
            <a:ext cx="4041648" cy="548640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123944"/>
            <a:ext cx="102412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12394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CX Migration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17320" y="41056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verticals evaluating Siebel → Oracle CX Fusion migration path. CS Soft can position as migration specialist.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41879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₹4–6K/hr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170432"/>
            <a:ext cx="4206240" cy="1572768"/>
          </a:xfrm>
          <a:prstGeom prst="rect">
            <a:avLst/>
          </a:prstGeom>
          <a:solidFill>
            <a:srgbClr val="FFF9EE"/>
          </a:solidFill>
          <a:ln w="12700">
            <a:solidFill>
              <a:srgbClr val="F5D0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Scarcity Premium — Why Siebel Pays Well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1572768"/>
            <a:ext cx="385876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Siebel architects are retiring from the market — very few people with 10+ yr experience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developers being trained (IT colleges don't teach Siebel)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themselves now refer Siebel work to RODOD partners — they've stopped growing internal bench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of 30–40% over SAP CRM or Salesforce rates for equivalent experience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83464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Skills Inventory — Build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3218688"/>
            <a:ext cx="3858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8.1 / 8.2 / IP2018 / IP2019 / IP2020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Open UI (JS customization)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 (Enterprise Integration Manager)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 / Web Services / SOAP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CTI / Workflow / Business Services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to Oracle Fusion CX migration tooling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Mitigation Plan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4315968"/>
        </p:xfrm>
        <a:graphic>
          <a:graphicData uri="http://schemas.openxmlformats.org/drawingml/2006/table">
            <a:tbl>
              <a:tblPr/>
              <a:tblGrid>
                <a:gridCol w="2377440"/>
                <a:gridCol w="804672"/>
                <a:gridCol w="804672"/>
                <a:gridCol w="460857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scarcity / counter-offers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10–15% above market + retention bonus (₹3–5L after 12mo on-project). Lock-in via ESOP/profit share roadmap. Start referral pipeline Day 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cost during ramp (no billing)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hire against confirmed or near-confirmed demand. Maintain 1–2 'pre-sales' hires only. Use notice period as buffer — hire only those with 30-day notice.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Sub-vendor margin compression by prime 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direct client pipeline from Month 4. Negotiate multi-year sub-vendor rates upfront. Diversify across 4+ primes to avoid dependency.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OPN certification delays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OPN Silver is free — register Week 1. OPN Gold requires 2 certified employees + revenue target. Begin OPN Cloud learning paths immediately (free courses).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 dependency / 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single-point skills — always have 2 people per tech. Cross-train BRM dev on OSM. Document all client-specific configurations and knowledge bases.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obsolescence (Siebel sunset)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support extended to 2033 — long runway. Use Siebel relationships to upsell Oracle Fusion CX migration projects. BRM/OSS are mission-critical — not going away.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risk from sub-vendor primes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Net-30/45 payment terms — use factoring/invoice discounting if needed. Avoid starting work without PO. TCS/Wipro/Infosys rarely default — negotiate clear terms upfront.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Partner Network (OPN) — Partnership Ladder &amp; Benefits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Silver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706624"/>
            <a:ext cx="24688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logo usage · Partner portal access · Deal registration (limited) · Oracle University discounts · co-marketing templates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804672"/>
            <a:ext cx="2743200" cy="38404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804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Gold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261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463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2.5 L/yr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10128" y="2706624"/>
            <a:ext cx="24688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registration priority · Co-sell with Oracle sales team · Oracle license resell at partner pricing · Training credits · RODOD delivery engagements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804672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804672"/>
            <a:ext cx="2743200" cy="3840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804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Platinum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1261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1463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invite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08776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08776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08776" y="2706624"/>
            <a:ext cx="24688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Oracle resource · Joint press releases · Oracle-sourced leads · Global opportunity via OPN · Conference speaking slots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28032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Programme: CS Soft's Oracle RODOD status unlocks the ability to resell Oracle licences alongside consulting — a 15–25% margin on licence sales. Register at partnernetwork.oracle.com from Day 1.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1–4 Immediate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planning, start executing. These 20 actions in the first 4 weeks create irreversible momentum.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51960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 Oracle Partner Network (OPN) Silver at partnernetwork.oracle.com — 30 minutes, FREE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545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Email / LinkedIn message to Oracle India Alliance Manager (get contact via OPN portal)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" y="18836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LinkedIn Recruiter search: 'Oracle BRM', 'Siebel 8', 'OSM UIM' — save 20+ target profiles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Draft and post 5 JDs on LinkedIn Premium + Naukri Premium (BRM Arch, BRM Dev×2, Siebel Arch, OSM/UIM)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Identify 3 sub-vendor partner contacts at Rapsys / Mastech / Evosys — email cold outreach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2519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91440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Begin outreach: send personalised LinkedIn InMails to 20 target profiles per role (60 total)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1456" y="1545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Register on TCS Supplier Portal (supplier.tcs.com) — start vendor onboarding documentation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1456" y="18836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Request intro from Oracle Alliance to TCS Oracle CoE head / Wipro Oracle Practice 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1456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capability deck (2-page PDF) for sub-vendor positioning — BRM/Siebel/OSS focus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1456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Shortlist 5–6 candidates per role from first responses; schedule calls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4251960" cy="256032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9923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Conduct 15-20 first-round interviews; shortlist top 3 per role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" y="3630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Submit first profiles to any open sub-vendor requirements found in Week 1–2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3968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Register on Wipro PVMS (Partner Vendor Mgmt System) + Tech Mahindra vendor portal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" y="43068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Begin Oracle OPN Cloud learning paths (free) for BRM and CX certifications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" y="4645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Negotiate and sign first sub-vendor NDA with one prime SI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18304" y="2999232"/>
            <a:ext cx="4251960" cy="2560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99923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Make first 2 job offers — Practice Head + BRM Architect are highest priority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3630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 sub-vendor MSA (Master Services Agreement) with first prime SI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91456" y="3968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Attend any Oracle India Alliance event / webinar — collect 5 business contacts minimum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43068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at least 2 profiles against open BRM/Siebel requirements via sub-vendor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456" y="4645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up project management + timesheet tools (basic) for billing readiness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NOW.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84048" y="14813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BSS/OSS transformation is mid-cycle. BRM 12.x migrations are funded and active.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talent is disappearing. 5G is demanding OSS. Every quarter you wait, someone else fills this gap.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2331720"/>
            <a:ext cx="2633472" cy="2176272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423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75488" y="29443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Fast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33101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Practice Head + BRM Architect hired in 30 days. Every week of delay = ₹6–10 L in lost revenue opportunity.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2331720"/>
            <a:ext cx="2633472" cy="2176272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2423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0128" y="29443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 First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10128" y="33101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wait for direct relationships. Sub-vendor revenue is real revenue. Get first profiles submitted in Week 3.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2331720"/>
            <a:ext cx="2633472" cy="2176272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423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44768" y="29443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Focused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44768" y="33101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→ OSS → Siebel. Don't dilute into generic Oracle work. Niche depth is the competitive moat.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 Solutions  ·  Oracle Practice Launch  ·  Confidential  ·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Soft Solutions – Oracle Practice Launch Plan</dc:title>
  <dc:subject>Oracle Practice Implementation</dc:subject>
  <dc:creator>CS Soft Solutions</dc:creator>
  <cp:lastModifiedBy>CS Soft Solutions</cp:lastModifiedBy>
  <cp:revision>1</cp:revision>
  <dcterms:created xsi:type="dcterms:W3CDTF">2026-06-12T07:25:52Z</dcterms:created>
  <dcterms:modified xsi:type="dcterms:W3CDTF">2026-06-12T07:25:52Z</dcterms:modified>
</cp:coreProperties>
</file>