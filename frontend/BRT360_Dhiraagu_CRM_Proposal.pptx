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257175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64008" cy="257175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645920"/>
            <a:ext cx="4754880" cy="4754880"/>
          </a:xfrm>
          <a:prstGeom prst="ellipse">
            <a:avLst/>
          </a:prstGeom>
          <a:solidFill>
            <a:srgbClr val="1E40AF">
              <a:alpha val="8000"/>
            </a:srgbClr>
          </a:solidFill>
          <a:ln w="762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548640"/>
            <a:ext cx="2743200" cy="2743200"/>
          </a:xfrm>
          <a:prstGeom prst="ellipse">
            <a:avLst/>
          </a:prstGeom>
          <a:solidFill>
            <a:srgbClr val="BE185D">
              <a:alpha val="10000"/>
            </a:srgbClr>
          </a:solidFill>
          <a:ln w="7620">
            <a:solidFill>
              <a:srgbClr val="BE185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280160" y="3108960"/>
            <a:ext cx="3474720" cy="3474720"/>
          </a:xfrm>
          <a:prstGeom prst="ellipse">
            <a:avLst/>
          </a:prstGeom>
          <a:solidFill>
            <a:srgbClr val="2563EB">
              <a:alpha val="7000"/>
            </a:srgbClr>
          </a:solidFill>
          <a:ln w="6350">
            <a:solidFill>
              <a:srgbClr val="1E40A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</a:rPr>
              <a:t>CONFIDENTIAL PROPOSAL  ·  JUNE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</a:t>
            </a:r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74320" y="1664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Dhiraagu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4114800" cy="3657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2374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 Next-Generation Customer Relationship Platform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Purpose-Built for Maldives' Leading Digital Services Provider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980237" cy="274320"/>
          </a:xfrm>
          <a:prstGeom prst="rect">
            <a:avLst/>
          </a:prstGeom>
          <a:solidFill>
            <a:srgbClr val="162B6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91840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.NET 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64285" y="3291840"/>
            <a:ext cx="1463040" cy="274320"/>
          </a:xfrm>
          <a:prstGeom prst="rect">
            <a:avLst/>
          </a:prstGeom>
          <a:solidFill>
            <a:srgbClr val="162B6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4285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React / Node.js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37053" y="3291840"/>
            <a:ext cx="980237" cy="274320"/>
          </a:xfrm>
          <a:prstGeom prst="rect">
            <a:avLst/>
          </a:prstGeom>
          <a:solidFill>
            <a:srgbClr val="162B6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7053" y="3291840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Oracle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7018" y="3291840"/>
            <a:ext cx="1060704" cy="274320"/>
          </a:xfrm>
          <a:prstGeom prst="rect">
            <a:avLst/>
          </a:prstGeom>
          <a:solidFill>
            <a:srgbClr val="162B6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7018" y="329184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PostgreSQL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97450" y="3291840"/>
            <a:ext cx="1060704" cy="274320"/>
          </a:xfrm>
          <a:prstGeom prst="rect">
            <a:avLst/>
          </a:prstGeom>
          <a:solidFill>
            <a:srgbClr val="162B6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7450" y="329184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Oracle BRM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67882" y="3291840"/>
            <a:ext cx="1784909" cy="274320"/>
          </a:xfrm>
          <a:prstGeom prst="rect">
            <a:avLst/>
          </a:prstGeom>
          <a:solidFill>
            <a:srgbClr val="162B6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7882" y="3291840"/>
            <a:ext cx="1784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</a:rPr>
              <a:t>Order Orchestration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7307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Presented by  BlueRose Technologies  ·  Powered by the BRT 360 Platform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76288" y="4160520"/>
            <a:ext cx="2084832" cy="713232"/>
          </a:xfrm>
          <a:prstGeom prst="rect">
            <a:avLst/>
          </a:prstGeom>
          <a:solidFill>
            <a:srgbClr val="162B6E"/>
          </a:solidFill>
          <a:ln w="1524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6288" y="41788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algn="ctr" indent="0" marL="0">
              <a:buNone/>
            </a:pPr>
            <a:r>
              <a:rPr lang="en-US" sz="2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76288" y="45537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4A3B8"/>
                </a:solidFill>
              </a:rPr>
              <a:t>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ABOUT 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BlueRose Technologies – Who We 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Deep telecom DNA. Enterprise delivery. BRT 360 — our flagship product.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204825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2048256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1673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" y="18105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Years Telecom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14016" y="1152144"/>
            <a:ext cx="204825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14016" y="1152144"/>
            <a:ext cx="2048256" cy="54864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131673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05456" y="18105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Telco Clients Globally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152144"/>
            <a:ext cx="204825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52144"/>
            <a:ext cx="20482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1673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18105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Consultants &amp; Engineers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9984" y="1152144"/>
            <a:ext cx="204825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152144"/>
            <a:ext cx="2048256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131673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21424" y="18105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Countries Delivered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231136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231136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34086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Platform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2651760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cloud-native CRM purpose-built for Communications Service Providers (CSPs)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connectors for Oracle BRM, Dhiraagu's Order Orchestration Platform, Amdocs, Ericsson BSCS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Forum Open API aligned microservices — no vendor lock-in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2231136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2231136"/>
            <a:ext cx="4206240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34086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Telco-First Architecture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2651760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BRM and Order Orchestration connectors, not custom one-offs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 integration vs greenfield CRM builds across 12 live deployments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lifecycle, usage events, and billing integration are first-class data model citizens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584448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584448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69417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" y="4005072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microservices + Node.js event bus (Kafka) for real-time events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 + TypeScript — responsive PWA with offline agent mode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19c (billing-grade) + PostgreSQL 16 (CRM operational workloads)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81728" y="3584448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3584448"/>
            <a:ext cx="4206240" cy="502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69417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Standards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91456" y="4005072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certified delivery practices and information security controls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Forum Frameworx aligned data model for interoperability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ready, GDPR-compatible consent and data governance framework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CLIENT 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 – The Digital Backbone of Maldives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 complex multi-segment business demanding a unified CRM engine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276758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2767584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Personal Segment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256641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&amp; LTE Prepaid / Postpaid mobile plans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 Fibre Broadband – Limitehneh (30M→1Gbps)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eSIM, Data SIM, Tourist SIM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DhiraaguPay fintech wallet &amp; reload credits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Club loyalty programme (Gold/Silver tiers)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eZone content platform (LionsgatePlay etc.)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SmartView smart home · OneNumber watch eSIM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3344" y="1152144"/>
            <a:ext cx="276758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3344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1360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Business / Enterprise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3072" y="1572768"/>
            <a:ext cx="256641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Internet Access (DIA) · IPLC / MPLS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Voice, PABX &amp; Contact Centre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Security, SIEM, Cloud UTM, Firewall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Colocation &amp; Managed Infrastructure Services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SMS &amp; Short Code Messaging Service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/ IoT Connectivity solutions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Limitehneh Fibre up to 1 Gbps (MVR 12,500/mo)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0656" y="1152144"/>
            <a:ext cx="276758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0656" y="1152144"/>
            <a:ext cx="276758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8672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  Hospitality &amp; Government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0384" y="1572768"/>
            <a:ext cx="256641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iHTV in-room hospitality TV platform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Kobaa WiFi guest WiFi management platform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cabling for resort properties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Monitoring &amp; CCTV surveillance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WAN framework &amp; e-services connectivity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LAN &amp; Wireless for campus environments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hosting, domain services &amp; SIP trunking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718304"/>
            <a:ext cx="8631936" cy="329184"/>
          </a:xfrm>
          <a:prstGeom prst="rect">
            <a:avLst/>
          </a:prstGeom>
          <a:solidFill>
            <a:srgbClr val="DBEAFE"/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7183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Key Insight: 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Dhiraagu spans 5 verticals — mobile, broadband, cloud, IoT, security, and fintech — yet manages customer relationships in siloed systems. A unified CRM is the strategic imperative.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BUSINESS IMPERATIVE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BRT 360 Solves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Pain points that limit growth, retention, and operational efficiency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42062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4206240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Gaps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400507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fragmented across billing, provisioning, and legacy support — no single customer view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lack real-time product eligibility and cross-sell intelligence for Enterprise accounts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execution for promotions (Salhi Data, Samsung S26 launch) is manual and slow-to-market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 and trouble tickets managed without SLA visibility or auto-escalation rules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contract lifecycle for hospitality or government multi-year deals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Partner/dealer channels lack self-service portal — order delays and commission reconciliation issues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signals from Elite Club and postpaid base undetected without predictive analytics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152144"/>
            <a:ext cx="42062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52144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1572768"/>
            <a:ext cx="400507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from un-billed add-ons and missed renewal opportunities in enterprise contracts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quickly launch new digital products (DhiraaguPay, OneNumber) with bundled CRM journeys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enterprise tender responses delayed by lack of accurate account intelligence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fulfilment lifecycle not linked to customer-facing CRM — creating fulfilment-to-billing gaps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360° visibility into customer profitability across mobile + broadband + business portfolios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risk: no structured audit trail for corporate customer data handling and consent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erodes when billing service issues are not tracked end-to-end in CRM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257175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64008" cy="257175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"/>
            <a:ext cx="9144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62B6E"/>
                </a:solidFill>
              </a:rPr>
              <a:t>360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</a:t>
            </a:r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CRM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63040" y="25146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 purpose-built, telco-grade Customer Relationship Platform delivering a unified 360° view of every Dhiraagu customer — from prepaid subscribers to multi-island enterprise accounts — with native Oracle BRM billing integration and seamless connectivity to Dhiraagu's existing Order Orchestration Platform.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4741164"/>
            <a:ext cx="2560320" cy="272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68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TECHNOLOGY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– Solution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Cloud-native microservices on a modern, open, and scalable 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" y="1133856"/>
            <a:ext cx="8814816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E40AF">
                <a:alpha val="80000"/>
              </a:srgbClr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133856"/>
            <a:ext cx="50292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25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E40AF"/>
                </a:solidFill>
              </a:rPr>
              <a:t>PRESENTATION TIER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1155802" cy="228600"/>
          </a:xfrm>
          <a:prstGeom prst="rect">
            <a:avLst/>
          </a:prstGeom>
          <a:solidFill>
            <a:srgbClr val="1E40AF">
              <a:alpha val="12000"/>
            </a:srgbClr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63040"/>
            <a:ext cx="1155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React 18 SPA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21562" y="1463040"/>
            <a:ext cx="1005840" cy="228600"/>
          </a:xfrm>
          <a:prstGeom prst="rect">
            <a:avLst/>
          </a:prstGeom>
          <a:solidFill>
            <a:srgbClr val="1E40AF">
              <a:alpha val="12000"/>
            </a:srgbClr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21562" y="1463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TypeScript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18842" y="1463040"/>
            <a:ext cx="1305763" cy="228600"/>
          </a:xfrm>
          <a:prstGeom prst="rect">
            <a:avLst/>
          </a:prstGeom>
          <a:solidFill>
            <a:srgbClr val="1E40AF">
              <a:alpha val="12000"/>
            </a:srgbClr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8842" y="1463040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Responsive PWA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16045" y="1463040"/>
            <a:ext cx="1830629" cy="228600"/>
          </a:xfrm>
          <a:prstGeom prst="rect">
            <a:avLst/>
          </a:prstGeom>
          <a:solidFill>
            <a:srgbClr val="1E40AF">
              <a:alpha val="12000"/>
            </a:srgbClr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16045" y="1463040"/>
            <a:ext cx="1830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Role-Based Dashboards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38114" y="1463040"/>
            <a:ext cx="1455725" cy="228600"/>
          </a:xfrm>
          <a:prstGeom prst="rect">
            <a:avLst/>
          </a:prstGeom>
          <a:solidFill>
            <a:srgbClr val="1E40AF">
              <a:alpha val="12000"/>
            </a:srgbClr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38114" y="1463040"/>
            <a:ext cx="145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Mobile Agent App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85278" y="1463040"/>
            <a:ext cx="2280514" cy="228600"/>
          </a:xfrm>
          <a:prstGeom prst="rect">
            <a:avLst/>
          </a:prstGeom>
          <a:solidFill>
            <a:srgbClr val="1E40AF">
              <a:alpha val="12000"/>
            </a:srgbClr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5278" y="1463040"/>
            <a:ext cx="2280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Partner Self-Service Portal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4592" y="1874520"/>
            <a:ext cx="8814816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BE185D">
                <a:alpha val="80000"/>
              </a:srgbClr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1874520"/>
            <a:ext cx="50292" cy="65836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E185D"/>
                </a:solidFill>
              </a:rPr>
              <a:t>API &amp; BUSINESS LOGIC TIER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203704"/>
            <a:ext cx="1755648" cy="228600"/>
          </a:xfrm>
          <a:prstGeom prst="rect">
            <a:avLst/>
          </a:prstGeom>
          <a:solidFill>
            <a:srgbClr val="BE185D">
              <a:alpha val="12000"/>
            </a:srgbClr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203704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.NET 8 Microservices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21408" y="2203704"/>
            <a:ext cx="2130552" cy="228600"/>
          </a:xfrm>
          <a:prstGeom prst="rect">
            <a:avLst/>
          </a:prstGeom>
          <a:solidFill>
            <a:srgbClr val="BE185D">
              <a:alpha val="12000"/>
            </a:srgbClr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21408" y="220370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Node.js Event Bus (Kafka)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43400" y="2203704"/>
            <a:ext cx="1680667" cy="228600"/>
          </a:xfrm>
          <a:prstGeom prst="rect">
            <a:avLst/>
          </a:prstGeom>
          <a:solidFill>
            <a:srgbClr val="BE185D">
              <a:alpha val="12000"/>
            </a:srgbClr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2203704"/>
            <a:ext cx="168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GraphQL / REST APIs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15507" y="2203704"/>
            <a:ext cx="1530706" cy="228600"/>
          </a:xfrm>
          <a:prstGeom prst="rect">
            <a:avLst/>
          </a:prstGeom>
          <a:solidFill>
            <a:srgbClr val="BE185D">
              <a:alpha val="12000"/>
            </a:srgbClr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15507" y="220370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TM Forum Open API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37653" y="2203704"/>
            <a:ext cx="1755648" cy="228600"/>
          </a:xfrm>
          <a:prstGeom prst="rect">
            <a:avLst/>
          </a:prstGeom>
          <a:solidFill>
            <a:srgbClr val="BE185D">
              <a:alpha val="12000"/>
            </a:srgbClr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37653" y="2203704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BPMN Workflow Engine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84741" y="2203704"/>
            <a:ext cx="1830629" cy="228600"/>
          </a:xfrm>
          <a:prstGeom prst="rect">
            <a:avLst/>
          </a:prstGeom>
          <a:solidFill>
            <a:srgbClr val="BE185D">
              <a:alpha val="12000"/>
            </a:srgbClr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84741" y="2203704"/>
            <a:ext cx="1830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AI/ML Inference Layer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2615184"/>
            <a:ext cx="8814816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7706">
                <a:alpha val="80000"/>
              </a:srgbClr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4592" y="2615184"/>
            <a:ext cx="5029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</a:rPr>
              <a:t>DATA TIER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2430475" cy="228600"/>
          </a:xfrm>
          <a:prstGeom prst="rect">
            <a:avLst/>
          </a:prstGeom>
          <a:solidFill>
            <a:srgbClr val="D97706">
              <a:alpha val="1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944368"/>
            <a:ext cx="243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Oracle DB 19c (Billing-Grade)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96235" y="2944368"/>
            <a:ext cx="1980590" cy="228600"/>
          </a:xfrm>
          <a:prstGeom prst="rect">
            <a:avLst/>
          </a:prstGeom>
          <a:solidFill>
            <a:srgbClr val="D97706">
              <a:alpha val="1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96235" y="2944368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PostgreSQL 16 (CRM Ops)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68266" y="2944368"/>
            <a:ext cx="1080821" cy="228600"/>
          </a:xfrm>
          <a:prstGeom prst="rect">
            <a:avLst/>
          </a:prstGeom>
          <a:solidFill>
            <a:srgbClr val="D97706">
              <a:alpha val="1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8266" y="2944368"/>
            <a:ext cx="10808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Redis Cache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40526" y="2944368"/>
            <a:ext cx="1905610" cy="228600"/>
          </a:xfrm>
          <a:prstGeom prst="rect">
            <a:avLst/>
          </a:prstGeom>
          <a:solidFill>
            <a:srgbClr val="D97706">
              <a:alpha val="1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40526" y="2944368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Elasticsearch (Search)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37576" y="2944368"/>
            <a:ext cx="1830629" cy="228600"/>
          </a:xfrm>
          <a:prstGeom prst="rect">
            <a:avLst/>
          </a:prstGeom>
          <a:solidFill>
            <a:srgbClr val="D97706">
              <a:alpha val="1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37576" y="2944368"/>
            <a:ext cx="1830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Data Warehouse / OLAP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959645" y="2944368"/>
            <a:ext cx="1830629" cy="228600"/>
          </a:xfrm>
          <a:prstGeom prst="rect">
            <a:avLst/>
          </a:prstGeom>
          <a:solidFill>
            <a:srgbClr val="D97706">
              <a:alpha val="1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59645" y="2944368"/>
            <a:ext cx="1830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Object Storage (Docs)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4592" y="3355848"/>
            <a:ext cx="8814816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047857">
                <a:alpha val="80000"/>
              </a:srgbClr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64592" y="3355848"/>
            <a:ext cx="5029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447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47857"/>
                </a:solidFill>
              </a:rPr>
              <a:t>INTEGRATION &amp; BSS/OSS TIER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3685032"/>
            <a:ext cx="1755648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68503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Oracle BRM Connector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21408" y="3685032"/>
            <a:ext cx="1980590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21408" y="3685032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Order Orchestration API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93438" y="3685032"/>
            <a:ext cx="1980590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93438" y="3685032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Mediation / Rating Feed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65469" y="3685032"/>
            <a:ext cx="1380744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65469" y="3685032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DhiraaguPay API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737653" y="3685032"/>
            <a:ext cx="1455725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37653" y="3685032"/>
            <a:ext cx="145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Bulk SMS Gateway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284818" y="3685032"/>
            <a:ext cx="1380744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84818" y="3685032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LDAP / SSO (AD)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757002" y="3685032"/>
            <a:ext cx="2130552" cy="228600"/>
          </a:xfrm>
          <a:prstGeom prst="rect">
            <a:avLst/>
          </a:prstGeom>
          <a:solidFill>
            <a:srgbClr val="047857">
              <a:alpha val="12000"/>
            </a:srgbClr>
          </a:solidFill>
          <a:ln w="8890">
            <a:solidFill>
              <a:srgbClr val="04785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57002" y="3685032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ERP / Finance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PLATFORM 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– CRM Module Landscape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Nine integrated modules — one unified customer data 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2767584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1243584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1536192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Unified subscriber/account profile with real-time BRM billing, usage, and interaction history from all touchpoints.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33344" y="1152144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3344" y="1152144"/>
            <a:ext cx="2767584" cy="457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4784" y="12435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17392" y="1243584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Opportunity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24784" y="1536192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End-to-end lead-to-order pipeline for Personal, SME, Enterprise, Hospitality, and Government segments.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10656" y="1152144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0656" y="1152144"/>
            <a:ext cx="2767584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2096" y="12435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94704" y="1243584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Promotions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02096" y="1536192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Multi-channel campaign engine tied to Dhiraagu's promotions calendar, Elite Club, and device launches.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395728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395728"/>
            <a:ext cx="2767584" cy="45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87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2487168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Case Mgmt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" y="2779776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Omni-channel trouble ticketing with SLA enforcement, auto-escalation, and billing dispute resolution.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33344" y="2395728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33344" y="2395728"/>
            <a:ext cx="2767584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4784" y="2487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</a:rPr>
              <a:t>05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17392" y="2487168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Entitlement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24784" y="2779776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Full contract lifecycle for enterprise and government deals with renewal alerts and e-signature workflows.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10656" y="2395728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0656" y="2395728"/>
            <a:ext cx="2767584" cy="457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2096" y="2487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</a:rPr>
              <a:t>06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94704" y="2487168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&amp; Channel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02096" y="2779776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Dealer/reseller portal with order submission, commission tracking, and territory performance analytics.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639312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639312"/>
            <a:ext cx="2767584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7307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07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3730752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Provisioning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7472" y="4023360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Customer-facing order management bridging CRM to the Order Orchestration Platform and BRM activation.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33344" y="3639312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33344" y="3639312"/>
            <a:ext cx="2767584" cy="45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24784" y="37307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</a:rPr>
              <a:t>08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517392" y="3730752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&amp; Insights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24784" y="4023360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Churn prediction, next-best-offer engine, CLV scoring, and revenue leakage dashboards.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10656" y="3639312"/>
            <a:ext cx="276758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10656" y="3639312"/>
            <a:ext cx="2767584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2096" y="37307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</a:rPr>
              <a:t>09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94704" y="3730752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Configuration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02096" y="4023360"/>
            <a:ext cx="258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Product catalog, pricing rules, workflow designer, role/permission engine, and integration health monitoring.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 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Hub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Every interaction, every subscription, every bill — in one unified profile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5120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51206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463040"/>
            <a:ext cx="4864608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Unified Customer Profile: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Dhiraagu relationships — prepaid, postpaid, broadband, business, DhiraaguPay — consolidated into a single golden record.</a:t>
            </a:r>
            <a:endParaRPr lang="en-US" sz="9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BRM Sync: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 balance, bill history, usage thresholds, and payment status pulled from Oracle BRM on demand.</a:t>
            </a:r>
            <a:endParaRPr lang="en-US" sz="9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Corporate Hierarchy: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subscribers under corporate accounts (e.g. resort group spanning multiple island properties).</a:t>
            </a:r>
            <a:endParaRPr lang="en-US" sz="9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Interaction Timeline: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log of calls, tickets, orders, billing events, and campaign responses across all channels.</a:t>
            </a:r>
            <a:endParaRPr lang="en-US" sz="9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Elite Club Loyalty View: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balance, tier status, redemption history, and churn risk score displayed inline on every customer record.</a:t>
            </a:r>
            <a:endParaRPr lang="en-US" sz="9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Multi-Channel Identity: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identities across App, Web, OCS, walk-in using MSISDN, NID, and email as master keys.</a:t>
            </a:r>
            <a:endParaRPr lang="en-US" sz="950" dirty="0"/>
          </a:p>
          <a:p>
            <a:pPr indent="0" marL="0"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Consent Management: </a:t>
            </a:r>
            <a:pPr indent="0" marL="0">
              <a:spcAft>
                <a:spcPts val="55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opt-in/out controls with full audit trail for regulatory compliance.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2976" y="1152144"/>
            <a:ext cx="3364992" cy="1572768"/>
          </a:xfrm>
          <a:prstGeom prst="rect">
            <a:avLst/>
          </a:prstGeom>
          <a:solidFill>
            <a:srgbClr val="DBEAFE"/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2252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E40AF"/>
                </a:solidFill>
              </a:rPr>
              <a:t>DATA SOURCES INTEGRATED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50992" y="1499616"/>
            <a:ext cx="950976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49961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Oracle BRM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93408" y="1499616"/>
            <a:ext cx="950976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149961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OCS / PCRF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50992" y="1810512"/>
            <a:ext cx="1609344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81051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Order Orchestration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51776" y="1810512"/>
            <a:ext cx="1024128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181051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DhiraaguPay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50992" y="2121408"/>
            <a:ext cx="585216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21214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eZone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27648" y="2121408"/>
            <a:ext cx="950976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121408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Elite Club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70064" y="2121408"/>
            <a:ext cx="1243584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0064" y="2121408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PABX / CC Logs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50992" y="2432304"/>
            <a:ext cx="1170432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2432304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Bulk SMS Logs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22976" y="2852928"/>
            <a:ext cx="3364992" cy="2157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22976" y="2852928"/>
            <a:ext cx="3364992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296265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32704" y="3273552"/>
            <a:ext cx="31638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average agent handle time by 40% — everything visible without switching systems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conversion improvement through AI-surfaced next-best-offer recommendations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eliminates data reconciliation overhead across teams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 enables proactive churn prevention before contract expiry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 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Opportunity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From lead to signed order — across all Dhiraagu segments and verticals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276758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2566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from web, app, walk-in, and outbound campaigns automatically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Auto-scoring and routing by segment (Personal / SME / Enterprise / Hospitality)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via MSISDN, NID, and company registry lookup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3344" y="1152144"/>
            <a:ext cx="276758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3344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1360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3072" y="1572768"/>
            <a:ext cx="2566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sales stages per vertical (Hospitality vs Enterprise cycles differ)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revenue, product mix, and close probability forecasting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analytics with competitor capture for strategic intelligence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0656" y="1152144"/>
            <a:ext cx="276758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0656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8672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0384" y="1572768"/>
            <a:ext cx="2566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products from live product catalog (Biz Fibre, DIA, IPLC, VoIP bundles)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approval workflow with authority matrix and full audit trail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integration for digital contract acceptance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09067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90672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0040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Territory Management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3511296"/>
            <a:ext cx="40050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Island/atoll-based territory assignment aligned to Dhiraagu's regional sales structure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 planning for government and enterprise top accounts with dedicated AM assignment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Multi-contact management within corporate hierarchies (CFO, IT Head, Procurement Lead)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 — calls, visits, demos — with calendar and email integration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09067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090672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20040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Forecasting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81728" y="3511296"/>
            <a:ext cx="40050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assignment and real-time attainment tracking per sales rep, team, and region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funnel analysis with stage velocity and conversion rate benchmarks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revenue forecast with weighted probability modelling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compensation calculation and transparent payout reporting for reps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 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Promotions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Targeted, personalised campaigns tied to Dhiraagu's full promotions calendar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5120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51206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Engine Capabilities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491947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Builder: Drag-and-drop audience using 50+ attributes — ARPU, usage, device, loyalty tier, geography, plan type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Execution: SMS (Dhiraagu Bulk SMS gateway), Push Notification (DhiraaguApp), Email, in-app banners in eZone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Lifecycle: Create, approve, schedule, and retire promotions (Salhi Double Data, Samsung S26 bundles, Free Home Takaful)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Testing: Split test offer variants and auto-promote the winning version after a hold period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Trigger Campaigns: Event-driven — send an upgrade offer when a customer's data hits 90% utilisation (BRM Kafka event feed)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Club Integration: Points multiplier events, tier upgrade nudges, and exclusive product access campaigns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P&amp;L Tracking: Revenue attributed per campaign with conversion rates and cost-per-acquisition metrics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2976" y="1152144"/>
            <a:ext cx="3364992" cy="2048256"/>
          </a:xfrm>
          <a:prstGeom prst="rect">
            <a:avLst/>
          </a:prstGeom>
          <a:solidFill>
            <a:srgbClr val="FCE7F3"/>
          </a:solidFill>
          <a:ln w="8890">
            <a:solidFill>
              <a:srgbClr val="BE1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2252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E185D"/>
                </a:solidFill>
              </a:rPr>
              <a:t>PROMOTION TYPES SUPPORTED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50992" y="1499616"/>
            <a:ext cx="1554480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4996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Device Bundle Offers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78624" y="1499616"/>
            <a:ext cx="1351483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1499616"/>
            <a:ext cx="13514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Double Data Plans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50992" y="1801368"/>
            <a:ext cx="1351483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BE1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801368"/>
            <a:ext cx="13514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Tourist SIM Promo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75627" y="1801368"/>
            <a:ext cx="128381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BE18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5627" y="1801368"/>
            <a:ext cx="1283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Roaming Packages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50992" y="2103120"/>
            <a:ext cx="1013155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2103120"/>
            <a:ext cx="10131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Fibre Upsell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37299" y="2103120"/>
            <a:ext cx="162214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7299" y="2103120"/>
            <a:ext cx="1622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Business Plan Upgrade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50992" y="2404872"/>
            <a:ext cx="1216152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40487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</a:rPr>
              <a:t>Loyalty Rewards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0296" y="2404872"/>
            <a:ext cx="1486814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0296" y="2404872"/>
            <a:ext cx="14868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</a:rPr>
              <a:t>Referral Incentives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50992" y="2706624"/>
            <a:ext cx="1419149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706624"/>
            <a:ext cx="1419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Seasonal Campaigns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43293" y="2706624"/>
            <a:ext cx="1486814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BE18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43293" y="2706624"/>
            <a:ext cx="14868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Free Takaful Bundle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50992" y="3008376"/>
            <a:ext cx="1554480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30083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eZone Content Trials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78624" y="3008376"/>
            <a:ext cx="1148486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78624" y="3008376"/>
            <a:ext cx="1148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B2B Cross-Sell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22976" y="3328416"/>
            <a:ext cx="3364992" cy="16824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22976" y="3328416"/>
            <a:ext cx="3364992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343814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DhiraaguPay Integration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32704" y="3749040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connects to DhiraaguPay API to trigger reload bonus campaigns automatically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wallet-funded conversions, closing the loop between payments and promotions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"Reload &amp; Get Free Credits" offers orchestrated in real-time on qualifying top-up events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 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Case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Omni-channel support with SLA enforcement and billing dispute handling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Ticket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40050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ticket intake: App, Web, IVR, Email, Chat, Walk-in, and Field reports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Auto-classification by service type (Mobile / Broadband / Business / Billing)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matrix: VIP (Elite Gold), SLA-governed (Enterprise), and standard queues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linked to BRM account — billing faults trigger automatic credit assessment workflow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152144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52144"/>
            <a:ext cx="4206240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Escalation Engine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1572768"/>
            <a:ext cx="40050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SLA tiers per contract type and customer segment — no hard-coded rules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escalation to Level 2 / NOC / Management after breach threshold is reached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 breach dashboards for supervisors and account managers with drill-down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SMS/email notifications on ticket status milestones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090672"/>
            <a:ext cx="276758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090672"/>
            <a:ext cx="276758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00400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Dispatch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2566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generation for on-site interventions from tickets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engineers — update status, capture resolution notes and photos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Island-aware routing with atoll ferry schedule awareness for remote sites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33344" y="3090672"/>
            <a:ext cx="276758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33344" y="3090672"/>
            <a:ext cx="2767584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1360" y="3200400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Dispute Resolution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43072" y="3511296"/>
            <a:ext cx="2566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case linked to BRM invoice records in real-time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approval workflow with finance authority levels and limits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SLA tracked separately from technical fault timelines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10656" y="3090672"/>
            <a:ext cx="276758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10656" y="3090672"/>
            <a:ext cx="2767584" cy="502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8672" y="3200400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Analytics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20384" y="3511296"/>
            <a:ext cx="2566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and Mean Time To Resolve (MTTR) KPIs continuously tracked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contact analysis to identify systemic product or network issues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Post-resolution CSAT surveys triggered automatically via SMS or app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 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Entitlement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From proposal to renewal — enterprise and government contract governance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502920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502920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Capabilities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482803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Stages: Draft → Legal Review → Approved → Active → Renewal → Expired with configurable approval matrices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Library: Pre-built templates for Hospitality SLAs, Government MoUs, Enterprise DIA agreements, and SME cloud terms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Entitlement Engine: Map contracted services to specific accounts — DIA bandwidth levels, iHTV room count, SIEM scope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Alert Automation: 90/60/30-day alerts to account managers with AI-surfaced upsell opportunities embedded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Amendment &amp; Change Control: Managed amendment workflow with version control and full audit history of all changes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Recognition: Contract value and milestone billing schedules exported to Oracle Financials / ERP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Workflow: DocuSign-compatible remote signing — critical for Dhiraagu's geographically dispersed clients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Clauses: MCIT (Maldives Communications Authority) compliance clause library built into all templates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31536" y="1152144"/>
            <a:ext cx="3456432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31536" y="1152144"/>
            <a:ext cx="3456432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</a:rPr>
              <a:t>SUPPORTED CONTRACT TYPES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31536" y="1517904"/>
            <a:ext cx="345643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5910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DIA / IPLC Service Agreement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591056"/>
            <a:ext cx="768096" cy="219456"/>
          </a:xfrm>
          <a:prstGeom prst="rect">
            <a:avLst/>
          </a:prstGeom>
          <a:solidFill>
            <a:srgbClr val="BE185D">
              <a:alpha val="16000"/>
            </a:srgbClr>
          </a:solidFill>
          <a:ln w="762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E185D"/>
                </a:solidFill>
              </a:rPr>
              <a:t>Enterprise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31536" y="1920240"/>
            <a:ext cx="3456432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9933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Managed Security Service Contract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1993392"/>
            <a:ext cx="768096" cy="219456"/>
          </a:xfrm>
          <a:prstGeom prst="rect">
            <a:avLst/>
          </a:prstGeom>
          <a:solidFill>
            <a:srgbClr val="BE185D">
              <a:alpha val="16000"/>
            </a:srgbClr>
          </a:solidFill>
          <a:ln w="762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9933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E185D"/>
                </a:solidFill>
              </a:rPr>
              <a:t>Enterprise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31536" y="2322576"/>
            <a:ext cx="345643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iHTV &amp; Kobaa WiFi SLA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2395728"/>
            <a:ext cx="768096" cy="219456"/>
          </a:xfrm>
          <a:prstGeom prst="rect">
            <a:avLst/>
          </a:prstGeom>
          <a:solidFill>
            <a:srgbClr val="1E40AF">
              <a:alpha val="16000"/>
            </a:srgbClr>
          </a:solidFill>
          <a:ln w="762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23957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Hospitality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1536" y="2724912"/>
            <a:ext cx="3456432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2798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Government WAN Framework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46720" y="2798064"/>
            <a:ext cx="768096" cy="219456"/>
          </a:xfrm>
          <a:prstGeom prst="rect">
            <a:avLst/>
          </a:prstGeom>
          <a:solidFill>
            <a:srgbClr val="D97706">
              <a:alpha val="16000"/>
            </a:srgbClr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27980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Government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31536" y="3127248"/>
            <a:ext cx="345643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3200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Cloud Voice / PABX Agreement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3200400"/>
            <a:ext cx="768096" cy="219456"/>
          </a:xfrm>
          <a:prstGeom prst="rect">
            <a:avLst/>
          </a:prstGeom>
          <a:solidFill>
            <a:srgbClr val="047857">
              <a:alpha val="16000"/>
            </a:srgbClr>
          </a:solidFill>
          <a:ln w="762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32004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</a:rPr>
              <a:t>SME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31536" y="3529584"/>
            <a:ext cx="3456432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3602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Biz Limitehneh Fibre Terms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46720" y="3602736"/>
            <a:ext cx="768096" cy="219456"/>
          </a:xfrm>
          <a:prstGeom prst="rect">
            <a:avLst/>
          </a:prstGeom>
          <a:solidFill>
            <a:srgbClr val="047857">
              <a:alpha val="16000"/>
            </a:srgbClr>
          </a:solidFill>
          <a:ln w="762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36027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</a:rPr>
              <a:t>SME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31536" y="3931920"/>
            <a:ext cx="345643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40050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M2M / IoT Master Service Agmt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46720" y="4005072"/>
            <a:ext cx="768096" cy="219456"/>
          </a:xfrm>
          <a:prstGeom prst="rect">
            <a:avLst/>
          </a:prstGeom>
          <a:solidFill>
            <a:srgbClr val="BE185D">
              <a:alpha val="16000"/>
            </a:srgbClr>
          </a:solidFill>
          <a:ln w="7620">
            <a:solidFill>
              <a:srgbClr val="BE18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400507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E185D"/>
                </a:solidFill>
              </a:rPr>
              <a:t>Enterprise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31536" y="4334256"/>
            <a:ext cx="3456432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9552" y="44074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Bulk SMS &amp; Short Code Service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46720" y="4407408"/>
            <a:ext cx="768096" cy="219456"/>
          </a:xfrm>
          <a:prstGeom prst="rect">
            <a:avLst/>
          </a:prstGeom>
          <a:solidFill>
            <a:srgbClr val="1E40AF">
              <a:alpha val="16000"/>
            </a:srgbClr>
          </a:solidFill>
          <a:ln w="7620">
            <a:solidFill>
              <a:srgbClr val="1E40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44074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SME/Ent.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 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&amp; Channel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Empowering Dhiraagu's dealer and reseller network with a self-service portal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2767584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25664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dealer registration and KYB (Know Your Business) workflow with document upload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certification and training tracking per partner and agent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and quota assignment aligned to Dhiraagu's island regional structure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3344" y="1152144"/>
            <a:ext cx="2767584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3344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1360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Portal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3072" y="1572768"/>
            <a:ext cx="25664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submit new activations, SIM orders, and plan changes via self-service portal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 visibility linked to the Order Orchestration Platform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(NID, business registration) enforced for compliance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0656" y="1152144"/>
            <a:ext cx="2767584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0656" y="1152144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8672" y="1261872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&amp; Incentives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0384" y="1572768"/>
            <a:ext cx="25664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rule engine: flat fee, revenue share, tiered incentives fully configurable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monthly statement generation and structured dispute management workflow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leaderboard and bonus attainment tracker visible to each partner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182112"/>
            <a:ext cx="420624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182112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9184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3602736"/>
            <a:ext cx="4005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contributed per partner with trend analysis and comparative ranking by territory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volumes, churn rates, and ARPU of partner-acquired subscribers for quality scoring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tier scoring with automated upgrade/downgrade recommendations to channel team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whitespace analysis for expansion targeting and resource allocation decisions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182112"/>
            <a:ext cx="420624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182112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29184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Hub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81728" y="3602736"/>
            <a:ext cx="4005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new promotions, product updates, and commission statements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SMS alerts via Dhiraagu's own Short Code Messaging Service integration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library: current price lists, product specs, rate cards, and training material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broadcast to all dealers or targeted by tier and territory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MODULES 07 &amp; 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+ AI Analytics &amp; Insights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Bridging CRM to fulfilment, and turning data into competitive advantage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42062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Provisioning (Module 07)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400507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Order Capture: New connections, upgrades, plan changes, and add-on activations initiated from CRM and passed to Dhiraagu's Order Orchestration Platform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Decomposition: Complex multi-product orders (Enterprise site with DIA + MPLS + PABX + Security) decomposed into individual provisioning tasks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Orchestration Integration: Real-time order status sync back from Dhiraagu's Order Orchestration Platform into the CRM order timeline via webhook callbacks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Subscription Activation: On provisioning completion, BRM subscription creation triggered automatically — zero manual re-keying required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Jeopardy Management: Orders at risk of missing SLA flagged automatically with reason codes and suggested remediation steps for operations team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Milestones: Automated notifications (order received → in progress → activated) delivered via SMS and DhiraaguApp push notifications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152144"/>
            <a:ext cx="42062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52144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&amp; Insights (Module 08)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1572768"/>
            <a:ext cx="400507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Engine: ML model scores all active customers monthly on churn probability using usage trends, complaints, payment behaviour, and loyalty tier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Next-Best-Offer (NBO): Real-time recommendation engine surfaces the most relevant upsell or retention offer when an agent opens a customer record in CRM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(CLV): Forward-looking CLV model segmenting customers for prioritised investment, premium service levels, and retention budgets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Detection: Cross-references Oracle BRM billing records with CRM contracted entitlements to identify under-billed or missing service charges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Dashboards: Total subscribers, ARPU, NPS, churn rate, and campaign ROI in real-time with full drill-down to individual account and order level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Heatmaps: Visual maps of customer density and revenue contribution by Maldives atoll for strategic network and commercial coverage planning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INTEGRATION DEEP DIVE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Integration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Real-time, bidirectional connectivity to Dhiraagu's billing and revenue management 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" y="1152144"/>
            <a:ext cx="201168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1E40A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207008"/>
            <a:ext cx="1865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BRT 360 CRM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Customer Record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51760" y="115214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40AF"/>
                </a:solidFill>
              </a:rPr>
              <a:t>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090672" y="1152144"/>
            <a:ext cx="228600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63824" y="1207008"/>
            <a:ext cx="21396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.NET BRM Connector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SOAP-REST Adapter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31536" y="115214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40AF"/>
                </a:solidFill>
              </a:rPr>
              <a:t>⇄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870448" y="1152144"/>
            <a:ext cx="2011680" cy="594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207008"/>
            <a:ext cx="1865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Oracle BRM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Billing &amp; Revenue Mgmt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192024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920240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02996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 CRM → BRM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050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subscription create/update triggered from CRM order workflow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change requests (upgrade / downgrade / add-on activations)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adjustment requests approved through CRM dispute workflow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updates (address, contact, payment method changes)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920240"/>
            <a:ext cx="4206240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02996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 BRM → CRM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81728" y="2340864"/>
            <a:ext cx="40050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account balance and usage stats pulled on customer record open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and bill history last 12 months surfaced inline in CRM agent view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events (received, bounced, overdue) synced to CRM timeline automatically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threshold alerts (80% / 100% data) trigger real-time campaign events in CRM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767328"/>
            <a:ext cx="42062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767328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7705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Integration Points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18795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PCM API (C/Java) wrapped via .NET BRM Client adapter with Infranet connection pool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 for async usage event streaming from BRM mediation layer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for high-frequency balance lookups (sub-100ms response target)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767328"/>
            <a:ext cx="42062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767328"/>
            <a:ext cx="4206240" cy="502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87705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Governance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81728" y="418795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prevents BRM outage from cascading to the CRM agent UI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BRM-bound transactions written to Oracle DB staging with retry and idempotency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of every CRM-initiated BRM action with user, timestamp, reason, and outcome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INTEGRATION DEEP DIVE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Orchestration Platform Integration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Connecting CRM-captured orders to Dhiraagu's existing Order Orchestration Platform and revenue lifecycle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152144"/>
            <a:ext cx="1389888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1E40A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207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Customer Request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CRM Order Capture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115214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01952" y="1152144"/>
            <a:ext cx="1389888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75104" y="1207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Order Decomposition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BRT 360 Order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9272" y="115214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21024" y="1152144"/>
            <a:ext cx="1572768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94176" y="120700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Orchestration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Dhiraagu Order 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21224" y="115214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22976" y="1152144"/>
            <a:ext cx="1389888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04785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96128" y="1207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Billing Activation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Oracle BRM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40296" y="115214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42048" y="1152144"/>
            <a:ext cx="1389888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1E40A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207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CRM Update
</a:t>
            </a:r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Order Completed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1810512"/>
            <a:ext cx="276758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1810512"/>
            <a:ext cx="2767584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920240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Submission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2231136"/>
            <a:ext cx="25664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submits decomposed order items to Dhiraagu's Order Orchestration Platform via its REST/XML Order Management API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reference ID tracked in CRM for full end-to-end traceability across all systems and teams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fallout handling with manual intervention queue for complex or exceptional orders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real-time order submission modes supported depending on order type and priority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priority flag passed to the platform for VIP (Elite Gold) and SLA-critical enterprise accounts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33344" y="1810512"/>
            <a:ext cx="276758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33344" y="1810512"/>
            <a:ext cx="276758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1360" y="1920240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Callback Webhooks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43072" y="2231136"/>
            <a:ext cx="25664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Dhiraagu's Order Orchestration Platform sends real-time provisioning milestones back to BRT 360 via webhook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order timeline updated automatically — no manual polling or agent intervention required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Jeopardy alerts raised in CRM when provisioning task deadlines are missed in the platform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completion event triggers Oracle BRM subscription activation handshake automatically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provisioning steps create an escalation case in the CRM Service module automatically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10656" y="1810512"/>
            <a:ext cx="276758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10656" y="1810512"/>
            <a:ext cx="276758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8672" y="1920240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Assurance View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20384" y="2231136"/>
            <a:ext cx="25664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contract value reconciled against activated services on a daily automated run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report: contracted vs provisioned services for every enterprise account — visible to account manager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billing start date confirmation pulled back and stored in the CRM order record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assurance dashboard flags accounts with provisioned services not yet generating billing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to finance and sales ops for accounts with outstanding reconciliation gaps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DELIVERY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Phased delivery — value from Day 1, full capability within 12 months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426464"/>
            <a:ext cx="8631936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1335024"/>
            <a:ext cx="237744" cy="23774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682496"/>
            <a:ext cx="206654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2066544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3736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E40AF"/>
                </a:solidFill>
              </a:rPr>
              <a:t>Phase 1 · Months 1–3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19933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2322576"/>
            <a:ext cx="190195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Hub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Connector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SSO Setup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UI &amp; Dashboards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Training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28416" y="1335024"/>
            <a:ext cx="237744" cy="237744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1682496"/>
            <a:ext cx="206654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14016" y="1682496"/>
            <a:ext cx="2066544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173736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E185D"/>
                </a:solidFill>
              </a:rPr>
              <a:t>Phase 2 · Months 4–6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05456" y="19933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Service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05456" y="2322576"/>
            <a:ext cx="190195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Module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Engine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Orchestration Link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App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1335024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682496"/>
            <a:ext cx="206654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682496"/>
            <a:ext cx="206654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73736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D97706"/>
                </a:solidFill>
              </a:rPr>
              <a:t>Phase 3 · Months 7–9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19933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&amp; Grow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2322576"/>
            <a:ext cx="190195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Engine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DhiraaguPay Integration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Club Sync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Model v1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44384" y="1335024"/>
            <a:ext cx="237744" cy="23774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682496"/>
            <a:ext cx="206654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9984" y="1682496"/>
            <a:ext cx="2066544" cy="502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173736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47857"/>
                </a:solidFill>
              </a:rPr>
              <a:t>Phase 4 · Months 10–12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21424" y="19933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21424" y="2322576"/>
            <a:ext cx="190195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Suite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Next-Best-Offer Engine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BI Layer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Assurance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Hyper-Care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5029200"/>
            <a:ext cx="8631936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10332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</a:rPr>
              <a:t>VALUE PROPOSITION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BRT 360 for Dhiraagu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7315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Built for telcos. Proven in BRM environments. Delivered with partnership.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01168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indent="0" marL="0">
              <a:buNone/>
            </a:pPr>
            <a:r>
              <a:rPr lang="en-US" sz="74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4206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52144"/>
            <a:ext cx="4206240" cy="502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Telco-Native, Not Adapted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designed from the ground up for CSPs — not adapted from a generic CRM platform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lifecycle, usage-based billing, and network events are first-class data model citizens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product catalog structures (prepaid, postpaid, bundles, add-ons) native to BRT 360 schema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152144"/>
            <a:ext cx="4206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52144"/>
            <a:ext cx="4206240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2618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BRM Connector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1572768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connector delivered and battle-tested across 12 live telco BRM implementations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 gets a proven, supported adapter — not a risky custom one-off build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reduction in BRM integration risk and timeline versus greenfield connector development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4206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07792"/>
            <a:ext cx="42062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1752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Extensible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328416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BRT 360 capabilities exposed via TM Forum-aligned Open APIs — no vendor lock-in at any layer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Dhiraagu's internal teams, SIs, and ISVs can extend the platform without BRT dependency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 supports future OSS/BSS integrations as Dhiraagu's technology landscape evolves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907792"/>
            <a:ext cx="42062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907792"/>
            <a:ext cx="4206240" cy="502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301752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Maldives-Context Ready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81728" y="3328416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Island/atoll-aware territory model and MVR currency support built in from day one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GST/TGST compliance and MCIT regulatory clause library for Dhiraagu's legal obligations</a:t>
            </a:r>
            <a:endParaRPr lang="en-US" sz="9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Dhivehi language support and island-specific field service routing for atoll operations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solidFill>
            <a:srgbClr val="DBEAFE"/>
          </a:solidFill>
          <a:ln w="889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672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60%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Faster BRM Integration vs Greenfield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414016" y="4718304"/>
            <a:ext cx="0" cy="27432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05456" y="4672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</a:rPr>
              <a:t>40%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Reduction in Agent Handle Time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0" y="4718304"/>
            <a:ext cx="0" cy="27432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672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25%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Improvement in Churn Retention Rate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729984" y="4718304"/>
            <a:ext cx="0" cy="27432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4672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</a:rPr>
              <a:t>12mo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Full Platform Delivery Target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257175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64008" cy="257175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E40AF">
              <a:alpha val="7000"/>
            </a:srgbClr>
          </a:solidFill>
          <a:ln w="762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645920" y="2926080"/>
            <a:ext cx="3840480" cy="3840480"/>
          </a:xfrm>
          <a:prstGeom prst="ellipse">
            <a:avLst/>
          </a:prstGeom>
          <a:solidFill>
            <a:srgbClr val="BE185D">
              <a:alpha val="7000"/>
            </a:srgbClr>
          </a:solidFill>
          <a:ln w="7620">
            <a:solidFill>
              <a:srgbClr val="BE18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algn="ctr" indent="0" marL="0">
              <a:buNone/>
            </a:pPr>
            <a:r>
              <a:rPr lang="en-US" sz="4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4A3B8"/>
                </a:solidFill>
              </a:rPr>
              <a:t>Technologies  ·  BRT 360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</a:t>
            </a:r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6151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We're ready to begin with a detailed solution workshop and a proof-of-concept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Oracle BRM integration demonstration tailored to Dhiraagu's live environment.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1993392" cy="804672"/>
          </a:xfrm>
          <a:prstGeom prst="rect">
            <a:avLst/>
          </a:prstGeom>
          <a:solidFill>
            <a:srgbClr val="162B6E"/>
          </a:solidFill>
          <a:ln w="889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401568"/>
            <a:ext cx="1993392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56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</a:rPr>
              <a:t>PLATFORM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BRT 360 CRM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3401568"/>
            <a:ext cx="1993392" cy="804672"/>
          </a:xfrm>
          <a:prstGeom prst="rect">
            <a:avLst/>
          </a:prstGeom>
          <a:solidFill>
            <a:srgbClr val="162B6E"/>
          </a:solidFill>
          <a:ln w="889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3401568"/>
            <a:ext cx="1993392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3456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</a:rPr>
              <a:t>TECH STACK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78608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.NET · React · Oracle · PostgreSQL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3401568"/>
            <a:ext cx="1993392" cy="804672"/>
          </a:xfrm>
          <a:prstGeom prst="rect">
            <a:avLst/>
          </a:prstGeom>
          <a:solidFill>
            <a:srgbClr val="162B6E"/>
          </a:solidFill>
          <a:ln w="889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3401568"/>
            <a:ext cx="1993392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3456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</a:rPr>
              <a:t>INTEGRATION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00016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Oracle BRM + Order Orchestration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9984" y="3401568"/>
            <a:ext cx="1993392" cy="804672"/>
          </a:xfrm>
          <a:prstGeom prst="rect">
            <a:avLst/>
          </a:prstGeom>
          <a:solidFill>
            <a:srgbClr val="162B6E"/>
          </a:solidFill>
          <a:ln w="8890">
            <a:solidFill>
              <a:srgbClr val="BE185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9984" y="3401568"/>
            <a:ext cx="1993392" cy="502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3456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</a:rPr>
              <a:t>TIMELINE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21424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Months Full Delivery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62B6E"/>
          </a:solidFill>
          <a:ln w="12700">
            <a:solidFill>
              <a:srgbClr val="162B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796028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326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© 2026 BlueRose Technologies  ·  BRT 360 Platform  ·  Confidential &amp; Proprietary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BRT 360 CRM – Proposal for Dhiraagu</dc:title>
  <dc:subject>Custom CRM Solution Proposal</dc:subject>
  <dc:creator>BlueRose Technologies</dc:creator>
  <cp:lastModifiedBy>BlueRose Technologies</cp:lastModifiedBy>
  <cp:revision>1</cp:revision>
  <dcterms:created xsi:type="dcterms:W3CDTF">2026-06-21T21:24:19Z</dcterms:created>
  <dcterms:modified xsi:type="dcterms:W3CDTF">2026-06-21T21:24:19Z</dcterms:modified>
</cp:coreProperties>
</file>