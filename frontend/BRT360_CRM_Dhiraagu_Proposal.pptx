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8BAD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A8BADA"/>
                </a:solidFill>
                <a:latin typeface="Arial"/>
              </a:rPr>
              <a:t>Customer Revenue by Segment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(%)</c:v>
                </c:pt>
              </c:strCache>
            </c:strRef>
          </c:tx>
          <c:spPr>
            <a:solidFill>
              <a:srgbClr val="E841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41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4E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Personal</c:v>
                  </c:pt>
                  <c:pt idx="1">
                    <c:v>Enterprise</c:v>
                  </c:pt>
                  <c:pt idx="2">
                    <c:v>SME</c:v>
                  </c:pt>
                  <c:pt idx="3">
                    <c:v>Government</c:v>
                  </c:pt>
                  <c:pt idx="4">
                    <c:v>Hospitality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7</c:v>
                </c:pt>
                <c:pt idx="4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AD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4A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BAD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3A5F"/>
        </a:solidFill>
        <a:ln>
          <a:noFill/>
        </a:ln>
        <a:effectLst/>
      </c:spPr>
    </c:plotArea>
    <c:plotVisOnly val="1"/>
    <c:dispBlanksAs val="span"/>
  </c:chart>
  <c:spPr>
    <a:solidFill>
      <a:srgbClr val="1E3A5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286000" cy="2286000"/>
          </a:xfrm>
          <a:prstGeom prst="ellipse">
            <a:avLst/>
          </a:prstGeom>
          <a:solidFill>
            <a:srgbClr val="E8416B">
              <a:alpha val="25000"/>
            </a:srgbClr>
          </a:solidFill>
          <a:ln w="12700">
            <a:solidFill>
              <a:srgbClr val="E8416B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55280" y="-274320"/>
            <a:ext cx="1645920" cy="1645920"/>
          </a:xfrm>
          <a:prstGeom prst="ellipse">
            <a:avLst/>
          </a:prstGeom>
          <a:solidFill>
            <a:srgbClr val="E8416B">
              <a:alpha val="45000"/>
            </a:srgbClr>
          </a:solidFill>
          <a:ln w="12700">
            <a:solidFill>
              <a:srgbClr val="E8416B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360 CRM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8C9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Visionary Customer Relationship Management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B8C9E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Platform for Dhiraagu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520440"/>
            <a:ext cx="3200400" cy="4572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4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BlueRose Technologies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4572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4754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www.bluerose-tech.com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84048" cy="384048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1033272"/>
            <a:ext cx="3474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04241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BlueRose Technologies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84048" cy="384048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1901952"/>
            <a:ext cx="3474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19110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Dhiraagu Business Landscape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2770632"/>
            <a:ext cx="3474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27797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CRM Imperative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384048" cy="384048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120" y="3639312"/>
            <a:ext cx="3474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36484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360 Platform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051560"/>
            <a:ext cx="384048" cy="384048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051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49240" y="1033272"/>
            <a:ext cx="3474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40680" y="104241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920240"/>
            <a:ext cx="384048" cy="384048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49240" y="1901952"/>
            <a:ext cx="3474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40680" y="191109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CRM Modules — Deep Dive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2788920"/>
            <a:ext cx="384048" cy="384048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49240" y="2770632"/>
            <a:ext cx="3474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40680" y="277977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 &amp; RODOD Integration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3657600"/>
            <a:ext cx="384048" cy="384048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657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349240" y="3639312"/>
            <a:ext cx="34747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440680" y="3648456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&amp; Why BRT 360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BlueRose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5720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43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BlueRose Technologies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Full-stack digital solutions partner specializing in telecommunications and enterprise software. We architect, build, and operate mission-critical systems for Tier-1 CSPs and government bodies across Asia-Pacific and the Middle East.
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Expertise:
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Telecom CRM &amp; BSS Platforms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Oracle BRM / RODOD Integration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Microservices &amp; Node.js/React Frontends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Oracle Certified Implementation Partner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Cloud-native &amp; On-premise Deployments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ISO 27001 &amp; GDPR-aligned Security Practices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12080" y="1005840"/>
            <a:ext cx="3566160" cy="822960"/>
          </a:xfrm>
          <a:prstGeom prst="rect">
            <a:avLst/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212080" y="103327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92240" y="1188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Projects Delivered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12080" y="1975104"/>
            <a:ext cx="3566160" cy="822960"/>
          </a:xfrm>
          <a:prstGeom prst="rect">
            <a:avLst/>
          </a:prstGeom>
          <a:solidFill>
            <a:srgbClr val="E8416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2002536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92240" y="215798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Telecom Clients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2944368"/>
            <a:ext cx="3566160" cy="822960"/>
          </a:xfrm>
          <a:prstGeom prst="rect">
            <a:avLst/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29718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92240" y="31272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Years of Expertise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3913632"/>
            <a:ext cx="3566160" cy="822960"/>
          </a:xfrm>
          <a:prstGeom prst="rect">
            <a:avLst/>
          </a:prstGeom>
          <a:solidFill>
            <a:srgbClr val="E8416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3941064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92240" y="409651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Client Retention Rate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Dhiraagu's Business Landscape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1993392" cy="3383280"/>
          </a:xfrm>
          <a:prstGeom prst="rect">
            <a:avLst/>
          </a:prstGeom>
          <a:solidFill>
            <a:srgbClr val="253F78"/>
          </a:solidFill>
          <a:ln w="19050">
            <a:solidFill>
              <a:srgbClr val="E841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1993392" cy="73152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5G · Prepaid · Postpaid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Fibre Broadband · eSIM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Tourist SIM · OneNumber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SmartView · eZone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960120"/>
            <a:ext cx="1993392" cy="3383280"/>
          </a:xfrm>
          <a:prstGeom prst="rect">
            <a:avLst/>
          </a:prstGeom>
          <a:solidFill>
            <a:srgbClr val="1D3461"/>
          </a:solidFill>
          <a:ln w="19050">
            <a:solidFill>
              <a:srgbClr val="E841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960120"/>
            <a:ext cx="1993392" cy="73152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Business/Enterprise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6459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Dedicated Internet · WAN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IPLC · M2M · Cloud Voice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PABX / Contact Center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Managed Security · SIEM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960120"/>
            <a:ext cx="1993392" cy="3383280"/>
          </a:xfrm>
          <a:prstGeom prst="rect">
            <a:avLst/>
          </a:prstGeom>
          <a:solidFill>
            <a:srgbClr val="253F78"/>
          </a:solidFill>
          <a:ln w="19050">
            <a:solidFill>
              <a:srgbClr val="E841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960120"/>
            <a:ext cx="1993392" cy="73152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16459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Kobaa WiFi · iHTV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Guest Connectivity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Hospitality CRM Portal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 Bandwidth Packages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1993392" cy="3383280"/>
          </a:xfrm>
          <a:prstGeom prst="rect">
            <a:avLst/>
          </a:prstGeom>
          <a:solidFill>
            <a:srgbClr val="1D3461"/>
          </a:solidFill>
          <a:ln w="19050">
            <a:solidFill>
              <a:srgbClr val="E841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960120"/>
            <a:ext cx="1993392" cy="73152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4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1645920"/>
            <a:ext cx="1810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Colocation · Firewall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Secure WAN · CCTV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Structured Cabling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Bulk SMS for Agencies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Highlights: 5G Nationwide · eSIM · DhiraaguPay · Elite Club · SmartView IPTV · eZone Digital Retail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Dhiraagu Needs a Unified CRM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Customer Data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Siloed prepaid, postpaid, broadband and enterprise data with no single source of truth.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606040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33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360° 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9443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Customer-facing teams cannot see the full account picture — subscriptions, usage, billing, and interactions.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703320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30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BRM Reconciliation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0416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Billing reconciliation with Oracle BRM is manual, error-prone, and delays revenue recognition.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50876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50876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Upsell &amp; Cross-Sell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18470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Leverage unified data to identify the right offer, at the right time, across all customer segments.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260604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60604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63347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Churn Prevention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29443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 at-risk customers using ML signals and intervene with targeted retention offers before churn occurs.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3703320"/>
            <a:ext cx="39319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70332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730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Omnichannel Service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40416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 consistent experience across app, web, PABX, walk-in stores, and partner channels.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360 — The Intelligent Telecom CRM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960120"/>
            <a:ext cx="2926080" cy="475488"/>
          </a:xfrm>
          <a:prstGeom prst="rect">
            <a:avLst/>
          </a:prstGeom>
          <a:solidFill>
            <a:srgbClr val="E8416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9601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Node.js 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435608"/>
            <a:ext cx="0" cy="292608"/>
          </a:xfrm>
          <a:prstGeom prst="line">
            <a:avLst/>
          </a:prstGeom>
          <a:noFill/>
          <a:ln w="19050">
            <a:solidFill>
              <a:srgbClr val="8899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728216"/>
            <a:ext cx="2926080" cy="475488"/>
          </a:xfrm>
          <a:prstGeom prst="rect">
            <a:avLst/>
          </a:prstGeom>
          <a:solidFill>
            <a:srgbClr val="1D4ED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72821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API Gateway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2203704"/>
            <a:ext cx="0" cy="274320"/>
          </a:xfrm>
          <a:prstGeom prst="line">
            <a:avLst/>
          </a:prstGeom>
          <a:noFill/>
          <a:ln w="19050">
            <a:solidFill>
              <a:srgbClr val="8899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03704"/>
            <a:ext cx="0" cy="274320"/>
          </a:xfrm>
          <a:prstGeom prst="line">
            <a:avLst/>
          </a:prstGeom>
          <a:noFill/>
          <a:ln w="19050">
            <a:solidFill>
              <a:srgbClr val="8899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2203704"/>
            <a:ext cx="0" cy="274320"/>
          </a:xfrm>
          <a:prstGeom prst="line">
            <a:avLst/>
          </a:prstGeom>
          <a:noFill/>
          <a:ln w="19050">
            <a:solidFill>
              <a:srgbClr val="8899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2478024"/>
            <a:ext cx="5394960" cy="0"/>
          </a:xfrm>
          <a:prstGeom prst="line">
            <a:avLst/>
          </a:prstGeom>
          <a:noFill/>
          <a:ln w="19050">
            <a:solidFill>
              <a:srgbClr val="8899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78024"/>
            <a:ext cx="2468880" cy="475488"/>
          </a:xfrm>
          <a:prstGeom prst="rect">
            <a:avLst/>
          </a:prstGeom>
          <a:solidFill>
            <a:srgbClr val="253F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780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478024"/>
            <a:ext cx="2468880" cy="475488"/>
          </a:xfrm>
          <a:prstGeom prst="rect">
            <a:avLst/>
          </a:prstGeom>
          <a:solidFill>
            <a:srgbClr val="253F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4780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478024"/>
            <a:ext cx="2468880" cy="475488"/>
          </a:xfrm>
          <a:prstGeom prst="rect">
            <a:avLst/>
          </a:prstGeom>
          <a:solidFill>
            <a:srgbClr val="253F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4780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377440" y="2953512"/>
            <a:ext cx="0" cy="274320"/>
          </a:xfrm>
          <a:prstGeom prst="line">
            <a:avLst/>
          </a:prstGeom>
          <a:noFill/>
          <a:ln w="19050">
            <a:solidFill>
              <a:srgbClr val="8899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2953512"/>
            <a:ext cx="0" cy="274320"/>
          </a:xfrm>
          <a:prstGeom prst="line">
            <a:avLst/>
          </a:prstGeom>
          <a:noFill/>
          <a:ln w="19050">
            <a:solidFill>
              <a:srgbClr val="8899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3227832"/>
            <a:ext cx="4434840" cy="0"/>
          </a:xfrm>
          <a:prstGeom prst="line">
            <a:avLst/>
          </a:prstGeom>
          <a:noFill/>
          <a:ln w="19050">
            <a:solidFill>
              <a:srgbClr val="E841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227832"/>
            <a:ext cx="3657600" cy="475488"/>
          </a:xfrm>
          <a:prstGeom prst="rect">
            <a:avLst/>
          </a:prstGeom>
          <a:solidFill>
            <a:srgbClr val="7C3AE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27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 — Billing Revenue Management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227832"/>
            <a:ext cx="3657600" cy="475488"/>
          </a:xfrm>
          <a:prstGeom prst="rect">
            <a:avLst/>
          </a:prstGeom>
          <a:solidFill>
            <a:srgbClr val="0D948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278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RODOD Stack — Digital Operations Domain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9C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BRT 360 Integration Orchestration Layer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Scale, Built for Telecoms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05840"/>
            <a:ext cx="20116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05840"/>
            <a:ext cx="2011680" cy="50292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" y="1572768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18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Node.js 20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TypeScript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 / GraphQL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Micro-frontends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PWA Support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96312" y="1005840"/>
            <a:ext cx="20116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1005840"/>
            <a:ext cx="2011680" cy="5029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87752" y="1572768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8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Microservices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gRPC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Event Bus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CQRS Pattern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OpenAPI 3.1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45152" y="1005840"/>
            <a:ext cx="20116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45152" y="1005840"/>
            <a:ext cx="20116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36592" y="1572768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Oracle 21c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PostgreSQL 15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Redis Cache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Elasticsearch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Vault 2.0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CDC Streams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93992" y="1005840"/>
            <a:ext cx="20116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93992" y="1005840"/>
            <a:ext cx="20116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3992" y="1005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85432" y="1572768"/>
            <a:ext cx="1828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Oracle BRM APIs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RODOD Adapters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Apache Kafka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MuleSoft ESB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REST Webhooks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SFTP/EDI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Customer 360 &amp; Account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73152" cy="384048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Customer Intelligence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BRT 360 creates a single, real-time customer profile that consolidates every touchpoint across Dhiraagu's product portfolio — from prepaid mobile to enterprise WAN. Agents gain instant context, enabling faster resolution and smarter upsell.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2606040"/>
            <a:ext cx="4114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Household &amp; corporate account hierarchy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360° subscription overview (all Dhiraagu products)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interaction &amp; service history timeline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Credit profile &amp; payment behaviour scoring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balance via Oracle BRM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Linked eSIM, DhiraaguPay, Elite Club profiles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92040" y="1005840"/>
            <a:ext cx="3886200" cy="841248"/>
          </a:xfrm>
          <a:prstGeom prst="rect">
            <a:avLst/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92040" y="1005840"/>
            <a:ext cx="73152" cy="841248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4630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products, one profile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2011680"/>
            <a:ext cx="3886200" cy="841248"/>
          </a:xfrm>
          <a:prstGeom prst="rect">
            <a:avLst/>
          </a:prstGeom>
          <a:solidFill>
            <a:srgbClr val="253F7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2011680"/>
            <a:ext cx="73152" cy="841248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103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BRM Sync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24688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 &amp; billing live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3017520"/>
            <a:ext cx="3886200" cy="841248"/>
          </a:xfrm>
          <a:prstGeom prst="rect">
            <a:avLst/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3017520"/>
            <a:ext cx="73152" cy="841248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1089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Next Action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474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Churn &amp; upsell signals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4023360"/>
            <a:ext cx="3886200" cy="841248"/>
          </a:xfrm>
          <a:prstGeom prst="rect">
            <a:avLst/>
          </a:prstGeom>
          <a:solidFill>
            <a:srgbClr val="253F7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4023360"/>
            <a:ext cx="73152" cy="841248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4114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History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4480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App · Web · PABX · Walk-in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Lead &amp; Opportunity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2412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BRT 360 provides a structured B2B sales pipeline covering Enterprise, SME, Hospitality, and Government segments. Lead scoring, territory management, quota tracking, and automated forecasting give sales leaders full pipeline visibility.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2011680"/>
            <a:ext cx="1554480" cy="640080"/>
          </a:xfrm>
          <a:prstGeom prst="rect">
            <a:avLst/>
          </a:prstGeom>
          <a:solidFill>
            <a:srgbClr val="253F78"/>
          </a:solidFill>
          <a:ln w="12700">
            <a:solidFill>
              <a:srgbClr val="253F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74520" y="2331720"/>
            <a:ext cx="155448" cy="0"/>
          </a:xfrm>
          <a:prstGeom prst="line">
            <a:avLst/>
          </a:prstGeom>
          <a:noFill/>
          <a:ln w="25400">
            <a:solidFill>
              <a:srgbClr val="E841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29968" y="2011680"/>
            <a:ext cx="155448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84448" y="2331720"/>
            <a:ext cx="155448" cy="0"/>
          </a:xfrm>
          <a:prstGeom prst="line">
            <a:avLst/>
          </a:prstGeom>
          <a:noFill/>
          <a:ln w="25400">
            <a:solidFill>
              <a:srgbClr val="E841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9896" y="2011680"/>
            <a:ext cx="1554480" cy="6400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94376" y="2331720"/>
            <a:ext cx="155448" cy="0"/>
          </a:xfrm>
          <a:prstGeom prst="line">
            <a:avLst/>
          </a:prstGeom>
          <a:noFill/>
          <a:ln w="25400">
            <a:solidFill>
              <a:srgbClr val="E841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9824" y="2011680"/>
            <a:ext cx="155448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04304" y="2331720"/>
            <a:ext cx="155448" cy="0"/>
          </a:xfrm>
          <a:prstGeom prst="line">
            <a:avLst/>
          </a:prstGeom>
          <a:noFill/>
          <a:ln w="25400">
            <a:solidFill>
              <a:srgbClr val="E841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59752" y="2011680"/>
            <a:ext cx="1554480" cy="64008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9752" y="20116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15819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80360"/>
            <a:ext cx="1581912" cy="5486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953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Scoring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" y="33375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ML-based scoring from web, email, event signals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29968" y="2880360"/>
            <a:ext cx="15819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29968" y="2880360"/>
            <a:ext cx="1581912" cy="5486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2953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Mgmt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03120" y="33375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Assign accounts by atoll, region, or industry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39896" y="2880360"/>
            <a:ext cx="15819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39896" y="2880360"/>
            <a:ext cx="1581912" cy="5486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13048" y="2953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Tracking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13048" y="33375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Individual &amp; team targets with real-time attainment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9824" y="2880360"/>
            <a:ext cx="15819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49824" y="2880360"/>
            <a:ext cx="1581912" cy="5486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22976" y="2953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Engine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22976" y="33375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Weighted pipeline with confidence-band forecasting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59752" y="2880360"/>
            <a:ext cx="1581912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59752" y="2880360"/>
            <a:ext cx="1581912" cy="5486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32904" y="295351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Follow-ups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32904" y="3337560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Task &amp; reminder automation for each stage gate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Service Request &amp; Case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24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Trouble Ticketing &amp; SLA Governance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service requests — network faults, billing disputes, provisioning tasks — are captured, routed, and tracked in a single system. Agents and field teams share the same real-time view, eliminating duplicates and blind spots.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Trouble ticketing: network, billing, provisioning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SLA tracking with breach alerts &amp; escalations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Omnichannel intake: App · Web · PABX · Walk-in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PABX / Contact Center deep integration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 tier-1 → tier-2 escalation workflows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notification via SMS &amp; push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analytics: MTTR, FCR, CSAT trending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12080" y="1005840"/>
            <a:ext cx="3611880" cy="87782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21808" y="1115568"/>
            <a:ext cx="457200" cy="45720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9788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iOS &amp; Android self-service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0" y="2029968"/>
            <a:ext cx="361188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21808" y="2139696"/>
            <a:ext cx="457200" cy="45720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0756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97880" y="2441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B2C &amp; B2B online support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212080" y="3054096"/>
            <a:ext cx="3611880" cy="877824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21808" y="3163824"/>
            <a:ext cx="457200" cy="45720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30998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PABX / IVR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97880" y="34655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Contact center integration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212080" y="4078224"/>
            <a:ext cx="361188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21808" y="4187952"/>
            <a:ext cx="457200" cy="45720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41239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 Store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97880" y="44897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Branch agent console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Campaign &amp; Marketing Automation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241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Target the right customer with the right offer at the right time. BRT 360's campaign engine leverages unified CRM data to deliver hyper-personalized campaigns across prepaid, postpaid, fibre, roaming, and enterprise segments.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2697480" cy="64008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Builder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1401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Dynamic cohorts by product, usage, tenure, ARPU, geography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19202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920240"/>
            <a:ext cx="2697480" cy="64008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241401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Elite Club, DhiraaguPay &amp; roaming promotional offer automation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192024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920240"/>
            <a:ext cx="2697480" cy="64008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SMS Gateway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72784" y="241401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Native Bulk SMS integration with delivery tracking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37560"/>
            <a:ext cx="2697480" cy="64008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472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Email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3133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Multi-channel delivery — app push, email, in-app messages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73552" y="333756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73552" y="3337560"/>
            <a:ext cx="2697480" cy="64008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34472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64992" y="383133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Split-test offers and messaging with statistical significance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81344" y="3337560"/>
            <a:ext cx="26974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3337560"/>
            <a:ext cx="2697480" cy="64008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344728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3831336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Per-campaign revenue attribution, conversion funnel &amp; ROAS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Order Management &amp; Product Catalog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241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Quote-to-Order Lifecycle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200400" cy="4114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Browse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1920240"/>
            <a:ext cx="0" cy="118872"/>
          </a:xfrm>
          <a:prstGeom prst="line">
            <a:avLst/>
          </a:prstGeom>
          <a:noFill/>
          <a:ln w="19050">
            <a:solidFill>
              <a:srgbClr val="E841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39112"/>
            <a:ext cx="3200400" cy="411480"/>
          </a:xfrm>
          <a:prstGeom prst="rect">
            <a:avLst/>
          </a:prstGeom>
          <a:solidFill>
            <a:srgbClr val="253F78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3911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&amp; Quote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57400" y="2450592"/>
            <a:ext cx="0" cy="118872"/>
          </a:xfrm>
          <a:prstGeom prst="line">
            <a:avLst/>
          </a:prstGeom>
          <a:noFill/>
          <a:ln w="19050">
            <a:solidFill>
              <a:srgbClr val="E841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69464"/>
            <a:ext cx="3200400" cy="4114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94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57400" y="2980944"/>
            <a:ext cx="0" cy="118872"/>
          </a:xfrm>
          <a:prstGeom prst="line">
            <a:avLst/>
          </a:prstGeom>
          <a:noFill/>
          <a:ln w="19050">
            <a:solidFill>
              <a:srgbClr val="E841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99816"/>
            <a:ext cx="3200400" cy="411480"/>
          </a:xfrm>
          <a:prstGeom prst="rect">
            <a:avLst/>
          </a:prstGeom>
          <a:solidFill>
            <a:srgbClr val="253F78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98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57400" y="3511296"/>
            <a:ext cx="0" cy="118872"/>
          </a:xfrm>
          <a:prstGeom prst="line">
            <a:avLst/>
          </a:prstGeom>
          <a:noFill/>
          <a:ln w="19050">
            <a:solidFill>
              <a:srgbClr val="E841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30168"/>
            <a:ext cx="3200400" cy="4114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30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BRM Provisioning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57400" y="4041648"/>
            <a:ext cx="0" cy="118872"/>
          </a:xfrm>
          <a:prstGeom prst="line">
            <a:avLst/>
          </a:prstGeom>
          <a:noFill/>
          <a:ln w="19050">
            <a:solidFill>
              <a:srgbClr val="E841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60520"/>
            <a:ext cx="3200400" cy="411480"/>
          </a:xfrm>
          <a:prstGeom prst="rect">
            <a:avLst/>
          </a:prstGeom>
          <a:solidFill>
            <a:srgbClr val="E8416B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160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Active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0" y="10241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Product Catalog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150876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5G Plans — Consumer &amp; Enterprise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Prepaid &amp; Postpaid Mobile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Fibre Broadband — Residential &amp; Business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M2M / IoT Connectivity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Dedicated Internet &amp; WAN/IPLC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Cloud Voice &amp; PABX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Managed Security &amp; Firewall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Colocation &amp; Hosting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— Contract &amp; SLA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353312"/>
            <a:ext cx="402336" cy="402336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Lifecycle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End-to-end management — creation, legal review, approval, execution, renewal, and termination — for all enterprise agreements.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0328" y="1353312"/>
            <a:ext cx="402336" cy="402336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353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0972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Commitments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4447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Service-level definitions for Dedicated Internet, IPLC, WAN, and Colocation with real-time monitoring and breach alerting.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679192"/>
            <a:ext cx="402336" cy="402336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7706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Integrated e-signature workflow with audit trail — eliminate paper and accelerate deal closure by up to 60%.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0328" y="2679192"/>
            <a:ext cx="402336" cy="402336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2679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2423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Auto-Renewal Alerts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7706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90/60/30-day renewal notifications to account managers and customers, with upsell prompts on expiring contracts.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4005072"/>
            <a:ext cx="402336" cy="402336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Repository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409651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Versioned contract storage with role-based access, linked to the customer 360 profile.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10328" y="4005072"/>
            <a:ext cx="402336" cy="402336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40680" y="3749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Tracking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09651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TRCSL regulatory compliance flags and audit-ready reporting for all enterprise agreements.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— Partner &amp; Channel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24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 Your Indirect Sales Network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BRT 360's partner portal provides dealers, resellers, ISPs, and hospitality partners a dedicated workspace to manage their pipeline, commissions, and customer accounts — all connected to the central Dhiraagu CRM.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Dealer &amp; reseller onboarding workflow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Commission calculation &amp; disbursement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 performance dashboards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Kobaa WiFi &amp; iHTV hospitality reseller portal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Lead sharing with indirect channels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Co-branded marketing asset management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Partner-level SLA tracking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12080" y="1005840"/>
            <a:ext cx="3611880" cy="877824"/>
          </a:xfrm>
          <a:prstGeom prst="rect">
            <a:avLst/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94960" y="105156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&amp; Resellers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143560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Commission &amp; performance mgmt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12080" y="2029968"/>
            <a:ext cx="3611880" cy="877824"/>
          </a:xfrm>
          <a:prstGeom prst="rect">
            <a:avLst/>
          </a:prstGeom>
          <a:solidFill>
            <a:srgbClr val="253F7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94960" y="20756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Partners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2459736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Kobaa WiFi &amp; iHTV resellers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12080" y="3054096"/>
            <a:ext cx="3611880" cy="877824"/>
          </a:xfrm>
          <a:prstGeom prst="rect">
            <a:avLst/>
          </a:prstGeom>
          <a:solidFill>
            <a:srgbClr val="1A2E5A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309981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Partners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3483864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Wholesale &amp; interconnect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12080" y="4078224"/>
            <a:ext cx="3611880" cy="877824"/>
          </a:xfrm>
          <a:prstGeom prst="rect">
            <a:avLst/>
          </a:prstGeom>
          <a:solidFill>
            <a:srgbClr val="253F7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0" y="412394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450799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Bulk services channel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— Analytics &amp; Intelligent Reporting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1005840"/>
            <a:ext cx="3291840" cy="877824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32120" y="1005840"/>
            <a:ext cx="73152" cy="87782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0" y="10515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Churn Prediction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 models identify at-risk subscribers 60 days ahead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32120" y="2029968"/>
            <a:ext cx="3291840" cy="877824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32120" y="2029968"/>
            <a:ext cx="73152" cy="87782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2075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Forecasting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715000" y="244144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Segment-level revenue projection with confidence intervals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32120" y="3054096"/>
            <a:ext cx="3291840" cy="877824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32120" y="3054096"/>
            <a:ext cx="73152" cy="87782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3099816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Tracking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715000" y="346557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 Promoter Score by product, channel, and agent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532120" y="4078224"/>
            <a:ext cx="3291840" cy="877824"/>
          </a:xfrm>
          <a:prstGeom prst="rect">
            <a:avLst/>
          </a:prstGeom>
          <a:solidFill>
            <a:srgbClr val="1E3A5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4078224"/>
            <a:ext cx="73152" cy="87782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15000" y="412394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 Dashboards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715000" y="4489704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D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Executive, operational, and agent-level live views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— Field Force Management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24128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mobile-first platform for Dhiraagu's field technicians — enabling work order dispatch, GPS-based routing, on-site service capture, and offline operations across even the most remote Maldivian atolls.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920240"/>
            <a:ext cx="64008" cy="9144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Work Orders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591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Dispatch, accept, and close work orders from Android/iOS field app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920240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920240"/>
            <a:ext cx="64008" cy="9144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0116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235915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technician location on dispatcher map with ETA calculations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44368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44368"/>
            <a:ext cx="64008" cy="9144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358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Capture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Photo, signature, and checklist capture for proof-of-installation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2944368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944368"/>
            <a:ext cx="64008" cy="9144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03580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&amp; Cabling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383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Specialized forms for CCTV install, structured cabling, temp monitoring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968496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68496"/>
            <a:ext cx="64008" cy="9144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599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Design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40740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Full functionality without connectivity — sync when back in coverage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3968496"/>
            <a:ext cx="4251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968496"/>
            <a:ext cx="64008" cy="9144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40599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Integration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440740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Field work orders linked to CRM cases with automatic SLA tracking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Loyalty &amp; Rewards Engine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7432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6400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 points earning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bonus offers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Priority support access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3552" y="1005840"/>
            <a:ext cx="27432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3552" y="1005840"/>
            <a:ext cx="2743200" cy="64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10712" y="17190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2x points on top-ups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Elite Club offers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Dedicated account rep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1344" y="1005840"/>
            <a:ext cx="274320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1344" y="1005840"/>
            <a:ext cx="2743200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005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18504" y="1719072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3x points everywhere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DhiraaguPay cashback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VIP event invitations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201168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2011680" cy="5486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Economy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5844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Earn on mobile top-ups, fibre bills, DhiraaguPay transactions, and partner spend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42032" y="3108960"/>
            <a:ext cx="201168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42032" y="3108960"/>
            <a:ext cx="2011680" cy="5486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33472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Catalog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633472" y="35844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Redeem for data bundles, device discounts, eZone vouchers, and partner rewards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18304" y="3108960"/>
            <a:ext cx="201168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18304" y="3108960"/>
            <a:ext cx="2011680" cy="5486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9744" y="35844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Streak bonuses, milestone badges, and referral multipliers drive engagement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94576" y="3108960"/>
            <a:ext cx="2011680" cy="1755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94576" y="3108960"/>
            <a:ext cx="2011680" cy="54864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86016" y="3200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BRM Check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86016" y="3584448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 eligibility verification via Oracle BRM before any offer redemption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— Self-Service Customer Hub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241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unified digital portal mirroring Dhiraagu's App experience — empowering B2C and B2B customers to self-manage without calling support, reducing contact center load and improving NPS.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874520"/>
            <a:ext cx="2743200" cy="7315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00253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Management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40487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and update personal/business profile, contacts, and preferences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3552" y="187452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3552" y="1874520"/>
            <a:ext cx="2743200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200253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&amp; Payments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40487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View invoices, pay online, set up auto-pay, and download statements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187452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874520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200253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Usage Monitor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40487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usage by SIM, line, or department with alert thresholds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38328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51129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Upgrades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391363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Browse and activate new plans, bundles, and add-ons without agent intervention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73552" y="338328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73552" y="3383280"/>
            <a:ext cx="2743200" cy="73152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51129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4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91363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Raise, track, and close service requests with full conversation history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81344" y="338328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3383280"/>
            <a:ext cx="27432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51129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91072" y="3913632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Federated identity with Dhiraagu's existing IAM / LDAP stack — no new login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with Oracle BRM &amp; RODOD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3200400" cy="3749040"/>
          </a:xfrm>
          <a:prstGeom prst="rect">
            <a:avLst/>
          </a:prstGeom>
          <a:solidFill>
            <a:srgbClr val="1E3A5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320040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balance query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Billing plan sync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Payment event hooks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Usage data feed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Invoice generation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Credit limit management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11880" y="1691640"/>
            <a:ext cx="1920240" cy="233172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1691640"/>
            <a:ext cx="1920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BRT 360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74720" y="2852928"/>
            <a:ext cx="137160" cy="0"/>
          </a:xfrm>
          <a:prstGeom prst="line">
            <a:avLst/>
          </a:prstGeom>
          <a:noFill/>
          <a:ln w="25400">
            <a:solidFill>
              <a:srgbClr val="E841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32120" y="2852928"/>
            <a:ext cx="137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1005840"/>
            <a:ext cx="3200400" cy="3749040"/>
          </a:xfrm>
          <a:prstGeom prst="rect">
            <a:avLst/>
          </a:prstGeom>
          <a:solidFill>
            <a:srgbClr val="0A2A2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1005840"/>
            <a:ext cx="320040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10058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RODOD Stack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1572768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D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 order fulfillment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D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Network provisioning triggers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D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 activation events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D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catalog sync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D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Order status callbacks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8D8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Inventory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18 Months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1371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960120"/>
            <a:ext cx="320040" cy="32004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44752"/>
            <a:ext cx="27432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44752"/>
            <a:ext cx="2743200" cy="6400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447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Months 1–6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E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 360 &amp; Account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Service Request &amp; Case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Oracle BRM Integration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Core Data Migration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62272" y="960120"/>
            <a:ext cx="320040" cy="32004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1444752"/>
            <a:ext cx="27432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444752"/>
            <a:ext cx="2743200" cy="6400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4447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Months 7–12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82112" y="17922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E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Growth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9272" y="214884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Order Management &amp; Product Catalog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Campaign &amp; Marketing Automation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Analytics &amp; Reporting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RODOD Integration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78624" y="960120"/>
            <a:ext cx="320040" cy="32004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98464" y="1444752"/>
            <a:ext cx="27432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98464" y="1444752"/>
            <a:ext cx="2743200" cy="64008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98464" y="14447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Months 13–18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98464" y="179222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0E0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Excellence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35624" y="214884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Loyalty &amp; Rewards Engine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Field Force Management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Partner Portal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Self-Service Customer Hub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BRT 360 for Dhiraagu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04672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100584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4632" y="1143000"/>
            <a:ext cx="502920" cy="50292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4712" y="1170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Telecom-Native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Purpose-built for Communications Service Providers — not an adapted generic CRM. Every module reflects telecom data models, billing cycles, and customer journeys.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55264" y="100584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92424" y="1143000"/>
            <a:ext cx="502920" cy="50292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32504" y="1170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BRM Ready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92424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Pre-built connectors and adapters for Oracle BRM — zero custom middleware, proven API patterns, and battle-tested integration scripts.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63056" y="100584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0216" y="1143000"/>
            <a:ext cx="502920" cy="50292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0296" y="117043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RODOD Compatible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0216" y="17373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Digital order orchestration is built in. BRT 360 speaks the RODOD language natively — service activation, provisioning triggers, and catalog sync all included.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47472" y="29718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" y="3108960"/>
            <a:ext cx="502920" cy="50292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136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Architecture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" y="3703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.NET + Node.js/React stack with standard APIs — no proprietary runtime, no vendor lock-in. Dhiraagu retains full ownership of the platform.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55264" y="29718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92424" y="3108960"/>
            <a:ext cx="502920" cy="50292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32504" y="3136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Maldives-Ready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92424" y="3703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Offline-first design for multi-atoll operations. Works seamlessly in low-connectivity environments and syncs automatically when online.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63056" y="29718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0216" y="3108960"/>
            <a:ext cx="502920" cy="50292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0216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40296" y="31363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Delivery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0216" y="37033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30+ telecom deployments globally, 98% client retention, Oracle-certified team. BlueRose brings Tier-1 CSP experience to Dhiraagu.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3200400" cy="3200400"/>
          </a:xfrm>
          <a:prstGeom prst="ellipse">
            <a:avLst/>
          </a:prstGeom>
          <a:solidFill>
            <a:srgbClr val="E8416B">
              <a:alpha val="18000"/>
            </a:srgbClr>
          </a:solidFill>
          <a:ln w="12700">
            <a:solidFill>
              <a:srgbClr val="E8416B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840480"/>
            <a:ext cx="2011680" cy="2011680"/>
          </a:xfrm>
          <a:prstGeom prst="ellipse">
            <a:avLst/>
          </a:prstGeom>
          <a:solidFill>
            <a:srgbClr val="E8416B">
              <a:alpha val="32000"/>
            </a:srgbClr>
          </a:solidFill>
          <a:ln w="12700">
            <a:solidFill>
              <a:srgbClr val="E8416B">
                <a:alpha val="3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572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4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" y="2304288"/>
            <a:ext cx="320040" cy="32004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30428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Discovery Workshop with Dhiraagu IT &amp; Business teams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2962656"/>
            <a:ext cx="320040" cy="32004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9626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962656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Proof-of-Concept: Customer 360 module demonstration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" y="3621024"/>
            <a:ext cx="320040" cy="320040"/>
          </a:xfrm>
          <a:prstGeom prst="ellipse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62102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Commercial Proposal &amp; SLA definition agreement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315968"/>
            <a:ext cx="4572000" cy="36576"/>
          </a:xfrm>
          <a:prstGeom prst="rect">
            <a:avLst/>
          </a:prstGeom>
          <a:solidFill>
            <a:srgbClr val="E8416B"/>
          </a:solidFill>
          <a:ln w="12700">
            <a:solidFill>
              <a:srgbClr val="E841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434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BlueRose Technologies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416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www.bluerose-tech.com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BRT 360 CRM – Dhiraagu Proposal</dc:title>
  <dc:subject>PptxGenJS Presentation</dc:subject>
  <dc:creator>BlueRose Technologies</dc:creator>
  <cp:lastModifiedBy>BlueRose Technologies</cp:lastModifiedBy>
  <cp:revision>1</cp:revision>
  <dcterms:created xsi:type="dcterms:W3CDTF">2026-06-21T22:21:08Z</dcterms:created>
  <dcterms:modified xsi:type="dcterms:W3CDTF">2026-06-21T22:21:08Z</dcterms:modified>
</cp:coreProperties>
</file>