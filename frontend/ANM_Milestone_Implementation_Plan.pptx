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05840"/>
            <a:ext cx="3474720" cy="3474720"/>
          </a:xfrm>
          <a:prstGeom prst="ellipse">
            <a:avLst/>
          </a:prstGeom>
          <a:solidFill>
            <a:srgbClr val="243D8C">
              <a:alpha val="28000"/>
            </a:srgbClr>
          </a:solidFill>
          <a:ln w="12700">
            <a:solidFill>
              <a:srgbClr val="243D8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108960"/>
            <a:ext cx="2926080" cy="2926080"/>
          </a:xfrm>
          <a:prstGeom prst="ellipse">
            <a:avLst/>
          </a:prstGeom>
          <a:solidFill>
            <a:srgbClr val="243D8C">
              <a:alpha val="24000"/>
            </a:srgbClr>
          </a:solidFill>
          <a:ln w="12700">
            <a:solidFill>
              <a:srgbClr val="243D8C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45720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2C4499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DOCUMENT · v1.0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Milestone &amp;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931920" y="2157984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Mobile App — End-to-End Execution Roadmap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· Milestones · RACI · Dependencies · Go-Live Checklists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874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369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3200400"/>
            <a:ext cx="1874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32369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78608" y="34381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Weeks (MVP)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3200400"/>
            <a:ext cx="1874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32369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608576" y="34381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2-Week Sprints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38544" y="3200400"/>
            <a:ext cx="1874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32369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638544" y="34381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Draft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ANM Community App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Support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0972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3533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73552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Formal Sign-off Gates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9904" y="10972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13533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089904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9904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Each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82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Sprints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73552" y="29260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29260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182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3273552" y="3858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Go-Live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73552" y="41330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+ Play Store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9260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9260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3182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6089904" y="3858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9904" y="41330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Verification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— DELIVERY MILESTONE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— 10-Week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051560"/>
            <a:ext cx="699516" cy="256032"/>
          </a:xfrm>
          <a:prstGeom prst="rect">
            <a:avLst/>
          </a:prstGeom>
          <a:solidFill>
            <a:srgbClr val="243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19756" y="1051560"/>
            <a:ext cx="699516" cy="256032"/>
          </a:xfrm>
          <a:prstGeom prst="rect">
            <a:avLst/>
          </a:prstGeom>
          <a:solidFill>
            <a:srgbClr val="243D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9756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19272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18788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8788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18304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17820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7820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17336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6852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6852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16368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15884" y="1051560"/>
            <a:ext cx="699516" cy="25603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5884" y="1051560"/>
            <a:ext cx="6995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1051560"/>
            <a:ext cx="1508760" cy="25603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0515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" y="1307592"/>
            <a:ext cx="15087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307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PHASE 1 — DISCOVERY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20240" y="1307592"/>
            <a:ext cx="69951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38528" y="1344168"/>
            <a:ext cx="1362456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158191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581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Stakeholder Workshops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20240" y="158191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38528" y="1618488"/>
            <a:ext cx="662940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185623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8562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Wireframes &amp; Design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920240" y="185623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38528" y="1892808"/>
            <a:ext cx="1362456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213055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1305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 Schema &amp; API Contract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920240" y="213055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38044" y="2167128"/>
            <a:ext cx="662940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240487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4048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CI/CD &amp; Env Setup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920240" y="240487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38044" y="2441448"/>
            <a:ext cx="662940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2679192"/>
            <a:ext cx="15087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6791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PHASE 2 — DEVELOPMENT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920240" y="2679192"/>
            <a:ext cx="69951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7560" y="2715768"/>
            <a:ext cx="276148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295351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29535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Auth + Onboarding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920240" y="295351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37560" y="2990088"/>
            <a:ext cx="66294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" y="322783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227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Member Directory+Detail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920240" y="322783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37560" y="3264408"/>
            <a:ext cx="1362456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350215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5021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Prayer Requests+History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920240" y="350215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37076" y="3538728"/>
            <a:ext cx="1362456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377647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7764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 Library+Streaming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920240" y="377647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36592" y="3813048"/>
            <a:ext cx="66294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1480" y="405079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050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Messaging &amp; VoIP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920240" y="405079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36592" y="4087368"/>
            <a:ext cx="1362456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" y="4325112"/>
            <a:ext cx="15087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3251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PHASE 3 — QA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920240" y="4325112"/>
            <a:ext cx="69951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35624" y="4361688"/>
            <a:ext cx="136245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" y="459943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5994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Unit+Integration Tests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920240" y="459943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35624" y="4636008"/>
            <a:ext cx="662940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1480" y="487375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4873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E2E &amp; Perf Testing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920240" y="487375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85382" y="4910328"/>
            <a:ext cx="662940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1480" y="514807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" y="51480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UAT with ANM Team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920240" y="514807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35140" y="5184648"/>
            <a:ext cx="662940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1480" y="5422392"/>
            <a:ext cx="15087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5422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PHASE 4 — DEPLOY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920240" y="5422392"/>
            <a:ext cx="69951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34656" y="5458968"/>
            <a:ext cx="66294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1480" y="5696712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6967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Store Submissions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920240" y="5696712"/>
            <a:ext cx="6995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534656" y="5733288"/>
            <a:ext cx="662940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1480" y="597103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7200" y="59710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Backend Prod Deploy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1920240" y="597103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534656" y="6007608"/>
            <a:ext cx="662940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1480" y="6245352"/>
            <a:ext cx="15087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62453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5 — SUPPORT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920240" y="6245352"/>
            <a:ext cx="69951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34172" y="6281928"/>
            <a:ext cx="6629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11480" y="6519672"/>
            <a:ext cx="15087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6519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Hypercare+Monitoring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1920240" y="6519672"/>
            <a:ext cx="6995160" cy="2743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234172" y="6556248"/>
            <a:ext cx="662940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— DELIVERY MILESTONE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Register (1 of 2) — M1 to M9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850392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07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0607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24912" y="106070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56432" y="10607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19472" y="10607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15584" y="106070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" y="1417320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13898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4912" y="13898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Day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56432" y="13898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19472" y="1426464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43560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815584" y="137160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stakeholders aligned on scope, timeline &amp; comms cadence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1728216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" y="1810512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8105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1783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24912" y="17830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Day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56432" y="17830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ANM PO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19472" y="1819656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82880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815584" y="176479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 formally approves feature list &amp; out-of-scope items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2121408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2203704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2037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" y="2176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Delivered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24912" y="217627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End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56432" y="21762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19472" y="2212848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22199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15584" y="215798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screens covered; navigation flow approved by ANM team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2514600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" y="2596896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25968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" y="25694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Approved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24912" y="25694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Mid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56432" y="25694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19472" y="2606040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261518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15584" y="255117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Typography, colours, spacing &amp; components locked for dev handoff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2907792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" y="2990088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2990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808" y="29626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Sign-Off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24912" y="296265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End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456432" y="29626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PM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19472" y="2999232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30083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15584" y="294436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schema, API contract &amp; infra reviewed &amp; approved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11480" y="3300984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8056" y="3383280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9808" y="3355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Environments Live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24912" y="335584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End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56432" y="335584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19472" y="3392424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9472" y="340156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815584" y="333756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runs; all 3 environments accessible; Atlas provisioned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11480" y="3694176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8056" y="3776472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" y="37764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9808" y="3749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Onboarding Live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724912" y="374904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 End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456432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919472" y="3785616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19472" y="379476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815584" y="373075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register, verify OTP &amp; log in on iOS &amp; Android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11480" y="4087368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8056" y="4169664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8056" y="41696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49808" y="41422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Demo #1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724912" y="414223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End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456432" y="41422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Dev Team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919472" y="4178808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9472" y="418795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815584" y="412394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team sees Members Directory, Detail &amp; History on device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11480" y="4480560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48056" y="4562856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8056" y="45628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49808" y="45354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 Complete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724912" y="453542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 Mid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456432" y="453542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Mobile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919472" y="4572000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19472" y="458114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815584" y="451713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(incl. anonymous), browse, and respond to prayer requests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— DELIVERY MILESTONE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Register (2 of 2) — M10 to M18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850392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07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0607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24912" y="106070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56432" y="10607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19472" y="10607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15584" y="106070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" y="1417320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" y="13898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 Complete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4912" y="13898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 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56432" y="13898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DevOps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19472" y="1426464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43560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815584" y="137160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stream from S3/CDN; category filtering works on device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1728216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" y="1810512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8105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17830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Demo #2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24912" y="17830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Mid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56432" y="17830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Dev Team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19472" y="1819656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82880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815584" y="176479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team sees working in-app chat and VoIP calling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2121408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2203704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2037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" y="2176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Feature-Complete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24912" y="217627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End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56432" y="21762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19472" y="2212848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22199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15584" y="215798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Phase 1 stories Done; no P1 bugs open; code review passed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2514600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" y="2596896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25968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" y="25694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Target Met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24912" y="25694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 End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56432" y="25694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19472" y="2606040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261518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15584" y="255117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unit coverage; all 17 API endpoints covered; E2E pass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2907792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" y="2990088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2990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808" y="29626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Clear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24912" y="296265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Mid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456432" y="29626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Consultant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19472" y="2999232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30083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15584" y="294436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critical/high OWASP Mobile Top 10 vulnerabilities found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11480" y="3300984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8056" y="3383280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9808" y="3355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24912" y="335584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End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56432" y="335584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19472" y="3392424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9472" y="340156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815584" y="333756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approves all features on TestFlight &amp; internal Play track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11480" y="3694176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8056" y="3776472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" y="37764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9808" y="3749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Submissions Filed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724912" y="374904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Day 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456432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+ PM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919472" y="3785616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19472" y="379476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815584" y="373075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submissions in review (Apple 24–48hr, Google 24–72hr)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11480" y="4087368"/>
            <a:ext cx="850392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8056" y="4169664"/>
            <a:ext cx="228600" cy="2286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8056" y="41696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49808" y="41422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Production Go-Live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724912" y="414223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End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456432" y="41422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919472" y="4178808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9472" y="418795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815584" y="412394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 on App Store &amp; Google Play; backend healthy; monitoring active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11480" y="4480560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48056" y="4562856"/>
            <a:ext cx="228600" cy="22860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8056" y="45628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49808" y="45354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Handover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724912" y="453542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456432" y="453542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DevOps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919472" y="4572000"/>
            <a:ext cx="804672" cy="201168"/>
          </a:xfrm>
          <a:prstGeom prst="roundRect">
            <a:avLst>
              <a:gd name="adj" fmla="val 31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19472" y="458114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815584" y="451713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trained; runbooks delivered; CloudWatch live; SLA active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IMPLEMENTATION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1591056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499616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700784"/>
            <a:ext cx="1591056" cy="32186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73736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Stakeholder workshops (×2)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" y="202996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User journey mapping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6344" y="232257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Feature list finalisation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6344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Lo-fi → Hi-fi wireframes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6344" y="290779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Design system &amp; components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" y="32004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MongoDB schema design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344" y="349300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REST API contract doc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6344" y="378561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Dev / staging / prod setup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6344" y="40782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CI/CD pipeline (GH Actions)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344" y="43708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RN project scaffold + lint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93976" y="1042416"/>
            <a:ext cx="1591056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93976" y="1060704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93976" y="12435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93976" y="1499616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3–6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93976" y="1700784"/>
            <a:ext cx="1591056" cy="321868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173736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Firebase Auth (OTP + biometric)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148840" y="202996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Onboarding (3-step flow)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48840" y="232257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Member directory API + UI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48840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Member detail &amp; edit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148840" y="290779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Member history notes log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148840" y="32004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Prayer request CRUD + anon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48840" y="349300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Prayer feed + Pray response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148840" y="378561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S3 upload + presigned URLs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148840" y="40782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CloudFront streaming + UI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148840" y="43708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Twilio Chat 1:1 messaging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48840" y="466344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Twilio Voice VoIP calling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148840" y="495604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Deep linking + nav polish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776472" y="1042416"/>
            <a:ext cx="1591056" cy="6583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76472" y="1060704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76472" y="12435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76472" y="1499616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7–8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76472" y="1700784"/>
            <a:ext cx="1591056" cy="321868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1336" y="173736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Jest unit tests (≥80% cov.)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31336" y="202996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Supertest API integration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831336" y="232257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Detox E2E — iOS Simulator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31336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Detox E2E — Android Emulator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831336" y="290779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k6 load test (500 users)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31336" y="32004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Video streaming latency test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831336" y="349300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VoiceOver + TalkBack audit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31336" y="378561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WCAG 2.1 AA contrast checks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831336" y="40782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OWASP penetration test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831336" y="43708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UAT — 20 ANM pilot members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831336" y="466344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P1/P2 bug fix sprint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831336" y="495604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Regression after bug fixes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58968" y="1042416"/>
            <a:ext cx="1591056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58968" y="1060704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458968" y="12435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58968" y="1499616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458968" y="1700784"/>
            <a:ext cx="1591056" cy="321868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13832" y="173736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Prod MongoDB Atlas config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513832" y="202996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ECS Fargate task definitions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513832" y="232257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CloudFront CDN finalise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513832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DNS records + SSL (ACM)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513832" y="290779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CloudWatch alarms + dashboards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513832" y="32004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Sentry crash monitoring setup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513832" y="349300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App Store submission (EAS)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513832" y="378561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Google Play submission (AAB)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513832" y="40782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Phased rollout 10% → 100%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513832" y="43708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Go-live smoke test on prod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141464" y="1042416"/>
            <a:ext cx="1591056" cy="6583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41464" y="1060704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141464" y="12435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Phase 2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141464" y="1499616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10+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141464" y="1700784"/>
            <a:ext cx="1591056" cy="3218688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96328" y="173736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30-day hypercare on-call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196328" y="202996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ANM admin training (2 hrs)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196328" y="232257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Runbook &amp; docs delivery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196328" y="26151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OS update testing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196328" y="290779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Monthly infra cost review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196328" y="32004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Phase 2 backlog grooming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196328" y="3493008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Push notifications (FCM)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196328" y="3785616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Group chat / forums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196328" y="40782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Multi-language i18n setup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196328" y="43708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Admin dashboard scoping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SPRINT BREAKDOWN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&amp; 2 — Foundation + Auth &amp; Members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4187952" cy="38404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60704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Discovery &amp; Setup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76472" y="107899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426464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813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" y="14996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workshop &amp; requirements doc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16824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| 2 sessions, signed off by ANM PO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" y="1956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Hi-fi wireframes — all 5 screens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2104" y="21396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| Figma, all states covered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" y="24140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component library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2104" y="25968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| Colours, type, atoms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28529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" y="28712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+ API contract doc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Architect | 5 collections, 17 endpoints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" y="33284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+ environments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2104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| GitHub Actions, EAS, 3 environments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7673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" y="37856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project scaffold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2104" y="39684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ESLint, Prettier, nav structure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4736592"/>
            <a:ext cx="4187952" cy="2286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74573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Story Points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93592" y="4745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82312" y="1042416"/>
            <a:ext cx="4187952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060704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Auth &amp; Members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47304" y="107899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82312" y="1426464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73752" y="14813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02936" y="14996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— email/phone OTP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02936" y="16824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Sign up, OTP verify, login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73752" y="19385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1938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02936" y="1956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login (Face ID / Fingerprint)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02936" y="21396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iOS &amp; Android local auth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73752" y="23957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02936" y="24140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— 3-step profile setup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02936" y="25968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Photo upload, name, group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73752" y="28529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02936" y="28712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 API + UI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202936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Mobile | Search, filter, pagination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73752" y="33101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02936" y="33284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detail &amp; profile edit screens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202936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Contact info, role badge, actions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73752" y="37673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3752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202936" y="37856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 — notes log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202936" y="39684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Mobile | Leader-only add/view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73752" y="4224528"/>
            <a:ext cx="2743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73752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202936" y="4242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screen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202936" y="44256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Tiles, greeting, nav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82312" y="4736592"/>
            <a:ext cx="4187952" cy="2286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92040" y="474573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Story Points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964424" y="4745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pts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SPRINT BREAKDOWN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&amp; 4 — Prayer &amp; Media + QA &amp; Hardening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4187952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60704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Prayer &amp; Media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76472" y="107899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426464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72184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721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" y="1481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 submission + anon mode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" y="164592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Mobile | Form, CRUD, status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2104" y="18836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 feed + Pray response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" y="204825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Scrollable feed, tap-to-pray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276856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768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" y="22860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upload pipeline + presigned URLs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" y="24505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DevOps | Admin video upload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2679192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791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" y="26883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streaming + video library UI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" y="28529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Categories, thumbnails, player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3081528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815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" y="3090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Chat SDK — 1:1 messaging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" y="32552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Real-time, read receipts, history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483864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83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2104" y="3493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SDK — VoIP calling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" y="365760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In-app call, no phone # shared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2920" y="3886200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886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2104" y="38953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+ bottom nav polish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2104" y="405993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Universal links, tab state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4736592"/>
            <a:ext cx="4187952" cy="2286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474573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Story Points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93592" y="4745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82312" y="1042416"/>
            <a:ext cx="41879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060704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QA &amp; Hardening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47304" y="107899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82312" y="1426464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73752" y="1472184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14721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02936" y="1481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 — ≥80% coverage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02936" y="164592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Backend | All service-layer logic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73752" y="1874520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18745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02936" y="18836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API integration tests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02936" y="204825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| All 17 endpoints, +/- paths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73752" y="2276856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22768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02936" y="22860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 E2E — iOS + Android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02936" y="24505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| Login, member, pray, video, call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73752" y="2679192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26791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02936" y="26883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performance + load testing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02936" y="28529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+ QA | 500 concurrent users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873752" y="3081528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3752" y="30815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202936" y="3090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 — VoiceOver/TalkBack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02936" y="32552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Designer | WCAG 2.1 AA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873752" y="3483864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73752" y="34838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202936" y="3493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penetration test + security fixes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202936" y="3657600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Consultant | Top 10 review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873752" y="3886200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73752" y="3886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202936" y="38953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20 ANM pilot members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202936" y="4059936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QA | TestFlight + Play internal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873752" y="4288536"/>
            <a:ext cx="2743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73752" y="42885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202936" y="42976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bug fix sprint + regression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02936" y="446227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| All critical issues resolved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782312" y="4736592"/>
            <a:ext cx="4187952" cy="2286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474573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Story Points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964424" y="4745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pts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SPRINT BREAKDOWN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Deploy &amp; Launch + Effort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4187952" cy="38404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607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Deploy &amp; Launch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07899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426464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81328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1490472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infrastructure provisioning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655064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| ECS, MongoDB Atlas M10, CloudFront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" y="1883664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+ dashboards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2048256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| API latency, error rate, uptime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267712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677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2276856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crash monitoring setup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2441448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+ Mobile | iOS + Android DSN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2660904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609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1248" y="2670048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submission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" y="2834640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EAS Build, review guidelines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3054096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540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" y="3063240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 submission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" y="3227832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| Internal → prod release (AAB)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447288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472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41248" y="3456432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smoke test on production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" y="3621024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PM | All critical paths verified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2920" y="3840480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8404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1248" y="3849624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admin training session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" y="4014216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| 2-hr session: uploads, member mgmt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2920" y="4233672"/>
            <a:ext cx="27432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33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41248" y="4242816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+ admin docs delivery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" y="4407408"/>
            <a:ext cx="3694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+ PM | Incident response, escalation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11480" y="4736592"/>
            <a:ext cx="4187952" cy="2286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7457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Story Points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03320" y="47457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82312" y="1042416"/>
            <a:ext cx="4133088" cy="331012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Effort Summary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92040" y="1389888"/>
            <a:ext cx="37490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1463040"/>
            <a:ext cx="38404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1499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83480" y="1691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Setup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09560" y="15361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909560" y="1737360"/>
            <a:ext cx="777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892040" y="1975104"/>
            <a:ext cx="38404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2011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83480" y="220370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Members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909560" y="20482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909560" y="2249424"/>
            <a:ext cx="777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92040" y="2487168"/>
            <a:ext cx="38404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25237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83480" y="27157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&amp; Media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909560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909560" y="2761488"/>
            <a:ext cx="777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892040" y="2999232"/>
            <a:ext cx="38404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3035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983480" y="3227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Hardening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909560" y="30723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909560" y="3273552"/>
            <a:ext cx="777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892040" y="3511296"/>
            <a:ext cx="38404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83480" y="35478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983480" y="37398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09560" y="35844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7909560" y="3785616"/>
            <a:ext cx="777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82312" y="4352544"/>
            <a:ext cx="4133088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43799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647688" y="43799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story points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ROLES &amp; RESPONSIBILITIES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1993392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15568"/>
            <a:ext cx="256032" cy="25603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" y="11155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— Does the work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042416"/>
            <a:ext cx="1993392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115568"/>
            <a:ext cx="25603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115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98648" y="11155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— Owns the outcome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042416"/>
            <a:ext cx="199339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115568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115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01768" y="11155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— Input required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042416"/>
            <a:ext cx="1993392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115568"/>
            <a:ext cx="25603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115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04888" y="11155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— Kept in the loop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1481328"/>
            <a:ext cx="850392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1499616"/>
            <a:ext cx="2112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96896" y="1499616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163824" y="149961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40480" y="149961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90288" y="14996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48656" y="1499616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815584" y="149961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27648" y="1499616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967728" y="14996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26096" y="1499616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1773936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1792224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615184" y="1801368"/>
            <a:ext cx="475488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5184" y="1801368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82112" y="1801368"/>
            <a:ext cx="585216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82112" y="1801368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58768" y="1801368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58768" y="1801368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08576" y="1801368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180136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66944" y="1801368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833872" y="1801368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45936" y="180136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86016" y="1801368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86016" y="180136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644384" y="1801368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44384" y="180136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" y="1984248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" y="2002536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Design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615184" y="2011680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82112" y="2011680"/>
            <a:ext cx="585216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82112" y="2011680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58768" y="2011680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58768" y="2011680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608576" y="2011680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266944" y="2011680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833872" y="2011680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33872" y="2011680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45936" y="201168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986016" y="2011680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86016" y="2011680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644384" y="2011680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44384" y="201168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11480" y="2194560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" y="2212848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15184" y="2221992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182112" y="2221992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858768" y="2221992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58768" y="2221992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608576" y="2221992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08576" y="2221992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266944" y="2221992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66944" y="2221992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833872" y="2221992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345936" y="2221992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45936" y="222199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986016" y="2221992"/>
            <a:ext cx="566928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86016" y="2221992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644384" y="222199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11480" y="2404872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6344" y="2423160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&amp; API Design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615184" y="2432304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182112" y="2432304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858768" y="2432304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58768" y="2432304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608576" y="2432304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2432304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266944" y="2432304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833872" y="2432304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345936" y="243230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986016" y="2432304"/>
            <a:ext cx="566928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86016" y="2432304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644384" y="243230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11480" y="2615184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6344" y="2633472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Infra Setup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2615184" y="2642616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182112" y="264261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858768" y="2642616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58768" y="2642616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608576" y="2642616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08576" y="2642616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5266944" y="2642616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266944" y="2642616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5833872" y="2642616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345936" y="2642616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45936" y="264261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986016" y="2642616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86016" y="2642616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7644384" y="264261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11480" y="2825496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6344" y="2843784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2615184" y="2852928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3182112" y="2852928"/>
            <a:ext cx="585216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182112" y="2852928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3858768" y="2852928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58768" y="2852928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4608576" y="2852928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08576" y="285292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5266944" y="2852928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5833872" y="2852928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833872" y="2852928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6345936" y="285292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986016" y="2852928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86016" y="285292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7644384" y="285292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411480" y="3035808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66344" y="3054096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Development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2615184" y="3063240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3182112" y="3063240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858768" y="3063240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858768" y="3063240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4608576" y="3063240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608576" y="3063240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266944" y="3063240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266944" y="3063240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5833872" y="3063240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833872" y="3063240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6345936" y="306324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986016" y="3063240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986016" y="3063240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7644384" y="306324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411480" y="3246120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66344" y="3264408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Testing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2615184" y="3273552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3182112" y="3273552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3858768" y="3273552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858768" y="3273552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608576" y="3273552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08576" y="3273552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5266944" y="3273552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5833872" y="3273552"/>
            <a:ext cx="420624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833872" y="3273552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6345936" y="327355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6986016" y="3273552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986016" y="3273552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7644384" y="327355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411480" y="3456432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66344" y="3474720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&amp; Performance Testing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2615184" y="3483864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3182112" y="3483864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3858768" y="3483864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858768" y="3483864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4608576" y="3483864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608576" y="3483864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5266944" y="3483864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266944" y="3483864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5833872" y="3483864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833872" y="3483864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6345936" y="348386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6986016" y="3483864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7644384" y="348386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411480" y="3666744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66344" y="3685032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750" dirty="0"/>
          </a:p>
        </p:txBody>
      </p:sp>
      <p:sp>
        <p:nvSpPr>
          <p:cNvPr id="175" name="Text 173"/>
          <p:cNvSpPr/>
          <p:nvPr/>
        </p:nvSpPr>
        <p:spPr>
          <a:xfrm>
            <a:off x="2615184" y="3694176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3182112" y="369417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3858768" y="3694176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858768" y="3694176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4608576" y="3694176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608576" y="3694176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5266944" y="3694176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266944" y="3694176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5833872" y="3694176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833872" y="3694176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345936" y="3694176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345936" y="369417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6986016" y="3694176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986016" y="3694176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7644384" y="369417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411480" y="3877056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66344" y="3895344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Coordination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2615184" y="3904488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615184" y="3904488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194" name="Text 192"/>
          <p:cNvSpPr/>
          <p:nvPr/>
        </p:nvSpPr>
        <p:spPr>
          <a:xfrm>
            <a:off x="3182112" y="3904488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3858768" y="3904488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858768" y="3904488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4608576" y="3904488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608576" y="390448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199" name="Text 197"/>
          <p:cNvSpPr/>
          <p:nvPr/>
        </p:nvSpPr>
        <p:spPr>
          <a:xfrm>
            <a:off x="5266944" y="3904488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5833872" y="3904488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833872" y="3904488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202" name="Text 200"/>
          <p:cNvSpPr/>
          <p:nvPr/>
        </p:nvSpPr>
        <p:spPr>
          <a:xfrm>
            <a:off x="6345936" y="390448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03" name="Text 201"/>
          <p:cNvSpPr/>
          <p:nvPr/>
        </p:nvSpPr>
        <p:spPr>
          <a:xfrm>
            <a:off x="6986016" y="3904488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7644384" y="3904488"/>
            <a:ext cx="548640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644384" y="390448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411480" y="4087368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66344" y="4105656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Submissions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2615184" y="4114800"/>
            <a:ext cx="475488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615184" y="4114800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10" name="Text 208"/>
          <p:cNvSpPr/>
          <p:nvPr/>
        </p:nvSpPr>
        <p:spPr>
          <a:xfrm>
            <a:off x="3182112" y="4114800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3858768" y="4114800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858768" y="4114800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213" name="Text 211"/>
          <p:cNvSpPr/>
          <p:nvPr/>
        </p:nvSpPr>
        <p:spPr>
          <a:xfrm>
            <a:off x="4608576" y="4114800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5266944" y="4114800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266944" y="4114800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5833872" y="4114800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833872" y="4114800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18" name="Text 216"/>
          <p:cNvSpPr/>
          <p:nvPr/>
        </p:nvSpPr>
        <p:spPr>
          <a:xfrm>
            <a:off x="6345936" y="411480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19" name="Text 217"/>
          <p:cNvSpPr/>
          <p:nvPr/>
        </p:nvSpPr>
        <p:spPr>
          <a:xfrm>
            <a:off x="6986016" y="4114800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20" name="Text 218"/>
          <p:cNvSpPr/>
          <p:nvPr/>
        </p:nvSpPr>
        <p:spPr>
          <a:xfrm>
            <a:off x="7644384" y="411480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411480" y="4297680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66344" y="4315968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2615184" y="4325112"/>
            <a:ext cx="475488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2615184" y="4325112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25" name="Text 223"/>
          <p:cNvSpPr/>
          <p:nvPr/>
        </p:nvSpPr>
        <p:spPr>
          <a:xfrm>
            <a:off x="3182112" y="4325112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3858768" y="4325112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3858768" y="4325112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4608576" y="4325112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4608576" y="4325112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5266944" y="4325112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266944" y="4325112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5833872" y="4325112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5833872" y="4325112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34" name="Text 232"/>
          <p:cNvSpPr/>
          <p:nvPr/>
        </p:nvSpPr>
        <p:spPr>
          <a:xfrm>
            <a:off x="6345936" y="432511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35" name="Shape 233"/>
          <p:cNvSpPr/>
          <p:nvPr/>
        </p:nvSpPr>
        <p:spPr>
          <a:xfrm>
            <a:off x="6986016" y="4325112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6986016" y="4325112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37" name="Text 235"/>
          <p:cNvSpPr/>
          <p:nvPr/>
        </p:nvSpPr>
        <p:spPr>
          <a:xfrm>
            <a:off x="7644384" y="432511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411480" y="4507992"/>
            <a:ext cx="8503920" cy="2103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466344" y="4526280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Reporting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2615184" y="4535424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615184" y="4535424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3182112" y="4535424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3" name="Text 241"/>
          <p:cNvSpPr/>
          <p:nvPr/>
        </p:nvSpPr>
        <p:spPr>
          <a:xfrm>
            <a:off x="3858768" y="4535424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4" name="Text 242"/>
          <p:cNvSpPr/>
          <p:nvPr/>
        </p:nvSpPr>
        <p:spPr>
          <a:xfrm>
            <a:off x="4608576" y="4535424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5" name="Text 243"/>
          <p:cNvSpPr/>
          <p:nvPr/>
        </p:nvSpPr>
        <p:spPr>
          <a:xfrm>
            <a:off x="5266944" y="4535424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6" name="Text 244"/>
          <p:cNvSpPr/>
          <p:nvPr/>
        </p:nvSpPr>
        <p:spPr>
          <a:xfrm>
            <a:off x="5833872" y="4535424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7" name="Text 245"/>
          <p:cNvSpPr/>
          <p:nvPr/>
        </p:nvSpPr>
        <p:spPr>
          <a:xfrm>
            <a:off x="6345936" y="453542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8" name="Text 246"/>
          <p:cNvSpPr/>
          <p:nvPr/>
        </p:nvSpPr>
        <p:spPr>
          <a:xfrm>
            <a:off x="6986016" y="4535424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49" name="Shape 247"/>
          <p:cNvSpPr/>
          <p:nvPr/>
        </p:nvSpPr>
        <p:spPr>
          <a:xfrm>
            <a:off x="7644384" y="4535424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7644384" y="453542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51" name="Shape 249"/>
          <p:cNvSpPr/>
          <p:nvPr/>
        </p:nvSpPr>
        <p:spPr>
          <a:xfrm>
            <a:off x="411480" y="4718304"/>
            <a:ext cx="85039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466344" y="4736592"/>
            <a:ext cx="20756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Management</a:t>
            </a:r>
            <a:endParaRPr lang="en-US" sz="750" dirty="0"/>
          </a:p>
        </p:txBody>
      </p:sp>
      <p:sp>
        <p:nvSpPr>
          <p:cNvPr id="253" name="Shape 251"/>
          <p:cNvSpPr/>
          <p:nvPr/>
        </p:nvSpPr>
        <p:spPr>
          <a:xfrm>
            <a:off x="2615184" y="4745736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2615184" y="4745736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3182112" y="4745736"/>
            <a:ext cx="585216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3182112" y="4745736"/>
            <a:ext cx="5852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57" name="Shape 255"/>
          <p:cNvSpPr/>
          <p:nvPr/>
        </p:nvSpPr>
        <p:spPr>
          <a:xfrm>
            <a:off x="3858768" y="4745736"/>
            <a:ext cx="65836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3858768" y="4745736"/>
            <a:ext cx="65836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59" name="Shape 257"/>
          <p:cNvSpPr/>
          <p:nvPr/>
        </p:nvSpPr>
        <p:spPr>
          <a:xfrm>
            <a:off x="4608576" y="4745736"/>
            <a:ext cx="56692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4608576" y="4745736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5266944" y="4745736"/>
            <a:ext cx="475488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5266944" y="4745736"/>
            <a:ext cx="47548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63" name="Shape 261"/>
          <p:cNvSpPr/>
          <p:nvPr/>
        </p:nvSpPr>
        <p:spPr>
          <a:xfrm>
            <a:off x="5833872" y="4745736"/>
            <a:ext cx="420624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5833872" y="4745736"/>
            <a:ext cx="420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50" dirty="0"/>
          </a:p>
        </p:txBody>
      </p:sp>
      <p:sp>
        <p:nvSpPr>
          <p:cNvPr id="265" name="Text 263"/>
          <p:cNvSpPr/>
          <p:nvPr/>
        </p:nvSpPr>
        <p:spPr>
          <a:xfrm>
            <a:off x="6345936" y="47457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266" name="Shape 264"/>
          <p:cNvSpPr/>
          <p:nvPr/>
        </p:nvSpPr>
        <p:spPr>
          <a:xfrm>
            <a:off x="6986016" y="4745736"/>
            <a:ext cx="566928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986016" y="4745736"/>
            <a:ext cx="56692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68" name="Shape 266"/>
          <p:cNvSpPr/>
          <p:nvPr/>
        </p:nvSpPr>
        <p:spPr>
          <a:xfrm>
            <a:off x="7644384" y="4745736"/>
            <a:ext cx="548640" cy="155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7644384" y="47457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270" name="Shape 26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IMPLEMENTATION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Dependencies &amp; Blockers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850392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07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0607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907792" y="106070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39312" y="10607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91456" y="106070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32120" y="1060704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" y="1417320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41732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58952" y="138074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signs contract &amp; SOW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07792" y="1408176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Wk 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39312" y="1408176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ANM PO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9744" y="1426464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43560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32120" y="1371600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begins until signed. PM to chase 5 days before planned start.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1719072"/>
            <a:ext cx="850392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" y="1801368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8013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8952" y="176479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brand assets (logo, colour guide)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07792" y="1792224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Day 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39312" y="179222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09744" y="1810512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181965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32120" y="1755648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placeholder brand; swap assets when received.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2103120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2185416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18541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58952" y="214884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 credentials provisioned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07792" y="2176272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End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39312" y="217627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9744" y="2194560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220370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532120" y="2139696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shared Firebase project in advance; transfer ownership post-launch.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2487168"/>
            <a:ext cx="850392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" y="2569464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2569464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58952" y="2532888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account &amp; API keys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907792" y="2560320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End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39312" y="2560320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9744" y="2578608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2587752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532120" y="2523744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Twilio trial for dev; upgrade to production before Wk 9.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2871216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" y="2953512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2953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58952" y="2916936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 with required service limits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07792" y="2944368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End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39312" y="2944368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9744" y="2962656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297180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32120" y="2907792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limit increases on Day 1 — AWS takes 24–48 hrs.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11480" y="3255264"/>
            <a:ext cx="850392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8056" y="3337560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" y="333756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8952" y="330098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Account (ANM enrolled)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907792" y="3328416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639312" y="3328416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09744" y="3346704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9744" y="335584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532120" y="3291840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takes up to 7 business days — must begin Wk 3.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11480" y="3639312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8056" y="3721608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" y="37216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58952" y="36850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Developer Account (ANM)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907792" y="3712464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639312" y="371246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809744" y="3730752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09744" y="373989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532120" y="3675888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$25 fee; approval usually same day.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11480" y="4023360"/>
            <a:ext cx="850392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8056" y="4105656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8056" y="410565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58952" y="406908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pilot members identified &amp; invited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907792" y="4096512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639312" y="409651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809744" y="4114800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9744" y="412394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532120" y="4059936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 can use internal testers if ANM pilot unavailable.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11480" y="4407408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48056" y="4489704"/>
            <a:ext cx="256032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8056" y="4489704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58952" y="4453128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video content for library seed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907792" y="4480560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3639312" y="4480560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809744" y="4498848"/>
            <a:ext cx="621792" cy="201168"/>
          </a:xfrm>
          <a:prstGeom prst="roundRect">
            <a:avLst>
              <a:gd name="adj" fmla="val 3181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09744" y="4507992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5532120" y="4443984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 placeholder videos during dev; replace before go-live.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GO-LIVE CHECKLISTS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Monitoring Checklists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41879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42416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06984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Infrastructure &amp; Cloud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2704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9961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PostgreSQL 16 (db.r6g.large) Multi-AZ provisioned in prod region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801368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8366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85623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security group: port 5432 inbound from ECS task CIDR only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157984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4028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2128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production service created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514600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59689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694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policy: CPU ≥ 70% → scale out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871216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95351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9260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production bucket — versioning enabled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227832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1012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8269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distribution live with custom domain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584448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66674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63931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SSL certificate issued &amp; attached to ALB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941064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233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99592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records pointing to ALB (api.anm.org)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297680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37997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35254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storing all env variables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654296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73659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70916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private subnets for ECS tasks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82312" y="1042416"/>
            <a:ext cx="4187952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82312" y="1042416"/>
            <a:ext cx="5486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106984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 &amp; Observability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82312" y="1444752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73752" y="152704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149961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 — API latency, error rate, 5xx count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82312" y="1801368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73752" y="188366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185623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alarm: API error rate &gt; 1% → alert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82312" y="2157984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73752" y="224028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22128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alarm: ECS CPU &gt; 80% for 5 min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82312" y="2514600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73752" y="259689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25694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alarm: RDS PostgreSQL connections &gt; 80% pool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82312" y="2871216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73752" y="295351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29260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project created for iOS app (DSN configured)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82312" y="3227832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73752" y="331012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28269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project created for Android app (DSN configured)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82312" y="3584448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73752" y="366674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363931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 policy set (30d dev, 90d prod)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82312" y="3941064"/>
            <a:ext cx="4187952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73752" y="40233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399592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 /health returning 200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82312" y="4297680"/>
            <a:ext cx="418795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73752" y="437997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35254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 schedule documented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GO-LIVE CHECKLISTS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App Store Go-Live Checklists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4187952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42416"/>
            <a:ext cx="54864" cy="3657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06984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&amp; Auth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904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PRODUCTION project created (separate from dev)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783080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562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8288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expiry: 1 hr with refresh token rotation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121408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945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6712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endpoints require valid JWT (except /auth/*)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459736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53288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054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100 req/min per IP on API Gateway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798064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87121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84378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whitelist: only ANM app bundle IDs allowed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136392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0954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18211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encryption at rest confirmed (AWS KMS default)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474720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54787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52044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enforced on all HTTPS endpoints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813048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8862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85876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public access blocked — only CloudFront reads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151376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22452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19709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findings resolved — report signed off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489704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56285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53542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linked in app onboarding screen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82312" y="1042416"/>
            <a:ext cx="4187952" cy="36576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82312" y="1042416"/>
            <a:ext cx="54864" cy="3657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106984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Store &amp; Go-Live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82312" y="1444752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73752" y="151790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14904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listing: screenshots, description, keywords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82312" y="1783080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73752" y="18562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18288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privacy manifest submitted (iOS 17+)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82312" y="2121408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73752" y="21945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216712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icons: all required sizes (iOS + Android)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82312" y="2459736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73752" y="253288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250545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screens: iOS + Android all densities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82312" y="2798064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73752" y="287121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284378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Play: feature graphic, screenshots, rating questionnaire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82312" y="3136392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73752" y="320954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18211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production build tested on physical devices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82312" y="3474720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73752" y="354787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352044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 tested: iOS Universal Links + Android App Links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82312" y="3813048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73752" y="38862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385876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 base URL in release build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82312" y="4151376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73752" y="422452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19709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smoke test completed (all 5 critical paths)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82312" y="4489704"/>
            <a:ext cx="4187952" cy="3383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73752" y="456285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453542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set to 10% on both stores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82312" y="4828032"/>
            <a:ext cx="41879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73752" y="490118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487375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team notified; member comms ready to send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COMMUNICATION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Reporting Cadence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42416"/>
            <a:ext cx="850392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07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/ Report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51760" y="10607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0" y="106070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760720" y="10607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78040" y="1060704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335024"/>
            <a:ext cx="85039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8074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380744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wks (Mon Wk 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138074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 team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60720" y="138074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Zoom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78040" y="1380744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1691640"/>
            <a:ext cx="8503920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373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1737360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Mon–Fri (15 min)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0" y="17373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60720" y="17373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Slack / 9am call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78040" y="173736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048256"/>
            <a:ext cx="85039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9397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ANM Update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2093976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0" y="209397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ANM PO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0" y="209397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summary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78040" y="2093976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2404872"/>
            <a:ext cx="8503920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45059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245059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every sprint (Fri)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0" y="245059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+ ANM stakeholders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0720" y="245059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 live demo on device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2450592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Lead Dev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2761488"/>
            <a:ext cx="85039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80720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2807208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weeks post-demo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0" y="28072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60720" y="2807208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debrief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807208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3118104"/>
            <a:ext cx="8503920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16382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51760" y="3163824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&amp; 2 (ad hoc)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14800" y="3163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+ ANM PO + PM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60720" y="316382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walkthrough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3163824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3474720"/>
            <a:ext cx="85039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5204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51760" y="3520440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(once)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14800" y="35204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Backend + DevOps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60720" y="352044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review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78040" y="3520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8503920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87705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Feedback Session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51760" y="3877056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(2 sessions)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14800" y="38770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pilot + QA + PM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60720" y="3877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with screen share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78040" y="3877056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QA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11480" y="4187952"/>
            <a:ext cx="85039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23367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Readiness Review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651760" y="423367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Day 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114800" y="423367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+ ANM PO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60720" y="4233672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review (45 min)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178040" y="4233672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Architect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11480" y="4544568"/>
            <a:ext cx="8503920" cy="35661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59028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 Report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651760" y="4590288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(post-launch)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114800" y="4590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ANM PO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760720" y="4590288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cost, uptime, usage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178040" y="4590288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+ PM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11480" y="4773168"/>
            <a:ext cx="8503920" cy="21945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1480" y="4773168"/>
            <a:ext cx="54864" cy="2194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4782312"/>
            <a:ext cx="8302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Change Control: Scope changes require a formal CR after Milestone 5 (Architecture Sign-Off). Architect assesses impact within 48 hrs; PM updates milestone plan accordingly.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v1.0  · 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43D8C">
              <a:alpha val="28000"/>
            </a:srgbClr>
          </a:solidFill>
          <a:ln w="12700">
            <a:solidFill>
              <a:srgbClr val="243D8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243D8C">
              <a:alpha val="24000"/>
            </a:srgbClr>
          </a:solidFill>
          <a:ln w="12700">
            <a:solidFill>
              <a:srgbClr val="243D8C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Execute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566160" y="1609344"/>
            <a:ext cx="201168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 gives ANM full visibility into every milestone, sprint, dependency,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go-live requirement — from Day 1 through to production launch and beyond.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1938528" cy="8778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Tracked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42032" y="2578608"/>
            <a:ext cx="1938528" cy="8778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265176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42032" y="305409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Planned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2578608"/>
            <a:ext cx="1938528" cy="8778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65176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26864" y="305409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Checklist Items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11696" y="2578608"/>
            <a:ext cx="1938528" cy="8778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65176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Wks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11696" y="305409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 Store Launch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487168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Kickoff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discovery call with ANM leadership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3657600"/>
            <a:ext cx="2487168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71246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37560" y="402336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Start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425196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deposit kicks off Week 1 immediately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35040" y="3657600"/>
            <a:ext cx="2487168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71246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5040" y="402336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425196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hello@yourstudio.com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988052"/>
            <a:ext cx="9144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 App  ·  Delivery Milestone &amp; Implementation Plan  ·  June 2025  ·  Private &amp; Confidential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ANM – Delivery Milestone &amp; Implementation Plan</dc:title>
  <dc:subject>PptxGenJS Presentation</dc:subject>
  <dc:creator>Solution Development Team</dc:creator>
  <cp:lastModifiedBy>Solution Development Team</cp:lastModifiedBy>
  <cp:revision>1</cp:revision>
  <dcterms:created xsi:type="dcterms:W3CDTF">2026-06-15T01:57:01Z</dcterms:created>
  <dcterms:modified xsi:type="dcterms:W3CDTF">2026-06-15T01:57:01Z</dcterms:modified>
</cp:coreProperties>
</file>