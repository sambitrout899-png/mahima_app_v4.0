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F6E"/>
        </a:solidFill>
      </p:bgPr>
    </p:bg>
    <p:spTree>
      <p:nvGrpSpPr>
        <p:cNvPr id="1" name=""/>
        <p:cNvGrpSpPr/>
        <p:nvPr/>
      </p:nvGrpSpPr>
      <p:grpSpPr>
        <a:xfrm>
          <a:off x="0" y="0"/>
          <a:ext cx="0" cy="0"/>
          <a:chOff x="0" y="0"/>
          <a:chExt cx="0" cy="0"/>
        </a:xfrm>
      </p:grpSpPr>
      <p:sp>
        <p:nvSpPr>
          <p:cNvPr id="2" name="Shape 0"/>
          <p:cNvSpPr/>
          <p:nvPr/>
        </p:nvSpPr>
        <p:spPr>
          <a:xfrm>
            <a:off x="7132320" y="-731520"/>
            <a:ext cx="2926080" cy="2926080"/>
          </a:xfrm>
          <a:prstGeom prst="ellipse">
            <a:avLst/>
          </a:prstGeom>
          <a:solidFill>
            <a:srgbClr val="243D8C">
              <a:alpha val="35000"/>
            </a:srgbClr>
          </a:solidFill>
          <a:ln w="12700">
            <a:solidFill>
              <a:srgbClr val="243D8C">
                <a:alpha val="35000"/>
              </a:srgbClr>
            </a:solidFill>
            <a:prstDash val="solid"/>
          </a:ln>
        </p:spPr>
      </p:sp>
      <p:sp>
        <p:nvSpPr>
          <p:cNvPr id="3" name="Shape 1"/>
          <p:cNvSpPr/>
          <p:nvPr/>
        </p:nvSpPr>
        <p:spPr>
          <a:xfrm>
            <a:off x="-548640" y="3291840"/>
            <a:ext cx="2560320" cy="2560320"/>
          </a:xfrm>
          <a:prstGeom prst="ellipse">
            <a:avLst/>
          </a:prstGeom>
          <a:solidFill>
            <a:srgbClr val="243D8C">
              <a:alpha val="30000"/>
            </a:srgbClr>
          </a:solidFill>
          <a:ln w="12700">
            <a:solidFill>
              <a:srgbClr val="243D8C">
                <a:alpha val="30000"/>
              </a:srgbClr>
            </a:solidFill>
            <a:prstDash val="solid"/>
          </a:ln>
        </p:spPr>
      </p:sp>
      <p:sp>
        <p:nvSpPr>
          <p:cNvPr id="4" name="Shape 2"/>
          <p:cNvSpPr/>
          <p:nvPr/>
        </p:nvSpPr>
        <p:spPr>
          <a:xfrm>
            <a:off x="3200400" y="457200"/>
            <a:ext cx="2743200" cy="292608"/>
          </a:xfrm>
          <a:prstGeom prst="roundRect">
            <a:avLst>
              <a:gd name="adj" fmla="val 50000"/>
            </a:avLst>
          </a:prstGeom>
          <a:solidFill>
            <a:srgbClr val="2C4499"/>
          </a:solidFill>
          <a:ln w="12700">
            <a:solidFill>
              <a:srgbClr val="F0A500"/>
            </a:solidFill>
            <a:prstDash val="solid"/>
          </a:ln>
        </p:spPr>
      </p:sp>
      <p:sp>
        <p:nvSpPr>
          <p:cNvPr id="5" name="Text 3"/>
          <p:cNvSpPr/>
          <p:nvPr/>
        </p:nvSpPr>
        <p:spPr>
          <a:xfrm>
            <a:off x="3200400" y="457200"/>
            <a:ext cx="2743200" cy="292608"/>
          </a:xfrm>
          <a:prstGeom prst="rect">
            <a:avLst/>
          </a:prstGeom>
          <a:noFill/>
          <a:ln/>
        </p:spPr>
        <p:txBody>
          <a:bodyPr wrap="square" rtlCol="0" anchor="ctr"/>
          <a:lstStyle/>
          <a:p>
            <a:pPr algn="ctr" indent="0" marL="0">
              <a:buNone/>
            </a:pPr>
            <a:r>
              <a:rPr lang="en-US" sz="800" b="1" spc="150" kern="0" dirty="0">
                <a:solidFill>
                  <a:srgbClr val="F0A500"/>
                </a:solidFill>
                <a:latin typeface="Calibri" pitchFamily="34" charset="0"/>
                <a:ea typeface="Calibri" pitchFamily="34" charset="-122"/>
                <a:cs typeface="Calibri" pitchFamily="34" charset="-120"/>
              </a:rPr>
              <a:t>PROJECT DELIVERY PLAN · 2025</a:t>
            </a:r>
            <a:endParaRPr lang="en-US" sz="800" dirty="0"/>
          </a:p>
        </p:txBody>
      </p:sp>
      <p:sp>
        <p:nvSpPr>
          <p:cNvPr id="6" name="Text 4"/>
          <p:cNvSpPr/>
          <p:nvPr/>
        </p:nvSpPr>
        <p:spPr>
          <a:xfrm>
            <a:off x="731520" y="914400"/>
            <a:ext cx="7680960" cy="59436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ANM Community App</a:t>
            </a:r>
            <a:endParaRPr lang="en-US" sz="4000" dirty="0"/>
          </a:p>
        </p:txBody>
      </p:sp>
      <p:sp>
        <p:nvSpPr>
          <p:cNvPr id="7" name="Text 5"/>
          <p:cNvSpPr/>
          <p:nvPr/>
        </p:nvSpPr>
        <p:spPr>
          <a:xfrm>
            <a:off x="731520" y="1508760"/>
            <a:ext cx="7680960" cy="502920"/>
          </a:xfrm>
          <a:prstGeom prst="rect">
            <a:avLst/>
          </a:prstGeom>
          <a:noFill/>
          <a:ln/>
        </p:spPr>
        <p:txBody>
          <a:bodyPr wrap="square" rtlCol="0" anchor="ctr"/>
          <a:lstStyle/>
          <a:p>
            <a:pPr algn="ctr" indent="0" marL="0">
              <a:buNone/>
            </a:pPr>
            <a:r>
              <a:rPr lang="en-US" sz="2800" b="1" dirty="0">
                <a:solidFill>
                  <a:srgbClr val="F0A500"/>
                </a:solidFill>
                <a:latin typeface="Calibri" pitchFamily="34" charset="0"/>
                <a:ea typeface="Calibri" pitchFamily="34" charset="-122"/>
                <a:cs typeface="Calibri" pitchFamily="34" charset="-120"/>
              </a:rPr>
              <a:t>Milestone &amp; Implementation Plan</a:t>
            </a:r>
            <a:endParaRPr lang="en-US" sz="2800" dirty="0"/>
          </a:p>
        </p:txBody>
      </p:sp>
      <p:sp>
        <p:nvSpPr>
          <p:cNvPr id="8" name="Shape 6"/>
          <p:cNvSpPr/>
          <p:nvPr/>
        </p:nvSpPr>
        <p:spPr>
          <a:xfrm>
            <a:off x="3657600" y="2148840"/>
            <a:ext cx="1828800" cy="45720"/>
          </a:xfrm>
          <a:prstGeom prst="rect">
            <a:avLst/>
          </a:prstGeom>
          <a:solidFill>
            <a:srgbClr val="F0A500"/>
          </a:solidFill>
          <a:ln/>
        </p:spPr>
      </p:sp>
      <p:sp>
        <p:nvSpPr>
          <p:cNvPr id="9" name="Text 7"/>
          <p:cNvSpPr/>
          <p:nvPr/>
        </p:nvSpPr>
        <p:spPr>
          <a:xfrm>
            <a:off x="1097280" y="2304288"/>
            <a:ext cx="6949440" cy="457200"/>
          </a:xfrm>
          <a:prstGeom prst="rect">
            <a:avLst/>
          </a:prstGeom>
          <a:noFill/>
          <a:ln/>
        </p:spPr>
        <p:txBody>
          <a:bodyPr wrap="square" rtlCol="0" anchor="ctr"/>
          <a:lstStyle/>
          <a:p>
            <a:pPr algn="ctr" indent="0" marL="0">
              <a:buNone/>
            </a:pPr>
            <a:r>
              <a:rPr lang="en-US" sz="1050" dirty="0">
                <a:solidFill>
                  <a:srgbClr val="000000"/>
                </a:solidFill>
                <a:latin typeface="Calibri" pitchFamily="34" charset="0"/>
                <a:ea typeface="Calibri" pitchFamily="34" charset="-122"/>
                <a:cs typeface="Calibri" pitchFamily="34" charset="-120"/>
              </a:rPr>
              <a:t>A precise execution framework for delivering a .NET 8 + Ionic/Capacitor + PostgreSQL community platform in 10 weeks.</a:t>
            </a:r>
            <a:endParaRPr lang="en-US" sz="1050" dirty="0"/>
          </a:p>
        </p:txBody>
      </p:sp>
      <p:sp>
        <p:nvSpPr>
          <p:cNvPr id="10" name="Shape 8"/>
          <p:cNvSpPr/>
          <p:nvPr/>
        </p:nvSpPr>
        <p:spPr>
          <a:xfrm>
            <a:off x="457200" y="2907792"/>
            <a:ext cx="1572768" cy="694944"/>
          </a:xfrm>
          <a:prstGeom prst="rect">
            <a:avLst/>
          </a:prstGeom>
          <a:solidFill>
            <a:srgbClr val="FFFFFF">
              <a:alpha val="10000"/>
            </a:srgbClr>
          </a:solidFill>
          <a:ln w="12700">
            <a:solidFill>
              <a:srgbClr val="FFFFFF">
                <a:alpha val="20000"/>
              </a:srgbClr>
            </a:solidFill>
            <a:prstDash val="solid"/>
          </a:ln>
        </p:spPr>
      </p:sp>
      <p:sp>
        <p:nvSpPr>
          <p:cNvPr id="11" name="Text 9"/>
          <p:cNvSpPr/>
          <p:nvPr/>
        </p:nvSpPr>
        <p:spPr>
          <a:xfrm>
            <a:off x="457200" y="2962656"/>
            <a:ext cx="1572768" cy="182880"/>
          </a:xfrm>
          <a:prstGeom prst="rect">
            <a:avLst/>
          </a:prstGeom>
          <a:noFill/>
          <a:ln/>
        </p:spPr>
        <p:txBody>
          <a:bodyPr wrap="square" rtlCol="0" anchor="ctr"/>
          <a:lstStyle/>
          <a:p>
            <a:pPr algn="ctr" indent="0" marL="0">
              <a:buNone/>
            </a:pPr>
            <a:r>
              <a:rPr lang="en-US" sz="650" b="1" spc="100" kern="0" dirty="0">
                <a:solidFill>
                  <a:srgbClr val="000000"/>
                </a:solidFill>
                <a:latin typeface="Calibri" pitchFamily="34" charset="0"/>
                <a:ea typeface="Calibri" pitchFamily="34" charset="-122"/>
                <a:cs typeface="Calibri" pitchFamily="34" charset="-120"/>
              </a:rPr>
              <a:t>PROJECT</a:t>
            </a:r>
            <a:endParaRPr lang="en-US" sz="650" dirty="0"/>
          </a:p>
        </p:txBody>
      </p:sp>
      <p:sp>
        <p:nvSpPr>
          <p:cNvPr id="12" name="Text 10"/>
          <p:cNvSpPr/>
          <p:nvPr/>
        </p:nvSpPr>
        <p:spPr>
          <a:xfrm>
            <a:off x="457200" y="3163824"/>
            <a:ext cx="1572768" cy="329184"/>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ANM Community App</a:t>
            </a:r>
            <a:endParaRPr lang="en-US" sz="850" dirty="0"/>
          </a:p>
        </p:txBody>
      </p:sp>
      <p:sp>
        <p:nvSpPr>
          <p:cNvPr id="13" name="Shape 11"/>
          <p:cNvSpPr/>
          <p:nvPr/>
        </p:nvSpPr>
        <p:spPr>
          <a:xfrm>
            <a:off x="2084832" y="2907792"/>
            <a:ext cx="1572768" cy="694944"/>
          </a:xfrm>
          <a:prstGeom prst="rect">
            <a:avLst/>
          </a:prstGeom>
          <a:solidFill>
            <a:srgbClr val="FFFFFF">
              <a:alpha val="10000"/>
            </a:srgbClr>
          </a:solidFill>
          <a:ln w="12700">
            <a:solidFill>
              <a:srgbClr val="FFFFFF">
                <a:alpha val="20000"/>
              </a:srgbClr>
            </a:solidFill>
            <a:prstDash val="solid"/>
          </a:ln>
        </p:spPr>
      </p:sp>
      <p:sp>
        <p:nvSpPr>
          <p:cNvPr id="14" name="Text 12"/>
          <p:cNvSpPr/>
          <p:nvPr/>
        </p:nvSpPr>
        <p:spPr>
          <a:xfrm>
            <a:off x="2084832" y="2962656"/>
            <a:ext cx="1572768" cy="182880"/>
          </a:xfrm>
          <a:prstGeom prst="rect">
            <a:avLst/>
          </a:prstGeom>
          <a:noFill/>
          <a:ln/>
        </p:spPr>
        <p:txBody>
          <a:bodyPr wrap="square" rtlCol="0" anchor="ctr"/>
          <a:lstStyle/>
          <a:p>
            <a:pPr algn="ctr" indent="0" marL="0">
              <a:buNone/>
            </a:pPr>
            <a:r>
              <a:rPr lang="en-US" sz="650" b="1" spc="100" kern="0" dirty="0">
                <a:solidFill>
                  <a:srgbClr val="000000"/>
                </a:solidFill>
                <a:latin typeface="Calibri" pitchFamily="34" charset="0"/>
                <a:ea typeface="Calibri" pitchFamily="34" charset="-122"/>
                <a:cs typeface="Calibri" pitchFamily="34" charset="-120"/>
              </a:rPr>
              <a:t>DURATION</a:t>
            </a:r>
            <a:endParaRPr lang="en-US" sz="650" dirty="0"/>
          </a:p>
        </p:txBody>
      </p:sp>
      <p:sp>
        <p:nvSpPr>
          <p:cNvPr id="15" name="Text 13"/>
          <p:cNvSpPr/>
          <p:nvPr/>
        </p:nvSpPr>
        <p:spPr>
          <a:xfrm>
            <a:off x="2084832" y="3163824"/>
            <a:ext cx="1572768" cy="329184"/>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10 Weeks + 30-Day Hypercare</a:t>
            </a:r>
            <a:endParaRPr lang="en-US" sz="850" dirty="0"/>
          </a:p>
        </p:txBody>
      </p:sp>
      <p:sp>
        <p:nvSpPr>
          <p:cNvPr id="16" name="Shape 14"/>
          <p:cNvSpPr/>
          <p:nvPr/>
        </p:nvSpPr>
        <p:spPr>
          <a:xfrm>
            <a:off x="3712464" y="2907792"/>
            <a:ext cx="1572768" cy="694944"/>
          </a:xfrm>
          <a:prstGeom prst="rect">
            <a:avLst/>
          </a:prstGeom>
          <a:solidFill>
            <a:srgbClr val="FFFFFF">
              <a:alpha val="10000"/>
            </a:srgbClr>
          </a:solidFill>
          <a:ln w="12700">
            <a:solidFill>
              <a:srgbClr val="FFFFFF">
                <a:alpha val="20000"/>
              </a:srgbClr>
            </a:solidFill>
            <a:prstDash val="solid"/>
          </a:ln>
        </p:spPr>
      </p:sp>
      <p:sp>
        <p:nvSpPr>
          <p:cNvPr id="17" name="Text 15"/>
          <p:cNvSpPr/>
          <p:nvPr/>
        </p:nvSpPr>
        <p:spPr>
          <a:xfrm>
            <a:off x="3712464" y="2962656"/>
            <a:ext cx="1572768" cy="182880"/>
          </a:xfrm>
          <a:prstGeom prst="rect">
            <a:avLst/>
          </a:prstGeom>
          <a:noFill/>
          <a:ln/>
        </p:spPr>
        <p:txBody>
          <a:bodyPr wrap="square" rtlCol="0" anchor="ctr"/>
          <a:lstStyle/>
          <a:p>
            <a:pPr algn="ctr" indent="0" marL="0">
              <a:buNone/>
            </a:pPr>
            <a:r>
              <a:rPr lang="en-US" sz="650" b="1" spc="100" kern="0" dirty="0">
                <a:solidFill>
                  <a:srgbClr val="000000"/>
                </a:solidFill>
                <a:latin typeface="Calibri" pitchFamily="34" charset="0"/>
                <a:ea typeface="Calibri" pitchFamily="34" charset="-122"/>
                <a:cs typeface="Calibri" pitchFamily="34" charset="-120"/>
              </a:rPr>
              <a:t>METHODOLOGY</a:t>
            </a:r>
            <a:endParaRPr lang="en-US" sz="650" dirty="0"/>
          </a:p>
        </p:txBody>
      </p:sp>
      <p:sp>
        <p:nvSpPr>
          <p:cNvPr id="18" name="Text 16"/>
          <p:cNvSpPr/>
          <p:nvPr/>
        </p:nvSpPr>
        <p:spPr>
          <a:xfrm>
            <a:off x="3712464" y="3163824"/>
            <a:ext cx="1572768" cy="329184"/>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Agile / 2-Week Sprints</a:t>
            </a:r>
            <a:endParaRPr lang="en-US" sz="850" dirty="0"/>
          </a:p>
        </p:txBody>
      </p:sp>
      <p:sp>
        <p:nvSpPr>
          <p:cNvPr id="19" name="Shape 17"/>
          <p:cNvSpPr/>
          <p:nvPr/>
        </p:nvSpPr>
        <p:spPr>
          <a:xfrm>
            <a:off x="5340096" y="2907792"/>
            <a:ext cx="1572768" cy="694944"/>
          </a:xfrm>
          <a:prstGeom prst="rect">
            <a:avLst/>
          </a:prstGeom>
          <a:solidFill>
            <a:srgbClr val="FFFFFF">
              <a:alpha val="10000"/>
            </a:srgbClr>
          </a:solidFill>
          <a:ln w="12700">
            <a:solidFill>
              <a:srgbClr val="FFFFFF">
                <a:alpha val="20000"/>
              </a:srgbClr>
            </a:solidFill>
            <a:prstDash val="solid"/>
          </a:ln>
        </p:spPr>
      </p:sp>
      <p:sp>
        <p:nvSpPr>
          <p:cNvPr id="20" name="Text 18"/>
          <p:cNvSpPr/>
          <p:nvPr/>
        </p:nvSpPr>
        <p:spPr>
          <a:xfrm>
            <a:off x="5340096" y="2962656"/>
            <a:ext cx="1572768" cy="182880"/>
          </a:xfrm>
          <a:prstGeom prst="rect">
            <a:avLst/>
          </a:prstGeom>
          <a:noFill/>
          <a:ln/>
        </p:spPr>
        <p:txBody>
          <a:bodyPr wrap="square" rtlCol="0" anchor="ctr"/>
          <a:lstStyle/>
          <a:p>
            <a:pPr algn="ctr" indent="0" marL="0">
              <a:buNone/>
            </a:pPr>
            <a:r>
              <a:rPr lang="en-US" sz="650" b="1" spc="100" kern="0" dirty="0">
                <a:solidFill>
                  <a:srgbClr val="000000"/>
                </a:solidFill>
                <a:latin typeface="Calibri" pitchFamily="34" charset="0"/>
                <a:ea typeface="Calibri" pitchFamily="34" charset="-122"/>
                <a:cs typeface="Calibri" pitchFamily="34" charset="-120"/>
              </a:rPr>
              <a:t>FRAMEWORK</a:t>
            </a:r>
            <a:endParaRPr lang="en-US" sz="650" dirty="0"/>
          </a:p>
        </p:txBody>
      </p:sp>
      <p:sp>
        <p:nvSpPr>
          <p:cNvPr id="21" name="Text 19"/>
          <p:cNvSpPr/>
          <p:nvPr/>
        </p:nvSpPr>
        <p:spPr>
          <a:xfrm>
            <a:off x="5340096" y="3163824"/>
            <a:ext cx="1572768" cy="329184"/>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.NET 8 + PostgreSQL</a:t>
            </a:r>
            <a:endParaRPr lang="en-US" sz="850" dirty="0"/>
          </a:p>
        </p:txBody>
      </p:sp>
      <p:sp>
        <p:nvSpPr>
          <p:cNvPr id="22" name="Shape 20"/>
          <p:cNvSpPr/>
          <p:nvPr/>
        </p:nvSpPr>
        <p:spPr>
          <a:xfrm>
            <a:off x="6967728" y="2907792"/>
            <a:ext cx="1572768" cy="694944"/>
          </a:xfrm>
          <a:prstGeom prst="rect">
            <a:avLst/>
          </a:prstGeom>
          <a:solidFill>
            <a:srgbClr val="FFFFFF">
              <a:alpha val="10000"/>
            </a:srgbClr>
          </a:solidFill>
          <a:ln w="12700">
            <a:solidFill>
              <a:srgbClr val="FFFFFF">
                <a:alpha val="20000"/>
              </a:srgbClr>
            </a:solidFill>
            <a:prstDash val="solid"/>
          </a:ln>
        </p:spPr>
      </p:sp>
      <p:sp>
        <p:nvSpPr>
          <p:cNvPr id="23" name="Text 21"/>
          <p:cNvSpPr/>
          <p:nvPr/>
        </p:nvSpPr>
        <p:spPr>
          <a:xfrm>
            <a:off x="6967728" y="2962656"/>
            <a:ext cx="1572768" cy="182880"/>
          </a:xfrm>
          <a:prstGeom prst="rect">
            <a:avLst/>
          </a:prstGeom>
          <a:noFill/>
          <a:ln/>
        </p:spPr>
        <p:txBody>
          <a:bodyPr wrap="square" rtlCol="0" anchor="ctr"/>
          <a:lstStyle/>
          <a:p>
            <a:pPr algn="ctr" indent="0" marL="0">
              <a:buNone/>
            </a:pPr>
            <a:r>
              <a:rPr lang="en-US" sz="650" b="1" spc="100" kern="0" dirty="0">
                <a:solidFill>
                  <a:srgbClr val="000000"/>
                </a:solidFill>
                <a:latin typeface="Calibri" pitchFamily="34" charset="0"/>
                <a:ea typeface="Calibri" pitchFamily="34" charset="-122"/>
                <a:cs typeface="Calibri" pitchFamily="34" charset="-120"/>
              </a:rPr>
              <a:t>VERSION</a:t>
            </a:r>
            <a:endParaRPr lang="en-US" sz="650" dirty="0"/>
          </a:p>
        </p:txBody>
      </p:sp>
      <p:sp>
        <p:nvSpPr>
          <p:cNvPr id="24" name="Text 22"/>
          <p:cNvSpPr/>
          <p:nvPr/>
        </p:nvSpPr>
        <p:spPr>
          <a:xfrm>
            <a:off x="6967728" y="3163824"/>
            <a:ext cx="1572768" cy="329184"/>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v1.0 — Draft</a:t>
            </a:r>
            <a:endParaRPr lang="en-US" sz="850" dirty="0"/>
          </a:p>
        </p:txBody>
      </p:sp>
      <p:sp>
        <p:nvSpPr>
          <p:cNvPr id="25" name="Shape 23"/>
          <p:cNvSpPr/>
          <p:nvPr/>
        </p:nvSpPr>
        <p:spPr>
          <a:xfrm>
            <a:off x="0" y="4983480"/>
            <a:ext cx="9144000" cy="160020"/>
          </a:xfrm>
          <a:prstGeom prst="rect">
            <a:avLst/>
          </a:prstGeom>
          <a:solidFill>
            <a:srgbClr val="F0A500"/>
          </a:solidFill>
          <a:ln/>
        </p:spPr>
      </p:sp>
      <p:sp>
        <p:nvSpPr>
          <p:cNvPr id="26" name="Text 24"/>
          <p:cNvSpPr/>
          <p:nvPr/>
        </p:nvSpPr>
        <p:spPr>
          <a:xfrm>
            <a:off x="0" y="4992624"/>
            <a:ext cx="9144000" cy="128016"/>
          </a:xfrm>
          <a:prstGeom prst="rect">
            <a:avLst/>
          </a:prstGeom>
          <a:noFill/>
          <a:ln/>
        </p:spPr>
        <p:txBody>
          <a:bodyPr wrap="square" rtlCol="0" anchor="ctr"/>
          <a:lstStyle/>
          <a:p>
            <a:pPr algn="ctr" indent="0" marL="0">
              <a:buNone/>
            </a:pPr>
            <a:r>
              <a:rPr lang="en-US" sz="700" dirty="0">
                <a:solidFill>
                  <a:srgbClr val="1B2F6E"/>
                </a:solidFill>
                <a:latin typeface="Calibri" pitchFamily="34" charset="0"/>
                <a:ea typeface="Calibri" pitchFamily="34" charset="-122"/>
                <a:cs typeface="Calibri" pitchFamily="34" charset="-120"/>
              </a:rPr>
              <a:t>ANM Community App — Milestone &amp; Implementation Plan · Confidential</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DELIVERY SCORECARD</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At a Glance — Key Delivery Numbers</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Shape 3"/>
          <p:cNvSpPr/>
          <p:nvPr/>
        </p:nvSpPr>
        <p:spPr>
          <a:xfrm>
            <a:off x="457200" y="1133856"/>
            <a:ext cx="2651760" cy="1737360"/>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6" name="Shape 4"/>
          <p:cNvSpPr/>
          <p:nvPr/>
        </p:nvSpPr>
        <p:spPr>
          <a:xfrm>
            <a:off x="457200" y="1133856"/>
            <a:ext cx="2651760" cy="64008"/>
          </a:xfrm>
          <a:prstGeom prst="rect">
            <a:avLst/>
          </a:prstGeom>
          <a:solidFill>
            <a:srgbClr val="F0A500"/>
          </a:solidFill>
          <a:ln w="12700">
            <a:solidFill>
              <a:srgbClr val="F0A500"/>
            </a:solidFill>
            <a:prstDash val="solid"/>
          </a:ln>
        </p:spPr>
      </p:sp>
      <p:sp>
        <p:nvSpPr>
          <p:cNvPr id="7" name="Text 5"/>
          <p:cNvSpPr/>
          <p:nvPr/>
        </p:nvSpPr>
        <p:spPr>
          <a:xfrm>
            <a:off x="457200" y="1335024"/>
            <a:ext cx="2651760" cy="658368"/>
          </a:xfrm>
          <a:prstGeom prst="rect">
            <a:avLst/>
          </a:prstGeom>
          <a:noFill/>
          <a:ln/>
        </p:spPr>
        <p:txBody>
          <a:bodyPr wrap="square" rtlCol="0" anchor="ctr"/>
          <a:lstStyle/>
          <a:p>
            <a:pPr algn="ctr" indent="0" marL="0">
              <a:buNone/>
            </a:pPr>
            <a:r>
              <a:rPr lang="en-US" sz="4800" b="1" dirty="0">
                <a:solidFill>
                  <a:srgbClr val="1B2F6E"/>
                </a:solidFill>
                <a:latin typeface="Calibri" pitchFamily="34" charset="0"/>
                <a:ea typeface="Calibri" pitchFamily="34" charset="-122"/>
                <a:cs typeface="Calibri" pitchFamily="34" charset="-120"/>
              </a:rPr>
              <a:t>5</a:t>
            </a:r>
            <a:endParaRPr lang="en-US" sz="4800" dirty="0"/>
          </a:p>
        </p:txBody>
      </p:sp>
      <p:sp>
        <p:nvSpPr>
          <p:cNvPr id="8" name="Text 6"/>
          <p:cNvSpPr/>
          <p:nvPr/>
        </p:nvSpPr>
        <p:spPr>
          <a:xfrm>
            <a:off x="457200" y="2048256"/>
            <a:ext cx="2651760" cy="292608"/>
          </a:xfrm>
          <a:prstGeom prst="rect">
            <a:avLst/>
          </a:prstGeom>
          <a:noFill/>
          <a:ln/>
        </p:spPr>
        <p:txBody>
          <a:bodyPr wrap="square" rtlCol="0" anchor="ctr"/>
          <a:lstStyle/>
          <a:p>
            <a:pPr algn="ctr" indent="0" marL="0">
              <a:buNone/>
            </a:pPr>
            <a:r>
              <a:rPr lang="en-US" sz="1150" b="1" dirty="0">
                <a:solidFill>
                  <a:srgbClr val="1B2F6E"/>
                </a:solidFill>
                <a:latin typeface="Calibri" pitchFamily="34" charset="0"/>
                <a:ea typeface="Calibri" pitchFamily="34" charset="-122"/>
                <a:cs typeface="Calibri" pitchFamily="34" charset="-120"/>
              </a:rPr>
              <a:t>Delivery Phases</a:t>
            </a:r>
            <a:endParaRPr lang="en-US" sz="1150" dirty="0"/>
          </a:p>
        </p:txBody>
      </p:sp>
      <p:sp>
        <p:nvSpPr>
          <p:cNvPr id="9" name="Text 7"/>
          <p:cNvSpPr/>
          <p:nvPr/>
        </p:nvSpPr>
        <p:spPr>
          <a:xfrm>
            <a:off x="457200" y="2359152"/>
            <a:ext cx="2651760" cy="219456"/>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Discovery → Deployment → Hypercare</a:t>
            </a:r>
            <a:endParaRPr lang="en-US" sz="850" dirty="0"/>
          </a:p>
        </p:txBody>
      </p:sp>
      <p:sp>
        <p:nvSpPr>
          <p:cNvPr id="10" name="Shape 8"/>
          <p:cNvSpPr/>
          <p:nvPr/>
        </p:nvSpPr>
        <p:spPr>
          <a:xfrm>
            <a:off x="3273552" y="1133856"/>
            <a:ext cx="2651760" cy="1737360"/>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11" name="Shape 9"/>
          <p:cNvSpPr/>
          <p:nvPr/>
        </p:nvSpPr>
        <p:spPr>
          <a:xfrm>
            <a:off x="3273552" y="1133856"/>
            <a:ext cx="2651760" cy="64008"/>
          </a:xfrm>
          <a:prstGeom prst="rect">
            <a:avLst/>
          </a:prstGeom>
          <a:solidFill>
            <a:srgbClr val="F0A500"/>
          </a:solidFill>
          <a:ln w="12700">
            <a:solidFill>
              <a:srgbClr val="F0A500"/>
            </a:solidFill>
            <a:prstDash val="solid"/>
          </a:ln>
        </p:spPr>
      </p:sp>
      <p:sp>
        <p:nvSpPr>
          <p:cNvPr id="12" name="Text 10"/>
          <p:cNvSpPr/>
          <p:nvPr/>
        </p:nvSpPr>
        <p:spPr>
          <a:xfrm>
            <a:off x="3273552" y="1335024"/>
            <a:ext cx="2651760" cy="658368"/>
          </a:xfrm>
          <a:prstGeom prst="rect">
            <a:avLst/>
          </a:prstGeom>
          <a:noFill/>
          <a:ln/>
        </p:spPr>
        <p:txBody>
          <a:bodyPr wrap="square" rtlCol="0" anchor="ctr"/>
          <a:lstStyle/>
          <a:p>
            <a:pPr algn="ctr" indent="0" marL="0">
              <a:buNone/>
            </a:pPr>
            <a:r>
              <a:rPr lang="en-US" sz="4800" b="1" dirty="0">
                <a:solidFill>
                  <a:srgbClr val="1B2F6E"/>
                </a:solidFill>
                <a:latin typeface="Calibri" pitchFamily="34" charset="0"/>
                <a:ea typeface="Calibri" pitchFamily="34" charset="-122"/>
                <a:cs typeface="Calibri" pitchFamily="34" charset="-120"/>
              </a:rPr>
              <a:t>20</a:t>
            </a:r>
            <a:endParaRPr lang="en-US" sz="4800" dirty="0"/>
          </a:p>
        </p:txBody>
      </p:sp>
      <p:sp>
        <p:nvSpPr>
          <p:cNvPr id="13" name="Text 11"/>
          <p:cNvSpPr/>
          <p:nvPr/>
        </p:nvSpPr>
        <p:spPr>
          <a:xfrm>
            <a:off x="3273552" y="2048256"/>
            <a:ext cx="2651760" cy="292608"/>
          </a:xfrm>
          <a:prstGeom prst="rect">
            <a:avLst/>
          </a:prstGeom>
          <a:noFill/>
          <a:ln/>
        </p:spPr>
        <p:txBody>
          <a:bodyPr wrap="square" rtlCol="0" anchor="ctr"/>
          <a:lstStyle/>
          <a:p>
            <a:pPr algn="ctr" indent="0" marL="0">
              <a:buNone/>
            </a:pPr>
            <a:r>
              <a:rPr lang="en-US" sz="1150" b="1" dirty="0">
                <a:solidFill>
                  <a:srgbClr val="1B2F6E"/>
                </a:solidFill>
                <a:latin typeface="Calibri" pitchFamily="34" charset="0"/>
                <a:ea typeface="Calibri" pitchFamily="34" charset="-122"/>
                <a:cs typeface="Calibri" pitchFamily="34" charset="-120"/>
              </a:rPr>
              <a:t>Key Milestones</a:t>
            </a:r>
            <a:endParaRPr lang="en-US" sz="1150" dirty="0"/>
          </a:p>
        </p:txBody>
      </p:sp>
      <p:sp>
        <p:nvSpPr>
          <p:cNvPr id="14" name="Text 12"/>
          <p:cNvSpPr/>
          <p:nvPr/>
        </p:nvSpPr>
        <p:spPr>
          <a:xfrm>
            <a:off x="3273552" y="2359152"/>
            <a:ext cx="2651760" cy="219456"/>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 Formal Sign-off Gates</a:t>
            </a:r>
            <a:endParaRPr lang="en-US" sz="850" dirty="0"/>
          </a:p>
        </p:txBody>
      </p:sp>
      <p:sp>
        <p:nvSpPr>
          <p:cNvPr id="15" name="Shape 13"/>
          <p:cNvSpPr/>
          <p:nvPr/>
        </p:nvSpPr>
        <p:spPr>
          <a:xfrm>
            <a:off x="6089904" y="1133856"/>
            <a:ext cx="2651760" cy="1737360"/>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16" name="Shape 14"/>
          <p:cNvSpPr/>
          <p:nvPr/>
        </p:nvSpPr>
        <p:spPr>
          <a:xfrm>
            <a:off x="6089904" y="1133856"/>
            <a:ext cx="2651760" cy="64008"/>
          </a:xfrm>
          <a:prstGeom prst="rect">
            <a:avLst/>
          </a:prstGeom>
          <a:solidFill>
            <a:srgbClr val="F0A500"/>
          </a:solidFill>
          <a:ln w="12700">
            <a:solidFill>
              <a:srgbClr val="F0A500"/>
            </a:solidFill>
            <a:prstDash val="solid"/>
          </a:ln>
        </p:spPr>
      </p:sp>
      <p:sp>
        <p:nvSpPr>
          <p:cNvPr id="17" name="Text 15"/>
          <p:cNvSpPr/>
          <p:nvPr/>
        </p:nvSpPr>
        <p:spPr>
          <a:xfrm>
            <a:off x="6089904" y="1335024"/>
            <a:ext cx="2651760" cy="658368"/>
          </a:xfrm>
          <a:prstGeom prst="rect">
            <a:avLst/>
          </a:prstGeom>
          <a:noFill/>
          <a:ln/>
        </p:spPr>
        <p:txBody>
          <a:bodyPr wrap="square" rtlCol="0" anchor="ctr"/>
          <a:lstStyle/>
          <a:p>
            <a:pPr algn="ctr" indent="0" marL="0">
              <a:buNone/>
            </a:pPr>
            <a:r>
              <a:rPr lang="en-US" sz="4800" b="1" dirty="0">
                <a:solidFill>
                  <a:srgbClr val="1B2F6E"/>
                </a:solidFill>
                <a:latin typeface="Calibri" pitchFamily="34" charset="0"/>
                <a:ea typeface="Calibri" pitchFamily="34" charset="-122"/>
                <a:cs typeface="Calibri" pitchFamily="34" charset="-120"/>
              </a:rPr>
              <a:t>5</a:t>
            </a:r>
            <a:endParaRPr lang="en-US" sz="4800" dirty="0"/>
          </a:p>
        </p:txBody>
      </p:sp>
      <p:sp>
        <p:nvSpPr>
          <p:cNvPr id="18" name="Text 16"/>
          <p:cNvSpPr/>
          <p:nvPr/>
        </p:nvSpPr>
        <p:spPr>
          <a:xfrm>
            <a:off x="6089904" y="2048256"/>
            <a:ext cx="2651760" cy="292608"/>
          </a:xfrm>
          <a:prstGeom prst="rect">
            <a:avLst/>
          </a:prstGeom>
          <a:noFill/>
          <a:ln/>
        </p:spPr>
        <p:txBody>
          <a:bodyPr wrap="square" rtlCol="0" anchor="ctr"/>
          <a:lstStyle/>
          <a:p>
            <a:pPr algn="ctr" indent="0" marL="0">
              <a:buNone/>
            </a:pPr>
            <a:r>
              <a:rPr lang="en-US" sz="1150" b="1" dirty="0">
                <a:solidFill>
                  <a:srgbClr val="1B2F6E"/>
                </a:solidFill>
                <a:latin typeface="Calibri" pitchFamily="34" charset="0"/>
                <a:ea typeface="Calibri" pitchFamily="34" charset="-122"/>
                <a:cs typeface="Calibri" pitchFamily="34" charset="-120"/>
              </a:rPr>
              <a:t>Agile Sprints</a:t>
            </a:r>
            <a:endParaRPr lang="en-US" sz="1150" dirty="0"/>
          </a:p>
        </p:txBody>
      </p:sp>
      <p:sp>
        <p:nvSpPr>
          <p:cNvPr id="19" name="Text 17"/>
          <p:cNvSpPr/>
          <p:nvPr/>
        </p:nvSpPr>
        <p:spPr>
          <a:xfrm>
            <a:off x="6089904" y="2359152"/>
            <a:ext cx="2651760" cy="219456"/>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 Weeks Each</a:t>
            </a:r>
            <a:endParaRPr lang="en-US" sz="850" dirty="0"/>
          </a:p>
        </p:txBody>
      </p:sp>
      <p:sp>
        <p:nvSpPr>
          <p:cNvPr id="20" name="Shape 18"/>
          <p:cNvSpPr/>
          <p:nvPr/>
        </p:nvSpPr>
        <p:spPr>
          <a:xfrm>
            <a:off x="457200" y="3017520"/>
            <a:ext cx="2651760" cy="1737360"/>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21" name="Shape 19"/>
          <p:cNvSpPr/>
          <p:nvPr/>
        </p:nvSpPr>
        <p:spPr>
          <a:xfrm>
            <a:off x="457200" y="3017520"/>
            <a:ext cx="2651760" cy="64008"/>
          </a:xfrm>
          <a:prstGeom prst="rect">
            <a:avLst/>
          </a:prstGeom>
          <a:solidFill>
            <a:srgbClr val="F0A500"/>
          </a:solidFill>
          <a:ln w="12700">
            <a:solidFill>
              <a:srgbClr val="F0A500"/>
            </a:solidFill>
            <a:prstDash val="solid"/>
          </a:ln>
        </p:spPr>
      </p:sp>
      <p:sp>
        <p:nvSpPr>
          <p:cNvPr id="22" name="Text 20"/>
          <p:cNvSpPr/>
          <p:nvPr/>
        </p:nvSpPr>
        <p:spPr>
          <a:xfrm>
            <a:off x="457200" y="3218688"/>
            <a:ext cx="2651760" cy="658368"/>
          </a:xfrm>
          <a:prstGeom prst="rect">
            <a:avLst/>
          </a:prstGeom>
          <a:noFill/>
          <a:ln/>
        </p:spPr>
        <p:txBody>
          <a:bodyPr wrap="square" rtlCol="0" anchor="ctr"/>
          <a:lstStyle/>
          <a:p>
            <a:pPr algn="ctr" indent="0" marL="0">
              <a:buNone/>
            </a:pPr>
            <a:r>
              <a:rPr lang="en-US" sz="4800" b="1" dirty="0">
                <a:solidFill>
                  <a:srgbClr val="1B2F6E"/>
                </a:solidFill>
                <a:latin typeface="Calibri" pitchFamily="34" charset="0"/>
                <a:ea typeface="Calibri" pitchFamily="34" charset="-122"/>
                <a:cs typeface="Calibri" pitchFamily="34" charset="-120"/>
              </a:rPr>
              <a:t>130+</a:t>
            </a:r>
            <a:endParaRPr lang="en-US" sz="4800" dirty="0"/>
          </a:p>
        </p:txBody>
      </p:sp>
      <p:sp>
        <p:nvSpPr>
          <p:cNvPr id="23" name="Text 21"/>
          <p:cNvSpPr/>
          <p:nvPr/>
        </p:nvSpPr>
        <p:spPr>
          <a:xfrm>
            <a:off x="457200" y="3931920"/>
            <a:ext cx="2651760" cy="292608"/>
          </a:xfrm>
          <a:prstGeom prst="rect">
            <a:avLst/>
          </a:prstGeom>
          <a:noFill/>
          <a:ln/>
        </p:spPr>
        <p:txBody>
          <a:bodyPr wrap="square" rtlCol="0" anchor="ctr"/>
          <a:lstStyle/>
          <a:p>
            <a:pPr algn="ctr" indent="0" marL="0">
              <a:buNone/>
            </a:pPr>
            <a:r>
              <a:rPr lang="en-US" sz="1150" b="1" dirty="0">
                <a:solidFill>
                  <a:srgbClr val="1B2F6E"/>
                </a:solidFill>
                <a:latin typeface="Calibri" pitchFamily="34" charset="0"/>
                <a:ea typeface="Calibri" pitchFamily="34" charset="-122"/>
                <a:cs typeface="Calibri" pitchFamily="34" charset="-120"/>
              </a:rPr>
              <a:t>Story Points</a:t>
            </a:r>
            <a:endParaRPr lang="en-US" sz="1150" dirty="0"/>
          </a:p>
        </p:txBody>
      </p:sp>
      <p:sp>
        <p:nvSpPr>
          <p:cNvPr id="24" name="Text 22"/>
          <p:cNvSpPr/>
          <p:nvPr/>
        </p:nvSpPr>
        <p:spPr>
          <a:xfrm>
            <a:off x="457200" y="4242816"/>
            <a:ext cx="2651760" cy="219456"/>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Across All 5 Sprints</a:t>
            </a:r>
            <a:endParaRPr lang="en-US" sz="850" dirty="0"/>
          </a:p>
        </p:txBody>
      </p:sp>
      <p:sp>
        <p:nvSpPr>
          <p:cNvPr id="25" name="Shape 23"/>
          <p:cNvSpPr/>
          <p:nvPr/>
        </p:nvSpPr>
        <p:spPr>
          <a:xfrm>
            <a:off x="3273552" y="3017520"/>
            <a:ext cx="2651760" cy="1737360"/>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26" name="Shape 24"/>
          <p:cNvSpPr/>
          <p:nvPr/>
        </p:nvSpPr>
        <p:spPr>
          <a:xfrm>
            <a:off x="3273552" y="3017520"/>
            <a:ext cx="2651760" cy="64008"/>
          </a:xfrm>
          <a:prstGeom prst="rect">
            <a:avLst/>
          </a:prstGeom>
          <a:solidFill>
            <a:srgbClr val="F0A500"/>
          </a:solidFill>
          <a:ln w="12700">
            <a:solidFill>
              <a:srgbClr val="F0A500"/>
            </a:solidFill>
            <a:prstDash val="solid"/>
          </a:ln>
        </p:spPr>
      </p:sp>
      <p:sp>
        <p:nvSpPr>
          <p:cNvPr id="27" name="Text 25"/>
          <p:cNvSpPr/>
          <p:nvPr/>
        </p:nvSpPr>
        <p:spPr>
          <a:xfrm>
            <a:off x="3273552" y="3218688"/>
            <a:ext cx="2651760" cy="658368"/>
          </a:xfrm>
          <a:prstGeom prst="rect">
            <a:avLst/>
          </a:prstGeom>
          <a:noFill/>
          <a:ln/>
        </p:spPr>
        <p:txBody>
          <a:bodyPr wrap="square" rtlCol="0" anchor="ctr"/>
          <a:lstStyle/>
          <a:p>
            <a:pPr algn="ctr" indent="0" marL="0">
              <a:buNone/>
            </a:pPr>
            <a:r>
              <a:rPr lang="en-US" sz="4800" b="1" dirty="0">
                <a:solidFill>
                  <a:srgbClr val="1B2F6E"/>
                </a:solidFill>
                <a:latin typeface="Calibri" pitchFamily="34" charset="0"/>
                <a:ea typeface="Calibri" pitchFamily="34" charset="-122"/>
                <a:cs typeface="Calibri" pitchFamily="34" charset="-120"/>
              </a:rPr>
              <a:t>10</a:t>
            </a:r>
            <a:endParaRPr lang="en-US" sz="4800" dirty="0"/>
          </a:p>
        </p:txBody>
      </p:sp>
      <p:sp>
        <p:nvSpPr>
          <p:cNvPr id="28" name="Text 26"/>
          <p:cNvSpPr/>
          <p:nvPr/>
        </p:nvSpPr>
        <p:spPr>
          <a:xfrm>
            <a:off x="3273552" y="3931920"/>
            <a:ext cx="2651760" cy="292608"/>
          </a:xfrm>
          <a:prstGeom prst="rect">
            <a:avLst/>
          </a:prstGeom>
          <a:noFill/>
          <a:ln/>
        </p:spPr>
        <p:txBody>
          <a:bodyPr wrap="square" rtlCol="0" anchor="ctr"/>
          <a:lstStyle/>
          <a:p>
            <a:pPr algn="ctr" indent="0" marL="0">
              <a:buNone/>
            </a:pPr>
            <a:r>
              <a:rPr lang="en-US" sz="1150" b="1" dirty="0">
                <a:solidFill>
                  <a:srgbClr val="1B2F6E"/>
                </a:solidFill>
                <a:latin typeface="Calibri" pitchFamily="34" charset="0"/>
                <a:ea typeface="Calibri" pitchFamily="34" charset="-122"/>
                <a:cs typeface="Calibri" pitchFamily="34" charset="-120"/>
              </a:rPr>
              <a:t>Weeks to Go-Live</a:t>
            </a:r>
            <a:endParaRPr lang="en-US" sz="1150" dirty="0"/>
          </a:p>
        </p:txBody>
      </p:sp>
      <p:sp>
        <p:nvSpPr>
          <p:cNvPr id="29" name="Text 27"/>
          <p:cNvSpPr/>
          <p:nvPr/>
        </p:nvSpPr>
        <p:spPr>
          <a:xfrm>
            <a:off x="3273552" y="4242816"/>
            <a:ext cx="2651760" cy="219456"/>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App Store + Play Store</a:t>
            </a:r>
            <a:endParaRPr lang="en-US" sz="850" dirty="0"/>
          </a:p>
        </p:txBody>
      </p:sp>
      <p:sp>
        <p:nvSpPr>
          <p:cNvPr id="30" name="Shape 28"/>
          <p:cNvSpPr/>
          <p:nvPr/>
        </p:nvSpPr>
        <p:spPr>
          <a:xfrm>
            <a:off x="6089904" y="3017520"/>
            <a:ext cx="2651760" cy="1737360"/>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31" name="Shape 29"/>
          <p:cNvSpPr/>
          <p:nvPr/>
        </p:nvSpPr>
        <p:spPr>
          <a:xfrm>
            <a:off x="6089904" y="3017520"/>
            <a:ext cx="2651760" cy="64008"/>
          </a:xfrm>
          <a:prstGeom prst="rect">
            <a:avLst/>
          </a:prstGeom>
          <a:solidFill>
            <a:srgbClr val="F0A500"/>
          </a:solidFill>
          <a:ln w="12700">
            <a:solidFill>
              <a:srgbClr val="F0A500"/>
            </a:solidFill>
            <a:prstDash val="solid"/>
          </a:ln>
        </p:spPr>
      </p:sp>
      <p:sp>
        <p:nvSpPr>
          <p:cNvPr id="32" name="Text 30"/>
          <p:cNvSpPr/>
          <p:nvPr/>
        </p:nvSpPr>
        <p:spPr>
          <a:xfrm>
            <a:off x="6089904" y="3218688"/>
            <a:ext cx="2651760" cy="658368"/>
          </a:xfrm>
          <a:prstGeom prst="rect">
            <a:avLst/>
          </a:prstGeom>
          <a:noFill/>
          <a:ln/>
        </p:spPr>
        <p:txBody>
          <a:bodyPr wrap="square" rtlCol="0" anchor="ctr"/>
          <a:lstStyle/>
          <a:p>
            <a:pPr algn="ctr" indent="0" marL="0">
              <a:buNone/>
            </a:pPr>
            <a:r>
              <a:rPr lang="en-US" sz="4800" b="1" dirty="0">
                <a:solidFill>
                  <a:srgbClr val="1B2F6E"/>
                </a:solidFill>
                <a:latin typeface="Calibri" pitchFamily="34" charset="0"/>
                <a:ea typeface="Calibri" pitchFamily="34" charset="-122"/>
                <a:cs typeface="Calibri" pitchFamily="34" charset="-120"/>
              </a:rPr>
              <a:t>35+</a:t>
            </a:r>
            <a:endParaRPr lang="en-US" sz="4800" dirty="0"/>
          </a:p>
        </p:txBody>
      </p:sp>
      <p:sp>
        <p:nvSpPr>
          <p:cNvPr id="33" name="Text 31"/>
          <p:cNvSpPr/>
          <p:nvPr/>
        </p:nvSpPr>
        <p:spPr>
          <a:xfrm>
            <a:off x="6089904" y="3931920"/>
            <a:ext cx="2651760" cy="292608"/>
          </a:xfrm>
          <a:prstGeom prst="rect">
            <a:avLst/>
          </a:prstGeom>
          <a:noFill/>
          <a:ln/>
        </p:spPr>
        <p:txBody>
          <a:bodyPr wrap="square" rtlCol="0" anchor="ctr"/>
          <a:lstStyle/>
          <a:p>
            <a:pPr algn="ctr" indent="0" marL="0">
              <a:buNone/>
            </a:pPr>
            <a:r>
              <a:rPr lang="en-US" sz="1150" b="1" dirty="0">
                <a:solidFill>
                  <a:srgbClr val="1B2F6E"/>
                </a:solidFill>
                <a:latin typeface="Calibri" pitchFamily="34" charset="0"/>
                <a:ea typeface="Calibri" pitchFamily="34" charset="-122"/>
                <a:cs typeface="Calibri" pitchFamily="34" charset="-120"/>
              </a:rPr>
              <a:t>Checklist Items</a:t>
            </a:r>
            <a:endParaRPr lang="en-US" sz="1150" dirty="0"/>
          </a:p>
        </p:txBody>
      </p:sp>
      <p:sp>
        <p:nvSpPr>
          <p:cNvPr id="34" name="Text 32"/>
          <p:cNvSpPr/>
          <p:nvPr/>
        </p:nvSpPr>
        <p:spPr>
          <a:xfrm>
            <a:off x="6089904" y="4242816"/>
            <a:ext cx="2651760" cy="219456"/>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Pre-Launch Verification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TIMELINE</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Project Gantt — 10-Week + Hypercare Overview</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Shape 3"/>
          <p:cNvSpPr/>
          <p:nvPr/>
        </p:nvSpPr>
        <p:spPr>
          <a:xfrm>
            <a:off x="457200" y="1060704"/>
            <a:ext cx="2066544" cy="292608"/>
          </a:xfrm>
          <a:prstGeom prst="rect">
            <a:avLst/>
          </a:prstGeom>
          <a:solidFill>
            <a:srgbClr val="1B2F6E"/>
          </a:solidFill>
          <a:ln w="12700">
            <a:solidFill>
              <a:srgbClr val="1B2F6E"/>
            </a:solidFill>
            <a:prstDash val="solid"/>
          </a:ln>
        </p:spPr>
      </p:sp>
      <p:sp>
        <p:nvSpPr>
          <p:cNvPr id="6" name="Text 4"/>
          <p:cNvSpPr/>
          <p:nvPr/>
        </p:nvSpPr>
        <p:spPr>
          <a:xfrm>
            <a:off x="457200" y="1060704"/>
            <a:ext cx="2066544"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Activity</a:t>
            </a:r>
            <a:endParaRPr lang="en-US" sz="900" dirty="0"/>
          </a:p>
        </p:txBody>
      </p:sp>
      <p:sp>
        <p:nvSpPr>
          <p:cNvPr id="7" name="Shape 5"/>
          <p:cNvSpPr/>
          <p:nvPr/>
        </p:nvSpPr>
        <p:spPr>
          <a:xfrm>
            <a:off x="2560320" y="1060704"/>
            <a:ext cx="516636" cy="292608"/>
          </a:xfrm>
          <a:prstGeom prst="rect">
            <a:avLst/>
          </a:prstGeom>
          <a:solidFill>
            <a:srgbClr val="1B2F6E"/>
          </a:solidFill>
          <a:ln w="12700">
            <a:solidFill>
              <a:srgbClr val="1B2F6E"/>
            </a:solidFill>
            <a:prstDash val="solid"/>
          </a:ln>
        </p:spPr>
      </p:sp>
      <p:sp>
        <p:nvSpPr>
          <p:cNvPr id="8" name="Text 6"/>
          <p:cNvSpPr/>
          <p:nvPr/>
        </p:nvSpPr>
        <p:spPr>
          <a:xfrm>
            <a:off x="2560320" y="1060704"/>
            <a:ext cx="516636" cy="292608"/>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Wk 1</a:t>
            </a:r>
            <a:endParaRPr lang="en-US" sz="650" dirty="0"/>
          </a:p>
        </p:txBody>
      </p:sp>
      <p:sp>
        <p:nvSpPr>
          <p:cNvPr id="9" name="Shape 7"/>
          <p:cNvSpPr/>
          <p:nvPr/>
        </p:nvSpPr>
        <p:spPr>
          <a:xfrm>
            <a:off x="3095244" y="1060704"/>
            <a:ext cx="516636" cy="292608"/>
          </a:xfrm>
          <a:prstGeom prst="rect">
            <a:avLst/>
          </a:prstGeom>
          <a:solidFill>
            <a:srgbClr val="1B2F6E"/>
          </a:solidFill>
          <a:ln w="12700">
            <a:solidFill>
              <a:srgbClr val="1B2F6E"/>
            </a:solidFill>
            <a:prstDash val="solid"/>
          </a:ln>
        </p:spPr>
      </p:sp>
      <p:sp>
        <p:nvSpPr>
          <p:cNvPr id="10" name="Text 8"/>
          <p:cNvSpPr/>
          <p:nvPr/>
        </p:nvSpPr>
        <p:spPr>
          <a:xfrm>
            <a:off x="3095244" y="1060704"/>
            <a:ext cx="516636" cy="292608"/>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Wk 2</a:t>
            </a:r>
            <a:endParaRPr lang="en-US" sz="650" dirty="0"/>
          </a:p>
        </p:txBody>
      </p:sp>
      <p:sp>
        <p:nvSpPr>
          <p:cNvPr id="11" name="Shape 9"/>
          <p:cNvSpPr/>
          <p:nvPr/>
        </p:nvSpPr>
        <p:spPr>
          <a:xfrm>
            <a:off x="3630168" y="1060704"/>
            <a:ext cx="516636" cy="292608"/>
          </a:xfrm>
          <a:prstGeom prst="rect">
            <a:avLst/>
          </a:prstGeom>
          <a:solidFill>
            <a:srgbClr val="1B2F6E"/>
          </a:solidFill>
          <a:ln w="12700">
            <a:solidFill>
              <a:srgbClr val="1B2F6E"/>
            </a:solidFill>
            <a:prstDash val="solid"/>
          </a:ln>
        </p:spPr>
      </p:sp>
      <p:sp>
        <p:nvSpPr>
          <p:cNvPr id="12" name="Text 10"/>
          <p:cNvSpPr/>
          <p:nvPr/>
        </p:nvSpPr>
        <p:spPr>
          <a:xfrm>
            <a:off x="3630168" y="1060704"/>
            <a:ext cx="516636" cy="292608"/>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Wk 3</a:t>
            </a:r>
            <a:endParaRPr lang="en-US" sz="650" dirty="0"/>
          </a:p>
        </p:txBody>
      </p:sp>
      <p:sp>
        <p:nvSpPr>
          <p:cNvPr id="13" name="Shape 11"/>
          <p:cNvSpPr/>
          <p:nvPr/>
        </p:nvSpPr>
        <p:spPr>
          <a:xfrm>
            <a:off x="4165092" y="1060704"/>
            <a:ext cx="516636" cy="292608"/>
          </a:xfrm>
          <a:prstGeom prst="rect">
            <a:avLst/>
          </a:prstGeom>
          <a:solidFill>
            <a:srgbClr val="1B2F6E"/>
          </a:solidFill>
          <a:ln w="12700">
            <a:solidFill>
              <a:srgbClr val="1B2F6E"/>
            </a:solidFill>
            <a:prstDash val="solid"/>
          </a:ln>
        </p:spPr>
      </p:sp>
      <p:sp>
        <p:nvSpPr>
          <p:cNvPr id="14" name="Text 12"/>
          <p:cNvSpPr/>
          <p:nvPr/>
        </p:nvSpPr>
        <p:spPr>
          <a:xfrm>
            <a:off x="4165092" y="1060704"/>
            <a:ext cx="516636" cy="292608"/>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Wk 4</a:t>
            </a:r>
            <a:endParaRPr lang="en-US" sz="650" dirty="0"/>
          </a:p>
        </p:txBody>
      </p:sp>
      <p:sp>
        <p:nvSpPr>
          <p:cNvPr id="15" name="Shape 13"/>
          <p:cNvSpPr/>
          <p:nvPr/>
        </p:nvSpPr>
        <p:spPr>
          <a:xfrm>
            <a:off x="4700016" y="1060704"/>
            <a:ext cx="516636" cy="292608"/>
          </a:xfrm>
          <a:prstGeom prst="rect">
            <a:avLst/>
          </a:prstGeom>
          <a:solidFill>
            <a:srgbClr val="1B2F6E"/>
          </a:solidFill>
          <a:ln w="12700">
            <a:solidFill>
              <a:srgbClr val="1B2F6E"/>
            </a:solidFill>
            <a:prstDash val="solid"/>
          </a:ln>
        </p:spPr>
      </p:sp>
      <p:sp>
        <p:nvSpPr>
          <p:cNvPr id="16" name="Text 14"/>
          <p:cNvSpPr/>
          <p:nvPr/>
        </p:nvSpPr>
        <p:spPr>
          <a:xfrm>
            <a:off x="4700016" y="1060704"/>
            <a:ext cx="516636" cy="292608"/>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Wk 5</a:t>
            </a:r>
            <a:endParaRPr lang="en-US" sz="650" dirty="0"/>
          </a:p>
        </p:txBody>
      </p:sp>
      <p:sp>
        <p:nvSpPr>
          <p:cNvPr id="17" name="Shape 15"/>
          <p:cNvSpPr/>
          <p:nvPr/>
        </p:nvSpPr>
        <p:spPr>
          <a:xfrm>
            <a:off x="5234940" y="1060704"/>
            <a:ext cx="516636" cy="292608"/>
          </a:xfrm>
          <a:prstGeom prst="rect">
            <a:avLst/>
          </a:prstGeom>
          <a:solidFill>
            <a:srgbClr val="1B2F6E"/>
          </a:solidFill>
          <a:ln w="12700">
            <a:solidFill>
              <a:srgbClr val="1B2F6E"/>
            </a:solidFill>
            <a:prstDash val="solid"/>
          </a:ln>
        </p:spPr>
      </p:sp>
      <p:sp>
        <p:nvSpPr>
          <p:cNvPr id="18" name="Text 16"/>
          <p:cNvSpPr/>
          <p:nvPr/>
        </p:nvSpPr>
        <p:spPr>
          <a:xfrm>
            <a:off x="5234940" y="1060704"/>
            <a:ext cx="516636" cy="292608"/>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Wk 6</a:t>
            </a:r>
            <a:endParaRPr lang="en-US" sz="650" dirty="0"/>
          </a:p>
        </p:txBody>
      </p:sp>
      <p:sp>
        <p:nvSpPr>
          <p:cNvPr id="19" name="Shape 17"/>
          <p:cNvSpPr/>
          <p:nvPr/>
        </p:nvSpPr>
        <p:spPr>
          <a:xfrm>
            <a:off x="5769864" y="1060704"/>
            <a:ext cx="516636" cy="292608"/>
          </a:xfrm>
          <a:prstGeom prst="rect">
            <a:avLst/>
          </a:prstGeom>
          <a:solidFill>
            <a:srgbClr val="1B2F6E"/>
          </a:solidFill>
          <a:ln w="12700">
            <a:solidFill>
              <a:srgbClr val="1B2F6E"/>
            </a:solidFill>
            <a:prstDash val="solid"/>
          </a:ln>
        </p:spPr>
      </p:sp>
      <p:sp>
        <p:nvSpPr>
          <p:cNvPr id="20" name="Text 18"/>
          <p:cNvSpPr/>
          <p:nvPr/>
        </p:nvSpPr>
        <p:spPr>
          <a:xfrm>
            <a:off x="5769864" y="1060704"/>
            <a:ext cx="516636" cy="292608"/>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Wk 7</a:t>
            </a:r>
            <a:endParaRPr lang="en-US" sz="650" dirty="0"/>
          </a:p>
        </p:txBody>
      </p:sp>
      <p:sp>
        <p:nvSpPr>
          <p:cNvPr id="21" name="Shape 19"/>
          <p:cNvSpPr/>
          <p:nvPr/>
        </p:nvSpPr>
        <p:spPr>
          <a:xfrm>
            <a:off x="6304788" y="1060704"/>
            <a:ext cx="516636" cy="292608"/>
          </a:xfrm>
          <a:prstGeom prst="rect">
            <a:avLst/>
          </a:prstGeom>
          <a:solidFill>
            <a:srgbClr val="1B2F6E"/>
          </a:solidFill>
          <a:ln w="12700">
            <a:solidFill>
              <a:srgbClr val="1B2F6E"/>
            </a:solidFill>
            <a:prstDash val="solid"/>
          </a:ln>
        </p:spPr>
      </p:sp>
      <p:sp>
        <p:nvSpPr>
          <p:cNvPr id="22" name="Text 20"/>
          <p:cNvSpPr/>
          <p:nvPr/>
        </p:nvSpPr>
        <p:spPr>
          <a:xfrm>
            <a:off x="6304788" y="1060704"/>
            <a:ext cx="516636" cy="292608"/>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Wk 8</a:t>
            </a:r>
            <a:endParaRPr lang="en-US" sz="650" dirty="0"/>
          </a:p>
        </p:txBody>
      </p:sp>
      <p:sp>
        <p:nvSpPr>
          <p:cNvPr id="23" name="Shape 21"/>
          <p:cNvSpPr/>
          <p:nvPr/>
        </p:nvSpPr>
        <p:spPr>
          <a:xfrm>
            <a:off x="6839712" y="1060704"/>
            <a:ext cx="516636" cy="292608"/>
          </a:xfrm>
          <a:prstGeom prst="rect">
            <a:avLst/>
          </a:prstGeom>
          <a:solidFill>
            <a:srgbClr val="1B2F6E"/>
          </a:solidFill>
          <a:ln w="12700">
            <a:solidFill>
              <a:srgbClr val="1B2F6E"/>
            </a:solidFill>
            <a:prstDash val="solid"/>
          </a:ln>
        </p:spPr>
      </p:sp>
      <p:sp>
        <p:nvSpPr>
          <p:cNvPr id="24" name="Text 22"/>
          <p:cNvSpPr/>
          <p:nvPr/>
        </p:nvSpPr>
        <p:spPr>
          <a:xfrm>
            <a:off x="6839712" y="1060704"/>
            <a:ext cx="516636" cy="292608"/>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Wk 9</a:t>
            </a:r>
            <a:endParaRPr lang="en-US" sz="650" dirty="0"/>
          </a:p>
        </p:txBody>
      </p:sp>
      <p:sp>
        <p:nvSpPr>
          <p:cNvPr id="25" name="Shape 23"/>
          <p:cNvSpPr/>
          <p:nvPr/>
        </p:nvSpPr>
        <p:spPr>
          <a:xfrm>
            <a:off x="7374636" y="1060704"/>
            <a:ext cx="516636" cy="292608"/>
          </a:xfrm>
          <a:prstGeom prst="rect">
            <a:avLst/>
          </a:prstGeom>
          <a:solidFill>
            <a:srgbClr val="1B2F6E"/>
          </a:solidFill>
          <a:ln w="12700">
            <a:solidFill>
              <a:srgbClr val="1B2F6E"/>
            </a:solidFill>
            <a:prstDash val="solid"/>
          </a:ln>
        </p:spPr>
      </p:sp>
      <p:sp>
        <p:nvSpPr>
          <p:cNvPr id="26" name="Text 24"/>
          <p:cNvSpPr/>
          <p:nvPr/>
        </p:nvSpPr>
        <p:spPr>
          <a:xfrm>
            <a:off x="7374636" y="1060704"/>
            <a:ext cx="516636" cy="292608"/>
          </a:xfrm>
          <a:prstGeom prst="rect">
            <a:avLst/>
          </a:prstGeom>
          <a:noFill/>
          <a:ln/>
        </p:spPr>
        <p:txBody>
          <a:bodyPr wrap="square"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Wk 10</a:t>
            </a:r>
            <a:endParaRPr lang="en-US" sz="650" dirty="0"/>
          </a:p>
        </p:txBody>
      </p:sp>
      <p:sp>
        <p:nvSpPr>
          <p:cNvPr id="27" name="Shape 25"/>
          <p:cNvSpPr/>
          <p:nvPr/>
        </p:nvSpPr>
        <p:spPr>
          <a:xfrm>
            <a:off x="7909560" y="1060704"/>
            <a:ext cx="516636" cy="292608"/>
          </a:xfrm>
          <a:prstGeom prst="rect">
            <a:avLst/>
          </a:prstGeom>
          <a:solidFill>
            <a:srgbClr val="374151"/>
          </a:solidFill>
          <a:ln w="12700">
            <a:solidFill>
              <a:srgbClr val="374151"/>
            </a:solidFill>
            <a:prstDash val="solid"/>
          </a:ln>
        </p:spPr>
      </p:sp>
      <p:sp>
        <p:nvSpPr>
          <p:cNvPr id="28" name="Text 26"/>
          <p:cNvSpPr/>
          <p:nvPr/>
        </p:nvSpPr>
        <p:spPr>
          <a:xfrm>
            <a:off x="7909560" y="1060704"/>
            <a:ext cx="516636" cy="292608"/>
          </a:xfrm>
          <a:prstGeom prst="rect">
            <a:avLst/>
          </a:prstGeom>
          <a:noFill/>
          <a:ln/>
        </p:spPr>
        <p:txBody>
          <a:bodyPr wrap="square" rtlCol="0" anchor="ctr"/>
          <a:lstStyle/>
          <a:p>
            <a:pPr algn="ctr" indent="0" marL="0">
              <a:buNone/>
            </a:pPr>
            <a:r>
              <a:rPr lang="en-US" sz="650" b="1" dirty="0">
                <a:solidFill>
                  <a:srgbClr val="AAAAAA"/>
                </a:solidFill>
                <a:latin typeface="Calibri" pitchFamily="34" charset="0"/>
                <a:ea typeface="Calibri" pitchFamily="34" charset="-122"/>
                <a:cs typeface="Calibri" pitchFamily="34" charset="-120"/>
              </a:rPr>
              <a:t>HC-1</a:t>
            </a:r>
            <a:endParaRPr lang="en-US" sz="650" dirty="0"/>
          </a:p>
        </p:txBody>
      </p:sp>
      <p:sp>
        <p:nvSpPr>
          <p:cNvPr id="29" name="Shape 27"/>
          <p:cNvSpPr/>
          <p:nvPr/>
        </p:nvSpPr>
        <p:spPr>
          <a:xfrm>
            <a:off x="8444484" y="1060704"/>
            <a:ext cx="516636" cy="292608"/>
          </a:xfrm>
          <a:prstGeom prst="rect">
            <a:avLst/>
          </a:prstGeom>
          <a:solidFill>
            <a:srgbClr val="374151"/>
          </a:solidFill>
          <a:ln w="12700">
            <a:solidFill>
              <a:srgbClr val="374151"/>
            </a:solidFill>
            <a:prstDash val="solid"/>
          </a:ln>
        </p:spPr>
      </p:sp>
      <p:sp>
        <p:nvSpPr>
          <p:cNvPr id="30" name="Text 28"/>
          <p:cNvSpPr/>
          <p:nvPr/>
        </p:nvSpPr>
        <p:spPr>
          <a:xfrm>
            <a:off x="8444484" y="1060704"/>
            <a:ext cx="516636" cy="292608"/>
          </a:xfrm>
          <a:prstGeom prst="rect">
            <a:avLst/>
          </a:prstGeom>
          <a:noFill/>
          <a:ln/>
        </p:spPr>
        <p:txBody>
          <a:bodyPr wrap="square" rtlCol="0" anchor="ctr"/>
          <a:lstStyle/>
          <a:p>
            <a:pPr algn="ctr" indent="0" marL="0">
              <a:buNone/>
            </a:pPr>
            <a:r>
              <a:rPr lang="en-US" sz="650" b="1" dirty="0">
                <a:solidFill>
                  <a:srgbClr val="AAAAAA"/>
                </a:solidFill>
                <a:latin typeface="Calibri" pitchFamily="34" charset="0"/>
                <a:ea typeface="Calibri" pitchFamily="34" charset="-122"/>
                <a:cs typeface="Calibri" pitchFamily="34" charset="-120"/>
              </a:rPr>
              <a:t>HC-2</a:t>
            </a:r>
            <a:endParaRPr lang="en-US" sz="650" dirty="0"/>
          </a:p>
        </p:txBody>
      </p:sp>
      <p:sp>
        <p:nvSpPr>
          <p:cNvPr id="31" name="Shape 29"/>
          <p:cNvSpPr/>
          <p:nvPr/>
        </p:nvSpPr>
        <p:spPr>
          <a:xfrm>
            <a:off x="457200" y="1389888"/>
            <a:ext cx="2066544" cy="246888"/>
          </a:xfrm>
          <a:prstGeom prst="rect">
            <a:avLst/>
          </a:prstGeom>
          <a:solidFill>
            <a:srgbClr val="1B2F6E"/>
          </a:solidFill>
          <a:ln w="6350">
            <a:solidFill>
              <a:srgbClr val="E2E8F0"/>
            </a:solidFill>
            <a:prstDash val="solid"/>
          </a:ln>
        </p:spPr>
      </p:sp>
      <p:sp>
        <p:nvSpPr>
          <p:cNvPr id="32" name="Text 30"/>
          <p:cNvSpPr/>
          <p:nvPr/>
        </p:nvSpPr>
        <p:spPr>
          <a:xfrm>
            <a:off x="512064" y="1426464"/>
            <a:ext cx="1956816" cy="182880"/>
          </a:xfrm>
          <a:prstGeom prst="rect">
            <a:avLst/>
          </a:prstGeom>
          <a:noFill/>
          <a:ln/>
        </p:spPr>
        <p:txBody>
          <a:bodyPr wrap="square"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Phase 1: Discovery &amp; Config</a:t>
            </a:r>
            <a:endParaRPr lang="en-US" sz="800" dirty="0"/>
          </a:p>
        </p:txBody>
      </p:sp>
      <p:sp>
        <p:nvSpPr>
          <p:cNvPr id="33" name="Shape 31"/>
          <p:cNvSpPr/>
          <p:nvPr/>
        </p:nvSpPr>
        <p:spPr>
          <a:xfrm>
            <a:off x="2560320" y="1389888"/>
            <a:ext cx="516636" cy="246888"/>
          </a:xfrm>
          <a:prstGeom prst="rect">
            <a:avLst/>
          </a:prstGeom>
          <a:solidFill>
            <a:srgbClr val="2563EB"/>
          </a:solidFill>
          <a:ln w="3810">
            <a:solidFill>
              <a:srgbClr val="E2E8F0"/>
            </a:solidFill>
            <a:prstDash val="solid"/>
          </a:ln>
        </p:spPr>
      </p:sp>
      <p:sp>
        <p:nvSpPr>
          <p:cNvPr id="34" name="Text 32"/>
          <p:cNvSpPr/>
          <p:nvPr/>
        </p:nvSpPr>
        <p:spPr>
          <a:xfrm>
            <a:off x="2560320" y="1453896"/>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1–2</a:t>
            </a:r>
            <a:endParaRPr lang="en-US" sz="500" dirty="0"/>
          </a:p>
        </p:txBody>
      </p:sp>
      <p:sp>
        <p:nvSpPr>
          <p:cNvPr id="35" name="Shape 33"/>
          <p:cNvSpPr/>
          <p:nvPr/>
        </p:nvSpPr>
        <p:spPr>
          <a:xfrm>
            <a:off x="3095244" y="1389888"/>
            <a:ext cx="516636" cy="246888"/>
          </a:xfrm>
          <a:prstGeom prst="rect">
            <a:avLst/>
          </a:prstGeom>
          <a:solidFill>
            <a:srgbClr val="2563EB"/>
          </a:solidFill>
          <a:ln w="3810">
            <a:solidFill>
              <a:srgbClr val="E2E8F0"/>
            </a:solidFill>
            <a:prstDash val="solid"/>
          </a:ln>
        </p:spPr>
      </p:sp>
      <p:sp>
        <p:nvSpPr>
          <p:cNvPr id="36" name="Text 34"/>
          <p:cNvSpPr/>
          <p:nvPr/>
        </p:nvSpPr>
        <p:spPr>
          <a:xfrm>
            <a:off x="3095244" y="1453896"/>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1–2</a:t>
            </a:r>
            <a:endParaRPr lang="en-US" sz="500" dirty="0"/>
          </a:p>
        </p:txBody>
      </p:sp>
      <p:sp>
        <p:nvSpPr>
          <p:cNvPr id="37" name="Shape 35"/>
          <p:cNvSpPr/>
          <p:nvPr/>
        </p:nvSpPr>
        <p:spPr>
          <a:xfrm>
            <a:off x="3630168" y="1389888"/>
            <a:ext cx="516636" cy="246888"/>
          </a:xfrm>
          <a:prstGeom prst="rect">
            <a:avLst/>
          </a:prstGeom>
          <a:solidFill>
            <a:srgbClr val="F1F5F9"/>
          </a:solidFill>
          <a:ln w="3810">
            <a:solidFill>
              <a:srgbClr val="E2E8F0"/>
            </a:solidFill>
            <a:prstDash val="solid"/>
          </a:ln>
        </p:spPr>
      </p:sp>
      <p:sp>
        <p:nvSpPr>
          <p:cNvPr id="38" name="Shape 36"/>
          <p:cNvSpPr/>
          <p:nvPr/>
        </p:nvSpPr>
        <p:spPr>
          <a:xfrm>
            <a:off x="4165092" y="1389888"/>
            <a:ext cx="516636" cy="246888"/>
          </a:xfrm>
          <a:prstGeom prst="rect">
            <a:avLst/>
          </a:prstGeom>
          <a:solidFill>
            <a:srgbClr val="F1F5F9"/>
          </a:solidFill>
          <a:ln w="3810">
            <a:solidFill>
              <a:srgbClr val="E2E8F0"/>
            </a:solidFill>
            <a:prstDash val="solid"/>
          </a:ln>
        </p:spPr>
      </p:sp>
      <p:sp>
        <p:nvSpPr>
          <p:cNvPr id="39" name="Shape 37"/>
          <p:cNvSpPr/>
          <p:nvPr/>
        </p:nvSpPr>
        <p:spPr>
          <a:xfrm>
            <a:off x="4700016" y="1389888"/>
            <a:ext cx="516636" cy="246888"/>
          </a:xfrm>
          <a:prstGeom prst="rect">
            <a:avLst/>
          </a:prstGeom>
          <a:solidFill>
            <a:srgbClr val="F1F5F9"/>
          </a:solidFill>
          <a:ln w="3810">
            <a:solidFill>
              <a:srgbClr val="E2E8F0"/>
            </a:solidFill>
            <a:prstDash val="solid"/>
          </a:ln>
        </p:spPr>
      </p:sp>
      <p:sp>
        <p:nvSpPr>
          <p:cNvPr id="40" name="Shape 38"/>
          <p:cNvSpPr/>
          <p:nvPr/>
        </p:nvSpPr>
        <p:spPr>
          <a:xfrm>
            <a:off x="5234940" y="1389888"/>
            <a:ext cx="516636" cy="246888"/>
          </a:xfrm>
          <a:prstGeom prst="rect">
            <a:avLst/>
          </a:prstGeom>
          <a:solidFill>
            <a:srgbClr val="F1F5F9"/>
          </a:solidFill>
          <a:ln w="3810">
            <a:solidFill>
              <a:srgbClr val="E2E8F0"/>
            </a:solidFill>
            <a:prstDash val="solid"/>
          </a:ln>
        </p:spPr>
      </p:sp>
      <p:sp>
        <p:nvSpPr>
          <p:cNvPr id="41" name="Shape 39"/>
          <p:cNvSpPr/>
          <p:nvPr/>
        </p:nvSpPr>
        <p:spPr>
          <a:xfrm>
            <a:off x="5769864" y="1389888"/>
            <a:ext cx="516636" cy="246888"/>
          </a:xfrm>
          <a:prstGeom prst="rect">
            <a:avLst/>
          </a:prstGeom>
          <a:solidFill>
            <a:srgbClr val="F1F5F9"/>
          </a:solidFill>
          <a:ln w="3810">
            <a:solidFill>
              <a:srgbClr val="E2E8F0"/>
            </a:solidFill>
            <a:prstDash val="solid"/>
          </a:ln>
        </p:spPr>
      </p:sp>
      <p:sp>
        <p:nvSpPr>
          <p:cNvPr id="42" name="Shape 40"/>
          <p:cNvSpPr/>
          <p:nvPr/>
        </p:nvSpPr>
        <p:spPr>
          <a:xfrm>
            <a:off x="6304788" y="1389888"/>
            <a:ext cx="516636" cy="246888"/>
          </a:xfrm>
          <a:prstGeom prst="rect">
            <a:avLst/>
          </a:prstGeom>
          <a:solidFill>
            <a:srgbClr val="F1F5F9"/>
          </a:solidFill>
          <a:ln w="3810">
            <a:solidFill>
              <a:srgbClr val="E2E8F0"/>
            </a:solidFill>
            <a:prstDash val="solid"/>
          </a:ln>
        </p:spPr>
      </p:sp>
      <p:sp>
        <p:nvSpPr>
          <p:cNvPr id="43" name="Shape 41"/>
          <p:cNvSpPr/>
          <p:nvPr/>
        </p:nvSpPr>
        <p:spPr>
          <a:xfrm>
            <a:off x="6839712" y="1389888"/>
            <a:ext cx="516636" cy="246888"/>
          </a:xfrm>
          <a:prstGeom prst="rect">
            <a:avLst/>
          </a:prstGeom>
          <a:solidFill>
            <a:srgbClr val="F1F5F9"/>
          </a:solidFill>
          <a:ln w="3810">
            <a:solidFill>
              <a:srgbClr val="E2E8F0"/>
            </a:solidFill>
            <a:prstDash val="solid"/>
          </a:ln>
        </p:spPr>
      </p:sp>
      <p:sp>
        <p:nvSpPr>
          <p:cNvPr id="44" name="Shape 42"/>
          <p:cNvSpPr/>
          <p:nvPr/>
        </p:nvSpPr>
        <p:spPr>
          <a:xfrm>
            <a:off x="7374636" y="1389888"/>
            <a:ext cx="516636" cy="246888"/>
          </a:xfrm>
          <a:prstGeom prst="rect">
            <a:avLst/>
          </a:prstGeom>
          <a:solidFill>
            <a:srgbClr val="F1F5F9"/>
          </a:solidFill>
          <a:ln w="3810">
            <a:solidFill>
              <a:srgbClr val="E2E8F0"/>
            </a:solidFill>
            <a:prstDash val="solid"/>
          </a:ln>
        </p:spPr>
      </p:sp>
      <p:sp>
        <p:nvSpPr>
          <p:cNvPr id="45" name="Shape 43"/>
          <p:cNvSpPr/>
          <p:nvPr/>
        </p:nvSpPr>
        <p:spPr>
          <a:xfrm>
            <a:off x="7909560" y="1389888"/>
            <a:ext cx="516636" cy="246888"/>
          </a:xfrm>
          <a:prstGeom prst="rect">
            <a:avLst/>
          </a:prstGeom>
          <a:solidFill>
            <a:srgbClr val="1F2937"/>
          </a:solidFill>
          <a:ln w="3810">
            <a:solidFill>
              <a:srgbClr val="E2E8F0"/>
            </a:solidFill>
            <a:prstDash val="solid"/>
          </a:ln>
        </p:spPr>
      </p:sp>
      <p:sp>
        <p:nvSpPr>
          <p:cNvPr id="46" name="Shape 44"/>
          <p:cNvSpPr/>
          <p:nvPr/>
        </p:nvSpPr>
        <p:spPr>
          <a:xfrm>
            <a:off x="8444484" y="1389888"/>
            <a:ext cx="516636" cy="246888"/>
          </a:xfrm>
          <a:prstGeom prst="rect">
            <a:avLst/>
          </a:prstGeom>
          <a:solidFill>
            <a:srgbClr val="1F2937"/>
          </a:solidFill>
          <a:ln w="3810">
            <a:solidFill>
              <a:srgbClr val="E2E8F0"/>
            </a:solidFill>
            <a:prstDash val="solid"/>
          </a:ln>
        </p:spPr>
      </p:sp>
      <p:sp>
        <p:nvSpPr>
          <p:cNvPr id="47" name="Shape 45"/>
          <p:cNvSpPr/>
          <p:nvPr/>
        </p:nvSpPr>
        <p:spPr>
          <a:xfrm>
            <a:off x="457200" y="1645920"/>
            <a:ext cx="2066544" cy="246888"/>
          </a:xfrm>
          <a:prstGeom prst="rect">
            <a:avLst/>
          </a:prstGeom>
          <a:solidFill>
            <a:srgbClr val="F8F9FC"/>
          </a:solidFill>
          <a:ln w="6350">
            <a:solidFill>
              <a:srgbClr val="E2E8F0"/>
            </a:solidFill>
            <a:prstDash val="solid"/>
          </a:ln>
        </p:spPr>
      </p:sp>
      <p:sp>
        <p:nvSpPr>
          <p:cNvPr id="48" name="Text 46"/>
          <p:cNvSpPr/>
          <p:nvPr/>
        </p:nvSpPr>
        <p:spPr>
          <a:xfrm>
            <a:off x="512064" y="1682496"/>
            <a:ext cx="1956816" cy="182880"/>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Stakeholder Workshops</a:t>
            </a:r>
            <a:endParaRPr lang="en-US" sz="700" dirty="0"/>
          </a:p>
        </p:txBody>
      </p:sp>
      <p:sp>
        <p:nvSpPr>
          <p:cNvPr id="49" name="Shape 47"/>
          <p:cNvSpPr/>
          <p:nvPr/>
        </p:nvSpPr>
        <p:spPr>
          <a:xfrm>
            <a:off x="2560320" y="1645920"/>
            <a:ext cx="516636" cy="246888"/>
          </a:xfrm>
          <a:prstGeom prst="rect">
            <a:avLst/>
          </a:prstGeom>
          <a:solidFill>
            <a:srgbClr val="3B82F6"/>
          </a:solidFill>
          <a:ln w="3810">
            <a:solidFill>
              <a:srgbClr val="E2E8F0"/>
            </a:solidFill>
            <a:prstDash val="solid"/>
          </a:ln>
        </p:spPr>
      </p:sp>
      <p:sp>
        <p:nvSpPr>
          <p:cNvPr id="50" name="Text 48"/>
          <p:cNvSpPr/>
          <p:nvPr/>
        </p:nvSpPr>
        <p:spPr>
          <a:xfrm>
            <a:off x="2560320" y="1709928"/>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Wk 1</a:t>
            </a:r>
            <a:endParaRPr lang="en-US" sz="500" dirty="0"/>
          </a:p>
        </p:txBody>
      </p:sp>
      <p:sp>
        <p:nvSpPr>
          <p:cNvPr id="51" name="Shape 49"/>
          <p:cNvSpPr/>
          <p:nvPr/>
        </p:nvSpPr>
        <p:spPr>
          <a:xfrm>
            <a:off x="3095244" y="1645920"/>
            <a:ext cx="516636" cy="246888"/>
          </a:xfrm>
          <a:prstGeom prst="rect">
            <a:avLst/>
          </a:prstGeom>
          <a:solidFill>
            <a:srgbClr val="FFFFFF"/>
          </a:solidFill>
          <a:ln w="3810">
            <a:solidFill>
              <a:srgbClr val="E2E8F0"/>
            </a:solidFill>
            <a:prstDash val="solid"/>
          </a:ln>
        </p:spPr>
      </p:sp>
      <p:sp>
        <p:nvSpPr>
          <p:cNvPr id="52" name="Shape 50"/>
          <p:cNvSpPr/>
          <p:nvPr/>
        </p:nvSpPr>
        <p:spPr>
          <a:xfrm>
            <a:off x="3630168" y="1645920"/>
            <a:ext cx="516636" cy="246888"/>
          </a:xfrm>
          <a:prstGeom prst="rect">
            <a:avLst/>
          </a:prstGeom>
          <a:solidFill>
            <a:srgbClr val="FFFFFF"/>
          </a:solidFill>
          <a:ln w="3810">
            <a:solidFill>
              <a:srgbClr val="E2E8F0"/>
            </a:solidFill>
            <a:prstDash val="solid"/>
          </a:ln>
        </p:spPr>
      </p:sp>
      <p:sp>
        <p:nvSpPr>
          <p:cNvPr id="53" name="Shape 51"/>
          <p:cNvSpPr/>
          <p:nvPr/>
        </p:nvSpPr>
        <p:spPr>
          <a:xfrm>
            <a:off x="4165092" y="1645920"/>
            <a:ext cx="516636" cy="246888"/>
          </a:xfrm>
          <a:prstGeom prst="rect">
            <a:avLst/>
          </a:prstGeom>
          <a:solidFill>
            <a:srgbClr val="FFFFFF"/>
          </a:solidFill>
          <a:ln w="3810">
            <a:solidFill>
              <a:srgbClr val="E2E8F0"/>
            </a:solidFill>
            <a:prstDash val="solid"/>
          </a:ln>
        </p:spPr>
      </p:sp>
      <p:sp>
        <p:nvSpPr>
          <p:cNvPr id="54" name="Shape 52"/>
          <p:cNvSpPr/>
          <p:nvPr/>
        </p:nvSpPr>
        <p:spPr>
          <a:xfrm>
            <a:off x="4700016" y="1645920"/>
            <a:ext cx="516636" cy="246888"/>
          </a:xfrm>
          <a:prstGeom prst="rect">
            <a:avLst/>
          </a:prstGeom>
          <a:solidFill>
            <a:srgbClr val="FFFFFF"/>
          </a:solidFill>
          <a:ln w="3810">
            <a:solidFill>
              <a:srgbClr val="E2E8F0"/>
            </a:solidFill>
            <a:prstDash val="solid"/>
          </a:ln>
        </p:spPr>
      </p:sp>
      <p:sp>
        <p:nvSpPr>
          <p:cNvPr id="55" name="Shape 53"/>
          <p:cNvSpPr/>
          <p:nvPr/>
        </p:nvSpPr>
        <p:spPr>
          <a:xfrm>
            <a:off x="5234940" y="1645920"/>
            <a:ext cx="516636" cy="246888"/>
          </a:xfrm>
          <a:prstGeom prst="rect">
            <a:avLst/>
          </a:prstGeom>
          <a:solidFill>
            <a:srgbClr val="FFFFFF"/>
          </a:solidFill>
          <a:ln w="3810">
            <a:solidFill>
              <a:srgbClr val="E2E8F0"/>
            </a:solidFill>
            <a:prstDash val="solid"/>
          </a:ln>
        </p:spPr>
      </p:sp>
      <p:sp>
        <p:nvSpPr>
          <p:cNvPr id="56" name="Shape 54"/>
          <p:cNvSpPr/>
          <p:nvPr/>
        </p:nvSpPr>
        <p:spPr>
          <a:xfrm>
            <a:off x="5769864" y="1645920"/>
            <a:ext cx="516636" cy="246888"/>
          </a:xfrm>
          <a:prstGeom prst="rect">
            <a:avLst/>
          </a:prstGeom>
          <a:solidFill>
            <a:srgbClr val="FFFFFF"/>
          </a:solidFill>
          <a:ln w="3810">
            <a:solidFill>
              <a:srgbClr val="E2E8F0"/>
            </a:solidFill>
            <a:prstDash val="solid"/>
          </a:ln>
        </p:spPr>
      </p:sp>
      <p:sp>
        <p:nvSpPr>
          <p:cNvPr id="57" name="Shape 55"/>
          <p:cNvSpPr/>
          <p:nvPr/>
        </p:nvSpPr>
        <p:spPr>
          <a:xfrm>
            <a:off x="6304788" y="1645920"/>
            <a:ext cx="516636" cy="246888"/>
          </a:xfrm>
          <a:prstGeom prst="rect">
            <a:avLst/>
          </a:prstGeom>
          <a:solidFill>
            <a:srgbClr val="FFFFFF"/>
          </a:solidFill>
          <a:ln w="3810">
            <a:solidFill>
              <a:srgbClr val="E2E8F0"/>
            </a:solidFill>
            <a:prstDash val="solid"/>
          </a:ln>
        </p:spPr>
      </p:sp>
      <p:sp>
        <p:nvSpPr>
          <p:cNvPr id="58" name="Shape 56"/>
          <p:cNvSpPr/>
          <p:nvPr/>
        </p:nvSpPr>
        <p:spPr>
          <a:xfrm>
            <a:off x="6839712" y="1645920"/>
            <a:ext cx="516636" cy="246888"/>
          </a:xfrm>
          <a:prstGeom prst="rect">
            <a:avLst/>
          </a:prstGeom>
          <a:solidFill>
            <a:srgbClr val="FFFFFF"/>
          </a:solidFill>
          <a:ln w="3810">
            <a:solidFill>
              <a:srgbClr val="E2E8F0"/>
            </a:solidFill>
            <a:prstDash val="solid"/>
          </a:ln>
        </p:spPr>
      </p:sp>
      <p:sp>
        <p:nvSpPr>
          <p:cNvPr id="59" name="Shape 57"/>
          <p:cNvSpPr/>
          <p:nvPr/>
        </p:nvSpPr>
        <p:spPr>
          <a:xfrm>
            <a:off x="7374636" y="1645920"/>
            <a:ext cx="516636" cy="246888"/>
          </a:xfrm>
          <a:prstGeom prst="rect">
            <a:avLst/>
          </a:prstGeom>
          <a:solidFill>
            <a:srgbClr val="FFFFFF"/>
          </a:solidFill>
          <a:ln w="3810">
            <a:solidFill>
              <a:srgbClr val="E2E8F0"/>
            </a:solidFill>
            <a:prstDash val="solid"/>
          </a:ln>
        </p:spPr>
      </p:sp>
      <p:sp>
        <p:nvSpPr>
          <p:cNvPr id="60" name="Shape 58"/>
          <p:cNvSpPr/>
          <p:nvPr/>
        </p:nvSpPr>
        <p:spPr>
          <a:xfrm>
            <a:off x="7909560" y="1645920"/>
            <a:ext cx="516636" cy="246888"/>
          </a:xfrm>
          <a:prstGeom prst="rect">
            <a:avLst/>
          </a:prstGeom>
          <a:solidFill>
            <a:srgbClr val="1F2937"/>
          </a:solidFill>
          <a:ln w="3810">
            <a:solidFill>
              <a:srgbClr val="E2E8F0"/>
            </a:solidFill>
            <a:prstDash val="solid"/>
          </a:ln>
        </p:spPr>
      </p:sp>
      <p:sp>
        <p:nvSpPr>
          <p:cNvPr id="61" name="Shape 59"/>
          <p:cNvSpPr/>
          <p:nvPr/>
        </p:nvSpPr>
        <p:spPr>
          <a:xfrm>
            <a:off x="8444484" y="1645920"/>
            <a:ext cx="516636" cy="246888"/>
          </a:xfrm>
          <a:prstGeom prst="rect">
            <a:avLst/>
          </a:prstGeom>
          <a:solidFill>
            <a:srgbClr val="1F2937"/>
          </a:solidFill>
          <a:ln w="3810">
            <a:solidFill>
              <a:srgbClr val="E2E8F0"/>
            </a:solidFill>
            <a:prstDash val="solid"/>
          </a:ln>
        </p:spPr>
      </p:sp>
      <p:sp>
        <p:nvSpPr>
          <p:cNvPr id="62" name="Shape 60"/>
          <p:cNvSpPr/>
          <p:nvPr/>
        </p:nvSpPr>
        <p:spPr>
          <a:xfrm>
            <a:off x="457200" y="1901952"/>
            <a:ext cx="2066544" cy="246888"/>
          </a:xfrm>
          <a:prstGeom prst="rect">
            <a:avLst/>
          </a:prstGeom>
          <a:solidFill>
            <a:srgbClr val="FFFFFF"/>
          </a:solidFill>
          <a:ln w="6350">
            <a:solidFill>
              <a:srgbClr val="E2E8F0"/>
            </a:solidFill>
            <a:prstDash val="solid"/>
          </a:ln>
        </p:spPr>
      </p:sp>
      <p:sp>
        <p:nvSpPr>
          <p:cNvPr id="63" name="Text 61"/>
          <p:cNvSpPr/>
          <p:nvPr/>
        </p:nvSpPr>
        <p:spPr>
          <a:xfrm>
            <a:off x="512064" y="1938528"/>
            <a:ext cx="1956816" cy="182880"/>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DB Schema + API Contract</a:t>
            </a:r>
            <a:endParaRPr lang="en-US" sz="700" dirty="0"/>
          </a:p>
        </p:txBody>
      </p:sp>
      <p:sp>
        <p:nvSpPr>
          <p:cNvPr id="64" name="Shape 62"/>
          <p:cNvSpPr/>
          <p:nvPr/>
        </p:nvSpPr>
        <p:spPr>
          <a:xfrm>
            <a:off x="2560320" y="1901952"/>
            <a:ext cx="516636" cy="246888"/>
          </a:xfrm>
          <a:prstGeom prst="rect">
            <a:avLst/>
          </a:prstGeom>
          <a:solidFill>
            <a:srgbClr val="3B82F6"/>
          </a:solidFill>
          <a:ln w="3810">
            <a:solidFill>
              <a:srgbClr val="E2E8F0"/>
            </a:solidFill>
            <a:prstDash val="solid"/>
          </a:ln>
        </p:spPr>
      </p:sp>
      <p:sp>
        <p:nvSpPr>
          <p:cNvPr id="65" name="Text 63"/>
          <p:cNvSpPr/>
          <p:nvPr/>
        </p:nvSpPr>
        <p:spPr>
          <a:xfrm>
            <a:off x="2560320" y="1965960"/>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1–2</a:t>
            </a:r>
            <a:endParaRPr lang="en-US" sz="500" dirty="0"/>
          </a:p>
        </p:txBody>
      </p:sp>
      <p:sp>
        <p:nvSpPr>
          <p:cNvPr id="66" name="Shape 64"/>
          <p:cNvSpPr/>
          <p:nvPr/>
        </p:nvSpPr>
        <p:spPr>
          <a:xfrm>
            <a:off x="3095244" y="1901952"/>
            <a:ext cx="516636" cy="246888"/>
          </a:xfrm>
          <a:prstGeom prst="rect">
            <a:avLst/>
          </a:prstGeom>
          <a:solidFill>
            <a:srgbClr val="3B82F6"/>
          </a:solidFill>
          <a:ln w="3810">
            <a:solidFill>
              <a:srgbClr val="E2E8F0"/>
            </a:solidFill>
            <a:prstDash val="solid"/>
          </a:ln>
        </p:spPr>
      </p:sp>
      <p:sp>
        <p:nvSpPr>
          <p:cNvPr id="67" name="Text 65"/>
          <p:cNvSpPr/>
          <p:nvPr/>
        </p:nvSpPr>
        <p:spPr>
          <a:xfrm>
            <a:off x="3095244" y="1965960"/>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1–2</a:t>
            </a:r>
            <a:endParaRPr lang="en-US" sz="500" dirty="0"/>
          </a:p>
        </p:txBody>
      </p:sp>
      <p:sp>
        <p:nvSpPr>
          <p:cNvPr id="68" name="Shape 66"/>
          <p:cNvSpPr/>
          <p:nvPr/>
        </p:nvSpPr>
        <p:spPr>
          <a:xfrm>
            <a:off x="3630168" y="1901952"/>
            <a:ext cx="516636" cy="246888"/>
          </a:xfrm>
          <a:prstGeom prst="rect">
            <a:avLst/>
          </a:prstGeom>
          <a:solidFill>
            <a:srgbClr val="F1F5F9"/>
          </a:solidFill>
          <a:ln w="3810">
            <a:solidFill>
              <a:srgbClr val="E2E8F0"/>
            </a:solidFill>
            <a:prstDash val="solid"/>
          </a:ln>
        </p:spPr>
      </p:sp>
      <p:sp>
        <p:nvSpPr>
          <p:cNvPr id="69" name="Shape 67"/>
          <p:cNvSpPr/>
          <p:nvPr/>
        </p:nvSpPr>
        <p:spPr>
          <a:xfrm>
            <a:off x="4165092" y="1901952"/>
            <a:ext cx="516636" cy="246888"/>
          </a:xfrm>
          <a:prstGeom prst="rect">
            <a:avLst/>
          </a:prstGeom>
          <a:solidFill>
            <a:srgbClr val="F1F5F9"/>
          </a:solidFill>
          <a:ln w="3810">
            <a:solidFill>
              <a:srgbClr val="E2E8F0"/>
            </a:solidFill>
            <a:prstDash val="solid"/>
          </a:ln>
        </p:spPr>
      </p:sp>
      <p:sp>
        <p:nvSpPr>
          <p:cNvPr id="70" name="Shape 68"/>
          <p:cNvSpPr/>
          <p:nvPr/>
        </p:nvSpPr>
        <p:spPr>
          <a:xfrm>
            <a:off x="4700016" y="1901952"/>
            <a:ext cx="516636" cy="246888"/>
          </a:xfrm>
          <a:prstGeom prst="rect">
            <a:avLst/>
          </a:prstGeom>
          <a:solidFill>
            <a:srgbClr val="F1F5F9"/>
          </a:solidFill>
          <a:ln w="3810">
            <a:solidFill>
              <a:srgbClr val="E2E8F0"/>
            </a:solidFill>
            <a:prstDash val="solid"/>
          </a:ln>
        </p:spPr>
      </p:sp>
      <p:sp>
        <p:nvSpPr>
          <p:cNvPr id="71" name="Shape 69"/>
          <p:cNvSpPr/>
          <p:nvPr/>
        </p:nvSpPr>
        <p:spPr>
          <a:xfrm>
            <a:off x="5234940" y="1901952"/>
            <a:ext cx="516636" cy="246888"/>
          </a:xfrm>
          <a:prstGeom prst="rect">
            <a:avLst/>
          </a:prstGeom>
          <a:solidFill>
            <a:srgbClr val="F1F5F9"/>
          </a:solidFill>
          <a:ln w="3810">
            <a:solidFill>
              <a:srgbClr val="E2E8F0"/>
            </a:solidFill>
            <a:prstDash val="solid"/>
          </a:ln>
        </p:spPr>
      </p:sp>
      <p:sp>
        <p:nvSpPr>
          <p:cNvPr id="72" name="Shape 70"/>
          <p:cNvSpPr/>
          <p:nvPr/>
        </p:nvSpPr>
        <p:spPr>
          <a:xfrm>
            <a:off x="5769864" y="1901952"/>
            <a:ext cx="516636" cy="246888"/>
          </a:xfrm>
          <a:prstGeom prst="rect">
            <a:avLst/>
          </a:prstGeom>
          <a:solidFill>
            <a:srgbClr val="F1F5F9"/>
          </a:solidFill>
          <a:ln w="3810">
            <a:solidFill>
              <a:srgbClr val="E2E8F0"/>
            </a:solidFill>
            <a:prstDash val="solid"/>
          </a:ln>
        </p:spPr>
      </p:sp>
      <p:sp>
        <p:nvSpPr>
          <p:cNvPr id="73" name="Shape 71"/>
          <p:cNvSpPr/>
          <p:nvPr/>
        </p:nvSpPr>
        <p:spPr>
          <a:xfrm>
            <a:off x="6304788" y="1901952"/>
            <a:ext cx="516636" cy="246888"/>
          </a:xfrm>
          <a:prstGeom prst="rect">
            <a:avLst/>
          </a:prstGeom>
          <a:solidFill>
            <a:srgbClr val="F1F5F9"/>
          </a:solidFill>
          <a:ln w="3810">
            <a:solidFill>
              <a:srgbClr val="E2E8F0"/>
            </a:solidFill>
            <a:prstDash val="solid"/>
          </a:ln>
        </p:spPr>
      </p:sp>
      <p:sp>
        <p:nvSpPr>
          <p:cNvPr id="74" name="Shape 72"/>
          <p:cNvSpPr/>
          <p:nvPr/>
        </p:nvSpPr>
        <p:spPr>
          <a:xfrm>
            <a:off x="6839712" y="1901952"/>
            <a:ext cx="516636" cy="246888"/>
          </a:xfrm>
          <a:prstGeom prst="rect">
            <a:avLst/>
          </a:prstGeom>
          <a:solidFill>
            <a:srgbClr val="F1F5F9"/>
          </a:solidFill>
          <a:ln w="3810">
            <a:solidFill>
              <a:srgbClr val="E2E8F0"/>
            </a:solidFill>
            <a:prstDash val="solid"/>
          </a:ln>
        </p:spPr>
      </p:sp>
      <p:sp>
        <p:nvSpPr>
          <p:cNvPr id="75" name="Shape 73"/>
          <p:cNvSpPr/>
          <p:nvPr/>
        </p:nvSpPr>
        <p:spPr>
          <a:xfrm>
            <a:off x="7374636" y="1901952"/>
            <a:ext cx="516636" cy="246888"/>
          </a:xfrm>
          <a:prstGeom prst="rect">
            <a:avLst/>
          </a:prstGeom>
          <a:solidFill>
            <a:srgbClr val="F1F5F9"/>
          </a:solidFill>
          <a:ln w="3810">
            <a:solidFill>
              <a:srgbClr val="E2E8F0"/>
            </a:solidFill>
            <a:prstDash val="solid"/>
          </a:ln>
        </p:spPr>
      </p:sp>
      <p:sp>
        <p:nvSpPr>
          <p:cNvPr id="76" name="Shape 74"/>
          <p:cNvSpPr/>
          <p:nvPr/>
        </p:nvSpPr>
        <p:spPr>
          <a:xfrm>
            <a:off x="7909560" y="1901952"/>
            <a:ext cx="516636" cy="246888"/>
          </a:xfrm>
          <a:prstGeom prst="rect">
            <a:avLst/>
          </a:prstGeom>
          <a:solidFill>
            <a:srgbClr val="1F2937"/>
          </a:solidFill>
          <a:ln w="3810">
            <a:solidFill>
              <a:srgbClr val="E2E8F0"/>
            </a:solidFill>
            <a:prstDash val="solid"/>
          </a:ln>
        </p:spPr>
      </p:sp>
      <p:sp>
        <p:nvSpPr>
          <p:cNvPr id="77" name="Shape 75"/>
          <p:cNvSpPr/>
          <p:nvPr/>
        </p:nvSpPr>
        <p:spPr>
          <a:xfrm>
            <a:off x="8444484" y="1901952"/>
            <a:ext cx="516636" cy="246888"/>
          </a:xfrm>
          <a:prstGeom prst="rect">
            <a:avLst/>
          </a:prstGeom>
          <a:solidFill>
            <a:srgbClr val="1F2937"/>
          </a:solidFill>
          <a:ln w="3810">
            <a:solidFill>
              <a:srgbClr val="E2E8F0"/>
            </a:solidFill>
            <a:prstDash val="solid"/>
          </a:ln>
        </p:spPr>
      </p:sp>
      <p:sp>
        <p:nvSpPr>
          <p:cNvPr id="78" name="Shape 76"/>
          <p:cNvSpPr/>
          <p:nvPr/>
        </p:nvSpPr>
        <p:spPr>
          <a:xfrm>
            <a:off x="457200" y="2157984"/>
            <a:ext cx="2066544" cy="246888"/>
          </a:xfrm>
          <a:prstGeom prst="rect">
            <a:avLst/>
          </a:prstGeom>
          <a:solidFill>
            <a:srgbClr val="F8F9FC"/>
          </a:solidFill>
          <a:ln w="6350">
            <a:solidFill>
              <a:srgbClr val="E2E8F0"/>
            </a:solidFill>
            <a:prstDash val="solid"/>
          </a:ln>
        </p:spPr>
      </p:sp>
      <p:sp>
        <p:nvSpPr>
          <p:cNvPr id="79" name="Text 77"/>
          <p:cNvSpPr/>
          <p:nvPr/>
        </p:nvSpPr>
        <p:spPr>
          <a:xfrm>
            <a:off x="512064" y="2194560"/>
            <a:ext cx="1956816" cy="182880"/>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Figma Design Sign-off</a:t>
            </a:r>
            <a:endParaRPr lang="en-US" sz="700" dirty="0"/>
          </a:p>
        </p:txBody>
      </p:sp>
      <p:sp>
        <p:nvSpPr>
          <p:cNvPr id="80" name="Shape 78"/>
          <p:cNvSpPr/>
          <p:nvPr/>
        </p:nvSpPr>
        <p:spPr>
          <a:xfrm>
            <a:off x="2560320" y="2157984"/>
            <a:ext cx="516636" cy="246888"/>
          </a:xfrm>
          <a:prstGeom prst="rect">
            <a:avLst/>
          </a:prstGeom>
          <a:solidFill>
            <a:srgbClr val="FFFFFF"/>
          </a:solidFill>
          <a:ln w="3810">
            <a:solidFill>
              <a:srgbClr val="E2E8F0"/>
            </a:solidFill>
            <a:prstDash val="solid"/>
          </a:ln>
        </p:spPr>
      </p:sp>
      <p:sp>
        <p:nvSpPr>
          <p:cNvPr id="81" name="Shape 79"/>
          <p:cNvSpPr/>
          <p:nvPr/>
        </p:nvSpPr>
        <p:spPr>
          <a:xfrm>
            <a:off x="3095244" y="2157984"/>
            <a:ext cx="516636" cy="246888"/>
          </a:xfrm>
          <a:prstGeom prst="rect">
            <a:avLst/>
          </a:prstGeom>
          <a:solidFill>
            <a:srgbClr val="3B82F6"/>
          </a:solidFill>
          <a:ln w="3810">
            <a:solidFill>
              <a:srgbClr val="E2E8F0"/>
            </a:solidFill>
            <a:prstDash val="solid"/>
          </a:ln>
        </p:spPr>
      </p:sp>
      <p:sp>
        <p:nvSpPr>
          <p:cNvPr id="82" name="Text 80"/>
          <p:cNvSpPr/>
          <p:nvPr/>
        </p:nvSpPr>
        <p:spPr>
          <a:xfrm>
            <a:off x="3095244" y="2221992"/>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Wk 2</a:t>
            </a:r>
            <a:endParaRPr lang="en-US" sz="500" dirty="0"/>
          </a:p>
        </p:txBody>
      </p:sp>
      <p:sp>
        <p:nvSpPr>
          <p:cNvPr id="83" name="Shape 81"/>
          <p:cNvSpPr/>
          <p:nvPr/>
        </p:nvSpPr>
        <p:spPr>
          <a:xfrm>
            <a:off x="3630168" y="2157984"/>
            <a:ext cx="516636" cy="246888"/>
          </a:xfrm>
          <a:prstGeom prst="rect">
            <a:avLst/>
          </a:prstGeom>
          <a:solidFill>
            <a:srgbClr val="FFFFFF"/>
          </a:solidFill>
          <a:ln w="3810">
            <a:solidFill>
              <a:srgbClr val="E2E8F0"/>
            </a:solidFill>
            <a:prstDash val="solid"/>
          </a:ln>
        </p:spPr>
      </p:sp>
      <p:sp>
        <p:nvSpPr>
          <p:cNvPr id="84" name="Shape 82"/>
          <p:cNvSpPr/>
          <p:nvPr/>
        </p:nvSpPr>
        <p:spPr>
          <a:xfrm>
            <a:off x="4165092" y="2157984"/>
            <a:ext cx="516636" cy="246888"/>
          </a:xfrm>
          <a:prstGeom prst="rect">
            <a:avLst/>
          </a:prstGeom>
          <a:solidFill>
            <a:srgbClr val="FFFFFF"/>
          </a:solidFill>
          <a:ln w="3810">
            <a:solidFill>
              <a:srgbClr val="E2E8F0"/>
            </a:solidFill>
            <a:prstDash val="solid"/>
          </a:ln>
        </p:spPr>
      </p:sp>
      <p:sp>
        <p:nvSpPr>
          <p:cNvPr id="85" name="Shape 83"/>
          <p:cNvSpPr/>
          <p:nvPr/>
        </p:nvSpPr>
        <p:spPr>
          <a:xfrm>
            <a:off x="4700016" y="2157984"/>
            <a:ext cx="516636" cy="246888"/>
          </a:xfrm>
          <a:prstGeom prst="rect">
            <a:avLst/>
          </a:prstGeom>
          <a:solidFill>
            <a:srgbClr val="FFFFFF"/>
          </a:solidFill>
          <a:ln w="3810">
            <a:solidFill>
              <a:srgbClr val="E2E8F0"/>
            </a:solidFill>
            <a:prstDash val="solid"/>
          </a:ln>
        </p:spPr>
      </p:sp>
      <p:sp>
        <p:nvSpPr>
          <p:cNvPr id="86" name="Shape 84"/>
          <p:cNvSpPr/>
          <p:nvPr/>
        </p:nvSpPr>
        <p:spPr>
          <a:xfrm>
            <a:off x="5234940" y="2157984"/>
            <a:ext cx="516636" cy="246888"/>
          </a:xfrm>
          <a:prstGeom prst="rect">
            <a:avLst/>
          </a:prstGeom>
          <a:solidFill>
            <a:srgbClr val="FFFFFF"/>
          </a:solidFill>
          <a:ln w="3810">
            <a:solidFill>
              <a:srgbClr val="E2E8F0"/>
            </a:solidFill>
            <a:prstDash val="solid"/>
          </a:ln>
        </p:spPr>
      </p:sp>
      <p:sp>
        <p:nvSpPr>
          <p:cNvPr id="87" name="Shape 85"/>
          <p:cNvSpPr/>
          <p:nvPr/>
        </p:nvSpPr>
        <p:spPr>
          <a:xfrm>
            <a:off x="5769864" y="2157984"/>
            <a:ext cx="516636" cy="246888"/>
          </a:xfrm>
          <a:prstGeom prst="rect">
            <a:avLst/>
          </a:prstGeom>
          <a:solidFill>
            <a:srgbClr val="FFFFFF"/>
          </a:solidFill>
          <a:ln w="3810">
            <a:solidFill>
              <a:srgbClr val="E2E8F0"/>
            </a:solidFill>
            <a:prstDash val="solid"/>
          </a:ln>
        </p:spPr>
      </p:sp>
      <p:sp>
        <p:nvSpPr>
          <p:cNvPr id="88" name="Shape 86"/>
          <p:cNvSpPr/>
          <p:nvPr/>
        </p:nvSpPr>
        <p:spPr>
          <a:xfrm>
            <a:off x="6304788" y="2157984"/>
            <a:ext cx="516636" cy="246888"/>
          </a:xfrm>
          <a:prstGeom prst="rect">
            <a:avLst/>
          </a:prstGeom>
          <a:solidFill>
            <a:srgbClr val="FFFFFF"/>
          </a:solidFill>
          <a:ln w="3810">
            <a:solidFill>
              <a:srgbClr val="E2E8F0"/>
            </a:solidFill>
            <a:prstDash val="solid"/>
          </a:ln>
        </p:spPr>
      </p:sp>
      <p:sp>
        <p:nvSpPr>
          <p:cNvPr id="89" name="Shape 87"/>
          <p:cNvSpPr/>
          <p:nvPr/>
        </p:nvSpPr>
        <p:spPr>
          <a:xfrm>
            <a:off x="6839712" y="2157984"/>
            <a:ext cx="516636" cy="246888"/>
          </a:xfrm>
          <a:prstGeom prst="rect">
            <a:avLst/>
          </a:prstGeom>
          <a:solidFill>
            <a:srgbClr val="FFFFFF"/>
          </a:solidFill>
          <a:ln w="3810">
            <a:solidFill>
              <a:srgbClr val="E2E8F0"/>
            </a:solidFill>
            <a:prstDash val="solid"/>
          </a:ln>
        </p:spPr>
      </p:sp>
      <p:sp>
        <p:nvSpPr>
          <p:cNvPr id="90" name="Shape 88"/>
          <p:cNvSpPr/>
          <p:nvPr/>
        </p:nvSpPr>
        <p:spPr>
          <a:xfrm>
            <a:off x="7374636" y="2157984"/>
            <a:ext cx="516636" cy="246888"/>
          </a:xfrm>
          <a:prstGeom prst="rect">
            <a:avLst/>
          </a:prstGeom>
          <a:solidFill>
            <a:srgbClr val="FFFFFF"/>
          </a:solidFill>
          <a:ln w="3810">
            <a:solidFill>
              <a:srgbClr val="E2E8F0"/>
            </a:solidFill>
            <a:prstDash val="solid"/>
          </a:ln>
        </p:spPr>
      </p:sp>
      <p:sp>
        <p:nvSpPr>
          <p:cNvPr id="91" name="Shape 89"/>
          <p:cNvSpPr/>
          <p:nvPr/>
        </p:nvSpPr>
        <p:spPr>
          <a:xfrm>
            <a:off x="7909560" y="2157984"/>
            <a:ext cx="516636" cy="246888"/>
          </a:xfrm>
          <a:prstGeom prst="rect">
            <a:avLst/>
          </a:prstGeom>
          <a:solidFill>
            <a:srgbClr val="1F2937"/>
          </a:solidFill>
          <a:ln w="3810">
            <a:solidFill>
              <a:srgbClr val="E2E8F0"/>
            </a:solidFill>
            <a:prstDash val="solid"/>
          </a:ln>
        </p:spPr>
      </p:sp>
      <p:sp>
        <p:nvSpPr>
          <p:cNvPr id="92" name="Shape 90"/>
          <p:cNvSpPr/>
          <p:nvPr/>
        </p:nvSpPr>
        <p:spPr>
          <a:xfrm>
            <a:off x="8444484" y="2157984"/>
            <a:ext cx="516636" cy="246888"/>
          </a:xfrm>
          <a:prstGeom prst="rect">
            <a:avLst/>
          </a:prstGeom>
          <a:solidFill>
            <a:srgbClr val="1F2937"/>
          </a:solidFill>
          <a:ln w="3810">
            <a:solidFill>
              <a:srgbClr val="E2E8F0"/>
            </a:solidFill>
            <a:prstDash val="solid"/>
          </a:ln>
        </p:spPr>
      </p:sp>
      <p:sp>
        <p:nvSpPr>
          <p:cNvPr id="93" name="Shape 91"/>
          <p:cNvSpPr/>
          <p:nvPr/>
        </p:nvSpPr>
        <p:spPr>
          <a:xfrm>
            <a:off x="457200" y="2414016"/>
            <a:ext cx="2066544" cy="246888"/>
          </a:xfrm>
          <a:prstGeom prst="rect">
            <a:avLst/>
          </a:prstGeom>
          <a:solidFill>
            <a:srgbClr val="1B2F6E"/>
          </a:solidFill>
          <a:ln w="6350">
            <a:solidFill>
              <a:srgbClr val="E2E8F0"/>
            </a:solidFill>
            <a:prstDash val="solid"/>
          </a:ln>
        </p:spPr>
      </p:sp>
      <p:sp>
        <p:nvSpPr>
          <p:cNvPr id="94" name="Text 92"/>
          <p:cNvSpPr/>
          <p:nvPr/>
        </p:nvSpPr>
        <p:spPr>
          <a:xfrm>
            <a:off x="512064" y="2450592"/>
            <a:ext cx="1956816" cy="182880"/>
          </a:xfrm>
          <a:prstGeom prst="rect">
            <a:avLst/>
          </a:prstGeom>
          <a:noFill/>
          <a:ln/>
        </p:spPr>
        <p:txBody>
          <a:bodyPr wrap="square"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Phase 2: Core Customisation</a:t>
            </a:r>
            <a:endParaRPr lang="en-US" sz="800" dirty="0"/>
          </a:p>
        </p:txBody>
      </p:sp>
      <p:sp>
        <p:nvSpPr>
          <p:cNvPr id="95" name="Shape 93"/>
          <p:cNvSpPr/>
          <p:nvPr/>
        </p:nvSpPr>
        <p:spPr>
          <a:xfrm>
            <a:off x="2560320" y="2414016"/>
            <a:ext cx="516636" cy="246888"/>
          </a:xfrm>
          <a:prstGeom prst="rect">
            <a:avLst/>
          </a:prstGeom>
          <a:solidFill>
            <a:srgbClr val="F1F5F9"/>
          </a:solidFill>
          <a:ln w="3810">
            <a:solidFill>
              <a:srgbClr val="E2E8F0"/>
            </a:solidFill>
            <a:prstDash val="solid"/>
          </a:ln>
        </p:spPr>
      </p:sp>
      <p:sp>
        <p:nvSpPr>
          <p:cNvPr id="96" name="Shape 94"/>
          <p:cNvSpPr/>
          <p:nvPr/>
        </p:nvSpPr>
        <p:spPr>
          <a:xfrm>
            <a:off x="3095244" y="2414016"/>
            <a:ext cx="516636" cy="246888"/>
          </a:xfrm>
          <a:prstGeom prst="rect">
            <a:avLst/>
          </a:prstGeom>
          <a:solidFill>
            <a:srgbClr val="F1F5F9"/>
          </a:solidFill>
          <a:ln w="3810">
            <a:solidFill>
              <a:srgbClr val="E2E8F0"/>
            </a:solidFill>
            <a:prstDash val="solid"/>
          </a:ln>
        </p:spPr>
      </p:sp>
      <p:sp>
        <p:nvSpPr>
          <p:cNvPr id="97" name="Shape 95"/>
          <p:cNvSpPr/>
          <p:nvPr/>
        </p:nvSpPr>
        <p:spPr>
          <a:xfrm>
            <a:off x="3630168" y="2414016"/>
            <a:ext cx="516636" cy="246888"/>
          </a:xfrm>
          <a:prstGeom prst="rect">
            <a:avLst/>
          </a:prstGeom>
          <a:solidFill>
            <a:srgbClr val="059669"/>
          </a:solidFill>
          <a:ln w="3810">
            <a:solidFill>
              <a:srgbClr val="E2E8F0"/>
            </a:solidFill>
            <a:prstDash val="solid"/>
          </a:ln>
        </p:spPr>
      </p:sp>
      <p:sp>
        <p:nvSpPr>
          <p:cNvPr id="98" name="Text 96"/>
          <p:cNvSpPr/>
          <p:nvPr/>
        </p:nvSpPr>
        <p:spPr>
          <a:xfrm>
            <a:off x="3630168" y="2478024"/>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3–6</a:t>
            </a:r>
            <a:endParaRPr lang="en-US" sz="500" dirty="0"/>
          </a:p>
        </p:txBody>
      </p:sp>
      <p:sp>
        <p:nvSpPr>
          <p:cNvPr id="99" name="Shape 97"/>
          <p:cNvSpPr/>
          <p:nvPr/>
        </p:nvSpPr>
        <p:spPr>
          <a:xfrm>
            <a:off x="4165092" y="2414016"/>
            <a:ext cx="516636" cy="246888"/>
          </a:xfrm>
          <a:prstGeom prst="rect">
            <a:avLst/>
          </a:prstGeom>
          <a:solidFill>
            <a:srgbClr val="059669"/>
          </a:solidFill>
          <a:ln w="3810">
            <a:solidFill>
              <a:srgbClr val="E2E8F0"/>
            </a:solidFill>
            <a:prstDash val="solid"/>
          </a:ln>
        </p:spPr>
      </p:sp>
      <p:sp>
        <p:nvSpPr>
          <p:cNvPr id="100" name="Text 98"/>
          <p:cNvSpPr/>
          <p:nvPr/>
        </p:nvSpPr>
        <p:spPr>
          <a:xfrm>
            <a:off x="4165092" y="2478024"/>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3–6</a:t>
            </a:r>
            <a:endParaRPr lang="en-US" sz="500" dirty="0"/>
          </a:p>
        </p:txBody>
      </p:sp>
      <p:sp>
        <p:nvSpPr>
          <p:cNvPr id="101" name="Shape 99"/>
          <p:cNvSpPr/>
          <p:nvPr/>
        </p:nvSpPr>
        <p:spPr>
          <a:xfrm>
            <a:off x="4700016" y="2414016"/>
            <a:ext cx="516636" cy="246888"/>
          </a:xfrm>
          <a:prstGeom prst="rect">
            <a:avLst/>
          </a:prstGeom>
          <a:solidFill>
            <a:srgbClr val="059669"/>
          </a:solidFill>
          <a:ln w="3810">
            <a:solidFill>
              <a:srgbClr val="E2E8F0"/>
            </a:solidFill>
            <a:prstDash val="solid"/>
          </a:ln>
        </p:spPr>
      </p:sp>
      <p:sp>
        <p:nvSpPr>
          <p:cNvPr id="102" name="Text 100"/>
          <p:cNvSpPr/>
          <p:nvPr/>
        </p:nvSpPr>
        <p:spPr>
          <a:xfrm>
            <a:off x="4700016" y="2478024"/>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3–6</a:t>
            </a:r>
            <a:endParaRPr lang="en-US" sz="500" dirty="0"/>
          </a:p>
        </p:txBody>
      </p:sp>
      <p:sp>
        <p:nvSpPr>
          <p:cNvPr id="103" name="Shape 101"/>
          <p:cNvSpPr/>
          <p:nvPr/>
        </p:nvSpPr>
        <p:spPr>
          <a:xfrm>
            <a:off x="5234940" y="2414016"/>
            <a:ext cx="516636" cy="246888"/>
          </a:xfrm>
          <a:prstGeom prst="rect">
            <a:avLst/>
          </a:prstGeom>
          <a:solidFill>
            <a:srgbClr val="059669"/>
          </a:solidFill>
          <a:ln w="3810">
            <a:solidFill>
              <a:srgbClr val="E2E8F0"/>
            </a:solidFill>
            <a:prstDash val="solid"/>
          </a:ln>
        </p:spPr>
      </p:sp>
      <p:sp>
        <p:nvSpPr>
          <p:cNvPr id="104" name="Text 102"/>
          <p:cNvSpPr/>
          <p:nvPr/>
        </p:nvSpPr>
        <p:spPr>
          <a:xfrm>
            <a:off x="5234940" y="2478024"/>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3–6</a:t>
            </a:r>
            <a:endParaRPr lang="en-US" sz="500" dirty="0"/>
          </a:p>
        </p:txBody>
      </p:sp>
      <p:sp>
        <p:nvSpPr>
          <p:cNvPr id="105" name="Shape 103"/>
          <p:cNvSpPr/>
          <p:nvPr/>
        </p:nvSpPr>
        <p:spPr>
          <a:xfrm>
            <a:off x="5769864" y="2414016"/>
            <a:ext cx="516636" cy="246888"/>
          </a:xfrm>
          <a:prstGeom prst="rect">
            <a:avLst/>
          </a:prstGeom>
          <a:solidFill>
            <a:srgbClr val="F1F5F9"/>
          </a:solidFill>
          <a:ln w="3810">
            <a:solidFill>
              <a:srgbClr val="E2E8F0"/>
            </a:solidFill>
            <a:prstDash val="solid"/>
          </a:ln>
        </p:spPr>
      </p:sp>
      <p:sp>
        <p:nvSpPr>
          <p:cNvPr id="106" name="Shape 104"/>
          <p:cNvSpPr/>
          <p:nvPr/>
        </p:nvSpPr>
        <p:spPr>
          <a:xfrm>
            <a:off x="6304788" y="2414016"/>
            <a:ext cx="516636" cy="246888"/>
          </a:xfrm>
          <a:prstGeom prst="rect">
            <a:avLst/>
          </a:prstGeom>
          <a:solidFill>
            <a:srgbClr val="F1F5F9"/>
          </a:solidFill>
          <a:ln w="3810">
            <a:solidFill>
              <a:srgbClr val="E2E8F0"/>
            </a:solidFill>
            <a:prstDash val="solid"/>
          </a:ln>
        </p:spPr>
      </p:sp>
      <p:sp>
        <p:nvSpPr>
          <p:cNvPr id="107" name="Shape 105"/>
          <p:cNvSpPr/>
          <p:nvPr/>
        </p:nvSpPr>
        <p:spPr>
          <a:xfrm>
            <a:off x="6839712" y="2414016"/>
            <a:ext cx="516636" cy="246888"/>
          </a:xfrm>
          <a:prstGeom prst="rect">
            <a:avLst/>
          </a:prstGeom>
          <a:solidFill>
            <a:srgbClr val="F1F5F9"/>
          </a:solidFill>
          <a:ln w="3810">
            <a:solidFill>
              <a:srgbClr val="E2E8F0"/>
            </a:solidFill>
            <a:prstDash val="solid"/>
          </a:ln>
        </p:spPr>
      </p:sp>
      <p:sp>
        <p:nvSpPr>
          <p:cNvPr id="108" name="Shape 106"/>
          <p:cNvSpPr/>
          <p:nvPr/>
        </p:nvSpPr>
        <p:spPr>
          <a:xfrm>
            <a:off x="7374636" y="2414016"/>
            <a:ext cx="516636" cy="246888"/>
          </a:xfrm>
          <a:prstGeom prst="rect">
            <a:avLst/>
          </a:prstGeom>
          <a:solidFill>
            <a:srgbClr val="F1F5F9"/>
          </a:solidFill>
          <a:ln w="3810">
            <a:solidFill>
              <a:srgbClr val="E2E8F0"/>
            </a:solidFill>
            <a:prstDash val="solid"/>
          </a:ln>
        </p:spPr>
      </p:sp>
      <p:sp>
        <p:nvSpPr>
          <p:cNvPr id="109" name="Shape 107"/>
          <p:cNvSpPr/>
          <p:nvPr/>
        </p:nvSpPr>
        <p:spPr>
          <a:xfrm>
            <a:off x="7909560" y="2414016"/>
            <a:ext cx="516636" cy="246888"/>
          </a:xfrm>
          <a:prstGeom prst="rect">
            <a:avLst/>
          </a:prstGeom>
          <a:solidFill>
            <a:srgbClr val="1F2937"/>
          </a:solidFill>
          <a:ln w="3810">
            <a:solidFill>
              <a:srgbClr val="E2E8F0"/>
            </a:solidFill>
            <a:prstDash val="solid"/>
          </a:ln>
        </p:spPr>
      </p:sp>
      <p:sp>
        <p:nvSpPr>
          <p:cNvPr id="110" name="Shape 108"/>
          <p:cNvSpPr/>
          <p:nvPr/>
        </p:nvSpPr>
        <p:spPr>
          <a:xfrm>
            <a:off x="8444484" y="2414016"/>
            <a:ext cx="516636" cy="246888"/>
          </a:xfrm>
          <a:prstGeom prst="rect">
            <a:avLst/>
          </a:prstGeom>
          <a:solidFill>
            <a:srgbClr val="1F2937"/>
          </a:solidFill>
          <a:ln w="3810">
            <a:solidFill>
              <a:srgbClr val="E2E8F0"/>
            </a:solidFill>
            <a:prstDash val="solid"/>
          </a:ln>
        </p:spPr>
      </p:sp>
      <p:sp>
        <p:nvSpPr>
          <p:cNvPr id="111" name="Shape 109"/>
          <p:cNvSpPr/>
          <p:nvPr/>
        </p:nvSpPr>
        <p:spPr>
          <a:xfrm>
            <a:off x="457200" y="2670048"/>
            <a:ext cx="2066544" cy="246888"/>
          </a:xfrm>
          <a:prstGeom prst="rect">
            <a:avLst/>
          </a:prstGeom>
          <a:solidFill>
            <a:srgbClr val="F8F9FC"/>
          </a:solidFill>
          <a:ln w="6350">
            <a:solidFill>
              <a:srgbClr val="E2E8F0"/>
            </a:solidFill>
            <a:prstDash val="solid"/>
          </a:ln>
        </p:spPr>
      </p:sp>
      <p:sp>
        <p:nvSpPr>
          <p:cNvPr id="112" name="Text 110"/>
          <p:cNvSpPr/>
          <p:nvPr/>
        </p:nvSpPr>
        <p:spPr>
          <a:xfrm>
            <a:off x="512064" y="2706624"/>
            <a:ext cx="1956816" cy="182880"/>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Auth + Member Directory</a:t>
            </a:r>
            <a:endParaRPr lang="en-US" sz="700" dirty="0"/>
          </a:p>
        </p:txBody>
      </p:sp>
      <p:sp>
        <p:nvSpPr>
          <p:cNvPr id="113" name="Shape 111"/>
          <p:cNvSpPr/>
          <p:nvPr/>
        </p:nvSpPr>
        <p:spPr>
          <a:xfrm>
            <a:off x="2560320" y="2670048"/>
            <a:ext cx="516636" cy="246888"/>
          </a:xfrm>
          <a:prstGeom prst="rect">
            <a:avLst/>
          </a:prstGeom>
          <a:solidFill>
            <a:srgbClr val="FFFFFF"/>
          </a:solidFill>
          <a:ln w="3810">
            <a:solidFill>
              <a:srgbClr val="E2E8F0"/>
            </a:solidFill>
            <a:prstDash val="solid"/>
          </a:ln>
        </p:spPr>
      </p:sp>
      <p:sp>
        <p:nvSpPr>
          <p:cNvPr id="114" name="Shape 112"/>
          <p:cNvSpPr/>
          <p:nvPr/>
        </p:nvSpPr>
        <p:spPr>
          <a:xfrm>
            <a:off x="3095244" y="2670048"/>
            <a:ext cx="516636" cy="246888"/>
          </a:xfrm>
          <a:prstGeom prst="rect">
            <a:avLst/>
          </a:prstGeom>
          <a:solidFill>
            <a:srgbClr val="FFFFFF"/>
          </a:solidFill>
          <a:ln w="3810">
            <a:solidFill>
              <a:srgbClr val="E2E8F0"/>
            </a:solidFill>
            <a:prstDash val="solid"/>
          </a:ln>
        </p:spPr>
      </p:sp>
      <p:sp>
        <p:nvSpPr>
          <p:cNvPr id="115" name="Shape 113"/>
          <p:cNvSpPr/>
          <p:nvPr/>
        </p:nvSpPr>
        <p:spPr>
          <a:xfrm>
            <a:off x="3630168" y="2670048"/>
            <a:ext cx="516636" cy="246888"/>
          </a:xfrm>
          <a:prstGeom prst="rect">
            <a:avLst/>
          </a:prstGeom>
          <a:solidFill>
            <a:srgbClr val="10B981"/>
          </a:solidFill>
          <a:ln w="3810">
            <a:solidFill>
              <a:srgbClr val="E2E8F0"/>
            </a:solidFill>
            <a:prstDash val="solid"/>
          </a:ln>
        </p:spPr>
      </p:sp>
      <p:sp>
        <p:nvSpPr>
          <p:cNvPr id="116" name="Text 114"/>
          <p:cNvSpPr/>
          <p:nvPr/>
        </p:nvSpPr>
        <p:spPr>
          <a:xfrm>
            <a:off x="3630168" y="2734056"/>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3–4</a:t>
            </a:r>
            <a:endParaRPr lang="en-US" sz="500" dirty="0"/>
          </a:p>
        </p:txBody>
      </p:sp>
      <p:sp>
        <p:nvSpPr>
          <p:cNvPr id="117" name="Shape 115"/>
          <p:cNvSpPr/>
          <p:nvPr/>
        </p:nvSpPr>
        <p:spPr>
          <a:xfrm>
            <a:off x="4165092" y="2670048"/>
            <a:ext cx="516636" cy="246888"/>
          </a:xfrm>
          <a:prstGeom prst="rect">
            <a:avLst/>
          </a:prstGeom>
          <a:solidFill>
            <a:srgbClr val="10B981"/>
          </a:solidFill>
          <a:ln w="3810">
            <a:solidFill>
              <a:srgbClr val="E2E8F0"/>
            </a:solidFill>
            <a:prstDash val="solid"/>
          </a:ln>
        </p:spPr>
      </p:sp>
      <p:sp>
        <p:nvSpPr>
          <p:cNvPr id="118" name="Text 116"/>
          <p:cNvSpPr/>
          <p:nvPr/>
        </p:nvSpPr>
        <p:spPr>
          <a:xfrm>
            <a:off x="4165092" y="2734056"/>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3–4</a:t>
            </a:r>
            <a:endParaRPr lang="en-US" sz="500" dirty="0"/>
          </a:p>
        </p:txBody>
      </p:sp>
      <p:sp>
        <p:nvSpPr>
          <p:cNvPr id="119" name="Shape 117"/>
          <p:cNvSpPr/>
          <p:nvPr/>
        </p:nvSpPr>
        <p:spPr>
          <a:xfrm>
            <a:off x="4700016" y="2670048"/>
            <a:ext cx="516636" cy="246888"/>
          </a:xfrm>
          <a:prstGeom prst="rect">
            <a:avLst/>
          </a:prstGeom>
          <a:solidFill>
            <a:srgbClr val="FFFFFF"/>
          </a:solidFill>
          <a:ln w="3810">
            <a:solidFill>
              <a:srgbClr val="E2E8F0"/>
            </a:solidFill>
            <a:prstDash val="solid"/>
          </a:ln>
        </p:spPr>
      </p:sp>
      <p:sp>
        <p:nvSpPr>
          <p:cNvPr id="120" name="Shape 118"/>
          <p:cNvSpPr/>
          <p:nvPr/>
        </p:nvSpPr>
        <p:spPr>
          <a:xfrm>
            <a:off x="5234940" y="2670048"/>
            <a:ext cx="516636" cy="246888"/>
          </a:xfrm>
          <a:prstGeom prst="rect">
            <a:avLst/>
          </a:prstGeom>
          <a:solidFill>
            <a:srgbClr val="FFFFFF"/>
          </a:solidFill>
          <a:ln w="3810">
            <a:solidFill>
              <a:srgbClr val="E2E8F0"/>
            </a:solidFill>
            <a:prstDash val="solid"/>
          </a:ln>
        </p:spPr>
      </p:sp>
      <p:sp>
        <p:nvSpPr>
          <p:cNvPr id="121" name="Shape 119"/>
          <p:cNvSpPr/>
          <p:nvPr/>
        </p:nvSpPr>
        <p:spPr>
          <a:xfrm>
            <a:off x="5769864" y="2670048"/>
            <a:ext cx="516636" cy="246888"/>
          </a:xfrm>
          <a:prstGeom prst="rect">
            <a:avLst/>
          </a:prstGeom>
          <a:solidFill>
            <a:srgbClr val="FFFFFF"/>
          </a:solidFill>
          <a:ln w="3810">
            <a:solidFill>
              <a:srgbClr val="E2E8F0"/>
            </a:solidFill>
            <a:prstDash val="solid"/>
          </a:ln>
        </p:spPr>
      </p:sp>
      <p:sp>
        <p:nvSpPr>
          <p:cNvPr id="122" name="Shape 120"/>
          <p:cNvSpPr/>
          <p:nvPr/>
        </p:nvSpPr>
        <p:spPr>
          <a:xfrm>
            <a:off x="6304788" y="2670048"/>
            <a:ext cx="516636" cy="246888"/>
          </a:xfrm>
          <a:prstGeom prst="rect">
            <a:avLst/>
          </a:prstGeom>
          <a:solidFill>
            <a:srgbClr val="FFFFFF"/>
          </a:solidFill>
          <a:ln w="3810">
            <a:solidFill>
              <a:srgbClr val="E2E8F0"/>
            </a:solidFill>
            <a:prstDash val="solid"/>
          </a:ln>
        </p:spPr>
      </p:sp>
      <p:sp>
        <p:nvSpPr>
          <p:cNvPr id="123" name="Shape 121"/>
          <p:cNvSpPr/>
          <p:nvPr/>
        </p:nvSpPr>
        <p:spPr>
          <a:xfrm>
            <a:off x="6839712" y="2670048"/>
            <a:ext cx="516636" cy="246888"/>
          </a:xfrm>
          <a:prstGeom prst="rect">
            <a:avLst/>
          </a:prstGeom>
          <a:solidFill>
            <a:srgbClr val="FFFFFF"/>
          </a:solidFill>
          <a:ln w="3810">
            <a:solidFill>
              <a:srgbClr val="E2E8F0"/>
            </a:solidFill>
            <a:prstDash val="solid"/>
          </a:ln>
        </p:spPr>
      </p:sp>
      <p:sp>
        <p:nvSpPr>
          <p:cNvPr id="124" name="Shape 122"/>
          <p:cNvSpPr/>
          <p:nvPr/>
        </p:nvSpPr>
        <p:spPr>
          <a:xfrm>
            <a:off x="7374636" y="2670048"/>
            <a:ext cx="516636" cy="246888"/>
          </a:xfrm>
          <a:prstGeom prst="rect">
            <a:avLst/>
          </a:prstGeom>
          <a:solidFill>
            <a:srgbClr val="FFFFFF"/>
          </a:solidFill>
          <a:ln w="3810">
            <a:solidFill>
              <a:srgbClr val="E2E8F0"/>
            </a:solidFill>
            <a:prstDash val="solid"/>
          </a:ln>
        </p:spPr>
      </p:sp>
      <p:sp>
        <p:nvSpPr>
          <p:cNvPr id="125" name="Shape 123"/>
          <p:cNvSpPr/>
          <p:nvPr/>
        </p:nvSpPr>
        <p:spPr>
          <a:xfrm>
            <a:off x="7909560" y="2670048"/>
            <a:ext cx="516636" cy="246888"/>
          </a:xfrm>
          <a:prstGeom prst="rect">
            <a:avLst/>
          </a:prstGeom>
          <a:solidFill>
            <a:srgbClr val="1F2937"/>
          </a:solidFill>
          <a:ln w="3810">
            <a:solidFill>
              <a:srgbClr val="E2E8F0"/>
            </a:solidFill>
            <a:prstDash val="solid"/>
          </a:ln>
        </p:spPr>
      </p:sp>
      <p:sp>
        <p:nvSpPr>
          <p:cNvPr id="126" name="Shape 124"/>
          <p:cNvSpPr/>
          <p:nvPr/>
        </p:nvSpPr>
        <p:spPr>
          <a:xfrm>
            <a:off x="8444484" y="2670048"/>
            <a:ext cx="516636" cy="246888"/>
          </a:xfrm>
          <a:prstGeom prst="rect">
            <a:avLst/>
          </a:prstGeom>
          <a:solidFill>
            <a:srgbClr val="1F2937"/>
          </a:solidFill>
          <a:ln w="3810">
            <a:solidFill>
              <a:srgbClr val="E2E8F0"/>
            </a:solidFill>
            <a:prstDash val="solid"/>
          </a:ln>
        </p:spPr>
      </p:sp>
      <p:sp>
        <p:nvSpPr>
          <p:cNvPr id="127" name="Shape 125"/>
          <p:cNvSpPr/>
          <p:nvPr/>
        </p:nvSpPr>
        <p:spPr>
          <a:xfrm>
            <a:off x="457200" y="2926080"/>
            <a:ext cx="2066544" cy="246888"/>
          </a:xfrm>
          <a:prstGeom prst="rect">
            <a:avLst/>
          </a:prstGeom>
          <a:solidFill>
            <a:srgbClr val="FFFFFF"/>
          </a:solidFill>
          <a:ln w="6350">
            <a:solidFill>
              <a:srgbClr val="E2E8F0"/>
            </a:solidFill>
            <a:prstDash val="solid"/>
          </a:ln>
        </p:spPr>
      </p:sp>
      <p:sp>
        <p:nvSpPr>
          <p:cNvPr id="128" name="Text 126"/>
          <p:cNvSpPr/>
          <p:nvPr/>
        </p:nvSpPr>
        <p:spPr>
          <a:xfrm>
            <a:off x="512064" y="2962656"/>
            <a:ext cx="1956816" cy="182880"/>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Prayer Requests + Video</a:t>
            </a:r>
            <a:endParaRPr lang="en-US" sz="700" dirty="0"/>
          </a:p>
        </p:txBody>
      </p:sp>
      <p:sp>
        <p:nvSpPr>
          <p:cNvPr id="129" name="Shape 127"/>
          <p:cNvSpPr/>
          <p:nvPr/>
        </p:nvSpPr>
        <p:spPr>
          <a:xfrm>
            <a:off x="2560320" y="2926080"/>
            <a:ext cx="516636" cy="246888"/>
          </a:xfrm>
          <a:prstGeom prst="rect">
            <a:avLst/>
          </a:prstGeom>
          <a:solidFill>
            <a:srgbClr val="F1F5F9"/>
          </a:solidFill>
          <a:ln w="3810">
            <a:solidFill>
              <a:srgbClr val="E2E8F0"/>
            </a:solidFill>
            <a:prstDash val="solid"/>
          </a:ln>
        </p:spPr>
      </p:sp>
      <p:sp>
        <p:nvSpPr>
          <p:cNvPr id="130" name="Shape 128"/>
          <p:cNvSpPr/>
          <p:nvPr/>
        </p:nvSpPr>
        <p:spPr>
          <a:xfrm>
            <a:off x="3095244" y="2926080"/>
            <a:ext cx="516636" cy="246888"/>
          </a:xfrm>
          <a:prstGeom prst="rect">
            <a:avLst/>
          </a:prstGeom>
          <a:solidFill>
            <a:srgbClr val="F1F5F9"/>
          </a:solidFill>
          <a:ln w="3810">
            <a:solidFill>
              <a:srgbClr val="E2E8F0"/>
            </a:solidFill>
            <a:prstDash val="solid"/>
          </a:ln>
        </p:spPr>
      </p:sp>
      <p:sp>
        <p:nvSpPr>
          <p:cNvPr id="131" name="Shape 129"/>
          <p:cNvSpPr/>
          <p:nvPr/>
        </p:nvSpPr>
        <p:spPr>
          <a:xfrm>
            <a:off x="3630168" y="2926080"/>
            <a:ext cx="516636" cy="246888"/>
          </a:xfrm>
          <a:prstGeom prst="rect">
            <a:avLst/>
          </a:prstGeom>
          <a:solidFill>
            <a:srgbClr val="F1F5F9"/>
          </a:solidFill>
          <a:ln w="3810">
            <a:solidFill>
              <a:srgbClr val="E2E8F0"/>
            </a:solidFill>
            <a:prstDash val="solid"/>
          </a:ln>
        </p:spPr>
      </p:sp>
      <p:sp>
        <p:nvSpPr>
          <p:cNvPr id="132" name="Shape 130"/>
          <p:cNvSpPr/>
          <p:nvPr/>
        </p:nvSpPr>
        <p:spPr>
          <a:xfrm>
            <a:off x="4165092" y="2926080"/>
            <a:ext cx="516636" cy="246888"/>
          </a:xfrm>
          <a:prstGeom prst="rect">
            <a:avLst/>
          </a:prstGeom>
          <a:solidFill>
            <a:srgbClr val="10B981"/>
          </a:solidFill>
          <a:ln w="3810">
            <a:solidFill>
              <a:srgbClr val="E2E8F0"/>
            </a:solidFill>
            <a:prstDash val="solid"/>
          </a:ln>
        </p:spPr>
      </p:sp>
      <p:sp>
        <p:nvSpPr>
          <p:cNvPr id="133" name="Text 131"/>
          <p:cNvSpPr/>
          <p:nvPr/>
        </p:nvSpPr>
        <p:spPr>
          <a:xfrm>
            <a:off x="4165092" y="2990088"/>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4–6</a:t>
            </a:r>
            <a:endParaRPr lang="en-US" sz="500" dirty="0"/>
          </a:p>
        </p:txBody>
      </p:sp>
      <p:sp>
        <p:nvSpPr>
          <p:cNvPr id="134" name="Shape 132"/>
          <p:cNvSpPr/>
          <p:nvPr/>
        </p:nvSpPr>
        <p:spPr>
          <a:xfrm>
            <a:off x="4700016" y="2926080"/>
            <a:ext cx="516636" cy="246888"/>
          </a:xfrm>
          <a:prstGeom prst="rect">
            <a:avLst/>
          </a:prstGeom>
          <a:solidFill>
            <a:srgbClr val="10B981"/>
          </a:solidFill>
          <a:ln w="3810">
            <a:solidFill>
              <a:srgbClr val="E2E8F0"/>
            </a:solidFill>
            <a:prstDash val="solid"/>
          </a:ln>
        </p:spPr>
      </p:sp>
      <p:sp>
        <p:nvSpPr>
          <p:cNvPr id="135" name="Text 133"/>
          <p:cNvSpPr/>
          <p:nvPr/>
        </p:nvSpPr>
        <p:spPr>
          <a:xfrm>
            <a:off x="4700016" y="2990088"/>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4–6</a:t>
            </a:r>
            <a:endParaRPr lang="en-US" sz="500" dirty="0"/>
          </a:p>
        </p:txBody>
      </p:sp>
      <p:sp>
        <p:nvSpPr>
          <p:cNvPr id="136" name="Shape 134"/>
          <p:cNvSpPr/>
          <p:nvPr/>
        </p:nvSpPr>
        <p:spPr>
          <a:xfrm>
            <a:off x="5234940" y="2926080"/>
            <a:ext cx="516636" cy="246888"/>
          </a:xfrm>
          <a:prstGeom prst="rect">
            <a:avLst/>
          </a:prstGeom>
          <a:solidFill>
            <a:srgbClr val="10B981"/>
          </a:solidFill>
          <a:ln w="3810">
            <a:solidFill>
              <a:srgbClr val="E2E8F0"/>
            </a:solidFill>
            <a:prstDash val="solid"/>
          </a:ln>
        </p:spPr>
      </p:sp>
      <p:sp>
        <p:nvSpPr>
          <p:cNvPr id="137" name="Text 135"/>
          <p:cNvSpPr/>
          <p:nvPr/>
        </p:nvSpPr>
        <p:spPr>
          <a:xfrm>
            <a:off x="5234940" y="2990088"/>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4–6</a:t>
            </a:r>
            <a:endParaRPr lang="en-US" sz="500" dirty="0"/>
          </a:p>
        </p:txBody>
      </p:sp>
      <p:sp>
        <p:nvSpPr>
          <p:cNvPr id="138" name="Shape 136"/>
          <p:cNvSpPr/>
          <p:nvPr/>
        </p:nvSpPr>
        <p:spPr>
          <a:xfrm>
            <a:off x="5769864" y="2926080"/>
            <a:ext cx="516636" cy="246888"/>
          </a:xfrm>
          <a:prstGeom prst="rect">
            <a:avLst/>
          </a:prstGeom>
          <a:solidFill>
            <a:srgbClr val="F1F5F9"/>
          </a:solidFill>
          <a:ln w="3810">
            <a:solidFill>
              <a:srgbClr val="E2E8F0"/>
            </a:solidFill>
            <a:prstDash val="solid"/>
          </a:ln>
        </p:spPr>
      </p:sp>
      <p:sp>
        <p:nvSpPr>
          <p:cNvPr id="139" name="Shape 137"/>
          <p:cNvSpPr/>
          <p:nvPr/>
        </p:nvSpPr>
        <p:spPr>
          <a:xfrm>
            <a:off x="6304788" y="2926080"/>
            <a:ext cx="516636" cy="246888"/>
          </a:xfrm>
          <a:prstGeom prst="rect">
            <a:avLst/>
          </a:prstGeom>
          <a:solidFill>
            <a:srgbClr val="F1F5F9"/>
          </a:solidFill>
          <a:ln w="3810">
            <a:solidFill>
              <a:srgbClr val="E2E8F0"/>
            </a:solidFill>
            <a:prstDash val="solid"/>
          </a:ln>
        </p:spPr>
      </p:sp>
      <p:sp>
        <p:nvSpPr>
          <p:cNvPr id="140" name="Shape 138"/>
          <p:cNvSpPr/>
          <p:nvPr/>
        </p:nvSpPr>
        <p:spPr>
          <a:xfrm>
            <a:off x="6839712" y="2926080"/>
            <a:ext cx="516636" cy="246888"/>
          </a:xfrm>
          <a:prstGeom prst="rect">
            <a:avLst/>
          </a:prstGeom>
          <a:solidFill>
            <a:srgbClr val="F1F5F9"/>
          </a:solidFill>
          <a:ln w="3810">
            <a:solidFill>
              <a:srgbClr val="E2E8F0"/>
            </a:solidFill>
            <a:prstDash val="solid"/>
          </a:ln>
        </p:spPr>
      </p:sp>
      <p:sp>
        <p:nvSpPr>
          <p:cNvPr id="141" name="Shape 139"/>
          <p:cNvSpPr/>
          <p:nvPr/>
        </p:nvSpPr>
        <p:spPr>
          <a:xfrm>
            <a:off x="7374636" y="2926080"/>
            <a:ext cx="516636" cy="246888"/>
          </a:xfrm>
          <a:prstGeom prst="rect">
            <a:avLst/>
          </a:prstGeom>
          <a:solidFill>
            <a:srgbClr val="F1F5F9"/>
          </a:solidFill>
          <a:ln w="3810">
            <a:solidFill>
              <a:srgbClr val="E2E8F0"/>
            </a:solidFill>
            <a:prstDash val="solid"/>
          </a:ln>
        </p:spPr>
      </p:sp>
      <p:sp>
        <p:nvSpPr>
          <p:cNvPr id="142" name="Shape 140"/>
          <p:cNvSpPr/>
          <p:nvPr/>
        </p:nvSpPr>
        <p:spPr>
          <a:xfrm>
            <a:off x="7909560" y="2926080"/>
            <a:ext cx="516636" cy="246888"/>
          </a:xfrm>
          <a:prstGeom prst="rect">
            <a:avLst/>
          </a:prstGeom>
          <a:solidFill>
            <a:srgbClr val="1F2937"/>
          </a:solidFill>
          <a:ln w="3810">
            <a:solidFill>
              <a:srgbClr val="E2E8F0"/>
            </a:solidFill>
            <a:prstDash val="solid"/>
          </a:ln>
        </p:spPr>
      </p:sp>
      <p:sp>
        <p:nvSpPr>
          <p:cNvPr id="143" name="Shape 141"/>
          <p:cNvSpPr/>
          <p:nvPr/>
        </p:nvSpPr>
        <p:spPr>
          <a:xfrm>
            <a:off x="8444484" y="2926080"/>
            <a:ext cx="516636" cy="246888"/>
          </a:xfrm>
          <a:prstGeom prst="rect">
            <a:avLst/>
          </a:prstGeom>
          <a:solidFill>
            <a:srgbClr val="1F2937"/>
          </a:solidFill>
          <a:ln w="3810">
            <a:solidFill>
              <a:srgbClr val="E2E8F0"/>
            </a:solidFill>
            <a:prstDash val="solid"/>
          </a:ln>
        </p:spPr>
      </p:sp>
      <p:sp>
        <p:nvSpPr>
          <p:cNvPr id="144" name="Shape 142"/>
          <p:cNvSpPr/>
          <p:nvPr/>
        </p:nvSpPr>
        <p:spPr>
          <a:xfrm>
            <a:off x="457200" y="3182112"/>
            <a:ext cx="2066544" cy="246888"/>
          </a:xfrm>
          <a:prstGeom prst="rect">
            <a:avLst/>
          </a:prstGeom>
          <a:solidFill>
            <a:srgbClr val="F8F9FC"/>
          </a:solidFill>
          <a:ln w="6350">
            <a:solidFill>
              <a:srgbClr val="E2E8F0"/>
            </a:solidFill>
            <a:prstDash val="solid"/>
          </a:ln>
        </p:spPr>
      </p:sp>
      <p:sp>
        <p:nvSpPr>
          <p:cNvPr id="145" name="Text 143"/>
          <p:cNvSpPr/>
          <p:nvPr/>
        </p:nvSpPr>
        <p:spPr>
          <a:xfrm>
            <a:off x="512064" y="3218688"/>
            <a:ext cx="1956816" cy="182880"/>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Backend APIs (.NET 8)</a:t>
            </a:r>
            <a:endParaRPr lang="en-US" sz="700" dirty="0"/>
          </a:p>
        </p:txBody>
      </p:sp>
      <p:sp>
        <p:nvSpPr>
          <p:cNvPr id="146" name="Shape 144"/>
          <p:cNvSpPr/>
          <p:nvPr/>
        </p:nvSpPr>
        <p:spPr>
          <a:xfrm>
            <a:off x="2560320" y="3182112"/>
            <a:ext cx="516636" cy="246888"/>
          </a:xfrm>
          <a:prstGeom prst="rect">
            <a:avLst/>
          </a:prstGeom>
          <a:solidFill>
            <a:srgbClr val="FFFFFF"/>
          </a:solidFill>
          <a:ln w="3810">
            <a:solidFill>
              <a:srgbClr val="E2E8F0"/>
            </a:solidFill>
            <a:prstDash val="solid"/>
          </a:ln>
        </p:spPr>
      </p:sp>
      <p:sp>
        <p:nvSpPr>
          <p:cNvPr id="147" name="Shape 145"/>
          <p:cNvSpPr/>
          <p:nvPr/>
        </p:nvSpPr>
        <p:spPr>
          <a:xfrm>
            <a:off x="3095244" y="3182112"/>
            <a:ext cx="516636" cy="246888"/>
          </a:xfrm>
          <a:prstGeom prst="rect">
            <a:avLst/>
          </a:prstGeom>
          <a:solidFill>
            <a:srgbClr val="FFFFFF"/>
          </a:solidFill>
          <a:ln w="3810">
            <a:solidFill>
              <a:srgbClr val="E2E8F0"/>
            </a:solidFill>
            <a:prstDash val="solid"/>
          </a:ln>
        </p:spPr>
      </p:sp>
      <p:sp>
        <p:nvSpPr>
          <p:cNvPr id="148" name="Shape 146"/>
          <p:cNvSpPr/>
          <p:nvPr/>
        </p:nvSpPr>
        <p:spPr>
          <a:xfrm>
            <a:off x="3630168" y="3182112"/>
            <a:ext cx="516636" cy="246888"/>
          </a:xfrm>
          <a:prstGeom prst="rect">
            <a:avLst/>
          </a:prstGeom>
          <a:solidFill>
            <a:srgbClr val="10B981"/>
          </a:solidFill>
          <a:ln w="3810">
            <a:solidFill>
              <a:srgbClr val="E2E8F0"/>
            </a:solidFill>
            <a:prstDash val="solid"/>
          </a:ln>
        </p:spPr>
      </p:sp>
      <p:sp>
        <p:nvSpPr>
          <p:cNvPr id="149" name="Text 147"/>
          <p:cNvSpPr/>
          <p:nvPr/>
        </p:nvSpPr>
        <p:spPr>
          <a:xfrm>
            <a:off x="3630168" y="3246120"/>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3–6</a:t>
            </a:r>
            <a:endParaRPr lang="en-US" sz="500" dirty="0"/>
          </a:p>
        </p:txBody>
      </p:sp>
      <p:sp>
        <p:nvSpPr>
          <p:cNvPr id="150" name="Shape 148"/>
          <p:cNvSpPr/>
          <p:nvPr/>
        </p:nvSpPr>
        <p:spPr>
          <a:xfrm>
            <a:off x="4165092" y="3182112"/>
            <a:ext cx="516636" cy="246888"/>
          </a:xfrm>
          <a:prstGeom prst="rect">
            <a:avLst/>
          </a:prstGeom>
          <a:solidFill>
            <a:srgbClr val="10B981"/>
          </a:solidFill>
          <a:ln w="3810">
            <a:solidFill>
              <a:srgbClr val="E2E8F0"/>
            </a:solidFill>
            <a:prstDash val="solid"/>
          </a:ln>
        </p:spPr>
      </p:sp>
      <p:sp>
        <p:nvSpPr>
          <p:cNvPr id="151" name="Text 149"/>
          <p:cNvSpPr/>
          <p:nvPr/>
        </p:nvSpPr>
        <p:spPr>
          <a:xfrm>
            <a:off x="4165092" y="3246120"/>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3–6</a:t>
            </a:r>
            <a:endParaRPr lang="en-US" sz="500" dirty="0"/>
          </a:p>
        </p:txBody>
      </p:sp>
      <p:sp>
        <p:nvSpPr>
          <p:cNvPr id="152" name="Shape 150"/>
          <p:cNvSpPr/>
          <p:nvPr/>
        </p:nvSpPr>
        <p:spPr>
          <a:xfrm>
            <a:off x="4700016" y="3182112"/>
            <a:ext cx="516636" cy="246888"/>
          </a:xfrm>
          <a:prstGeom prst="rect">
            <a:avLst/>
          </a:prstGeom>
          <a:solidFill>
            <a:srgbClr val="10B981"/>
          </a:solidFill>
          <a:ln w="3810">
            <a:solidFill>
              <a:srgbClr val="E2E8F0"/>
            </a:solidFill>
            <a:prstDash val="solid"/>
          </a:ln>
        </p:spPr>
      </p:sp>
      <p:sp>
        <p:nvSpPr>
          <p:cNvPr id="153" name="Text 151"/>
          <p:cNvSpPr/>
          <p:nvPr/>
        </p:nvSpPr>
        <p:spPr>
          <a:xfrm>
            <a:off x="4700016" y="3246120"/>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3–6</a:t>
            </a:r>
            <a:endParaRPr lang="en-US" sz="500" dirty="0"/>
          </a:p>
        </p:txBody>
      </p:sp>
      <p:sp>
        <p:nvSpPr>
          <p:cNvPr id="154" name="Shape 152"/>
          <p:cNvSpPr/>
          <p:nvPr/>
        </p:nvSpPr>
        <p:spPr>
          <a:xfrm>
            <a:off x="5234940" y="3182112"/>
            <a:ext cx="516636" cy="246888"/>
          </a:xfrm>
          <a:prstGeom prst="rect">
            <a:avLst/>
          </a:prstGeom>
          <a:solidFill>
            <a:srgbClr val="10B981"/>
          </a:solidFill>
          <a:ln w="3810">
            <a:solidFill>
              <a:srgbClr val="E2E8F0"/>
            </a:solidFill>
            <a:prstDash val="solid"/>
          </a:ln>
        </p:spPr>
      </p:sp>
      <p:sp>
        <p:nvSpPr>
          <p:cNvPr id="155" name="Text 153"/>
          <p:cNvSpPr/>
          <p:nvPr/>
        </p:nvSpPr>
        <p:spPr>
          <a:xfrm>
            <a:off x="5234940" y="3246120"/>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3–6</a:t>
            </a:r>
            <a:endParaRPr lang="en-US" sz="500" dirty="0"/>
          </a:p>
        </p:txBody>
      </p:sp>
      <p:sp>
        <p:nvSpPr>
          <p:cNvPr id="156" name="Shape 154"/>
          <p:cNvSpPr/>
          <p:nvPr/>
        </p:nvSpPr>
        <p:spPr>
          <a:xfrm>
            <a:off x="5769864" y="3182112"/>
            <a:ext cx="516636" cy="246888"/>
          </a:xfrm>
          <a:prstGeom prst="rect">
            <a:avLst/>
          </a:prstGeom>
          <a:solidFill>
            <a:srgbClr val="FFFFFF"/>
          </a:solidFill>
          <a:ln w="3810">
            <a:solidFill>
              <a:srgbClr val="E2E8F0"/>
            </a:solidFill>
            <a:prstDash val="solid"/>
          </a:ln>
        </p:spPr>
      </p:sp>
      <p:sp>
        <p:nvSpPr>
          <p:cNvPr id="157" name="Shape 155"/>
          <p:cNvSpPr/>
          <p:nvPr/>
        </p:nvSpPr>
        <p:spPr>
          <a:xfrm>
            <a:off x="6304788" y="3182112"/>
            <a:ext cx="516636" cy="246888"/>
          </a:xfrm>
          <a:prstGeom prst="rect">
            <a:avLst/>
          </a:prstGeom>
          <a:solidFill>
            <a:srgbClr val="FFFFFF"/>
          </a:solidFill>
          <a:ln w="3810">
            <a:solidFill>
              <a:srgbClr val="E2E8F0"/>
            </a:solidFill>
            <a:prstDash val="solid"/>
          </a:ln>
        </p:spPr>
      </p:sp>
      <p:sp>
        <p:nvSpPr>
          <p:cNvPr id="158" name="Shape 156"/>
          <p:cNvSpPr/>
          <p:nvPr/>
        </p:nvSpPr>
        <p:spPr>
          <a:xfrm>
            <a:off x="6839712" y="3182112"/>
            <a:ext cx="516636" cy="246888"/>
          </a:xfrm>
          <a:prstGeom prst="rect">
            <a:avLst/>
          </a:prstGeom>
          <a:solidFill>
            <a:srgbClr val="FFFFFF"/>
          </a:solidFill>
          <a:ln w="3810">
            <a:solidFill>
              <a:srgbClr val="E2E8F0"/>
            </a:solidFill>
            <a:prstDash val="solid"/>
          </a:ln>
        </p:spPr>
      </p:sp>
      <p:sp>
        <p:nvSpPr>
          <p:cNvPr id="159" name="Shape 157"/>
          <p:cNvSpPr/>
          <p:nvPr/>
        </p:nvSpPr>
        <p:spPr>
          <a:xfrm>
            <a:off x="7374636" y="3182112"/>
            <a:ext cx="516636" cy="246888"/>
          </a:xfrm>
          <a:prstGeom prst="rect">
            <a:avLst/>
          </a:prstGeom>
          <a:solidFill>
            <a:srgbClr val="FFFFFF"/>
          </a:solidFill>
          <a:ln w="3810">
            <a:solidFill>
              <a:srgbClr val="E2E8F0"/>
            </a:solidFill>
            <a:prstDash val="solid"/>
          </a:ln>
        </p:spPr>
      </p:sp>
      <p:sp>
        <p:nvSpPr>
          <p:cNvPr id="160" name="Shape 158"/>
          <p:cNvSpPr/>
          <p:nvPr/>
        </p:nvSpPr>
        <p:spPr>
          <a:xfrm>
            <a:off x="7909560" y="3182112"/>
            <a:ext cx="516636" cy="246888"/>
          </a:xfrm>
          <a:prstGeom prst="rect">
            <a:avLst/>
          </a:prstGeom>
          <a:solidFill>
            <a:srgbClr val="1F2937"/>
          </a:solidFill>
          <a:ln w="3810">
            <a:solidFill>
              <a:srgbClr val="E2E8F0"/>
            </a:solidFill>
            <a:prstDash val="solid"/>
          </a:ln>
        </p:spPr>
      </p:sp>
      <p:sp>
        <p:nvSpPr>
          <p:cNvPr id="161" name="Shape 159"/>
          <p:cNvSpPr/>
          <p:nvPr/>
        </p:nvSpPr>
        <p:spPr>
          <a:xfrm>
            <a:off x="8444484" y="3182112"/>
            <a:ext cx="516636" cy="246888"/>
          </a:xfrm>
          <a:prstGeom prst="rect">
            <a:avLst/>
          </a:prstGeom>
          <a:solidFill>
            <a:srgbClr val="1F2937"/>
          </a:solidFill>
          <a:ln w="3810">
            <a:solidFill>
              <a:srgbClr val="E2E8F0"/>
            </a:solidFill>
            <a:prstDash val="solid"/>
          </a:ln>
        </p:spPr>
      </p:sp>
      <p:sp>
        <p:nvSpPr>
          <p:cNvPr id="162" name="Shape 160"/>
          <p:cNvSpPr/>
          <p:nvPr/>
        </p:nvSpPr>
        <p:spPr>
          <a:xfrm>
            <a:off x="457200" y="3438144"/>
            <a:ext cx="2066544" cy="246888"/>
          </a:xfrm>
          <a:prstGeom prst="rect">
            <a:avLst/>
          </a:prstGeom>
          <a:solidFill>
            <a:srgbClr val="1B2F6E"/>
          </a:solidFill>
          <a:ln w="6350">
            <a:solidFill>
              <a:srgbClr val="E2E8F0"/>
            </a:solidFill>
            <a:prstDash val="solid"/>
          </a:ln>
        </p:spPr>
      </p:sp>
      <p:sp>
        <p:nvSpPr>
          <p:cNvPr id="163" name="Text 161"/>
          <p:cNvSpPr/>
          <p:nvPr/>
        </p:nvSpPr>
        <p:spPr>
          <a:xfrm>
            <a:off x="512064" y="3474720"/>
            <a:ext cx="1956816" cy="182880"/>
          </a:xfrm>
          <a:prstGeom prst="rect">
            <a:avLst/>
          </a:prstGeom>
          <a:noFill/>
          <a:ln/>
        </p:spPr>
        <p:txBody>
          <a:bodyPr wrap="square"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Phase 3: Feature Completion</a:t>
            </a:r>
            <a:endParaRPr lang="en-US" sz="800" dirty="0"/>
          </a:p>
        </p:txBody>
      </p:sp>
      <p:sp>
        <p:nvSpPr>
          <p:cNvPr id="164" name="Shape 162"/>
          <p:cNvSpPr/>
          <p:nvPr/>
        </p:nvSpPr>
        <p:spPr>
          <a:xfrm>
            <a:off x="2560320" y="3438144"/>
            <a:ext cx="516636" cy="246888"/>
          </a:xfrm>
          <a:prstGeom prst="rect">
            <a:avLst/>
          </a:prstGeom>
          <a:solidFill>
            <a:srgbClr val="F1F5F9"/>
          </a:solidFill>
          <a:ln w="3810">
            <a:solidFill>
              <a:srgbClr val="E2E8F0"/>
            </a:solidFill>
            <a:prstDash val="solid"/>
          </a:ln>
        </p:spPr>
      </p:sp>
      <p:sp>
        <p:nvSpPr>
          <p:cNvPr id="165" name="Shape 163"/>
          <p:cNvSpPr/>
          <p:nvPr/>
        </p:nvSpPr>
        <p:spPr>
          <a:xfrm>
            <a:off x="3095244" y="3438144"/>
            <a:ext cx="516636" cy="246888"/>
          </a:xfrm>
          <a:prstGeom prst="rect">
            <a:avLst/>
          </a:prstGeom>
          <a:solidFill>
            <a:srgbClr val="F1F5F9"/>
          </a:solidFill>
          <a:ln w="3810">
            <a:solidFill>
              <a:srgbClr val="E2E8F0"/>
            </a:solidFill>
            <a:prstDash val="solid"/>
          </a:ln>
        </p:spPr>
      </p:sp>
      <p:sp>
        <p:nvSpPr>
          <p:cNvPr id="166" name="Shape 164"/>
          <p:cNvSpPr/>
          <p:nvPr/>
        </p:nvSpPr>
        <p:spPr>
          <a:xfrm>
            <a:off x="3630168" y="3438144"/>
            <a:ext cx="516636" cy="246888"/>
          </a:xfrm>
          <a:prstGeom prst="rect">
            <a:avLst/>
          </a:prstGeom>
          <a:solidFill>
            <a:srgbClr val="F1F5F9"/>
          </a:solidFill>
          <a:ln w="3810">
            <a:solidFill>
              <a:srgbClr val="E2E8F0"/>
            </a:solidFill>
            <a:prstDash val="solid"/>
          </a:ln>
        </p:spPr>
      </p:sp>
      <p:sp>
        <p:nvSpPr>
          <p:cNvPr id="167" name="Shape 165"/>
          <p:cNvSpPr/>
          <p:nvPr/>
        </p:nvSpPr>
        <p:spPr>
          <a:xfrm>
            <a:off x="4165092" y="3438144"/>
            <a:ext cx="516636" cy="246888"/>
          </a:xfrm>
          <a:prstGeom prst="rect">
            <a:avLst/>
          </a:prstGeom>
          <a:solidFill>
            <a:srgbClr val="F1F5F9"/>
          </a:solidFill>
          <a:ln w="3810">
            <a:solidFill>
              <a:srgbClr val="E2E8F0"/>
            </a:solidFill>
            <a:prstDash val="solid"/>
          </a:ln>
        </p:spPr>
      </p:sp>
      <p:sp>
        <p:nvSpPr>
          <p:cNvPr id="168" name="Shape 166"/>
          <p:cNvSpPr/>
          <p:nvPr/>
        </p:nvSpPr>
        <p:spPr>
          <a:xfrm>
            <a:off x="4700016" y="3438144"/>
            <a:ext cx="516636" cy="246888"/>
          </a:xfrm>
          <a:prstGeom prst="rect">
            <a:avLst/>
          </a:prstGeom>
          <a:solidFill>
            <a:srgbClr val="F1F5F9"/>
          </a:solidFill>
          <a:ln w="3810">
            <a:solidFill>
              <a:srgbClr val="E2E8F0"/>
            </a:solidFill>
            <a:prstDash val="solid"/>
          </a:ln>
        </p:spPr>
      </p:sp>
      <p:sp>
        <p:nvSpPr>
          <p:cNvPr id="169" name="Shape 167"/>
          <p:cNvSpPr/>
          <p:nvPr/>
        </p:nvSpPr>
        <p:spPr>
          <a:xfrm>
            <a:off x="5234940" y="3438144"/>
            <a:ext cx="516636" cy="246888"/>
          </a:xfrm>
          <a:prstGeom prst="rect">
            <a:avLst/>
          </a:prstGeom>
          <a:solidFill>
            <a:srgbClr val="F1F5F9"/>
          </a:solidFill>
          <a:ln w="3810">
            <a:solidFill>
              <a:srgbClr val="E2E8F0"/>
            </a:solidFill>
            <a:prstDash val="solid"/>
          </a:ln>
        </p:spPr>
      </p:sp>
      <p:sp>
        <p:nvSpPr>
          <p:cNvPr id="170" name="Shape 168"/>
          <p:cNvSpPr/>
          <p:nvPr/>
        </p:nvSpPr>
        <p:spPr>
          <a:xfrm>
            <a:off x="5769864" y="3438144"/>
            <a:ext cx="516636" cy="246888"/>
          </a:xfrm>
          <a:prstGeom prst="rect">
            <a:avLst/>
          </a:prstGeom>
          <a:solidFill>
            <a:srgbClr val="D97706"/>
          </a:solidFill>
          <a:ln w="3810">
            <a:solidFill>
              <a:srgbClr val="E2E8F0"/>
            </a:solidFill>
            <a:prstDash val="solid"/>
          </a:ln>
        </p:spPr>
      </p:sp>
      <p:sp>
        <p:nvSpPr>
          <p:cNvPr id="171" name="Text 169"/>
          <p:cNvSpPr/>
          <p:nvPr/>
        </p:nvSpPr>
        <p:spPr>
          <a:xfrm>
            <a:off x="5769864" y="3502152"/>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7–8</a:t>
            </a:r>
            <a:endParaRPr lang="en-US" sz="500" dirty="0"/>
          </a:p>
        </p:txBody>
      </p:sp>
      <p:sp>
        <p:nvSpPr>
          <p:cNvPr id="172" name="Shape 170"/>
          <p:cNvSpPr/>
          <p:nvPr/>
        </p:nvSpPr>
        <p:spPr>
          <a:xfrm>
            <a:off x="6304788" y="3438144"/>
            <a:ext cx="516636" cy="246888"/>
          </a:xfrm>
          <a:prstGeom prst="rect">
            <a:avLst/>
          </a:prstGeom>
          <a:solidFill>
            <a:srgbClr val="D97706"/>
          </a:solidFill>
          <a:ln w="3810">
            <a:solidFill>
              <a:srgbClr val="E2E8F0"/>
            </a:solidFill>
            <a:prstDash val="solid"/>
          </a:ln>
        </p:spPr>
      </p:sp>
      <p:sp>
        <p:nvSpPr>
          <p:cNvPr id="173" name="Text 171"/>
          <p:cNvSpPr/>
          <p:nvPr/>
        </p:nvSpPr>
        <p:spPr>
          <a:xfrm>
            <a:off x="6304788" y="3502152"/>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7–8</a:t>
            </a:r>
            <a:endParaRPr lang="en-US" sz="500" dirty="0"/>
          </a:p>
        </p:txBody>
      </p:sp>
      <p:sp>
        <p:nvSpPr>
          <p:cNvPr id="174" name="Shape 172"/>
          <p:cNvSpPr/>
          <p:nvPr/>
        </p:nvSpPr>
        <p:spPr>
          <a:xfrm>
            <a:off x="6839712" y="3438144"/>
            <a:ext cx="516636" cy="246888"/>
          </a:xfrm>
          <a:prstGeom prst="rect">
            <a:avLst/>
          </a:prstGeom>
          <a:solidFill>
            <a:srgbClr val="F1F5F9"/>
          </a:solidFill>
          <a:ln w="3810">
            <a:solidFill>
              <a:srgbClr val="E2E8F0"/>
            </a:solidFill>
            <a:prstDash val="solid"/>
          </a:ln>
        </p:spPr>
      </p:sp>
      <p:sp>
        <p:nvSpPr>
          <p:cNvPr id="175" name="Shape 173"/>
          <p:cNvSpPr/>
          <p:nvPr/>
        </p:nvSpPr>
        <p:spPr>
          <a:xfrm>
            <a:off x="7374636" y="3438144"/>
            <a:ext cx="516636" cy="246888"/>
          </a:xfrm>
          <a:prstGeom prst="rect">
            <a:avLst/>
          </a:prstGeom>
          <a:solidFill>
            <a:srgbClr val="F1F5F9"/>
          </a:solidFill>
          <a:ln w="3810">
            <a:solidFill>
              <a:srgbClr val="E2E8F0"/>
            </a:solidFill>
            <a:prstDash val="solid"/>
          </a:ln>
        </p:spPr>
      </p:sp>
      <p:sp>
        <p:nvSpPr>
          <p:cNvPr id="176" name="Shape 174"/>
          <p:cNvSpPr/>
          <p:nvPr/>
        </p:nvSpPr>
        <p:spPr>
          <a:xfrm>
            <a:off x="7909560" y="3438144"/>
            <a:ext cx="516636" cy="246888"/>
          </a:xfrm>
          <a:prstGeom prst="rect">
            <a:avLst/>
          </a:prstGeom>
          <a:solidFill>
            <a:srgbClr val="1F2937"/>
          </a:solidFill>
          <a:ln w="3810">
            <a:solidFill>
              <a:srgbClr val="E2E8F0"/>
            </a:solidFill>
            <a:prstDash val="solid"/>
          </a:ln>
        </p:spPr>
      </p:sp>
      <p:sp>
        <p:nvSpPr>
          <p:cNvPr id="177" name="Shape 175"/>
          <p:cNvSpPr/>
          <p:nvPr/>
        </p:nvSpPr>
        <p:spPr>
          <a:xfrm>
            <a:off x="8444484" y="3438144"/>
            <a:ext cx="516636" cy="246888"/>
          </a:xfrm>
          <a:prstGeom prst="rect">
            <a:avLst/>
          </a:prstGeom>
          <a:solidFill>
            <a:srgbClr val="1F2937"/>
          </a:solidFill>
          <a:ln w="3810">
            <a:solidFill>
              <a:srgbClr val="E2E8F0"/>
            </a:solidFill>
            <a:prstDash val="solid"/>
          </a:ln>
        </p:spPr>
      </p:sp>
      <p:sp>
        <p:nvSpPr>
          <p:cNvPr id="178" name="Shape 176"/>
          <p:cNvSpPr/>
          <p:nvPr/>
        </p:nvSpPr>
        <p:spPr>
          <a:xfrm>
            <a:off x="457200" y="3694176"/>
            <a:ext cx="2066544" cy="246888"/>
          </a:xfrm>
          <a:prstGeom prst="rect">
            <a:avLst/>
          </a:prstGeom>
          <a:solidFill>
            <a:srgbClr val="F8F9FC"/>
          </a:solidFill>
          <a:ln w="6350">
            <a:solidFill>
              <a:srgbClr val="E2E8F0"/>
            </a:solidFill>
            <a:prstDash val="solid"/>
          </a:ln>
        </p:spPr>
      </p:sp>
      <p:sp>
        <p:nvSpPr>
          <p:cNvPr id="179" name="Text 177"/>
          <p:cNvSpPr/>
          <p:nvPr/>
        </p:nvSpPr>
        <p:spPr>
          <a:xfrm>
            <a:off x="512064" y="3730752"/>
            <a:ext cx="1956816" cy="182880"/>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Messaging + VoIP + FCM</a:t>
            </a:r>
            <a:endParaRPr lang="en-US" sz="700" dirty="0"/>
          </a:p>
        </p:txBody>
      </p:sp>
      <p:sp>
        <p:nvSpPr>
          <p:cNvPr id="180" name="Shape 178"/>
          <p:cNvSpPr/>
          <p:nvPr/>
        </p:nvSpPr>
        <p:spPr>
          <a:xfrm>
            <a:off x="2560320" y="3694176"/>
            <a:ext cx="516636" cy="246888"/>
          </a:xfrm>
          <a:prstGeom prst="rect">
            <a:avLst/>
          </a:prstGeom>
          <a:solidFill>
            <a:srgbClr val="FFFFFF"/>
          </a:solidFill>
          <a:ln w="3810">
            <a:solidFill>
              <a:srgbClr val="E2E8F0"/>
            </a:solidFill>
            <a:prstDash val="solid"/>
          </a:ln>
        </p:spPr>
      </p:sp>
      <p:sp>
        <p:nvSpPr>
          <p:cNvPr id="181" name="Shape 179"/>
          <p:cNvSpPr/>
          <p:nvPr/>
        </p:nvSpPr>
        <p:spPr>
          <a:xfrm>
            <a:off x="3095244" y="3694176"/>
            <a:ext cx="516636" cy="246888"/>
          </a:xfrm>
          <a:prstGeom prst="rect">
            <a:avLst/>
          </a:prstGeom>
          <a:solidFill>
            <a:srgbClr val="FFFFFF"/>
          </a:solidFill>
          <a:ln w="3810">
            <a:solidFill>
              <a:srgbClr val="E2E8F0"/>
            </a:solidFill>
            <a:prstDash val="solid"/>
          </a:ln>
        </p:spPr>
      </p:sp>
      <p:sp>
        <p:nvSpPr>
          <p:cNvPr id="182" name="Shape 180"/>
          <p:cNvSpPr/>
          <p:nvPr/>
        </p:nvSpPr>
        <p:spPr>
          <a:xfrm>
            <a:off x="3630168" y="3694176"/>
            <a:ext cx="516636" cy="246888"/>
          </a:xfrm>
          <a:prstGeom prst="rect">
            <a:avLst/>
          </a:prstGeom>
          <a:solidFill>
            <a:srgbClr val="FFFFFF"/>
          </a:solidFill>
          <a:ln w="3810">
            <a:solidFill>
              <a:srgbClr val="E2E8F0"/>
            </a:solidFill>
            <a:prstDash val="solid"/>
          </a:ln>
        </p:spPr>
      </p:sp>
      <p:sp>
        <p:nvSpPr>
          <p:cNvPr id="183" name="Shape 181"/>
          <p:cNvSpPr/>
          <p:nvPr/>
        </p:nvSpPr>
        <p:spPr>
          <a:xfrm>
            <a:off x="4165092" y="3694176"/>
            <a:ext cx="516636" cy="246888"/>
          </a:xfrm>
          <a:prstGeom prst="rect">
            <a:avLst/>
          </a:prstGeom>
          <a:solidFill>
            <a:srgbClr val="FFFFFF"/>
          </a:solidFill>
          <a:ln w="3810">
            <a:solidFill>
              <a:srgbClr val="E2E8F0"/>
            </a:solidFill>
            <a:prstDash val="solid"/>
          </a:ln>
        </p:spPr>
      </p:sp>
      <p:sp>
        <p:nvSpPr>
          <p:cNvPr id="184" name="Shape 182"/>
          <p:cNvSpPr/>
          <p:nvPr/>
        </p:nvSpPr>
        <p:spPr>
          <a:xfrm>
            <a:off x="4700016" y="3694176"/>
            <a:ext cx="516636" cy="246888"/>
          </a:xfrm>
          <a:prstGeom prst="rect">
            <a:avLst/>
          </a:prstGeom>
          <a:solidFill>
            <a:srgbClr val="FFFFFF"/>
          </a:solidFill>
          <a:ln w="3810">
            <a:solidFill>
              <a:srgbClr val="E2E8F0"/>
            </a:solidFill>
            <a:prstDash val="solid"/>
          </a:ln>
        </p:spPr>
      </p:sp>
      <p:sp>
        <p:nvSpPr>
          <p:cNvPr id="185" name="Shape 183"/>
          <p:cNvSpPr/>
          <p:nvPr/>
        </p:nvSpPr>
        <p:spPr>
          <a:xfrm>
            <a:off x="5234940" y="3694176"/>
            <a:ext cx="516636" cy="246888"/>
          </a:xfrm>
          <a:prstGeom prst="rect">
            <a:avLst/>
          </a:prstGeom>
          <a:solidFill>
            <a:srgbClr val="FFFFFF"/>
          </a:solidFill>
          <a:ln w="3810">
            <a:solidFill>
              <a:srgbClr val="E2E8F0"/>
            </a:solidFill>
            <a:prstDash val="solid"/>
          </a:ln>
        </p:spPr>
      </p:sp>
      <p:sp>
        <p:nvSpPr>
          <p:cNvPr id="186" name="Shape 184"/>
          <p:cNvSpPr/>
          <p:nvPr/>
        </p:nvSpPr>
        <p:spPr>
          <a:xfrm>
            <a:off x="5769864" y="3694176"/>
            <a:ext cx="516636" cy="246888"/>
          </a:xfrm>
          <a:prstGeom prst="rect">
            <a:avLst/>
          </a:prstGeom>
          <a:solidFill>
            <a:srgbClr val="F59E0B"/>
          </a:solidFill>
          <a:ln w="3810">
            <a:solidFill>
              <a:srgbClr val="E2E8F0"/>
            </a:solidFill>
            <a:prstDash val="solid"/>
          </a:ln>
        </p:spPr>
      </p:sp>
      <p:sp>
        <p:nvSpPr>
          <p:cNvPr id="187" name="Text 185"/>
          <p:cNvSpPr/>
          <p:nvPr/>
        </p:nvSpPr>
        <p:spPr>
          <a:xfrm>
            <a:off x="5769864" y="3758184"/>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7–8</a:t>
            </a:r>
            <a:endParaRPr lang="en-US" sz="500" dirty="0"/>
          </a:p>
        </p:txBody>
      </p:sp>
      <p:sp>
        <p:nvSpPr>
          <p:cNvPr id="188" name="Shape 186"/>
          <p:cNvSpPr/>
          <p:nvPr/>
        </p:nvSpPr>
        <p:spPr>
          <a:xfrm>
            <a:off x="6304788" y="3694176"/>
            <a:ext cx="516636" cy="246888"/>
          </a:xfrm>
          <a:prstGeom prst="rect">
            <a:avLst/>
          </a:prstGeom>
          <a:solidFill>
            <a:srgbClr val="F59E0B"/>
          </a:solidFill>
          <a:ln w="3810">
            <a:solidFill>
              <a:srgbClr val="E2E8F0"/>
            </a:solidFill>
            <a:prstDash val="solid"/>
          </a:ln>
        </p:spPr>
      </p:sp>
      <p:sp>
        <p:nvSpPr>
          <p:cNvPr id="189" name="Text 187"/>
          <p:cNvSpPr/>
          <p:nvPr/>
        </p:nvSpPr>
        <p:spPr>
          <a:xfrm>
            <a:off x="6304788" y="3758184"/>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7–8</a:t>
            </a:r>
            <a:endParaRPr lang="en-US" sz="500" dirty="0"/>
          </a:p>
        </p:txBody>
      </p:sp>
      <p:sp>
        <p:nvSpPr>
          <p:cNvPr id="190" name="Shape 188"/>
          <p:cNvSpPr/>
          <p:nvPr/>
        </p:nvSpPr>
        <p:spPr>
          <a:xfrm>
            <a:off x="6839712" y="3694176"/>
            <a:ext cx="516636" cy="246888"/>
          </a:xfrm>
          <a:prstGeom prst="rect">
            <a:avLst/>
          </a:prstGeom>
          <a:solidFill>
            <a:srgbClr val="FFFFFF"/>
          </a:solidFill>
          <a:ln w="3810">
            <a:solidFill>
              <a:srgbClr val="E2E8F0"/>
            </a:solidFill>
            <a:prstDash val="solid"/>
          </a:ln>
        </p:spPr>
      </p:sp>
      <p:sp>
        <p:nvSpPr>
          <p:cNvPr id="191" name="Shape 189"/>
          <p:cNvSpPr/>
          <p:nvPr/>
        </p:nvSpPr>
        <p:spPr>
          <a:xfrm>
            <a:off x="7374636" y="3694176"/>
            <a:ext cx="516636" cy="246888"/>
          </a:xfrm>
          <a:prstGeom prst="rect">
            <a:avLst/>
          </a:prstGeom>
          <a:solidFill>
            <a:srgbClr val="FFFFFF"/>
          </a:solidFill>
          <a:ln w="3810">
            <a:solidFill>
              <a:srgbClr val="E2E8F0"/>
            </a:solidFill>
            <a:prstDash val="solid"/>
          </a:ln>
        </p:spPr>
      </p:sp>
      <p:sp>
        <p:nvSpPr>
          <p:cNvPr id="192" name="Shape 190"/>
          <p:cNvSpPr/>
          <p:nvPr/>
        </p:nvSpPr>
        <p:spPr>
          <a:xfrm>
            <a:off x="7909560" y="3694176"/>
            <a:ext cx="516636" cy="246888"/>
          </a:xfrm>
          <a:prstGeom prst="rect">
            <a:avLst/>
          </a:prstGeom>
          <a:solidFill>
            <a:srgbClr val="1F2937"/>
          </a:solidFill>
          <a:ln w="3810">
            <a:solidFill>
              <a:srgbClr val="E2E8F0"/>
            </a:solidFill>
            <a:prstDash val="solid"/>
          </a:ln>
        </p:spPr>
      </p:sp>
      <p:sp>
        <p:nvSpPr>
          <p:cNvPr id="193" name="Shape 191"/>
          <p:cNvSpPr/>
          <p:nvPr/>
        </p:nvSpPr>
        <p:spPr>
          <a:xfrm>
            <a:off x="8444484" y="3694176"/>
            <a:ext cx="516636" cy="246888"/>
          </a:xfrm>
          <a:prstGeom prst="rect">
            <a:avLst/>
          </a:prstGeom>
          <a:solidFill>
            <a:srgbClr val="1F2937"/>
          </a:solidFill>
          <a:ln w="3810">
            <a:solidFill>
              <a:srgbClr val="E2E8F0"/>
            </a:solidFill>
            <a:prstDash val="solid"/>
          </a:ln>
        </p:spPr>
      </p:sp>
      <p:sp>
        <p:nvSpPr>
          <p:cNvPr id="194" name="Shape 192"/>
          <p:cNvSpPr/>
          <p:nvPr/>
        </p:nvSpPr>
        <p:spPr>
          <a:xfrm>
            <a:off x="457200" y="3950208"/>
            <a:ext cx="2066544" cy="246888"/>
          </a:xfrm>
          <a:prstGeom prst="rect">
            <a:avLst/>
          </a:prstGeom>
          <a:solidFill>
            <a:srgbClr val="1B2F6E"/>
          </a:solidFill>
          <a:ln w="6350">
            <a:solidFill>
              <a:srgbClr val="E2E8F0"/>
            </a:solidFill>
            <a:prstDash val="solid"/>
          </a:ln>
        </p:spPr>
      </p:sp>
      <p:sp>
        <p:nvSpPr>
          <p:cNvPr id="195" name="Text 193"/>
          <p:cNvSpPr/>
          <p:nvPr/>
        </p:nvSpPr>
        <p:spPr>
          <a:xfrm>
            <a:off x="512064" y="3986784"/>
            <a:ext cx="1956816" cy="182880"/>
          </a:xfrm>
          <a:prstGeom prst="rect">
            <a:avLst/>
          </a:prstGeom>
          <a:noFill/>
          <a:ln/>
        </p:spPr>
        <p:txBody>
          <a:bodyPr wrap="square"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Phase 4: QA, UAT &amp; Launch</a:t>
            </a:r>
            <a:endParaRPr lang="en-US" sz="800" dirty="0"/>
          </a:p>
        </p:txBody>
      </p:sp>
      <p:sp>
        <p:nvSpPr>
          <p:cNvPr id="196" name="Shape 194"/>
          <p:cNvSpPr/>
          <p:nvPr/>
        </p:nvSpPr>
        <p:spPr>
          <a:xfrm>
            <a:off x="2560320" y="3950208"/>
            <a:ext cx="516636" cy="246888"/>
          </a:xfrm>
          <a:prstGeom prst="rect">
            <a:avLst/>
          </a:prstGeom>
          <a:solidFill>
            <a:srgbClr val="F1F5F9"/>
          </a:solidFill>
          <a:ln w="3810">
            <a:solidFill>
              <a:srgbClr val="E2E8F0"/>
            </a:solidFill>
            <a:prstDash val="solid"/>
          </a:ln>
        </p:spPr>
      </p:sp>
      <p:sp>
        <p:nvSpPr>
          <p:cNvPr id="197" name="Shape 195"/>
          <p:cNvSpPr/>
          <p:nvPr/>
        </p:nvSpPr>
        <p:spPr>
          <a:xfrm>
            <a:off x="3095244" y="3950208"/>
            <a:ext cx="516636" cy="246888"/>
          </a:xfrm>
          <a:prstGeom prst="rect">
            <a:avLst/>
          </a:prstGeom>
          <a:solidFill>
            <a:srgbClr val="F1F5F9"/>
          </a:solidFill>
          <a:ln w="3810">
            <a:solidFill>
              <a:srgbClr val="E2E8F0"/>
            </a:solidFill>
            <a:prstDash val="solid"/>
          </a:ln>
        </p:spPr>
      </p:sp>
      <p:sp>
        <p:nvSpPr>
          <p:cNvPr id="198" name="Shape 196"/>
          <p:cNvSpPr/>
          <p:nvPr/>
        </p:nvSpPr>
        <p:spPr>
          <a:xfrm>
            <a:off x="3630168" y="3950208"/>
            <a:ext cx="516636" cy="246888"/>
          </a:xfrm>
          <a:prstGeom prst="rect">
            <a:avLst/>
          </a:prstGeom>
          <a:solidFill>
            <a:srgbClr val="F1F5F9"/>
          </a:solidFill>
          <a:ln w="3810">
            <a:solidFill>
              <a:srgbClr val="E2E8F0"/>
            </a:solidFill>
            <a:prstDash val="solid"/>
          </a:ln>
        </p:spPr>
      </p:sp>
      <p:sp>
        <p:nvSpPr>
          <p:cNvPr id="199" name="Shape 197"/>
          <p:cNvSpPr/>
          <p:nvPr/>
        </p:nvSpPr>
        <p:spPr>
          <a:xfrm>
            <a:off x="4165092" y="3950208"/>
            <a:ext cx="516636" cy="246888"/>
          </a:xfrm>
          <a:prstGeom prst="rect">
            <a:avLst/>
          </a:prstGeom>
          <a:solidFill>
            <a:srgbClr val="F1F5F9"/>
          </a:solidFill>
          <a:ln w="3810">
            <a:solidFill>
              <a:srgbClr val="E2E8F0"/>
            </a:solidFill>
            <a:prstDash val="solid"/>
          </a:ln>
        </p:spPr>
      </p:sp>
      <p:sp>
        <p:nvSpPr>
          <p:cNvPr id="200" name="Shape 198"/>
          <p:cNvSpPr/>
          <p:nvPr/>
        </p:nvSpPr>
        <p:spPr>
          <a:xfrm>
            <a:off x="4700016" y="3950208"/>
            <a:ext cx="516636" cy="246888"/>
          </a:xfrm>
          <a:prstGeom prst="rect">
            <a:avLst/>
          </a:prstGeom>
          <a:solidFill>
            <a:srgbClr val="F1F5F9"/>
          </a:solidFill>
          <a:ln w="3810">
            <a:solidFill>
              <a:srgbClr val="E2E8F0"/>
            </a:solidFill>
            <a:prstDash val="solid"/>
          </a:ln>
        </p:spPr>
      </p:sp>
      <p:sp>
        <p:nvSpPr>
          <p:cNvPr id="201" name="Shape 199"/>
          <p:cNvSpPr/>
          <p:nvPr/>
        </p:nvSpPr>
        <p:spPr>
          <a:xfrm>
            <a:off x="5234940" y="3950208"/>
            <a:ext cx="516636" cy="246888"/>
          </a:xfrm>
          <a:prstGeom prst="rect">
            <a:avLst/>
          </a:prstGeom>
          <a:solidFill>
            <a:srgbClr val="F1F5F9"/>
          </a:solidFill>
          <a:ln w="3810">
            <a:solidFill>
              <a:srgbClr val="E2E8F0"/>
            </a:solidFill>
            <a:prstDash val="solid"/>
          </a:ln>
        </p:spPr>
      </p:sp>
      <p:sp>
        <p:nvSpPr>
          <p:cNvPr id="202" name="Shape 200"/>
          <p:cNvSpPr/>
          <p:nvPr/>
        </p:nvSpPr>
        <p:spPr>
          <a:xfrm>
            <a:off x="5769864" y="3950208"/>
            <a:ext cx="516636" cy="246888"/>
          </a:xfrm>
          <a:prstGeom prst="rect">
            <a:avLst/>
          </a:prstGeom>
          <a:solidFill>
            <a:srgbClr val="F1F5F9"/>
          </a:solidFill>
          <a:ln w="3810">
            <a:solidFill>
              <a:srgbClr val="E2E8F0"/>
            </a:solidFill>
            <a:prstDash val="solid"/>
          </a:ln>
        </p:spPr>
      </p:sp>
      <p:sp>
        <p:nvSpPr>
          <p:cNvPr id="203" name="Shape 201"/>
          <p:cNvSpPr/>
          <p:nvPr/>
        </p:nvSpPr>
        <p:spPr>
          <a:xfrm>
            <a:off x="6304788" y="3950208"/>
            <a:ext cx="516636" cy="246888"/>
          </a:xfrm>
          <a:prstGeom prst="rect">
            <a:avLst/>
          </a:prstGeom>
          <a:solidFill>
            <a:srgbClr val="F1F5F9"/>
          </a:solidFill>
          <a:ln w="3810">
            <a:solidFill>
              <a:srgbClr val="E2E8F0"/>
            </a:solidFill>
            <a:prstDash val="solid"/>
          </a:ln>
        </p:spPr>
      </p:sp>
      <p:sp>
        <p:nvSpPr>
          <p:cNvPr id="204" name="Shape 202"/>
          <p:cNvSpPr/>
          <p:nvPr/>
        </p:nvSpPr>
        <p:spPr>
          <a:xfrm>
            <a:off x="6839712" y="3950208"/>
            <a:ext cx="516636" cy="246888"/>
          </a:xfrm>
          <a:prstGeom prst="rect">
            <a:avLst/>
          </a:prstGeom>
          <a:solidFill>
            <a:srgbClr val="7C3AED"/>
          </a:solidFill>
          <a:ln w="3810">
            <a:solidFill>
              <a:srgbClr val="E2E8F0"/>
            </a:solidFill>
            <a:prstDash val="solid"/>
          </a:ln>
        </p:spPr>
      </p:sp>
      <p:sp>
        <p:nvSpPr>
          <p:cNvPr id="205" name="Text 203"/>
          <p:cNvSpPr/>
          <p:nvPr/>
        </p:nvSpPr>
        <p:spPr>
          <a:xfrm>
            <a:off x="6839712" y="4014216"/>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9–10</a:t>
            </a:r>
            <a:endParaRPr lang="en-US" sz="500" dirty="0"/>
          </a:p>
        </p:txBody>
      </p:sp>
      <p:sp>
        <p:nvSpPr>
          <p:cNvPr id="206" name="Shape 204"/>
          <p:cNvSpPr/>
          <p:nvPr/>
        </p:nvSpPr>
        <p:spPr>
          <a:xfrm>
            <a:off x="7374636" y="3950208"/>
            <a:ext cx="516636" cy="246888"/>
          </a:xfrm>
          <a:prstGeom prst="rect">
            <a:avLst/>
          </a:prstGeom>
          <a:solidFill>
            <a:srgbClr val="7C3AED"/>
          </a:solidFill>
          <a:ln w="3810">
            <a:solidFill>
              <a:srgbClr val="E2E8F0"/>
            </a:solidFill>
            <a:prstDash val="solid"/>
          </a:ln>
        </p:spPr>
      </p:sp>
      <p:sp>
        <p:nvSpPr>
          <p:cNvPr id="207" name="Text 205"/>
          <p:cNvSpPr/>
          <p:nvPr/>
        </p:nvSpPr>
        <p:spPr>
          <a:xfrm>
            <a:off x="7374636" y="4014216"/>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9–10</a:t>
            </a:r>
            <a:endParaRPr lang="en-US" sz="500" dirty="0"/>
          </a:p>
        </p:txBody>
      </p:sp>
      <p:sp>
        <p:nvSpPr>
          <p:cNvPr id="208" name="Shape 206"/>
          <p:cNvSpPr/>
          <p:nvPr/>
        </p:nvSpPr>
        <p:spPr>
          <a:xfrm>
            <a:off x="7909560" y="3950208"/>
            <a:ext cx="516636" cy="246888"/>
          </a:xfrm>
          <a:prstGeom prst="rect">
            <a:avLst/>
          </a:prstGeom>
          <a:solidFill>
            <a:srgbClr val="1F2937"/>
          </a:solidFill>
          <a:ln w="3810">
            <a:solidFill>
              <a:srgbClr val="E2E8F0"/>
            </a:solidFill>
            <a:prstDash val="solid"/>
          </a:ln>
        </p:spPr>
      </p:sp>
      <p:sp>
        <p:nvSpPr>
          <p:cNvPr id="209" name="Shape 207"/>
          <p:cNvSpPr/>
          <p:nvPr/>
        </p:nvSpPr>
        <p:spPr>
          <a:xfrm>
            <a:off x="8444484" y="3950208"/>
            <a:ext cx="516636" cy="246888"/>
          </a:xfrm>
          <a:prstGeom prst="rect">
            <a:avLst/>
          </a:prstGeom>
          <a:solidFill>
            <a:srgbClr val="1F2937"/>
          </a:solidFill>
          <a:ln w="3810">
            <a:solidFill>
              <a:srgbClr val="E2E8F0"/>
            </a:solidFill>
            <a:prstDash val="solid"/>
          </a:ln>
        </p:spPr>
      </p:sp>
      <p:sp>
        <p:nvSpPr>
          <p:cNvPr id="210" name="Shape 208"/>
          <p:cNvSpPr/>
          <p:nvPr/>
        </p:nvSpPr>
        <p:spPr>
          <a:xfrm>
            <a:off x="457200" y="4206240"/>
            <a:ext cx="2066544" cy="246888"/>
          </a:xfrm>
          <a:prstGeom prst="rect">
            <a:avLst/>
          </a:prstGeom>
          <a:solidFill>
            <a:srgbClr val="F8F9FC"/>
          </a:solidFill>
          <a:ln w="6350">
            <a:solidFill>
              <a:srgbClr val="E2E8F0"/>
            </a:solidFill>
            <a:prstDash val="solid"/>
          </a:ln>
        </p:spPr>
      </p:sp>
      <p:sp>
        <p:nvSpPr>
          <p:cNvPr id="211" name="Text 209"/>
          <p:cNvSpPr/>
          <p:nvPr/>
        </p:nvSpPr>
        <p:spPr>
          <a:xfrm>
            <a:off x="512064" y="4242816"/>
            <a:ext cx="1956816" cy="182880"/>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xUnit + Playwright + Appium</a:t>
            </a:r>
            <a:endParaRPr lang="en-US" sz="700" dirty="0"/>
          </a:p>
        </p:txBody>
      </p:sp>
      <p:sp>
        <p:nvSpPr>
          <p:cNvPr id="212" name="Shape 210"/>
          <p:cNvSpPr/>
          <p:nvPr/>
        </p:nvSpPr>
        <p:spPr>
          <a:xfrm>
            <a:off x="2560320" y="4206240"/>
            <a:ext cx="516636" cy="246888"/>
          </a:xfrm>
          <a:prstGeom prst="rect">
            <a:avLst/>
          </a:prstGeom>
          <a:solidFill>
            <a:srgbClr val="FFFFFF"/>
          </a:solidFill>
          <a:ln w="3810">
            <a:solidFill>
              <a:srgbClr val="E2E8F0"/>
            </a:solidFill>
            <a:prstDash val="solid"/>
          </a:ln>
        </p:spPr>
      </p:sp>
      <p:sp>
        <p:nvSpPr>
          <p:cNvPr id="213" name="Shape 211"/>
          <p:cNvSpPr/>
          <p:nvPr/>
        </p:nvSpPr>
        <p:spPr>
          <a:xfrm>
            <a:off x="3095244" y="4206240"/>
            <a:ext cx="516636" cy="246888"/>
          </a:xfrm>
          <a:prstGeom prst="rect">
            <a:avLst/>
          </a:prstGeom>
          <a:solidFill>
            <a:srgbClr val="FFFFFF"/>
          </a:solidFill>
          <a:ln w="3810">
            <a:solidFill>
              <a:srgbClr val="E2E8F0"/>
            </a:solidFill>
            <a:prstDash val="solid"/>
          </a:ln>
        </p:spPr>
      </p:sp>
      <p:sp>
        <p:nvSpPr>
          <p:cNvPr id="214" name="Shape 212"/>
          <p:cNvSpPr/>
          <p:nvPr/>
        </p:nvSpPr>
        <p:spPr>
          <a:xfrm>
            <a:off x="3630168" y="4206240"/>
            <a:ext cx="516636" cy="246888"/>
          </a:xfrm>
          <a:prstGeom prst="rect">
            <a:avLst/>
          </a:prstGeom>
          <a:solidFill>
            <a:srgbClr val="FFFFFF"/>
          </a:solidFill>
          <a:ln w="3810">
            <a:solidFill>
              <a:srgbClr val="E2E8F0"/>
            </a:solidFill>
            <a:prstDash val="solid"/>
          </a:ln>
        </p:spPr>
      </p:sp>
      <p:sp>
        <p:nvSpPr>
          <p:cNvPr id="215" name="Shape 213"/>
          <p:cNvSpPr/>
          <p:nvPr/>
        </p:nvSpPr>
        <p:spPr>
          <a:xfrm>
            <a:off x="4165092" y="4206240"/>
            <a:ext cx="516636" cy="246888"/>
          </a:xfrm>
          <a:prstGeom prst="rect">
            <a:avLst/>
          </a:prstGeom>
          <a:solidFill>
            <a:srgbClr val="FFFFFF"/>
          </a:solidFill>
          <a:ln w="3810">
            <a:solidFill>
              <a:srgbClr val="E2E8F0"/>
            </a:solidFill>
            <a:prstDash val="solid"/>
          </a:ln>
        </p:spPr>
      </p:sp>
      <p:sp>
        <p:nvSpPr>
          <p:cNvPr id="216" name="Shape 214"/>
          <p:cNvSpPr/>
          <p:nvPr/>
        </p:nvSpPr>
        <p:spPr>
          <a:xfrm>
            <a:off x="4700016" y="4206240"/>
            <a:ext cx="516636" cy="246888"/>
          </a:xfrm>
          <a:prstGeom prst="rect">
            <a:avLst/>
          </a:prstGeom>
          <a:solidFill>
            <a:srgbClr val="FFFFFF"/>
          </a:solidFill>
          <a:ln w="3810">
            <a:solidFill>
              <a:srgbClr val="E2E8F0"/>
            </a:solidFill>
            <a:prstDash val="solid"/>
          </a:ln>
        </p:spPr>
      </p:sp>
      <p:sp>
        <p:nvSpPr>
          <p:cNvPr id="217" name="Shape 215"/>
          <p:cNvSpPr/>
          <p:nvPr/>
        </p:nvSpPr>
        <p:spPr>
          <a:xfrm>
            <a:off x="5234940" y="4206240"/>
            <a:ext cx="516636" cy="246888"/>
          </a:xfrm>
          <a:prstGeom prst="rect">
            <a:avLst/>
          </a:prstGeom>
          <a:solidFill>
            <a:srgbClr val="FFFFFF"/>
          </a:solidFill>
          <a:ln w="3810">
            <a:solidFill>
              <a:srgbClr val="E2E8F0"/>
            </a:solidFill>
            <a:prstDash val="solid"/>
          </a:ln>
        </p:spPr>
      </p:sp>
      <p:sp>
        <p:nvSpPr>
          <p:cNvPr id="218" name="Shape 216"/>
          <p:cNvSpPr/>
          <p:nvPr/>
        </p:nvSpPr>
        <p:spPr>
          <a:xfrm>
            <a:off x="5769864" y="4206240"/>
            <a:ext cx="516636" cy="246888"/>
          </a:xfrm>
          <a:prstGeom prst="rect">
            <a:avLst/>
          </a:prstGeom>
          <a:solidFill>
            <a:srgbClr val="FFFFFF"/>
          </a:solidFill>
          <a:ln w="3810">
            <a:solidFill>
              <a:srgbClr val="E2E8F0"/>
            </a:solidFill>
            <a:prstDash val="solid"/>
          </a:ln>
        </p:spPr>
      </p:sp>
      <p:sp>
        <p:nvSpPr>
          <p:cNvPr id="219" name="Shape 217"/>
          <p:cNvSpPr/>
          <p:nvPr/>
        </p:nvSpPr>
        <p:spPr>
          <a:xfrm>
            <a:off x="6304788" y="4206240"/>
            <a:ext cx="516636" cy="246888"/>
          </a:xfrm>
          <a:prstGeom prst="rect">
            <a:avLst/>
          </a:prstGeom>
          <a:solidFill>
            <a:srgbClr val="FFFFFF"/>
          </a:solidFill>
          <a:ln w="3810">
            <a:solidFill>
              <a:srgbClr val="E2E8F0"/>
            </a:solidFill>
            <a:prstDash val="solid"/>
          </a:ln>
        </p:spPr>
      </p:sp>
      <p:sp>
        <p:nvSpPr>
          <p:cNvPr id="220" name="Shape 218"/>
          <p:cNvSpPr/>
          <p:nvPr/>
        </p:nvSpPr>
        <p:spPr>
          <a:xfrm>
            <a:off x="6839712" y="4206240"/>
            <a:ext cx="516636" cy="246888"/>
          </a:xfrm>
          <a:prstGeom prst="rect">
            <a:avLst/>
          </a:prstGeom>
          <a:solidFill>
            <a:srgbClr val="8B5CF6"/>
          </a:solidFill>
          <a:ln w="3810">
            <a:solidFill>
              <a:srgbClr val="E2E8F0"/>
            </a:solidFill>
            <a:prstDash val="solid"/>
          </a:ln>
        </p:spPr>
      </p:sp>
      <p:sp>
        <p:nvSpPr>
          <p:cNvPr id="221" name="Text 219"/>
          <p:cNvSpPr/>
          <p:nvPr/>
        </p:nvSpPr>
        <p:spPr>
          <a:xfrm>
            <a:off x="6839712" y="4270248"/>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Wk 9</a:t>
            </a:r>
            <a:endParaRPr lang="en-US" sz="500" dirty="0"/>
          </a:p>
        </p:txBody>
      </p:sp>
      <p:sp>
        <p:nvSpPr>
          <p:cNvPr id="222" name="Shape 220"/>
          <p:cNvSpPr/>
          <p:nvPr/>
        </p:nvSpPr>
        <p:spPr>
          <a:xfrm>
            <a:off x="7374636" y="4206240"/>
            <a:ext cx="516636" cy="246888"/>
          </a:xfrm>
          <a:prstGeom prst="rect">
            <a:avLst/>
          </a:prstGeom>
          <a:solidFill>
            <a:srgbClr val="FFFFFF"/>
          </a:solidFill>
          <a:ln w="3810">
            <a:solidFill>
              <a:srgbClr val="E2E8F0"/>
            </a:solidFill>
            <a:prstDash val="solid"/>
          </a:ln>
        </p:spPr>
      </p:sp>
      <p:sp>
        <p:nvSpPr>
          <p:cNvPr id="223" name="Shape 221"/>
          <p:cNvSpPr/>
          <p:nvPr/>
        </p:nvSpPr>
        <p:spPr>
          <a:xfrm>
            <a:off x="7909560" y="4206240"/>
            <a:ext cx="516636" cy="246888"/>
          </a:xfrm>
          <a:prstGeom prst="rect">
            <a:avLst/>
          </a:prstGeom>
          <a:solidFill>
            <a:srgbClr val="1F2937"/>
          </a:solidFill>
          <a:ln w="3810">
            <a:solidFill>
              <a:srgbClr val="E2E8F0"/>
            </a:solidFill>
            <a:prstDash val="solid"/>
          </a:ln>
        </p:spPr>
      </p:sp>
      <p:sp>
        <p:nvSpPr>
          <p:cNvPr id="224" name="Shape 222"/>
          <p:cNvSpPr/>
          <p:nvPr/>
        </p:nvSpPr>
        <p:spPr>
          <a:xfrm>
            <a:off x="8444484" y="4206240"/>
            <a:ext cx="516636" cy="246888"/>
          </a:xfrm>
          <a:prstGeom prst="rect">
            <a:avLst/>
          </a:prstGeom>
          <a:solidFill>
            <a:srgbClr val="1F2937"/>
          </a:solidFill>
          <a:ln w="3810">
            <a:solidFill>
              <a:srgbClr val="E2E8F0"/>
            </a:solidFill>
            <a:prstDash val="solid"/>
          </a:ln>
        </p:spPr>
      </p:sp>
      <p:sp>
        <p:nvSpPr>
          <p:cNvPr id="225" name="Shape 223"/>
          <p:cNvSpPr/>
          <p:nvPr/>
        </p:nvSpPr>
        <p:spPr>
          <a:xfrm>
            <a:off x="457200" y="4462272"/>
            <a:ext cx="2066544" cy="246888"/>
          </a:xfrm>
          <a:prstGeom prst="rect">
            <a:avLst/>
          </a:prstGeom>
          <a:solidFill>
            <a:srgbClr val="FFFFFF"/>
          </a:solidFill>
          <a:ln w="6350">
            <a:solidFill>
              <a:srgbClr val="E2E8F0"/>
            </a:solidFill>
            <a:prstDash val="solid"/>
          </a:ln>
        </p:spPr>
      </p:sp>
      <p:sp>
        <p:nvSpPr>
          <p:cNvPr id="226" name="Text 224"/>
          <p:cNvSpPr/>
          <p:nvPr/>
        </p:nvSpPr>
        <p:spPr>
          <a:xfrm>
            <a:off x="512064" y="4498848"/>
            <a:ext cx="1956816" cy="182880"/>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UAT + App Store Submit</a:t>
            </a:r>
            <a:endParaRPr lang="en-US" sz="700" dirty="0"/>
          </a:p>
        </p:txBody>
      </p:sp>
      <p:sp>
        <p:nvSpPr>
          <p:cNvPr id="227" name="Shape 225"/>
          <p:cNvSpPr/>
          <p:nvPr/>
        </p:nvSpPr>
        <p:spPr>
          <a:xfrm>
            <a:off x="2560320" y="4462272"/>
            <a:ext cx="516636" cy="246888"/>
          </a:xfrm>
          <a:prstGeom prst="rect">
            <a:avLst/>
          </a:prstGeom>
          <a:solidFill>
            <a:srgbClr val="F1F5F9"/>
          </a:solidFill>
          <a:ln w="3810">
            <a:solidFill>
              <a:srgbClr val="E2E8F0"/>
            </a:solidFill>
            <a:prstDash val="solid"/>
          </a:ln>
        </p:spPr>
      </p:sp>
      <p:sp>
        <p:nvSpPr>
          <p:cNvPr id="228" name="Shape 226"/>
          <p:cNvSpPr/>
          <p:nvPr/>
        </p:nvSpPr>
        <p:spPr>
          <a:xfrm>
            <a:off x="3095244" y="4462272"/>
            <a:ext cx="516636" cy="246888"/>
          </a:xfrm>
          <a:prstGeom prst="rect">
            <a:avLst/>
          </a:prstGeom>
          <a:solidFill>
            <a:srgbClr val="F1F5F9"/>
          </a:solidFill>
          <a:ln w="3810">
            <a:solidFill>
              <a:srgbClr val="E2E8F0"/>
            </a:solidFill>
            <a:prstDash val="solid"/>
          </a:ln>
        </p:spPr>
      </p:sp>
      <p:sp>
        <p:nvSpPr>
          <p:cNvPr id="229" name="Shape 227"/>
          <p:cNvSpPr/>
          <p:nvPr/>
        </p:nvSpPr>
        <p:spPr>
          <a:xfrm>
            <a:off x="3630168" y="4462272"/>
            <a:ext cx="516636" cy="246888"/>
          </a:xfrm>
          <a:prstGeom prst="rect">
            <a:avLst/>
          </a:prstGeom>
          <a:solidFill>
            <a:srgbClr val="F1F5F9"/>
          </a:solidFill>
          <a:ln w="3810">
            <a:solidFill>
              <a:srgbClr val="E2E8F0"/>
            </a:solidFill>
            <a:prstDash val="solid"/>
          </a:ln>
        </p:spPr>
      </p:sp>
      <p:sp>
        <p:nvSpPr>
          <p:cNvPr id="230" name="Shape 228"/>
          <p:cNvSpPr/>
          <p:nvPr/>
        </p:nvSpPr>
        <p:spPr>
          <a:xfrm>
            <a:off x="4165092" y="4462272"/>
            <a:ext cx="516636" cy="246888"/>
          </a:xfrm>
          <a:prstGeom prst="rect">
            <a:avLst/>
          </a:prstGeom>
          <a:solidFill>
            <a:srgbClr val="F1F5F9"/>
          </a:solidFill>
          <a:ln w="3810">
            <a:solidFill>
              <a:srgbClr val="E2E8F0"/>
            </a:solidFill>
            <a:prstDash val="solid"/>
          </a:ln>
        </p:spPr>
      </p:sp>
      <p:sp>
        <p:nvSpPr>
          <p:cNvPr id="231" name="Shape 229"/>
          <p:cNvSpPr/>
          <p:nvPr/>
        </p:nvSpPr>
        <p:spPr>
          <a:xfrm>
            <a:off x="4700016" y="4462272"/>
            <a:ext cx="516636" cy="246888"/>
          </a:xfrm>
          <a:prstGeom prst="rect">
            <a:avLst/>
          </a:prstGeom>
          <a:solidFill>
            <a:srgbClr val="F1F5F9"/>
          </a:solidFill>
          <a:ln w="3810">
            <a:solidFill>
              <a:srgbClr val="E2E8F0"/>
            </a:solidFill>
            <a:prstDash val="solid"/>
          </a:ln>
        </p:spPr>
      </p:sp>
      <p:sp>
        <p:nvSpPr>
          <p:cNvPr id="232" name="Shape 230"/>
          <p:cNvSpPr/>
          <p:nvPr/>
        </p:nvSpPr>
        <p:spPr>
          <a:xfrm>
            <a:off x="5234940" y="4462272"/>
            <a:ext cx="516636" cy="246888"/>
          </a:xfrm>
          <a:prstGeom prst="rect">
            <a:avLst/>
          </a:prstGeom>
          <a:solidFill>
            <a:srgbClr val="F1F5F9"/>
          </a:solidFill>
          <a:ln w="3810">
            <a:solidFill>
              <a:srgbClr val="E2E8F0"/>
            </a:solidFill>
            <a:prstDash val="solid"/>
          </a:ln>
        </p:spPr>
      </p:sp>
      <p:sp>
        <p:nvSpPr>
          <p:cNvPr id="233" name="Shape 231"/>
          <p:cNvSpPr/>
          <p:nvPr/>
        </p:nvSpPr>
        <p:spPr>
          <a:xfrm>
            <a:off x="5769864" y="4462272"/>
            <a:ext cx="516636" cy="246888"/>
          </a:xfrm>
          <a:prstGeom prst="rect">
            <a:avLst/>
          </a:prstGeom>
          <a:solidFill>
            <a:srgbClr val="F1F5F9"/>
          </a:solidFill>
          <a:ln w="3810">
            <a:solidFill>
              <a:srgbClr val="E2E8F0"/>
            </a:solidFill>
            <a:prstDash val="solid"/>
          </a:ln>
        </p:spPr>
      </p:sp>
      <p:sp>
        <p:nvSpPr>
          <p:cNvPr id="234" name="Shape 232"/>
          <p:cNvSpPr/>
          <p:nvPr/>
        </p:nvSpPr>
        <p:spPr>
          <a:xfrm>
            <a:off x="6304788" y="4462272"/>
            <a:ext cx="516636" cy="246888"/>
          </a:xfrm>
          <a:prstGeom prst="rect">
            <a:avLst/>
          </a:prstGeom>
          <a:solidFill>
            <a:srgbClr val="F1F5F9"/>
          </a:solidFill>
          <a:ln w="3810">
            <a:solidFill>
              <a:srgbClr val="E2E8F0"/>
            </a:solidFill>
            <a:prstDash val="solid"/>
          </a:ln>
        </p:spPr>
      </p:sp>
      <p:sp>
        <p:nvSpPr>
          <p:cNvPr id="235" name="Shape 233"/>
          <p:cNvSpPr/>
          <p:nvPr/>
        </p:nvSpPr>
        <p:spPr>
          <a:xfrm>
            <a:off x="6839712" y="4462272"/>
            <a:ext cx="516636" cy="246888"/>
          </a:xfrm>
          <a:prstGeom prst="rect">
            <a:avLst/>
          </a:prstGeom>
          <a:solidFill>
            <a:srgbClr val="F1F5F9"/>
          </a:solidFill>
          <a:ln w="3810">
            <a:solidFill>
              <a:srgbClr val="E2E8F0"/>
            </a:solidFill>
            <a:prstDash val="solid"/>
          </a:ln>
        </p:spPr>
      </p:sp>
      <p:sp>
        <p:nvSpPr>
          <p:cNvPr id="236" name="Shape 234"/>
          <p:cNvSpPr/>
          <p:nvPr/>
        </p:nvSpPr>
        <p:spPr>
          <a:xfrm>
            <a:off x="7374636" y="4462272"/>
            <a:ext cx="516636" cy="246888"/>
          </a:xfrm>
          <a:prstGeom prst="rect">
            <a:avLst/>
          </a:prstGeom>
          <a:solidFill>
            <a:srgbClr val="8B5CF6"/>
          </a:solidFill>
          <a:ln w="3810">
            <a:solidFill>
              <a:srgbClr val="E2E8F0"/>
            </a:solidFill>
            <a:prstDash val="solid"/>
          </a:ln>
        </p:spPr>
      </p:sp>
      <p:sp>
        <p:nvSpPr>
          <p:cNvPr id="237" name="Text 235"/>
          <p:cNvSpPr/>
          <p:nvPr/>
        </p:nvSpPr>
        <p:spPr>
          <a:xfrm>
            <a:off x="7374636" y="4526280"/>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Wk 10</a:t>
            </a:r>
            <a:endParaRPr lang="en-US" sz="500" dirty="0"/>
          </a:p>
        </p:txBody>
      </p:sp>
      <p:sp>
        <p:nvSpPr>
          <p:cNvPr id="238" name="Shape 236"/>
          <p:cNvSpPr/>
          <p:nvPr/>
        </p:nvSpPr>
        <p:spPr>
          <a:xfrm>
            <a:off x="7909560" y="4462272"/>
            <a:ext cx="516636" cy="246888"/>
          </a:xfrm>
          <a:prstGeom prst="rect">
            <a:avLst/>
          </a:prstGeom>
          <a:solidFill>
            <a:srgbClr val="1F2937"/>
          </a:solidFill>
          <a:ln w="3810">
            <a:solidFill>
              <a:srgbClr val="E2E8F0"/>
            </a:solidFill>
            <a:prstDash val="solid"/>
          </a:ln>
        </p:spPr>
      </p:sp>
      <p:sp>
        <p:nvSpPr>
          <p:cNvPr id="239" name="Shape 237"/>
          <p:cNvSpPr/>
          <p:nvPr/>
        </p:nvSpPr>
        <p:spPr>
          <a:xfrm>
            <a:off x="8444484" y="4462272"/>
            <a:ext cx="516636" cy="246888"/>
          </a:xfrm>
          <a:prstGeom prst="rect">
            <a:avLst/>
          </a:prstGeom>
          <a:solidFill>
            <a:srgbClr val="1F2937"/>
          </a:solidFill>
          <a:ln w="3810">
            <a:solidFill>
              <a:srgbClr val="E2E8F0"/>
            </a:solidFill>
            <a:prstDash val="solid"/>
          </a:ln>
        </p:spPr>
      </p:sp>
      <p:sp>
        <p:nvSpPr>
          <p:cNvPr id="240" name="Shape 238"/>
          <p:cNvSpPr/>
          <p:nvPr/>
        </p:nvSpPr>
        <p:spPr>
          <a:xfrm>
            <a:off x="457200" y="4718304"/>
            <a:ext cx="2066544" cy="246888"/>
          </a:xfrm>
          <a:prstGeom prst="rect">
            <a:avLst/>
          </a:prstGeom>
          <a:solidFill>
            <a:srgbClr val="1B2F6E"/>
          </a:solidFill>
          <a:ln w="6350">
            <a:solidFill>
              <a:srgbClr val="E2E8F0"/>
            </a:solidFill>
            <a:prstDash val="solid"/>
          </a:ln>
        </p:spPr>
      </p:sp>
      <p:sp>
        <p:nvSpPr>
          <p:cNvPr id="241" name="Text 239"/>
          <p:cNvSpPr/>
          <p:nvPr/>
        </p:nvSpPr>
        <p:spPr>
          <a:xfrm>
            <a:off x="512064" y="4754880"/>
            <a:ext cx="1956816" cy="182880"/>
          </a:xfrm>
          <a:prstGeom prst="rect">
            <a:avLst/>
          </a:prstGeom>
          <a:noFill/>
          <a:ln/>
        </p:spPr>
        <p:txBody>
          <a:bodyPr wrap="square"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Hypercare (Free — 30 Days)</a:t>
            </a:r>
            <a:endParaRPr lang="en-US" sz="800" dirty="0"/>
          </a:p>
        </p:txBody>
      </p:sp>
      <p:sp>
        <p:nvSpPr>
          <p:cNvPr id="242" name="Shape 240"/>
          <p:cNvSpPr/>
          <p:nvPr/>
        </p:nvSpPr>
        <p:spPr>
          <a:xfrm>
            <a:off x="2560320" y="4718304"/>
            <a:ext cx="516636" cy="246888"/>
          </a:xfrm>
          <a:prstGeom prst="rect">
            <a:avLst/>
          </a:prstGeom>
          <a:solidFill>
            <a:srgbClr val="FFFFFF"/>
          </a:solidFill>
          <a:ln w="3810">
            <a:solidFill>
              <a:srgbClr val="E2E8F0"/>
            </a:solidFill>
            <a:prstDash val="solid"/>
          </a:ln>
        </p:spPr>
      </p:sp>
      <p:sp>
        <p:nvSpPr>
          <p:cNvPr id="243" name="Shape 241"/>
          <p:cNvSpPr/>
          <p:nvPr/>
        </p:nvSpPr>
        <p:spPr>
          <a:xfrm>
            <a:off x="3095244" y="4718304"/>
            <a:ext cx="516636" cy="246888"/>
          </a:xfrm>
          <a:prstGeom prst="rect">
            <a:avLst/>
          </a:prstGeom>
          <a:solidFill>
            <a:srgbClr val="FFFFFF"/>
          </a:solidFill>
          <a:ln w="3810">
            <a:solidFill>
              <a:srgbClr val="E2E8F0"/>
            </a:solidFill>
            <a:prstDash val="solid"/>
          </a:ln>
        </p:spPr>
      </p:sp>
      <p:sp>
        <p:nvSpPr>
          <p:cNvPr id="244" name="Shape 242"/>
          <p:cNvSpPr/>
          <p:nvPr/>
        </p:nvSpPr>
        <p:spPr>
          <a:xfrm>
            <a:off x="3630168" y="4718304"/>
            <a:ext cx="516636" cy="246888"/>
          </a:xfrm>
          <a:prstGeom prst="rect">
            <a:avLst/>
          </a:prstGeom>
          <a:solidFill>
            <a:srgbClr val="FFFFFF"/>
          </a:solidFill>
          <a:ln w="3810">
            <a:solidFill>
              <a:srgbClr val="E2E8F0"/>
            </a:solidFill>
            <a:prstDash val="solid"/>
          </a:ln>
        </p:spPr>
      </p:sp>
      <p:sp>
        <p:nvSpPr>
          <p:cNvPr id="245" name="Shape 243"/>
          <p:cNvSpPr/>
          <p:nvPr/>
        </p:nvSpPr>
        <p:spPr>
          <a:xfrm>
            <a:off x="4165092" y="4718304"/>
            <a:ext cx="516636" cy="246888"/>
          </a:xfrm>
          <a:prstGeom prst="rect">
            <a:avLst/>
          </a:prstGeom>
          <a:solidFill>
            <a:srgbClr val="FFFFFF"/>
          </a:solidFill>
          <a:ln w="3810">
            <a:solidFill>
              <a:srgbClr val="E2E8F0"/>
            </a:solidFill>
            <a:prstDash val="solid"/>
          </a:ln>
        </p:spPr>
      </p:sp>
      <p:sp>
        <p:nvSpPr>
          <p:cNvPr id="246" name="Shape 244"/>
          <p:cNvSpPr/>
          <p:nvPr/>
        </p:nvSpPr>
        <p:spPr>
          <a:xfrm>
            <a:off x="4700016" y="4718304"/>
            <a:ext cx="516636" cy="246888"/>
          </a:xfrm>
          <a:prstGeom prst="rect">
            <a:avLst/>
          </a:prstGeom>
          <a:solidFill>
            <a:srgbClr val="FFFFFF"/>
          </a:solidFill>
          <a:ln w="3810">
            <a:solidFill>
              <a:srgbClr val="E2E8F0"/>
            </a:solidFill>
            <a:prstDash val="solid"/>
          </a:ln>
        </p:spPr>
      </p:sp>
      <p:sp>
        <p:nvSpPr>
          <p:cNvPr id="247" name="Shape 245"/>
          <p:cNvSpPr/>
          <p:nvPr/>
        </p:nvSpPr>
        <p:spPr>
          <a:xfrm>
            <a:off x="5234940" y="4718304"/>
            <a:ext cx="516636" cy="246888"/>
          </a:xfrm>
          <a:prstGeom prst="rect">
            <a:avLst/>
          </a:prstGeom>
          <a:solidFill>
            <a:srgbClr val="FFFFFF"/>
          </a:solidFill>
          <a:ln w="3810">
            <a:solidFill>
              <a:srgbClr val="E2E8F0"/>
            </a:solidFill>
            <a:prstDash val="solid"/>
          </a:ln>
        </p:spPr>
      </p:sp>
      <p:sp>
        <p:nvSpPr>
          <p:cNvPr id="248" name="Shape 246"/>
          <p:cNvSpPr/>
          <p:nvPr/>
        </p:nvSpPr>
        <p:spPr>
          <a:xfrm>
            <a:off x="5769864" y="4718304"/>
            <a:ext cx="516636" cy="246888"/>
          </a:xfrm>
          <a:prstGeom prst="rect">
            <a:avLst/>
          </a:prstGeom>
          <a:solidFill>
            <a:srgbClr val="FFFFFF"/>
          </a:solidFill>
          <a:ln w="3810">
            <a:solidFill>
              <a:srgbClr val="E2E8F0"/>
            </a:solidFill>
            <a:prstDash val="solid"/>
          </a:ln>
        </p:spPr>
      </p:sp>
      <p:sp>
        <p:nvSpPr>
          <p:cNvPr id="249" name="Shape 247"/>
          <p:cNvSpPr/>
          <p:nvPr/>
        </p:nvSpPr>
        <p:spPr>
          <a:xfrm>
            <a:off x="6304788" y="4718304"/>
            <a:ext cx="516636" cy="246888"/>
          </a:xfrm>
          <a:prstGeom prst="rect">
            <a:avLst/>
          </a:prstGeom>
          <a:solidFill>
            <a:srgbClr val="FFFFFF"/>
          </a:solidFill>
          <a:ln w="3810">
            <a:solidFill>
              <a:srgbClr val="E2E8F0"/>
            </a:solidFill>
            <a:prstDash val="solid"/>
          </a:ln>
        </p:spPr>
      </p:sp>
      <p:sp>
        <p:nvSpPr>
          <p:cNvPr id="250" name="Shape 248"/>
          <p:cNvSpPr/>
          <p:nvPr/>
        </p:nvSpPr>
        <p:spPr>
          <a:xfrm>
            <a:off x="6839712" y="4718304"/>
            <a:ext cx="516636" cy="246888"/>
          </a:xfrm>
          <a:prstGeom prst="rect">
            <a:avLst/>
          </a:prstGeom>
          <a:solidFill>
            <a:srgbClr val="FFFFFF"/>
          </a:solidFill>
          <a:ln w="3810">
            <a:solidFill>
              <a:srgbClr val="E2E8F0"/>
            </a:solidFill>
            <a:prstDash val="solid"/>
          </a:ln>
        </p:spPr>
      </p:sp>
      <p:sp>
        <p:nvSpPr>
          <p:cNvPr id="251" name="Shape 249"/>
          <p:cNvSpPr/>
          <p:nvPr/>
        </p:nvSpPr>
        <p:spPr>
          <a:xfrm>
            <a:off x="7374636" y="4718304"/>
            <a:ext cx="516636" cy="246888"/>
          </a:xfrm>
          <a:prstGeom prst="rect">
            <a:avLst/>
          </a:prstGeom>
          <a:solidFill>
            <a:srgbClr val="FFFFFF"/>
          </a:solidFill>
          <a:ln w="3810">
            <a:solidFill>
              <a:srgbClr val="E2E8F0"/>
            </a:solidFill>
            <a:prstDash val="solid"/>
          </a:ln>
        </p:spPr>
      </p:sp>
      <p:sp>
        <p:nvSpPr>
          <p:cNvPr id="252" name="Shape 250"/>
          <p:cNvSpPr/>
          <p:nvPr/>
        </p:nvSpPr>
        <p:spPr>
          <a:xfrm>
            <a:off x="7909560" y="4718304"/>
            <a:ext cx="516636" cy="246888"/>
          </a:xfrm>
          <a:prstGeom prst="rect">
            <a:avLst/>
          </a:prstGeom>
          <a:solidFill>
            <a:srgbClr val="DC2626"/>
          </a:solidFill>
          <a:ln w="3810">
            <a:solidFill>
              <a:srgbClr val="E2E8F0"/>
            </a:solidFill>
            <a:prstDash val="solid"/>
          </a:ln>
        </p:spPr>
      </p:sp>
      <p:sp>
        <p:nvSpPr>
          <p:cNvPr id="253" name="Text 251"/>
          <p:cNvSpPr/>
          <p:nvPr/>
        </p:nvSpPr>
        <p:spPr>
          <a:xfrm>
            <a:off x="7909560" y="4782312"/>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HC</a:t>
            </a:r>
            <a:endParaRPr lang="en-US" sz="500" dirty="0"/>
          </a:p>
        </p:txBody>
      </p:sp>
      <p:sp>
        <p:nvSpPr>
          <p:cNvPr id="254" name="Shape 252"/>
          <p:cNvSpPr/>
          <p:nvPr/>
        </p:nvSpPr>
        <p:spPr>
          <a:xfrm>
            <a:off x="8444484" y="4718304"/>
            <a:ext cx="516636" cy="246888"/>
          </a:xfrm>
          <a:prstGeom prst="rect">
            <a:avLst/>
          </a:prstGeom>
          <a:solidFill>
            <a:srgbClr val="DC2626"/>
          </a:solidFill>
          <a:ln w="3810">
            <a:solidFill>
              <a:srgbClr val="E2E8F0"/>
            </a:solidFill>
            <a:prstDash val="solid"/>
          </a:ln>
        </p:spPr>
      </p:sp>
      <p:sp>
        <p:nvSpPr>
          <p:cNvPr id="255" name="Text 253"/>
          <p:cNvSpPr/>
          <p:nvPr/>
        </p:nvSpPr>
        <p:spPr>
          <a:xfrm>
            <a:off x="8444484" y="4782312"/>
            <a:ext cx="516636" cy="128016"/>
          </a:xfrm>
          <a:prstGeom prst="rect">
            <a:avLst/>
          </a:prstGeom>
          <a:noFill/>
          <a:ln/>
        </p:spPr>
        <p:txBody>
          <a:bodyPr wrap="square" rtlCol="0" anchor="ctr"/>
          <a:lstStyle/>
          <a:p>
            <a:pPr algn="ctr" indent="0" marL="0">
              <a:buNone/>
            </a:pPr>
            <a:r>
              <a:rPr lang="en-US" sz="500" dirty="0">
                <a:solidFill>
                  <a:srgbClr val="000000"/>
                </a:solidFill>
                <a:latin typeface="Calibri" pitchFamily="34" charset="0"/>
                <a:ea typeface="Calibri" pitchFamily="34" charset="-122"/>
                <a:cs typeface="Calibri" pitchFamily="34" charset="-120"/>
              </a:rPr>
              <a:t>HC</a:t>
            </a:r>
            <a:endParaRPr lang="en-US" sz="500" dirty="0"/>
          </a:p>
        </p:txBody>
      </p:sp>
      <p:sp>
        <p:nvSpPr>
          <p:cNvPr id="256" name="Shape 254"/>
          <p:cNvSpPr/>
          <p:nvPr/>
        </p:nvSpPr>
        <p:spPr>
          <a:xfrm>
            <a:off x="457200" y="4791456"/>
            <a:ext cx="8458200" cy="201168"/>
          </a:xfrm>
          <a:prstGeom prst="rect">
            <a:avLst/>
          </a:prstGeom>
          <a:solidFill>
            <a:srgbClr val="1B2F6E"/>
          </a:solidFill>
          <a:ln w="12700">
            <a:solidFill>
              <a:srgbClr val="1B2F6E"/>
            </a:solidFill>
            <a:prstDash val="solid"/>
          </a:ln>
        </p:spPr>
      </p:sp>
      <p:sp>
        <p:nvSpPr>
          <p:cNvPr id="257" name="Text 255"/>
          <p:cNvSpPr/>
          <p:nvPr/>
        </p:nvSpPr>
        <p:spPr>
          <a:xfrm>
            <a:off x="548640" y="4796028"/>
            <a:ext cx="8321040" cy="182880"/>
          </a:xfrm>
          <a:prstGeom prst="rect">
            <a:avLst/>
          </a:prstGeom>
          <a:noFill/>
          <a:ln/>
        </p:spPr>
        <p:txBody>
          <a:bodyPr wrap="square" rtlCol="0" anchor="ctr"/>
          <a:lstStyle/>
          <a:p>
            <a:pPr indent="0" marL="0">
              <a:buNone/>
            </a:pPr>
            <a:r>
              <a:rPr lang="en-US" sz="750" dirty="0">
                <a:solidFill>
                  <a:srgbClr val="FFFFFF"/>
                </a:solidFill>
                <a:latin typeface="Calibri" pitchFamily="34" charset="0"/>
                <a:ea typeface="Calibri" pitchFamily="34" charset="-122"/>
                <a:cs typeface="Calibri" pitchFamily="34" charset="-120"/>
              </a:rPr>
              <a:t>🚀  Go-Live: End of Week 10   |   🏁  Framework pre-built modules save 4–6 weeks vs greenfield build   |   HC = Hypercare (30-day free support)</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MILESTONE REGISTER</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Milestone Register — All 20 Milestones</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Shape 3"/>
          <p:cNvSpPr/>
          <p:nvPr/>
        </p:nvSpPr>
        <p:spPr>
          <a:xfrm>
            <a:off x="457200" y="1069848"/>
            <a:ext cx="8458200" cy="274320"/>
          </a:xfrm>
          <a:prstGeom prst="rect">
            <a:avLst/>
          </a:prstGeom>
          <a:solidFill>
            <a:srgbClr val="1B2F6E"/>
          </a:solidFill>
          <a:ln w="12700">
            <a:solidFill>
              <a:srgbClr val="1B2F6E"/>
            </a:solidFill>
            <a:prstDash val="solid"/>
          </a:ln>
        </p:spPr>
      </p:sp>
      <p:sp>
        <p:nvSpPr>
          <p:cNvPr id="6" name="Text 4"/>
          <p:cNvSpPr/>
          <p:nvPr/>
        </p:nvSpPr>
        <p:spPr>
          <a:xfrm>
            <a:off x="502920" y="1097280"/>
            <a:ext cx="1371600" cy="21945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ID</a:t>
            </a:r>
            <a:endParaRPr lang="en-US" sz="850" dirty="0"/>
          </a:p>
        </p:txBody>
      </p:sp>
      <p:sp>
        <p:nvSpPr>
          <p:cNvPr id="7" name="Text 5"/>
          <p:cNvSpPr/>
          <p:nvPr/>
        </p:nvSpPr>
        <p:spPr>
          <a:xfrm>
            <a:off x="914400" y="1097280"/>
            <a:ext cx="1371600" cy="21945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Week</a:t>
            </a:r>
            <a:endParaRPr lang="en-US" sz="850" dirty="0"/>
          </a:p>
        </p:txBody>
      </p:sp>
      <p:sp>
        <p:nvSpPr>
          <p:cNvPr id="8" name="Text 6"/>
          <p:cNvSpPr/>
          <p:nvPr/>
        </p:nvSpPr>
        <p:spPr>
          <a:xfrm>
            <a:off x="1463040" y="1097280"/>
            <a:ext cx="1371600" cy="21945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Milestone</a:t>
            </a:r>
            <a:endParaRPr lang="en-US" sz="850" dirty="0"/>
          </a:p>
        </p:txBody>
      </p:sp>
      <p:sp>
        <p:nvSpPr>
          <p:cNvPr id="9" name="Text 7"/>
          <p:cNvSpPr/>
          <p:nvPr/>
        </p:nvSpPr>
        <p:spPr>
          <a:xfrm>
            <a:off x="7223760" y="1097280"/>
            <a:ext cx="1371600" cy="21945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Gate</a:t>
            </a:r>
            <a:endParaRPr lang="en-US" sz="850" dirty="0"/>
          </a:p>
        </p:txBody>
      </p:sp>
      <p:sp>
        <p:nvSpPr>
          <p:cNvPr id="10" name="Shape 8"/>
          <p:cNvSpPr/>
          <p:nvPr/>
        </p:nvSpPr>
        <p:spPr>
          <a:xfrm>
            <a:off x="457200" y="1362456"/>
            <a:ext cx="8458200" cy="187452"/>
          </a:xfrm>
          <a:prstGeom prst="rect">
            <a:avLst/>
          </a:prstGeom>
          <a:solidFill>
            <a:srgbClr val="FFFFFF"/>
          </a:solidFill>
          <a:ln w="5080">
            <a:solidFill>
              <a:srgbClr val="E2E8F0"/>
            </a:solidFill>
            <a:prstDash val="solid"/>
          </a:ln>
        </p:spPr>
      </p:sp>
      <p:sp>
        <p:nvSpPr>
          <p:cNvPr id="11" name="Shape 9"/>
          <p:cNvSpPr/>
          <p:nvPr/>
        </p:nvSpPr>
        <p:spPr>
          <a:xfrm>
            <a:off x="502920" y="1399032"/>
            <a:ext cx="338328" cy="128016"/>
          </a:xfrm>
          <a:prstGeom prst="roundRect">
            <a:avLst>
              <a:gd name="adj" fmla="val 57143"/>
            </a:avLst>
          </a:prstGeom>
          <a:solidFill>
            <a:srgbClr val="1B2F6E"/>
          </a:solidFill>
          <a:ln w="12700">
            <a:solidFill>
              <a:srgbClr val="1B2F6E"/>
            </a:solidFill>
            <a:prstDash val="solid"/>
          </a:ln>
        </p:spPr>
      </p:sp>
      <p:sp>
        <p:nvSpPr>
          <p:cNvPr id="12" name="Text 10"/>
          <p:cNvSpPr/>
          <p:nvPr/>
        </p:nvSpPr>
        <p:spPr>
          <a:xfrm>
            <a:off x="502920" y="1399032"/>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M01</a:t>
            </a:r>
            <a:endParaRPr lang="en-US" sz="800" dirty="0"/>
          </a:p>
        </p:txBody>
      </p:sp>
      <p:sp>
        <p:nvSpPr>
          <p:cNvPr id="13" name="Text 11"/>
          <p:cNvSpPr/>
          <p:nvPr/>
        </p:nvSpPr>
        <p:spPr>
          <a:xfrm>
            <a:off x="914400" y="1389888"/>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1</a:t>
            </a:r>
            <a:endParaRPr lang="en-US" sz="750" dirty="0"/>
          </a:p>
        </p:txBody>
      </p:sp>
      <p:sp>
        <p:nvSpPr>
          <p:cNvPr id="14" name="Text 12"/>
          <p:cNvSpPr/>
          <p:nvPr/>
        </p:nvSpPr>
        <p:spPr>
          <a:xfrm>
            <a:off x="1463040" y="1389888"/>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Kickoff &amp; Stakeholder Workshop Complete</a:t>
            </a:r>
            <a:endParaRPr lang="en-US" sz="800" dirty="0"/>
          </a:p>
        </p:txBody>
      </p:sp>
      <p:sp>
        <p:nvSpPr>
          <p:cNvPr id="15" name="Shape 13"/>
          <p:cNvSpPr/>
          <p:nvPr/>
        </p:nvSpPr>
        <p:spPr>
          <a:xfrm>
            <a:off x="7223760" y="1399032"/>
            <a:ext cx="1554480" cy="128016"/>
          </a:xfrm>
          <a:prstGeom prst="roundRect">
            <a:avLst>
              <a:gd name="adj" fmla="val 57143"/>
            </a:avLst>
          </a:prstGeom>
          <a:solidFill>
            <a:srgbClr val="1D4ED8"/>
          </a:solidFill>
          <a:ln w="12700">
            <a:solidFill>
              <a:srgbClr val="1D4ED8"/>
            </a:solidFill>
            <a:prstDash val="solid"/>
          </a:ln>
        </p:spPr>
      </p:sp>
      <p:sp>
        <p:nvSpPr>
          <p:cNvPr id="16" name="Text 14"/>
          <p:cNvSpPr/>
          <p:nvPr/>
        </p:nvSpPr>
        <p:spPr>
          <a:xfrm>
            <a:off x="7223760" y="1399032"/>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Sign-off</a:t>
            </a:r>
            <a:endParaRPr lang="en-US" sz="800" dirty="0"/>
          </a:p>
        </p:txBody>
      </p:sp>
      <p:sp>
        <p:nvSpPr>
          <p:cNvPr id="17" name="Shape 15"/>
          <p:cNvSpPr/>
          <p:nvPr/>
        </p:nvSpPr>
        <p:spPr>
          <a:xfrm>
            <a:off x="457200" y="1552651"/>
            <a:ext cx="8458200" cy="187452"/>
          </a:xfrm>
          <a:prstGeom prst="rect">
            <a:avLst/>
          </a:prstGeom>
          <a:solidFill>
            <a:srgbClr val="F8F9FC"/>
          </a:solidFill>
          <a:ln w="5080">
            <a:solidFill>
              <a:srgbClr val="E2E8F0"/>
            </a:solidFill>
            <a:prstDash val="solid"/>
          </a:ln>
        </p:spPr>
      </p:sp>
      <p:sp>
        <p:nvSpPr>
          <p:cNvPr id="18" name="Shape 16"/>
          <p:cNvSpPr/>
          <p:nvPr/>
        </p:nvSpPr>
        <p:spPr>
          <a:xfrm>
            <a:off x="502920" y="1589227"/>
            <a:ext cx="338328" cy="128016"/>
          </a:xfrm>
          <a:prstGeom prst="roundRect">
            <a:avLst>
              <a:gd name="adj" fmla="val 57143"/>
            </a:avLst>
          </a:prstGeom>
          <a:solidFill>
            <a:srgbClr val="1B2F6E"/>
          </a:solidFill>
          <a:ln w="12700">
            <a:solidFill>
              <a:srgbClr val="1B2F6E"/>
            </a:solidFill>
            <a:prstDash val="solid"/>
          </a:ln>
        </p:spPr>
      </p:sp>
      <p:sp>
        <p:nvSpPr>
          <p:cNvPr id="19" name="Text 17"/>
          <p:cNvSpPr/>
          <p:nvPr/>
        </p:nvSpPr>
        <p:spPr>
          <a:xfrm>
            <a:off x="502920" y="1589227"/>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M02</a:t>
            </a:r>
            <a:endParaRPr lang="en-US" sz="800" dirty="0"/>
          </a:p>
        </p:txBody>
      </p:sp>
      <p:sp>
        <p:nvSpPr>
          <p:cNvPr id="20" name="Text 18"/>
          <p:cNvSpPr/>
          <p:nvPr/>
        </p:nvSpPr>
        <p:spPr>
          <a:xfrm>
            <a:off x="914400" y="1580083"/>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1</a:t>
            </a:r>
            <a:endParaRPr lang="en-US" sz="750" dirty="0"/>
          </a:p>
        </p:txBody>
      </p:sp>
      <p:sp>
        <p:nvSpPr>
          <p:cNvPr id="21" name="Text 19"/>
          <p:cNvSpPr/>
          <p:nvPr/>
        </p:nvSpPr>
        <p:spPr>
          <a:xfrm>
            <a:off x="1463040" y="1580083"/>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Development Environment + CI/CD Pipeline Live</a:t>
            </a:r>
            <a:endParaRPr lang="en-US" sz="800" dirty="0"/>
          </a:p>
        </p:txBody>
      </p:sp>
      <p:sp>
        <p:nvSpPr>
          <p:cNvPr id="22" name="Shape 20"/>
          <p:cNvSpPr/>
          <p:nvPr/>
        </p:nvSpPr>
        <p:spPr>
          <a:xfrm>
            <a:off x="7223760" y="1589227"/>
            <a:ext cx="1554480" cy="128016"/>
          </a:xfrm>
          <a:prstGeom prst="roundRect">
            <a:avLst>
              <a:gd name="adj" fmla="val 57143"/>
            </a:avLst>
          </a:prstGeom>
          <a:solidFill>
            <a:srgbClr val="2563EB"/>
          </a:solidFill>
          <a:ln w="12700">
            <a:solidFill>
              <a:srgbClr val="2563EB"/>
            </a:solidFill>
            <a:prstDash val="solid"/>
          </a:ln>
        </p:spPr>
      </p:sp>
      <p:sp>
        <p:nvSpPr>
          <p:cNvPr id="23" name="Text 21"/>
          <p:cNvSpPr/>
          <p:nvPr/>
        </p:nvSpPr>
        <p:spPr>
          <a:xfrm>
            <a:off x="7223760" y="1589227"/>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Team</a:t>
            </a:r>
            <a:endParaRPr lang="en-US" sz="800" dirty="0"/>
          </a:p>
        </p:txBody>
      </p:sp>
      <p:sp>
        <p:nvSpPr>
          <p:cNvPr id="24" name="Shape 22"/>
          <p:cNvSpPr/>
          <p:nvPr/>
        </p:nvSpPr>
        <p:spPr>
          <a:xfrm>
            <a:off x="457200" y="1742846"/>
            <a:ext cx="8458200" cy="187452"/>
          </a:xfrm>
          <a:prstGeom prst="rect">
            <a:avLst/>
          </a:prstGeom>
          <a:solidFill>
            <a:srgbClr val="FFFFFF"/>
          </a:solidFill>
          <a:ln w="5080">
            <a:solidFill>
              <a:srgbClr val="E2E8F0"/>
            </a:solidFill>
            <a:prstDash val="solid"/>
          </a:ln>
        </p:spPr>
      </p:sp>
      <p:sp>
        <p:nvSpPr>
          <p:cNvPr id="25" name="Shape 23"/>
          <p:cNvSpPr/>
          <p:nvPr/>
        </p:nvSpPr>
        <p:spPr>
          <a:xfrm>
            <a:off x="502920" y="1779422"/>
            <a:ext cx="338328" cy="128016"/>
          </a:xfrm>
          <a:prstGeom prst="roundRect">
            <a:avLst>
              <a:gd name="adj" fmla="val 57143"/>
            </a:avLst>
          </a:prstGeom>
          <a:solidFill>
            <a:srgbClr val="1B2F6E"/>
          </a:solidFill>
          <a:ln w="12700">
            <a:solidFill>
              <a:srgbClr val="1B2F6E"/>
            </a:solidFill>
            <a:prstDash val="solid"/>
          </a:ln>
        </p:spPr>
      </p:sp>
      <p:sp>
        <p:nvSpPr>
          <p:cNvPr id="26" name="Text 24"/>
          <p:cNvSpPr/>
          <p:nvPr/>
        </p:nvSpPr>
        <p:spPr>
          <a:xfrm>
            <a:off x="502920" y="1779422"/>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M03</a:t>
            </a:r>
            <a:endParaRPr lang="en-US" sz="800" dirty="0"/>
          </a:p>
        </p:txBody>
      </p:sp>
      <p:sp>
        <p:nvSpPr>
          <p:cNvPr id="27" name="Text 25"/>
          <p:cNvSpPr/>
          <p:nvPr/>
        </p:nvSpPr>
        <p:spPr>
          <a:xfrm>
            <a:off x="914400" y="1770278"/>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2</a:t>
            </a:r>
            <a:endParaRPr lang="en-US" sz="750" dirty="0"/>
          </a:p>
        </p:txBody>
      </p:sp>
      <p:sp>
        <p:nvSpPr>
          <p:cNvPr id="28" name="Text 26"/>
          <p:cNvSpPr/>
          <p:nvPr/>
        </p:nvSpPr>
        <p:spPr>
          <a:xfrm>
            <a:off x="1463040" y="1770278"/>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PostgreSQL Schema + API Contract Approved</a:t>
            </a:r>
            <a:endParaRPr lang="en-US" sz="800" dirty="0"/>
          </a:p>
        </p:txBody>
      </p:sp>
      <p:sp>
        <p:nvSpPr>
          <p:cNvPr id="29" name="Shape 27"/>
          <p:cNvSpPr/>
          <p:nvPr/>
        </p:nvSpPr>
        <p:spPr>
          <a:xfrm>
            <a:off x="7223760" y="1779422"/>
            <a:ext cx="1554480" cy="128016"/>
          </a:xfrm>
          <a:prstGeom prst="roundRect">
            <a:avLst>
              <a:gd name="adj" fmla="val 57143"/>
            </a:avLst>
          </a:prstGeom>
          <a:solidFill>
            <a:srgbClr val="1D4ED8"/>
          </a:solidFill>
          <a:ln w="12700">
            <a:solidFill>
              <a:srgbClr val="1D4ED8"/>
            </a:solidFill>
            <a:prstDash val="solid"/>
          </a:ln>
        </p:spPr>
      </p:sp>
      <p:sp>
        <p:nvSpPr>
          <p:cNvPr id="30" name="Text 28"/>
          <p:cNvSpPr/>
          <p:nvPr/>
        </p:nvSpPr>
        <p:spPr>
          <a:xfrm>
            <a:off x="7223760" y="1779422"/>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Sign-off</a:t>
            </a:r>
            <a:endParaRPr lang="en-US" sz="800" dirty="0"/>
          </a:p>
        </p:txBody>
      </p:sp>
      <p:sp>
        <p:nvSpPr>
          <p:cNvPr id="31" name="Shape 29"/>
          <p:cNvSpPr/>
          <p:nvPr/>
        </p:nvSpPr>
        <p:spPr>
          <a:xfrm>
            <a:off x="457200" y="1933042"/>
            <a:ext cx="8458200" cy="187452"/>
          </a:xfrm>
          <a:prstGeom prst="rect">
            <a:avLst/>
          </a:prstGeom>
          <a:solidFill>
            <a:srgbClr val="F8F9FC"/>
          </a:solidFill>
          <a:ln w="5080">
            <a:solidFill>
              <a:srgbClr val="E2E8F0"/>
            </a:solidFill>
            <a:prstDash val="solid"/>
          </a:ln>
        </p:spPr>
      </p:sp>
      <p:sp>
        <p:nvSpPr>
          <p:cNvPr id="32" name="Shape 30"/>
          <p:cNvSpPr/>
          <p:nvPr/>
        </p:nvSpPr>
        <p:spPr>
          <a:xfrm>
            <a:off x="502920" y="1969618"/>
            <a:ext cx="338328" cy="128016"/>
          </a:xfrm>
          <a:prstGeom prst="roundRect">
            <a:avLst>
              <a:gd name="adj" fmla="val 57143"/>
            </a:avLst>
          </a:prstGeom>
          <a:solidFill>
            <a:srgbClr val="1B2F6E"/>
          </a:solidFill>
          <a:ln w="12700">
            <a:solidFill>
              <a:srgbClr val="1B2F6E"/>
            </a:solidFill>
            <a:prstDash val="solid"/>
          </a:ln>
        </p:spPr>
      </p:sp>
      <p:sp>
        <p:nvSpPr>
          <p:cNvPr id="33" name="Text 31"/>
          <p:cNvSpPr/>
          <p:nvPr/>
        </p:nvSpPr>
        <p:spPr>
          <a:xfrm>
            <a:off x="502920" y="1969618"/>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M04</a:t>
            </a:r>
            <a:endParaRPr lang="en-US" sz="800" dirty="0"/>
          </a:p>
        </p:txBody>
      </p:sp>
      <p:sp>
        <p:nvSpPr>
          <p:cNvPr id="34" name="Text 32"/>
          <p:cNvSpPr/>
          <p:nvPr/>
        </p:nvSpPr>
        <p:spPr>
          <a:xfrm>
            <a:off x="914400" y="1960474"/>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2</a:t>
            </a:r>
            <a:endParaRPr lang="en-US" sz="750" dirty="0"/>
          </a:p>
        </p:txBody>
      </p:sp>
      <p:sp>
        <p:nvSpPr>
          <p:cNvPr id="35" name="Text 33"/>
          <p:cNvSpPr/>
          <p:nvPr/>
        </p:nvSpPr>
        <p:spPr>
          <a:xfrm>
            <a:off x="1463040" y="1960474"/>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Figma High-Fidelity Designs Signed Off</a:t>
            </a:r>
            <a:endParaRPr lang="en-US" sz="800" dirty="0"/>
          </a:p>
        </p:txBody>
      </p:sp>
      <p:sp>
        <p:nvSpPr>
          <p:cNvPr id="36" name="Shape 34"/>
          <p:cNvSpPr/>
          <p:nvPr/>
        </p:nvSpPr>
        <p:spPr>
          <a:xfrm>
            <a:off x="7223760" y="1969618"/>
            <a:ext cx="1554480" cy="128016"/>
          </a:xfrm>
          <a:prstGeom prst="roundRect">
            <a:avLst>
              <a:gd name="adj" fmla="val 57143"/>
            </a:avLst>
          </a:prstGeom>
          <a:solidFill>
            <a:srgbClr val="1D4ED8"/>
          </a:solidFill>
          <a:ln w="12700">
            <a:solidFill>
              <a:srgbClr val="1D4ED8"/>
            </a:solidFill>
            <a:prstDash val="solid"/>
          </a:ln>
        </p:spPr>
      </p:sp>
      <p:sp>
        <p:nvSpPr>
          <p:cNvPr id="37" name="Text 35"/>
          <p:cNvSpPr/>
          <p:nvPr/>
        </p:nvSpPr>
        <p:spPr>
          <a:xfrm>
            <a:off x="7223760" y="1969618"/>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Sign-off</a:t>
            </a:r>
            <a:endParaRPr lang="en-US" sz="800" dirty="0"/>
          </a:p>
        </p:txBody>
      </p:sp>
      <p:sp>
        <p:nvSpPr>
          <p:cNvPr id="38" name="Shape 36"/>
          <p:cNvSpPr/>
          <p:nvPr/>
        </p:nvSpPr>
        <p:spPr>
          <a:xfrm>
            <a:off x="457200" y="2123237"/>
            <a:ext cx="8458200" cy="187452"/>
          </a:xfrm>
          <a:prstGeom prst="rect">
            <a:avLst/>
          </a:prstGeom>
          <a:solidFill>
            <a:srgbClr val="FFFFFF"/>
          </a:solidFill>
          <a:ln w="5080">
            <a:solidFill>
              <a:srgbClr val="E2E8F0"/>
            </a:solidFill>
            <a:prstDash val="solid"/>
          </a:ln>
        </p:spPr>
      </p:sp>
      <p:sp>
        <p:nvSpPr>
          <p:cNvPr id="39" name="Shape 37"/>
          <p:cNvSpPr/>
          <p:nvPr/>
        </p:nvSpPr>
        <p:spPr>
          <a:xfrm>
            <a:off x="502920" y="2159813"/>
            <a:ext cx="338328" cy="128016"/>
          </a:xfrm>
          <a:prstGeom prst="roundRect">
            <a:avLst>
              <a:gd name="adj" fmla="val 57143"/>
            </a:avLst>
          </a:prstGeom>
          <a:solidFill>
            <a:srgbClr val="1B2F6E"/>
          </a:solidFill>
          <a:ln w="12700">
            <a:solidFill>
              <a:srgbClr val="1B2F6E"/>
            </a:solidFill>
            <a:prstDash val="solid"/>
          </a:ln>
        </p:spPr>
      </p:sp>
      <p:sp>
        <p:nvSpPr>
          <p:cNvPr id="40" name="Text 38"/>
          <p:cNvSpPr/>
          <p:nvPr/>
        </p:nvSpPr>
        <p:spPr>
          <a:xfrm>
            <a:off x="502920" y="2159813"/>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M05</a:t>
            </a:r>
            <a:endParaRPr lang="en-US" sz="800" dirty="0"/>
          </a:p>
        </p:txBody>
      </p:sp>
      <p:sp>
        <p:nvSpPr>
          <p:cNvPr id="41" name="Text 39"/>
          <p:cNvSpPr/>
          <p:nvPr/>
        </p:nvSpPr>
        <p:spPr>
          <a:xfrm>
            <a:off x="914400" y="2150669"/>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3</a:t>
            </a:r>
            <a:endParaRPr lang="en-US" sz="750" dirty="0"/>
          </a:p>
        </p:txBody>
      </p:sp>
      <p:sp>
        <p:nvSpPr>
          <p:cNvPr id="42" name="Text 40"/>
          <p:cNvSpPr/>
          <p:nvPr/>
        </p:nvSpPr>
        <p:spPr>
          <a:xfrm>
            <a:off x="1463040" y="2150669"/>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Firebase Auth + Onboarding Flow Complete</a:t>
            </a:r>
            <a:endParaRPr lang="en-US" sz="800" dirty="0"/>
          </a:p>
        </p:txBody>
      </p:sp>
      <p:sp>
        <p:nvSpPr>
          <p:cNvPr id="43" name="Shape 41"/>
          <p:cNvSpPr/>
          <p:nvPr/>
        </p:nvSpPr>
        <p:spPr>
          <a:xfrm>
            <a:off x="7223760" y="2159813"/>
            <a:ext cx="1554480" cy="128016"/>
          </a:xfrm>
          <a:prstGeom prst="roundRect">
            <a:avLst>
              <a:gd name="adj" fmla="val 57143"/>
            </a:avLst>
          </a:prstGeom>
          <a:solidFill>
            <a:srgbClr val="059669"/>
          </a:solidFill>
          <a:ln w="12700">
            <a:solidFill>
              <a:srgbClr val="059669"/>
            </a:solidFill>
            <a:prstDash val="solid"/>
          </a:ln>
        </p:spPr>
      </p:sp>
      <p:sp>
        <p:nvSpPr>
          <p:cNvPr id="44" name="Text 42"/>
          <p:cNvSpPr/>
          <p:nvPr/>
        </p:nvSpPr>
        <p:spPr>
          <a:xfrm>
            <a:off x="7223760" y="2159813"/>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Demo</a:t>
            </a:r>
            <a:endParaRPr lang="en-US" sz="800" dirty="0"/>
          </a:p>
        </p:txBody>
      </p:sp>
      <p:sp>
        <p:nvSpPr>
          <p:cNvPr id="45" name="Shape 43"/>
          <p:cNvSpPr/>
          <p:nvPr/>
        </p:nvSpPr>
        <p:spPr>
          <a:xfrm>
            <a:off x="457200" y="2313432"/>
            <a:ext cx="8458200" cy="187452"/>
          </a:xfrm>
          <a:prstGeom prst="rect">
            <a:avLst/>
          </a:prstGeom>
          <a:solidFill>
            <a:srgbClr val="F8F9FC"/>
          </a:solidFill>
          <a:ln w="5080">
            <a:solidFill>
              <a:srgbClr val="E2E8F0"/>
            </a:solidFill>
            <a:prstDash val="solid"/>
          </a:ln>
        </p:spPr>
      </p:sp>
      <p:sp>
        <p:nvSpPr>
          <p:cNvPr id="46" name="Shape 44"/>
          <p:cNvSpPr/>
          <p:nvPr/>
        </p:nvSpPr>
        <p:spPr>
          <a:xfrm>
            <a:off x="502920" y="2350008"/>
            <a:ext cx="338328" cy="128016"/>
          </a:xfrm>
          <a:prstGeom prst="roundRect">
            <a:avLst>
              <a:gd name="adj" fmla="val 57143"/>
            </a:avLst>
          </a:prstGeom>
          <a:solidFill>
            <a:srgbClr val="1B2F6E"/>
          </a:solidFill>
          <a:ln w="12700">
            <a:solidFill>
              <a:srgbClr val="1B2F6E"/>
            </a:solidFill>
            <a:prstDash val="solid"/>
          </a:ln>
        </p:spPr>
      </p:sp>
      <p:sp>
        <p:nvSpPr>
          <p:cNvPr id="47" name="Text 45"/>
          <p:cNvSpPr/>
          <p:nvPr/>
        </p:nvSpPr>
        <p:spPr>
          <a:xfrm>
            <a:off x="502920" y="2350008"/>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M06</a:t>
            </a:r>
            <a:endParaRPr lang="en-US" sz="800" dirty="0"/>
          </a:p>
        </p:txBody>
      </p:sp>
      <p:sp>
        <p:nvSpPr>
          <p:cNvPr id="48" name="Text 46"/>
          <p:cNvSpPr/>
          <p:nvPr/>
        </p:nvSpPr>
        <p:spPr>
          <a:xfrm>
            <a:off x="914400" y="2340864"/>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4</a:t>
            </a:r>
            <a:endParaRPr lang="en-US" sz="750" dirty="0"/>
          </a:p>
        </p:txBody>
      </p:sp>
      <p:sp>
        <p:nvSpPr>
          <p:cNvPr id="49" name="Text 47"/>
          <p:cNvSpPr/>
          <p:nvPr/>
        </p:nvSpPr>
        <p:spPr>
          <a:xfrm>
            <a:off x="1463040" y="2340864"/>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Member Directory + Detail Page Done</a:t>
            </a:r>
            <a:endParaRPr lang="en-US" sz="800" dirty="0"/>
          </a:p>
        </p:txBody>
      </p:sp>
      <p:sp>
        <p:nvSpPr>
          <p:cNvPr id="50" name="Shape 48"/>
          <p:cNvSpPr/>
          <p:nvPr/>
        </p:nvSpPr>
        <p:spPr>
          <a:xfrm>
            <a:off x="7223760" y="2350008"/>
            <a:ext cx="1554480" cy="128016"/>
          </a:xfrm>
          <a:prstGeom prst="roundRect">
            <a:avLst>
              <a:gd name="adj" fmla="val 57143"/>
            </a:avLst>
          </a:prstGeom>
          <a:solidFill>
            <a:srgbClr val="059669"/>
          </a:solidFill>
          <a:ln w="12700">
            <a:solidFill>
              <a:srgbClr val="059669"/>
            </a:solidFill>
            <a:prstDash val="solid"/>
          </a:ln>
        </p:spPr>
      </p:sp>
      <p:sp>
        <p:nvSpPr>
          <p:cNvPr id="51" name="Text 49"/>
          <p:cNvSpPr/>
          <p:nvPr/>
        </p:nvSpPr>
        <p:spPr>
          <a:xfrm>
            <a:off x="7223760" y="2350008"/>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Demo</a:t>
            </a:r>
            <a:endParaRPr lang="en-US" sz="800" dirty="0"/>
          </a:p>
        </p:txBody>
      </p:sp>
      <p:sp>
        <p:nvSpPr>
          <p:cNvPr id="52" name="Shape 50"/>
          <p:cNvSpPr/>
          <p:nvPr/>
        </p:nvSpPr>
        <p:spPr>
          <a:xfrm>
            <a:off x="457200" y="2503627"/>
            <a:ext cx="8458200" cy="187452"/>
          </a:xfrm>
          <a:prstGeom prst="rect">
            <a:avLst/>
          </a:prstGeom>
          <a:solidFill>
            <a:srgbClr val="FFFFFF"/>
          </a:solidFill>
          <a:ln w="5080">
            <a:solidFill>
              <a:srgbClr val="E2E8F0"/>
            </a:solidFill>
            <a:prstDash val="solid"/>
          </a:ln>
        </p:spPr>
      </p:sp>
      <p:sp>
        <p:nvSpPr>
          <p:cNvPr id="53" name="Shape 51"/>
          <p:cNvSpPr/>
          <p:nvPr/>
        </p:nvSpPr>
        <p:spPr>
          <a:xfrm>
            <a:off x="502920" y="2540203"/>
            <a:ext cx="338328" cy="128016"/>
          </a:xfrm>
          <a:prstGeom prst="roundRect">
            <a:avLst>
              <a:gd name="adj" fmla="val 57143"/>
            </a:avLst>
          </a:prstGeom>
          <a:solidFill>
            <a:srgbClr val="1B2F6E"/>
          </a:solidFill>
          <a:ln w="12700">
            <a:solidFill>
              <a:srgbClr val="1B2F6E"/>
            </a:solidFill>
            <a:prstDash val="solid"/>
          </a:ln>
        </p:spPr>
      </p:sp>
      <p:sp>
        <p:nvSpPr>
          <p:cNvPr id="54" name="Text 52"/>
          <p:cNvSpPr/>
          <p:nvPr/>
        </p:nvSpPr>
        <p:spPr>
          <a:xfrm>
            <a:off x="502920" y="2540203"/>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M07</a:t>
            </a:r>
            <a:endParaRPr lang="en-US" sz="800" dirty="0"/>
          </a:p>
        </p:txBody>
      </p:sp>
      <p:sp>
        <p:nvSpPr>
          <p:cNvPr id="55" name="Text 53"/>
          <p:cNvSpPr/>
          <p:nvPr/>
        </p:nvSpPr>
        <p:spPr>
          <a:xfrm>
            <a:off x="914400" y="2531059"/>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5</a:t>
            </a:r>
            <a:endParaRPr lang="en-US" sz="750" dirty="0"/>
          </a:p>
        </p:txBody>
      </p:sp>
      <p:sp>
        <p:nvSpPr>
          <p:cNvPr id="56" name="Text 54"/>
          <p:cNvSpPr/>
          <p:nvPr/>
        </p:nvSpPr>
        <p:spPr>
          <a:xfrm>
            <a:off x="1463040" y="2531059"/>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Member History Notes Feature Complete</a:t>
            </a:r>
            <a:endParaRPr lang="en-US" sz="800" dirty="0"/>
          </a:p>
        </p:txBody>
      </p:sp>
      <p:sp>
        <p:nvSpPr>
          <p:cNvPr id="57" name="Shape 55"/>
          <p:cNvSpPr/>
          <p:nvPr/>
        </p:nvSpPr>
        <p:spPr>
          <a:xfrm>
            <a:off x="7223760" y="2540203"/>
            <a:ext cx="1554480" cy="128016"/>
          </a:xfrm>
          <a:prstGeom prst="roundRect">
            <a:avLst>
              <a:gd name="adj" fmla="val 57143"/>
            </a:avLst>
          </a:prstGeom>
          <a:solidFill>
            <a:srgbClr val="059669"/>
          </a:solidFill>
          <a:ln w="12700">
            <a:solidFill>
              <a:srgbClr val="059669"/>
            </a:solidFill>
            <a:prstDash val="solid"/>
          </a:ln>
        </p:spPr>
      </p:sp>
      <p:sp>
        <p:nvSpPr>
          <p:cNvPr id="58" name="Text 56"/>
          <p:cNvSpPr/>
          <p:nvPr/>
        </p:nvSpPr>
        <p:spPr>
          <a:xfrm>
            <a:off x="7223760" y="2540203"/>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Demo</a:t>
            </a:r>
            <a:endParaRPr lang="en-US" sz="800" dirty="0"/>
          </a:p>
        </p:txBody>
      </p:sp>
      <p:sp>
        <p:nvSpPr>
          <p:cNvPr id="59" name="Shape 57"/>
          <p:cNvSpPr/>
          <p:nvPr/>
        </p:nvSpPr>
        <p:spPr>
          <a:xfrm>
            <a:off x="457200" y="2693822"/>
            <a:ext cx="8458200" cy="187452"/>
          </a:xfrm>
          <a:prstGeom prst="rect">
            <a:avLst/>
          </a:prstGeom>
          <a:solidFill>
            <a:srgbClr val="F8F9FC"/>
          </a:solidFill>
          <a:ln w="5080">
            <a:solidFill>
              <a:srgbClr val="E2E8F0"/>
            </a:solidFill>
            <a:prstDash val="solid"/>
          </a:ln>
        </p:spPr>
      </p:sp>
      <p:sp>
        <p:nvSpPr>
          <p:cNvPr id="60" name="Shape 58"/>
          <p:cNvSpPr/>
          <p:nvPr/>
        </p:nvSpPr>
        <p:spPr>
          <a:xfrm>
            <a:off x="502920" y="2730398"/>
            <a:ext cx="338328" cy="128016"/>
          </a:xfrm>
          <a:prstGeom prst="roundRect">
            <a:avLst>
              <a:gd name="adj" fmla="val 57143"/>
            </a:avLst>
          </a:prstGeom>
          <a:solidFill>
            <a:srgbClr val="1B2F6E"/>
          </a:solidFill>
          <a:ln w="12700">
            <a:solidFill>
              <a:srgbClr val="1B2F6E"/>
            </a:solidFill>
            <a:prstDash val="solid"/>
          </a:ln>
        </p:spPr>
      </p:sp>
      <p:sp>
        <p:nvSpPr>
          <p:cNvPr id="61" name="Text 59"/>
          <p:cNvSpPr/>
          <p:nvPr/>
        </p:nvSpPr>
        <p:spPr>
          <a:xfrm>
            <a:off x="502920" y="2730398"/>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M08</a:t>
            </a:r>
            <a:endParaRPr lang="en-US" sz="800" dirty="0"/>
          </a:p>
        </p:txBody>
      </p:sp>
      <p:sp>
        <p:nvSpPr>
          <p:cNvPr id="62" name="Text 60"/>
          <p:cNvSpPr/>
          <p:nvPr/>
        </p:nvSpPr>
        <p:spPr>
          <a:xfrm>
            <a:off x="914400" y="2721254"/>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5</a:t>
            </a:r>
            <a:endParaRPr lang="en-US" sz="750" dirty="0"/>
          </a:p>
        </p:txBody>
      </p:sp>
      <p:sp>
        <p:nvSpPr>
          <p:cNvPr id="63" name="Text 61"/>
          <p:cNvSpPr/>
          <p:nvPr/>
        </p:nvSpPr>
        <p:spPr>
          <a:xfrm>
            <a:off x="1463040" y="2721254"/>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Prayer Requests Module Deployed</a:t>
            </a:r>
            <a:endParaRPr lang="en-US" sz="800" dirty="0"/>
          </a:p>
        </p:txBody>
      </p:sp>
      <p:sp>
        <p:nvSpPr>
          <p:cNvPr id="64" name="Shape 62"/>
          <p:cNvSpPr/>
          <p:nvPr/>
        </p:nvSpPr>
        <p:spPr>
          <a:xfrm>
            <a:off x="7223760" y="2730398"/>
            <a:ext cx="1554480" cy="128016"/>
          </a:xfrm>
          <a:prstGeom prst="roundRect">
            <a:avLst>
              <a:gd name="adj" fmla="val 57143"/>
            </a:avLst>
          </a:prstGeom>
          <a:solidFill>
            <a:srgbClr val="059669"/>
          </a:solidFill>
          <a:ln w="12700">
            <a:solidFill>
              <a:srgbClr val="059669"/>
            </a:solidFill>
            <a:prstDash val="solid"/>
          </a:ln>
        </p:spPr>
      </p:sp>
      <p:sp>
        <p:nvSpPr>
          <p:cNvPr id="65" name="Text 63"/>
          <p:cNvSpPr/>
          <p:nvPr/>
        </p:nvSpPr>
        <p:spPr>
          <a:xfrm>
            <a:off x="7223760" y="2730398"/>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Demo</a:t>
            </a:r>
            <a:endParaRPr lang="en-US" sz="800" dirty="0"/>
          </a:p>
        </p:txBody>
      </p:sp>
      <p:sp>
        <p:nvSpPr>
          <p:cNvPr id="66" name="Shape 64"/>
          <p:cNvSpPr/>
          <p:nvPr/>
        </p:nvSpPr>
        <p:spPr>
          <a:xfrm>
            <a:off x="457200" y="2884018"/>
            <a:ext cx="8458200" cy="187452"/>
          </a:xfrm>
          <a:prstGeom prst="rect">
            <a:avLst/>
          </a:prstGeom>
          <a:solidFill>
            <a:srgbClr val="FFFFFF"/>
          </a:solidFill>
          <a:ln w="5080">
            <a:solidFill>
              <a:srgbClr val="E2E8F0"/>
            </a:solidFill>
            <a:prstDash val="solid"/>
          </a:ln>
        </p:spPr>
      </p:sp>
      <p:sp>
        <p:nvSpPr>
          <p:cNvPr id="67" name="Shape 65"/>
          <p:cNvSpPr/>
          <p:nvPr/>
        </p:nvSpPr>
        <p:spPr>
          <a:xfrm>
            <a:off x="502920" y="2920594"/>
            <a:ext cx="338328" cy="128016"/>
          </a:xfrm>
          <a:prstGeom prst="roundRect">
            <a:avLst>
              <a:gd name="adj" fmla="val 57143"/>
            </a:avLst>
          </a:prstGeom>
          <a:solidFill>
            <a:srgbClr val="1B2F6E"/>
          </a:solidFill>
          <a:ln w="12700">
            <a:solidFill>
              <a:srgbClr val="1B2F6E"/>
            </a:solidFill>
            <a:prstDash val="solid"/>
          </a:ln>
        </p:spPr>
      </p:sp>
      <p:sp>
        <p:nvSpPr>
          <p:cNvPr id="68" name="Text 66"/>
          <p:cNvSpPr/>
          <p:nvPr/>
        </p:nvSpPr>
        <p:spPr>
          <a:xfrm>
            <a:off x="502920" y="2920594"/>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M09</a:t>
            </a:r>
            <a:endParaRPr lang="en-US" sz="800" dirty="0"/>
          </a:p>
        </p:txBody>
      </p:sp>
      <p:sp>
        <p:nvSpPr>
          <p:cNvPr id="69" name="Text 67"/>
          <p:cNvSpPr/>
          <p:nvPr/>
        </p:nvSpPr>
        <p:spPr>
          <a:xfrm>
            <a:off x="914400" y="2911450"/>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6</a:t>
            </a:r>
            <a:endParaRPr lang="en-US" sz="750" dirty="0"/>
          </a:p>
        </p:txBody>
      </p:sp>
      <p:sp>
        <p:nvSpPr>
          <p:cNvPr id="70" name="Text 68"/>
          <p:cNvSpPr/>
          <p:nvPr/>
        </p:nvSpPr>
        <p:spPr>
          <a:xfrm>
            <a:off x="1463040" y="2911450"/>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Video Library + CloudFront CDN Streaming Live</a:t>
            </a:r>
            <a:endParaRPr lang="en-US" sz="800" dirty="0"/>
          </a:p>
        </p:txBody>
      </p:sp>
      <p:sp>
        <p:nvSpPr>
          <p:cNvPr id="71" name="Shape 69"/>
          <p:cNvSpPr/>
          <p:nvPr/>
        </p:nvSpPr>
        <p:spPr>
          <a:xfrm>
            <a:off x="7223760" y="2920594"/>
            <a:ext cx="1554480" cy="128016"/>
          </a:xfrm>
          <a:prstGeom prst="roundRect">
            <a:avLst>
              <a:gd name="adj" fmla="val 57143"/>
            </a:avLst>
          </a:prstGeom>
          <a:solidFill>
            <a:srgbClr val="059669"/>
          </a:solidFill>
          <a:ln w="12700">
            <a:solidFill>
              <a:srgbClr val="059669"/>
            </a:solidFill>
            <a:prstDash val="solid"/>
          </a:ln>
        </p:spPr>
      </p:sp>
      <p:sp>
        <p:nvSpPr>
          <p:cNvPr id="72" name="Text 70"/>
          <p:cNvSpPr/>
          <p:nvPr/>
        </p:nvSpPr>
        <p:spPr>
          <a:xfrm>
            <a:off x="7223760" y="2920594"/>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Demo</a:t>
            </a:r>
            <a:endParaRPr lang="en-US" sz="800" dirty="0"/>
          </a:p>
        </p:txBody>
      </p:sp>
      <p:sp>
        <p:nvSpPr>
          <p:cNvPr id="73" name="Shape 71"/>
          <p:cNvSpPr/>
          <p:nvPr/>
        </p:nvSpPr>
        <p:spPr>
          <a:xfrm>
            <a:off x="457200" y="3074213"/>
            <a:ext cx="8458200" cy="187452"/>
          </a:xfrm>
          <a:prstGeom prst="rect">
            <a:avLst/>
          </a:prstGeom>
          <a:solidFill>
            <a:srgbClr val="F8F9FC"/>
          </a:solidFill>
          <a:ln w="5080">
            <a:solidFill>
              <a:srgbClr val="E2E8F0"/>
            </a:solidFill>
            <a:prstDash val="solid"/>
          </a:ln>
        </p:spPr>
      </p:sp>
      <p:sp>
        <p:nvSpPr>
          <p:cNvPr id="74" name="Shape 72"/>
          <p:cNvSpPr/>
          <p:nvPr/>
        </p:nvSpPr>
        <p:spPr>
          <a:xfrm>
            <a:off x="502920" y="3110789"/>
            <a:ext cx="338328" cy="128016"/>
          </a:xfrm>
          <a:prstGeom prst="roundRect">
            <a:avLst>
              <a:gd name="adj" fmla="val 57143"/>
            </a:avLst>
          </a:prstGeom>
          <a:solidFill>
            <a:srgbClr val="1B2F6E"/>
          </a:solidFill>
          <a:ln w="12700">
            <a:solidFill>
              <a:srgbClr val="1B2F6E"/>
            </a:solidFill>
            <a:prstDash val="solid"/>
          </a:ln>
        </p:spPr>
      </p:sp>
      <p:sp>
        <p:nvSpPr>
          <p:cNvPr id="75" name="Text 73"/>
          <p:cNvSpPr/>
          <p:nvPr/>
        </p:nvSpPr>
        <p:spPr>
          <a:xfrm>
            <a:off x="502920" y="3110789"/>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M10</a:t>
            </a:r>
            <a:endParaRPr lang="en-US" sz="800" dirty="0"/>
          </a:p>
        </p:txBody>
      </p:sp>
      <p:sp>
        <p:nvSpPr>
          <p:cNvPr id="76" name="Text 74"/>
          <p:cNvSpPr/>
          <p:nvPr/>
        </p:nvSpPr>
        <p:spPr>
          <a:xfrm>
            <a:off x="914400" y="3101645"/>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6</a:t>
            </a:r>
            <a:endParaRPr lang="en-US" sz="750" dirty="0"/>
          </a:p>
        </p:txBody>
      </p:sp>
      <p:sp>
        <p:nvSpPr>
          <p:cNvPr id="77" name="Text 75"/>
          <p:cNvSpPr/>
          <p:nvPr/>
        </p:nvSpPr>
        <p:spPr>
          <a:xfrm>
            <a:off x="1463040" y="3101645"/>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All Core APIs (.NET 8) Feature-Complete</a:t>
            </a:r>
            <a:endParaRPr lang="en-US" sz="800" dirty="0"/>
          </a:p>
        </p:txBody>
      </p:sp>
      <p:sp>
        <p:nvSpPr>
          <p:cNvPr id="78" name="Shape 76"/>
          <p:cNvSpPr/>
          <p:nvPr/>
        </p:nvSpPr>
        <p:spPr>
          <a:xfrm>
            <a:off x="7223760" y="3110789"/>
            <a:ext cx="1554480" cy="128016"/>
          </a:xfrm>
          <a:prstGeom prst="roundRect">
            <a:avLst>
              <a:gd name="adj" fmla="val 57143"/>
            </a:avLst>
          </a:prstGeom>
          <a:solidFill>
            <a:srgbClr val="1D4ED8"/>
          </a:solidFill>
          <a:ln w="12700">
            <a:solidFill>
              <a:srgbClr val="1D4ED8"/>
            </a:solidFill>
            <a:prstDash val="solid"/>
          </a:ln>
        </p:spPr>
      </p:sp>
      <p:sp>
        <p:nvSpPr>
          <p:cNvPr id="79" name="Text 77"/>
          <p:cNvSpPr/>
          <p:nvPr/>
        </p:nvSpPr>
        <p:spPr>
          <a:xfrm>
            <a:off x="7223760" y="3110789"/>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Sign-off</a:t>
            </a:r>
            <a:endParaRPr lang="en-US" sz="800" dirty="0"/>
          </a:p>
        </p:txBody>
      </p:sp>
      <p:sp>
        <p:nvSpPr>
          <p:cNvPr id="80" name="Shape 78"/>
          <p:cNvSpPr/>
          <p:nvPr/>
        </p:nvSpPr>
        <p:spPr>
          <a:xfrm>
            <a:off x="457200" y="3264408"/>
            <a:ext cx="8458200" cy="187452"/>
          </a:xfrm>
          <a:prstGeom prst="rect">
            <a:avLst/>
          </a:prstGeom>
          <a:solidFill>
            <a:srgbClr val="FFFFFF"/>
          </a:solidFill>
          <a:ln w="5080">
            <a:solidFill>
              <a:srgbClr val="E2E8F0"/>
            </a:solidFill>
            <a:prstDash val="solid"/>
          </a:ln>
        </p:spPr>
      </p:sp>
      <p:sp>
        <p:nvSpPr>
          <p:cNvPr id="81" name="Shape 79"/>
          <p:cNvSpPr/>
          <p:nvPr/>
        </p:nvSpPr>
        <p:spPr>
          <a:xfrm>
            <a:off x="502920" y="3300984"/>
            <a:ext cx="338328" cy="128016"/>
          </a:xfrm>
          <a:prstGeom prst="roundRect">
            <a:avLst>
              <a:gd name="adj" fmla="val 57143"/>
            </a:avLst>
          </a:prstGeom>
          <a:solidFill>
            <a:srgbClr val="1B2F6E"/>
          </a:solidFill>
          <a:ln w="12700">
            <a:solidFill>
              <a:srgbClr val="1B2F6E"/>
            </a:solidFill>
            <a:prstDash val="solid"/>
          </a:ln>
        </p:spPr>
      </p:sp>
      <p:sp>
        <p:nvSpPr>
          <p:cNvPr id="82" name="Text 80"/>
          <p:cNvSpPr/>
          <p:nvPr/>
        </p:nvSpPr>
        <p:spPr>
          <a:xfrm>
            <a:off x="502920" y="3300984"/>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M11</a:t>
            </a:r>
            <a:endParaRPr lang="en-US" sz="800" dirty="0"/>
          </a:p>
        </p:txBody>
      </p:sp>
      <p:sp>
        <p:nvSpPr>
          <p:cNvPr id="83" name="Text 81"/>
          <p:cNvSpPr/>
          <p:nvPr/>
        </p:nvSpPr>
        <p:spPr>
          <a:xfrm>
            <a:off x="914400" y="3291840"/>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7</a:t>
            </a:r>
            <a:endParaRPr lang="en-US" sz="750" dirty="0"/>
          </a:p>
        </p:txBody>
      </p:sp>
      <p:sp>
        <p:nvSpPr>
          <p:cNvPr id="84" name="Text 82"/>
          <p:cNvSpPr/>
          <p:nvPr/>
        </p:nvSpPr>
        <p:spPr>
          <a:xfrm>
            <a:off x="1463040" y="3291840"/>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Twilio Chat + VoIP Calling Integrated</a:t>
            </a:r>
            <a:endParaRPr lang="en-US" sz="800" dirty="0"/>
          </a:p>
        </p:txBody>
      </p:sp>
      <p:sp>
        <p:nvSpPr>
          <p:cNvPr id="85" name="Shape 83"/>
          <p:cNvSpPr/>
          <p:nvPr/>
        </p:nvSpPr>
        <p:spPr>
          <a:xfrm>
            <a:off x="7223760" y="3300984"/>
            <a:ext cx="1554480" cy="128016"/>
          </a:xfrm>
          <a:prstGeom prst="roundRect">
            <a:avLst>
              <a:gd name="adj" fmla="val 57143"/>
            </a:avLst>
          </a:prstGeom>
          <a:solidFill>
            <a:srgbClr val="D97706"/>
          </a:solidFill>
          <a:ln w="12700">
            <a:solidFill>
              <a:srgbClr val="D97706"/>
            </a:solidFill>
            <a:prstDash val="solid"/>
          </a:ln>
        </p:spPr>
      </p:sp>
      <p:sp>
        <p:nvSpPr>
          <p:cNvPr id="86" name="Text 84"/>
          <p:cNvSpPr/>
          <p:nvPr/>
        </p:nvSpPr>
        <p:spPr>
          <a:xfrm>
            <a:off x="7223760" y="3300984"/>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Demo</a:t>
            </a:r>
            <a:endParaRPr lang="en-US" sz="800" dirty="0"/>
          </a:p>
        </p:txBody>
      </p:sp>
      <p:sp>
        <p:nvSpPr>
          <p:cNvPr id="87" name="Shape 85"/>
          <p:cNvSpPr/>
          <p:nvPr/>
        </p:nvSpPr>
        <p:spPr>
          <a:xfrm>
            <a:off x="457200" y="3454603"/>
            <a:ext cx="8458200" cy="187452"/>
          </a:xfrm>
          <a:prstGeom prst="rect">
            <a:avLst/>
          </a:prstGeom>
          <a:solidFill>
            <a:srgbClr val="F8F9FC"/>
          </a:solidFill>
          <a:ln w="5080">
            <a:solidFill>
              <a:srgbClr val="E2E8F0"/>
            </a:solidFill>
            <a:prstDash val="solid"/>
          </a:ln>
        </p:spPr>
      </p:sp>
      <p:sp>
        <p:nvSpPr>
          <p:cNvPr id="88" name="Shape 86"/>
          <p:cNvSpPr/>
          <p:nvPr/>
        </p:nvSpPr>
        <p:spPr>
          <a:xfrm>
            <a:off x="502920" y="3491179"/>
            <a:ext cx="338328" cy="128016"/>
          </a:xfrm>
          <a:prstGeom prst="roundRect">
            <a:avLst>
              <a:gd name="adj" fmla="val 57143"/>
            </a:avLst>
          </a:prstGeom>
          <a:solidFill>
            <a:srgbClr val="1B2F6E"/>
          </a:solidFill>
          <a:ln w="12700">
            <a:solidFill>
              <a:srgbClr val="1B2F6E"/>
            </a:solidFill>
            <a:prstDash val="solid"/>
          </a:ln>
        </p:spPr>
      </p:sp>
      <p:sp>
        <p:nvSpPr>
          <p:cNvPr id="89" name="Text 87"/>
          <p:cNvSpPr/>
          <p:nvPr/>
        </p:nvSpPr>
        <p:spPr>
          <a:xfrm>
            <a:off x="502920" y="3491179"/>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M12</a:t>
            </a:r>
            <a:endParaRPr lang="en-US" sz="800" dirty="0"/>
          </a:p>
        </p:txBody>
      </p:sp>
      <p:sp>
        <p:nvSpPr>
          <p:cNvPr id="90" name="Text 88"/>
          <p:cNvSpPr/>
          <p:nvPr/>
        </p:nvSpPr>
        <p:spPr>
          <a:xfrm>
            <a:off x="914400" y="3482035"/>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8</a:t>
            </a:r>
            <a:endParaRPr lang="en-US" sz="750" dirty="0"/>
          </a:p>
        </p:txBody>
      </p:sp>
      <p:sp>
        <p:nvSpPr>
          <p:cNvPr id="91" name="Text 89"/>
          <p:cNvSpPr/>
          <p:nvPr/>
        </p:nvSpPr>
        <p:spPr>
          <a:xfrm>
            <a:off x="1463040" y="3482035"/>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Push Notifications (FCM) Live on Device</a:t>
            </a:r>
            <a:endParaRPr lang="en-US" sz="800" dirty="0"/>
          </a:p>
        </p:txBody>
      </p:sp>
      <p:sp>
        <p:nvSpPr>
          <p:cNvPr id="92" name="Shape 90"/>
          <p:cNvSpPr/>
          <p:nvPr/>
        </p:nvSpPr>
        <p:spPr>
          <a:xfrm>
            <a:off x="7223760" y="3491179"/>
            <a:ext cx="1554480" cy="128016"/>
          </a:xfrm>
          <a:prstGeom prst="roundRect">
            <a:avLst>
              <a:gd name="adj" fmla="val 57143"/>
            </a:avLst>
          </a:prstGeom>
          <a:solidFill>
            <a:srgbClr val="D97706"/>
          </a:solidFill>
          <a:ln w="12700">
            <a:solidFill>
              <a:srgbClr val="D97706"/>
            </a:solidFill>
            <a:prstDash val="solid"/>
          </a:ln>
        </p:spPr>
      </p:sp>
      <p:sp>
        <p:nvSpPr>
          <p:cNvPr id="93" name="Text 91"/>
          <p:cNvSpPr/>
          <p:nvPr/>
        </p:nvSpPr>
        <p:spPr>
          <a:xfrm>
            <a:off x="7223760" y="3491179"/>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Demo</a:t>
            </a:r>
            <a:endParaRPr lang="en-US" sz="800" dirty="0"/>
          </a:p>
        </p:txBody>
      </p:sp>
      <p:sp>
        <p:nvSpPr>
          <p:cNvPr id="94" name="Shape 92"/>
          <p:cNvSpPr/>
          <p:nvPr/>
        </p:nvSpPr>
        <p:spPr>
          <a:xfrm>
            <a:off x="457200" y="3644798"/>
            <a:ext cx="8458200" cy="187452"/>
          </a:xfrm>
          <a:prstGeom prst="rect">
            <a:avLst/>
          </a:prstGeom>
          <a:solidFill>
            <a:srgbClr val="FFFFFF"/>
          </a:solidFill>
          <a:ln w="5080">
            <a:solidFill>
              <a:srgbClr val="E2E8F0"/>
            </a:solidFill>
            <a:prstDash val="solid"/>
          </a:ln>
        </p:spPr>
      </p:sp>
      <p:sp>
        <p:nvSpPr>
          <p:cNvPr id="95" name="Shape 93"/>
          <p:cNvSpPr/>
          <p:nvPr/>
        </p:nvSpPr>
        <p:spPr>
          <a:xfrm>
            <a:off x="502920" y="3681374"/>
            <a:ext cx="338328" cy="128016"/>
          </a:xfrm>
          <a:prstGeom prst="roundRect">
            <a:avLst>
              <a:gd name="adj" fmla="val 57143"/>
            </a:avLst>
          </a:prstGeom>
          <a:solidFill>
            <a:srgbClr val="1B2F6E"/>
          </a:solidFill>
          <a:ln w="12700">
            <a:solidFill>
              <a:srgbClr val="1B2F6E"/>
            </a:solidFill>
            <a:prstDash val="solid"/>
          </a:ln>
        </p:spPr>
      </p:sp>
      <p:sp>
        <p:nvSpPr>
          <p:cNvPr id="96" name="Text 94"/>
          <p:cNvSpPr/>
          <p:nvPr/>
        </p:nvSpPr>
        <p:spPr>
          <a:xfrm>
            <a:off x="502920" y="3681374"/>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M13</a:t>
            </a:r>
            <a:endParaRPr lang="en-US" sz="800" dirty="0"/>
          </a:p>
        </p:txBody>
      </p:sp>
      <p:sp>
        <p:nvSpPr>
          <p:cNvPr id="97" name="Text 95"/>
          <p:cNvSpPr/>
          <p:nvPr/>
        </p:nvSpPr>
        <p:spPr>
          <a:xfrm>
            <a:off x="914400" y="3672230"/>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8</a:t>
            </a:r>
            <a:endParaRPr lang="en-US" sz="750" dirty="0"/>
          </a:p>
        </p:txBody>
      </p:sp>
      <p:sp>
        <p:nvSpPr>
          <p:cNvPr id="98" name="Text 96"/>
          <p:cNvSpPr/>
          <p:nvPr/>
        </p:nvSpPr>
        <p:spPr>
          <a:xfrm>
            <a:off x="1463040" y="3672230"/>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Admin RBAC + Deep-Link Polish Complete</a:t>
            </a:r>
            <a:endParaRPr lang="en-US" sz="800" dirty="0"/>
          </a:p>
        </p:txBody>
      </p:sp>
      <p:sp>
        <p:nvSpPr>
          <p:cNvPr id="99" name="Shape 97"/>
          <p:cNvSpPr/>
          <p:nvPr/>
        </p:nvSpPr>
        <p:spPr>
          <a:xfrm>
            <a:off x="7223760" y="3681374"/>
            <a:ext cx="1554480" cy="128016"/>
          </a:xfrm>
          <a:prstGeom prst="roundRect">
            <a:avLst>
              <a:gd name="adj" fmla="val 57143"/>
            </a:avLst>
          </a:prstGeom>
          <a:solidFill>
            <a:srgbClr val="D97706"/>
          </a:solidFill>
          <a:ln w="12700">
            <a:solidFill>
              <a:srgbClr val="D97706"/>
            </a:solidFill>
            <a:prstDash val="solid"/>
          </a:ln>
        </p:spPr>
      </p:sp>
      <p:sp>
        <p:nvSpPr>
          <p:cNvPr id="100" name="Text 98"/>
          <p:cNvSpPr/>
          <p:nvPr/>
        </p:nvSpPr>
        <p:spPr>
          <a:xfrm>
            <a:off x="7223760" y="3681374"/>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Demo</a:t>
            </a:r>
            <a:endParaRPr lang="en-US" sz="800" dirty="0"/>
          </a:p>
        </p:txBody>
      </p:sp>
      <p:sp>
        <p:nvSpPr>
          <p:cNvPr id="101" name="Shape 99"/>
          <p:cNvSpPr/>
          <p:nvPr/>
        </p:nvSpPr>
        <p:spPr>
          <a:xfrm>
            <a:off x="457200" y="3834994"/>
            <a:ext cx="8458200" cy="187452"/>
          </a:xfrm>
          <a:prstGeom prst="rect">
            <a:avLst/>
          </a:prstGeom>
          <a:solidFill>
            <a:srgbClr val="F8F9FC"/>
          </a:solidFill>
          <a:ln w="5080">
            <a:solidFill>
              <a:srgbClr val="E2E8F0"/>
            </a:solidFill>
            <a:prstDash val="solid"/>
          </a:ln>
        </p:spPr>
      </p:sp>
      <p:sp>
        <p:nvSpPr>
          <p:cNvPr id="102" name="Shape 100"/>
          <p:cNvSpPr/>
          <p:nvPr/>
        </p:nvSpPr>
        <p:spPr>
          <a:xfrm>
            <a:off x="502920" y="3871570"/>
            <a:ext cx="338328" cy="128016"/>
          </a:xfrm>
          <a:prstGeom prst="roundRect">
            <a:avLst>
              <a:gd name="adj" fmla="val 57143"/>
            </a:avLst>
          </a:prstGeom>
          <a:solidFill>
            <a:srgbClr val="1B2F6E"/>
          </a:solidFill>
          <a:ln w="12700">
            <a:solidFill>
              <a:srgbClr val="1B2F6E"/>
            </a:solidFill>
            <a:prstDash val="solid"/>
          </a:ln>
        </p:spPr>
      </p:sp>
      <p:sp>
        <p:nvSpPr>
          <p:cNvPr id="103" name="Text 101"/>
          <p:cNvSpPr/>
          <p:nvPr/>
        </p:nvSpPr>
        <p:spPr>
          <a:xfrm>
            <a:off x="502920" y="3871570"/>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M14</a:t>
            </a:r>
            <a:endParaRPr lang="en-US" sz="800" dirty="0"/>
          </a:p>
        </p:txBody>
      </p:sp>
      <p:sp>
        <p:nvSpPr>
          <p:cNvPr id="104" name="Text 102"/>
          <p:cNvSpPr/>
          <p:nvPr/>
        </p:nvSpPr>
        <p:spPr>
          <a:xfrm>
            <a:off x="914400" y="3862426"/>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9</a:t>
            </a:r>
            <a:endParaRPr lang="en-US" sz="750" dirty="0"/>
          </a:p>
        </p:txBody>
      </p:sp>
      <p:sp>
        <p:nvSpPr>
          <p:cNvPr id="105" name="Text 103"/>
          <p:cNvSpPr/>
          <p:nvPr/>
        </p:nvSpPr>
        <p:spPr>
          <a:xfrm>
            <a:off x="1463040" y="3862426"/>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xUnit + Playwright + Appium Tests Complete</a:t>
            </a:r>
            <a:endParaRPr lang="en-US" sz="800" dirty="0"/>
          </a:p>
        </p:txBody>
      </p:sp>
      <p:sp>
        <p:nvSpPr>
          <p:cNvPr id="106" name="Shape 104"/>
          <p:cNvSpPr/>
          <p:nvPr/>
        </p:nvSpPr>
        <p:spPr>
          <a:xfrm>
            <a:off x="7223760" y="3871570"/>
            <a:ext cx="1554480" cy="128016"/>
          </a:xfrm>
          <a:prstGeom prst="roundRect">
            <a:avLst>
              <a:gd name="adj" fmla="val 57143"/>
            </a:avLst>
          </a:prstGeom>
          <a:solidFill>
            <a:srgbClr val="7C3AED"/>
          </a:solidFill>
          <a:ln w="12700">
            <a:solidFill>
              <a:srgbClr val="7C3AED"/>
            </a:solidFill>
            <a:prstDash val="solid"/>
          </a:ln>
        </p:spPr>
      </p:sp>
      <p:sp>
        <p:nvSpPr>
          <p:cNvPr id="107" name="Text 105"/>
          <p:cNvSpPr/>
          <p:nvPr/>
        </p:nvSpPr>
        <p:spPr>
          <a:xfrm>
            <a:off x="7223760" y="3871570"/>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QA Gate</a:t>
            </a:r>
            <a:endParaRPr lang="en-US" sz="800" dirty="0"/>
          </a:p>
        </p:txBody>
      </p:sp>
      <p:sp>
        <p:nvSpPr>
          <p:cNvPr id="108" name="Shape 106"/>
          <p:cNvSpPr/>
          <p:nvPr/>
        </p:nvSpPr>
        <p:spPr>
          <a:xfrm>
            <a:off x="457200" y="4025189"/>
            <a:ext cx="8458200" cy="187452"/>
          </a:xfrm>
          <a:prstGeom prst="rect">
            <a:avLst/>
          </a:prstGeom>
          <a:solidFill>
            <a:srgbClr val="FFFFFF"/>
          </a:solidFill>
          <a:ln w="5080">
            <a:solidFill>
              <a:srgbClr val="E2E8F0"/>
            </a:solidFill>
            <a:prstDash val="solid"/>
          </a:ln>
        </p:spPr>
      </p:sp>
      <p:sp>
        <p:nvSpPr>
          <p:cNvPr id="109" name="Shape 107"/>
          <p:cNvSpPr/>
          <p:nvPr/>
        </p:nvSpPr>
        <p:spPr>
          <a:xfrm>
            <a:off x="502920" y="4061765"/>
            <a:ext cx="338328" cy="128016"/>
          </a:xfrm>
          <a:prstGeom prst="roundRect">
            <a:avLst>
              <a:gd name="adj" fmla="val 57143"/>
            </a:avLst>
          </a:prstGeom>
          <a:solidFill>
            <a:srgbClr val="1B2F6E"/>
          </a:solidFill>
          <a:ln w="12700">
            <a:solidFill>
              <a:srgbClr val="1B2F6E"/>
            </a:solidFill>
            <a:prstDash val="solid"/>
          </a:ln>
        </p:spPr>
      </p:sp>
      <p:sp>
        <p:nvSpPr>
          <p:cNvPr id="110" name="Text 108"/>
          <p:cNvSpPr/>
          <p:nvPr/>
        </p:nvSpPr>
        <p:spPr>
          <a:xfrm>
            <a:off x="502920" y="4061765"/>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M15</a:t>
            </a:r>
            <a:endParaRPr lang="en-US" sz="800" dirty="0"/>
          </a:p>
        </p:txBody>
      </p:sp>
      <p:sp>
        <p:nvSpPr>
          <p:cNvPr id="111" name="Text 109"/>
          <p:cNvSpPr/>
          <p:nvPr/>
        </p:nvSpPr>
        <p:spPr>
          <a:xfrm>
            <a:off x="914400" y="4052621"/>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9</a:t>
            </a:r>
            <a:endParaRPr lang="en-US" sz="750" dirty="0"/>
          </a:p>
        </p:txBody>
      </p:sp>
      <p:sp>
        <p:nvSpPr>
          <p:cNvPr id="112" name="Text 110"/>
          <p:cNvSpPr/>
          <p:nvPr/>
        </p:nvSpPr>
        <p:spPr>
          <a:xfrm>
            <a:off x="1463040" y="4052621"/>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OWASP Security Audit Passed</a:t>
            </a:r>
            <a:endParaRPr lang="en-US" sz="800" dirty="0"/>
          </a:p>
        </p:txBody>
      </p:sp>
      <p:sp>
        <p:nvSpPr>
          <p:cNvPr id="113" name="Shape 111"/>
          <p:cNvSpPr/>
          <p:nvPr/>
        </p:nvSpPr>
        <p:spPr>
          <a:xfrm>
            <a:off x="7223760" y="4061765"/>
            <a:ext cx="1554480" cy="128016"/>
          </a:xfrm>
          <a:prstGeom prst="roundRect">
            <a:avLst>
              <a:gd name="adj" fmla="val 57143"/>
            </a:avLst>
          </a:prstGeom>
          <a:solidFill>
            <a:srgbClr val="1D4ED8"/>
          </a:solidFill>
          <a:ln w="12700">
            <a:solidFill>
              <a:srgbClr val="1D4ED8"/>
            </a:solidFill>
            <a:prstDash val="solid"/>
          </a:ln>
        </p:spPr>
      </p:sp>
      <p:sp>
        <p:nvSpPr>
          <p:cNvPr id="114" name="Text 112"/>
          <p:cNvSpPr/>
          <p:nvPr/>
        </p:nvSpPr>
        <p:spPr>
          <a:xfrm>
            <a:off x="7223760" y="4061765"/>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Sign-off</a:t>
            </a:r>
            <a:endParaRPr lang="en-US" sz="800" dirty="0"/>
          </a:p>
        </p:txBody>
      </p:sp>
      <p:sp>
        <p:nvSpPr>
          <p:cNvPr id="115" name="Shape 113"/>
          <p:cNvSpPr/>
          <p:nvPr/>
        </p:nvSpPr>
        <p:spPr>
          <a:xfrm>
            <a:off x="457200" y="4215384"/>
            <a:ext cx="8458200" cy="187452"/>
          </a:xfrm>
          <a:prstGeom prst="rect">
            <a:avLst/>
          </a:prstGeom>
          <a:solidFill>
            <a:srgbClr val="F8F9FC"/>
          </a:solidFill>
          <a:ln w="5080">
            <a:solidFill>
              <a:srgbClr val="E2E8F0"/>
            </a:solidFill>
            <a:prstDash val="solid"/>
          </a:ln>
        </p:spPr>
      </p:sp>
      <p:sp>
        <p:nvSpPr>
          <p:cNvPr id="116" name="Shape 114"/>
          <p:cNvSpPr/>
          <p:nvPr/>
        </p:nvSpPr>
        <p:spPr>
          <a:xfrm>
            <a:off x="502920" y="4251960"/>
            <a:ext cx="338328" cy="128016"/>
          </a:xfrm>
          <a:prstGeom prst="roundRect">
            <a:avLst>
              <a:gd name="adj" fmla="val 57143"/>
            </a:avLst>
          </a:prstGeom>
          <a:solidFill>
            <a:srgbClr val="1B2F6E"/>
          </a:solidFill>
          <a:ln w="12700">
            <a:solidFill>
              <a:srgbClr val="1B2F6E"/>
            </a:solidFill>
            <a:prstDash val="solid"/>
          </a:ln>
        </p:spPr>
      </p:sp>
      <p:sp>
        <p:nvSpPr>
          <p:cNvPr id="117" name="Text 115"/>
          <p:cNvSpPr/>
          <p:nvPr/>
        </p:nvSpPr>
        <p:spPr>
          <a:xfrm>
            <a:off x="502920" y="4251960"/>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M16</a:t>
            </a:r>
            <a:endParaRPr lang="en-US" sz="800" dirty="0"/>
          </a:p>
        </p:txBody>
      </p:sp>
      <p:sp>
        <p:nvSpPr>
          <p:cNvPr id="118" name="Text 116"/>
          <p:cNvSpPr/>
          <p:nvPr/>
        </p:nvSpPr>
        <p:spPr>
          <a:xfrm>
            <a:off x="914400" y="4242816"/>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9</a:t>
            </a:r>
            <a:endParaRPr lang="en-US" sz="750" dirty="0"/>
          </a:p>
        </p:txBody>
      </p:sp>
      <p:sp>
        <p:nvSpPr>
          <p:cNvPr id="119" name="Text 117"/>
          <p:cNvSpPr/>
          <p:nvPr/>
        </p:nvSpPr>
        <p:spPr>
          <a:xfrm>
            <a:off x="1463040" y="4242816"/>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Production AWS Infrastructure Live</a:t>
            </a:r>
            <a:endParaRPr lang="en-US" sz="800" dirty="0"/>
          </a:p>
        </p:txBody>
      </p:sp>
      <p:sp>
        <p:nvSpPr>
          <p:cNvPr id="120" name="Shape 118"/>
          <p:cNvSpPr/>
          <p:nvPr/>
        </p:nvSpPr>
        <p:spPr>
          <a:xfrm>
            <a:off x="7223760" y="4251960"/>
            <a:ext cx="1554480" cy="128016"/>
          </a:xfrm>
          <a:prstGeom prst="roundRect">
            <a:avLst>
              <a:gd name="adj" fmla="val 57143"/>
            </a:avLst>
          </a:prstGeom>
          <a:solidFill>
            <a:srgbClr val="374151"/>
          </a:solidFill>
          <a:ln w="12700">
            <a:solidFill>
              <a:srgbClr val="374151"/>
            </a:solidFill>
            <a:prstDash val="solid"/>
          </a:ln>
        </p:spPr>
      </p:sp>
      <p:sp>
        <p:nvSpPr>
          <p:cNvPr id="121" name="Text 119"/>
          <p:cNvSpPr/>
          <p:nvPr/>
        </p:nvSpPr>
        <p:spPr>
          <a:xfrm>
            <a:off x="7223760" y="4251960"/>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DevOps</a:t>
            </a:r>
            <a:endParaRPr lang="en-US" sz="800" dirty="0"/>
          </a:p>
        </p:txBody>
      </p:sp>
      <p:sp>
        <p:nvSpPr>
          <p:cNvPr id="122" name="Shape 120"/>
          <p:cNvSpPr/>
          <p:nvPr/>
        </p:nvSpPr>
        <p:spPr>
          <a:xfrm>
            <a:off x="457200" y="4405579"/>
            <a:ext cx="8458200" cy="187452"/>
          </a:xfrm>
          <a:prstGeom prst="rect">
            <a:avLst/>
          </a:prstGeom>
          <a:solidFill>
            <a:srgbClr val="FFFFFF"/>
          </a:solidFill>
          <a:ln w="5080">
            <a:solidFill>
              <a:srgbClr val="E2E8F0"/>
            </a:solidFill>
            <a:prstDash val="solid"/>
          </a:ln>
        </p:spPr>
      </p:sp>
      <p:sp>
        <p:nvSpPr>
          <p:cNvPr id="123" name="Shape 121"/>
          <p:cNvSpPr/>
          <p:nvPr/>
        </p:nvSpPr>
        <p:spPr>
          <a:xfrm>
            <a:off x="502920" y="4442155"/>
            <a:ext cx="338328" cy="128016"/>
          </a:xfrm>
          <a:prstGeom prst="roundRect">
            <a:avLst>
              <a:gd name="adj" fmla="val 57143"/>
            </a:avLst>
          </a:prstGeom>
          <a:solidFill>
            <a:srgbClr val="1B2F6E"/>
          </a:solidFill>
          <a:ln w="12700">
            <a:solidFill>
              <a:srgbClr val="1B2F6E"/>
            </a:solidFill>
            <a:prstDash val="solid"/>
          </a:ln>
        </p:spPr>
      </p:sp>
      <p:sp>
        <p:nvSpPr>
          <p:cNvPr id="124" name="Text 122"/>
          <p:cNvSpPr/>
          <p:nvPr/>
        </p:nvSpPr>
        <p:spPr>
          <a:xfrm>
            <a:off x="502920" y="4442155"/>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M17</a:t>
            </a:r>
            <a:endParaRPr lang="en-US" sz="800" dirty="0"/>
          </a:p>
        </p:txBody>
      </p:sp>
      <p:sp>
        <p:nvSpPr>
          <p:cNvPr id="125" name="Text 123"/>
          <p:cNvSpPr/>
          <p:nvPr/>
        </p:nvSpPr>
        <p:spPr>
          <a:xfrm>
            <a:off x="914400" y="4433011"/>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10</a:t>
            </a:r>
            <a:endParaRPr lang="en-US" sz="750" dirty="0"/>
          </a:p>
        </p:txBody>
      </p:sp>
      <p:sp>
        <p:nvSpPr>
          <p:cNvPr id="126" name="Text 124"/>
          <p:cNvSpPr/>
          <p:nvPr/>
        </p:nvSpPr>
        <p:spPr>
          <a:xfrm>
            <a:off x="1463040" y="4433011"/>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UAT Sign-off by ANM Stakeholders</a:t>
            </a:r>
            <a:endParaRPr lang="en-US" sz="800" dirty="0"/>
          </a:p>
        </p:txBody>
      </p:sp>
      <p:sp>
        <p:nvSpPr>
          <p:cNvPr id="127" name="Shape 125"/>
          <p:cNvSpPr/>
          <p:nvPr/>
        </p:nvSpPr>
        <p:spPr>
          <a:xfrm>
            <a:off x="7223760" y="4442155"/>
            <a:ext cx="1554480" cy="128016"/>
          </a:xfrm>
          <a:prstGeom prst="roundRect">
            <a:avLst>
              <a:gd name="adj" fmla="val 57143"/>
            </a:avLst>
          </a:prstGeom>
          <a:solidFill>
            <a:srgbClr val="1D4ED8"/>
          </a:solidFill>
          <a:ln w="12700">
            <a:solidFill>
              <a:srgbClr val="1D4ED8"/>
            </a:solidFill>
            <a:prstDash val="solid"/>
          </a:ln>
        </p:spPr>
      </p:sp>
      <p:sp>
        <p:nvSpPr>
          <p:cNvPr id="128" name="Text 126"/>
          <p:cNvSpPr/>
          <p:nvPr/>
        </p:nvSpPr>
        <p:spPr>
          <a:xfrm>
            <a:off x="7223760" y="4442155"/>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Sign-off</a:t>
            </a:r>
            <a:endParaRPr lang="en-US" sz="800" dirty="0"/>
          </a:p>
        </p:txBody>
      </p:sp>
      <p:sp>
        <p:nvSpPr>
          <p:cNvPr id="129" name="Shape 127"/>
          <p:cNvSpPr/>
          <p:nvPr/>
        </p:nvSpPr>
        <p:spPr>
          <a:xfrm>
            <a:off x="457200" y="4595774"/>
            <a:ext cx="8458200" cy="187452"/>
          </a:xfrm>
          <a:prstGeom prst="rect">
            <a:avLst/>
          </a:prstGeom>
          <a:solidFill>
            <a:srgbClr val="F8F9FC"/>
          </a:solidFill>
          <a:ln w="5080">
            <a:solidFill>
              <a:srgbClr val="E2E8F0"/>
            </a:solidFill>
            <a:prstDash val="solid"/>
          </a:ln>
        </p:spPr>
      </p:sp>
      <p:sp>
        <p:nvSpPr>
          <p:cNvPr id="130" name="Shape 128"/>
          <p:cNvSpPr/>
          <p:nvPr/>
        </p:nvSpPr>
        <p:spPr>
          <a:xfrm>
            <a:off x="502920" y="4632350"/>
            <a:ext cx="338328" cy="128016"/>
          </a:xfrm>
          <a:prstGeom prst="roundRect">
            <a:avLst>
              <a:gd name="adj" fmla="val 57143"/>
            </a:avLst>
          </a:prstGeom>
          <a:solidFill>
            <a:srgbClr val="1B2F6E"/>
          </a:solidFill>
          <a:ln w="12700">
            <a:solidFill>
              <a:srgbClr val="1B2F6E"/>
            </a:solidFill>
            <a:prstDash val="solid"/>
          </a:ln>
        </p:spPr>
      </p:sp>
      <p:sp>
        <p:nvSpPr>
          <p:cNvPr id="131" name="Text 129"/>
          <p:cNvSpPr/>
          <p:nvPr/>
        </p:nvSpPr>
        <p:spPr>
          <a:xfrm>
            <a:off x="502920" y="4632350"/>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M18</a:t>
            </a:r>
            <a:endParaRPr lang="en-US" sz="800" dirty="0"/>
          </a:p>
        </p:txBody>
      </p:sp>
      <p:sp>
        <p:nvSpPr>
          <p:cNvPr id="132" name="Text 130"/>
          <p:cNvSpPr/>
          <p:nvPr/>
        </p:nvSpPr>
        <p:spPr>
          <a:xfrm>
            <a:off x="914400" y="4623206"/>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10</a:t>
            </a:r>
            <a:endParaRPr lang="en-US" sz="750" dirty="0"/>
          </a:p>
        </p:txBody>
      </p:sp>
      <p:sp>
        <p:nvSpPr>
          <p:cNvPr id="133" name="Text 131"/>
          <p:cNvSpPr/>
          <p:nvPr/>
        </p:nvSpPr>
        <p:spPr>
          <a:xfrm>
            <a:off x="1463040" y="4623206"/>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Performance Tests — p95 &lt; 200ms Confirmed</a:t>
            </a:r>
            <a:endParaRPr lang="en-US" sz="800" dirty="0"/>
          </a:p>
        </p:txBody>
      </p:sp>
      <p:sp>
        <p:nvSpPr>
          <p:cNvPr id="134" name="Shape 132"/>
          <p:cNvSpPr/>
          <p:nvPr/>
        </p:nvSpPr>
        <p:spPr>
          <a:xfrm>
            <a:off x="7223760" y="4632350"/>
            <a:ext cx="1554480" cy="128016"/>
          </a:xfrm>
          <a:prstGeom prst="roundRect">
            <a:avLst>
              <a:gd name="adj" fmla="val 57143"/>
            </a:avLst>
          </a:prstGeom>
          <a:solidFill>
            <a:srgbClr val="7C3AED"/>
          </a:solidFill>
          <a:ln w="12700">
            <a:solidFill>
              <a:srgbClr val="7C3AED"/>
            </a:solidFill>
            <a:prstDash val="solid"/>
          </a:ln>
        </p:spPr>
      </p:sp>
      <p:sp>
        <p:nvSpPr>
          <p:cNvPr id="135" name="Text 133"/>
          <p:cNvSpPr/>
          <p:nvPr/>
        </p:nvSpPr>
        <p:spPr>
          <a:xfrm>
            <a:off x="7223760" y="4632350"/>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QA Gate</a:t>
            </a:r>
            <a:endParaRPr lang="en-US" sz="800" dirty="0"/>
          </a:p>
        </p:txBody>
      </p:sp>
      <p:sp>
        <p:nvSpPr>
          <p:cNvPr id="136" name="Shape 134"/>
          <p:cNvSpPr/>
          <p:nvPr/>
        </p:nvSpPr>
        <p:spPr>
          <a:xfrm>
            <a:off x="457200" y="4785970"/>
            <a:ext cx="8458200" cy="187452"/>
          </a:xfrm>
          <a:prstGeom prst="rect">
            <a:avLst/>
          </a:prstGeom>
          <a:solidFill>
            <a:srgbClr val="FFFFFF"/>
          </a:solidFill>
          <a:ln w="5080">
            <a:solidFill>
              <a:srgbClr val="E2E8F0"/>
            </a:solidFill>
            <a:prstDash val="solid"/>
          </a:ln>
        </p:spPr>
      </p:sp>
      <p:sp>
        <p:nvSpPr>
          <p:cNvPr id="137" name="Shape 135"/>
          <p:cNvSpPr/>
          <p:nvPr/>
        </p:nvSpPr>
        <p:spPr>
          <a:xfrm>
            <a:off x="502920" y="4822546"/>
            <a:ext cx="338328" cy="128016"/>
          </a:xfrm>
          <a:prstGeom prst="roundRect">
            <a:avLst>
              <a:gd name="adj" fmla="val 57143"/>
            </a:avLst>
          </a:prstGeom>
          <a:solidFill>
            <a:srgbClr val="1B2F6E"/>
          </a:solidFill>
          <a:ln w="12700">
            <a:solidFill>
              <a:srgbClr val="1B2F6E"/>
            </a:solidFill>
            <a:prstDash val="solid"/>
          </a:ln>
        </p:spPr>
      </p:sp>
      <p:sp>
        <p:nvSpPr>
          <p:cNvPr id="138" name="Text 136"/>
          <p:cNvSpPr/>
          <p:nvPr/>
        </p:nvSpPr>
        <p:spPr>
          <a:xfrm>
            <a:off x="502920" y="4822546"/>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M19</a:t>
            </a:r>
            <a:endParaRPr lang="en-US" sz="800" dirty="0"/>
          </a:p>
        </p:txBody>
      </p:sp>
      <p:sp>
        <p:nvSpPr>
          <p:cNvPr id="139" name="Text 137"/>
          <p:cNvSpPr/>
          <p:nvPr/>
        </p:nvSpPr>
        <p:spPr>
          <a:xfrm>
            <a:off x="914400" y="4813402"/>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10</a:t>
            </a:r>
            <a:endParaRPr lang="en-US" sz="750" dirty="0"/>
          </a:p>
        </p:txBody>
      </p:sp>
      <p:sp>
        <p:nvSpPr>
          <p:cNvPr id="140" name="Text 138"/>
          <p:cNvSpPr/>
          <p:nvPr/>
        </p:nvSpPr>
        <p:spPr>
          <a:xfrm>
            <a:off x="1463040" y="4813402"/>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App Store + Play Store Submissions</a:t>
            </a:r>
            <a:endParaRPr lang="en-US" sz="800" dirty="0"/>
          </a:p>
        </p:txBody>
      </p:sp>
      <p:sp>
        <p:nvSpPr>
          <p:cNvPr id="141" name="Shape 139"/>
          <p:cNvSpPr/>
          <p:nvPr/>
        </p:nvSpPr>
        <p:spPr>
          <a:xfrm>
            <a:off x="7223760" y="4822546"/>
            <a:ext cx="1554480" cy="128016"/>
          </a:xfrm>
          <a:prstGeom prst="roundRect">
            <a:avLst>
              <a:gd name="adj" fmla="val 57143"/>
            </a:avLst>
          </a:prstGeom>
          <a:solidFill>
            <a:srgbClr val="374151"/>
          </a:solidFill>
          <a:ln w="12700">
            <a:solidFill>
              <a:srgbClr val="374151"/>
            </a:solidFill>
            <a:prstDash val="solid"/>
          </a:ln>
        </p:spPr>
      </p:sp>
      <p:sp>
        <p:nvSpPr>
          <p:cNvPr id="142" name="Text 140"/>
          <p:cNvSpPr/>
          <p:nvPr/>
        </p:nvSpPr>
        <p:spPr>
          <a:xfrm>
            <a:off x="7223760" y="4822546"/>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DevOps</a:t>
            </a:r>
            <a:endParaRPr lang="en-US" sz="800" dirty="0"/>
          </a:p>
        </p:txBody>
      </p:sp>
      <p:sp>
        <p:nvSpPr>
          <p:cNvPr id="143" name="Shape 141"/>
          <p:cNvSpPr/>
          <p:nvPr/>
        </p:nvSpPr>
        <p:spPr>
          <a:xfrm>
            <a:off x="457200" y="4976165"/>
            <a:ext cx="8458200" cy="187452"/>
          </a:xfrm>
          <a:prstGeom prst="rect">
            <a:avLst/>
          </a:prstGeom>
          <a:solidFill>
            <a:srgbClr val="F8F9FC"/>
          </a:solidFill>
          <a:ln w="5080">
            <a:solidFill>
              <a:srgbClr val="E2E8F0"/>
            </a:solidFill>
            <a:prstDash val="solid"/>
          </a:ln>
        </p:spPr>
      </p:sp>
      <p:sp>
        <p:nvSpPr>
          <p:cNvPr id="144" name="Shape 142"/>
          <p:cNvSpPr/>
          <p:nvPr/>
        </p:nvSpPr>
        <p:spPr>
          <a:xfrm>
            <a:off x="502920" y="5012741"/>
            <a:ext cx="338328" cy="128016"/>
          </a:xfrm>
          <a:prstGeom prst="roundRect">
            <a:avLst>
              <a:gd name="adj" fmla="val 57143"/>
            </a:avLst>
          </a:prstGeom>
          <a:solidFill>
            <a:srgbClr val="1B2F6E"/>
          </a:solidFill>
          <a:ln w="12700">
            <a:solidFill>
              <a:srgbClr val="1B2F6E"/>
            </a:solidFill>
            <a:prstDash val="solid"/>
          </a:ln>
        </p:spPr>
      </p:sp>
      <p:sp>
        <p:nvSpPr>
          <p:cNvPr id="145" name="Text 143"/>
          <p:cNvSpPr/>
          <p:nvPr/>
        </p:nvSpPr>
        <p:spPr>
          <a:xfrm>
            <a:off x="502920" y="5012741"/>
            <a:ext cx="338328"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M20</a:t>
            </a:r>
            <a:endParaRPr lang="en-US" sz="800" dirty="0"/>
          </a:p>
        </p:txBody>
      </p:sp>
      <p:sp>
        <p:nvSpPr>
          <p:cNvPr id="146" name="Text 144"/>
          <p:cNvSpPr/>
          <p:nvPr/>
        </p:nvSpPr>
        <p:spPr>
          <a:xfrm>
            <a:off x="914400" y="5003597"/>
            <a:ext cx="502920" cy="14630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Wk 10</a:t>
            </a:r>
            <a:endParaRPr lang="en-US" sz="750" dirty="0"/>
          </a:p>
        </p:txBody>
      </p:sp>
      <p:sp>
        <p:nvSpPr>
          <p:cNvPr id="147" name="Text 145"/>
          <p:cNvSpPr/>
          <p:nvPr/>
        </p:nvSpPr>
        <p:spPr>
          <a:xfrm>
            <a:off x="1463040" y="5003597"/>
            <a:ext cx="5669280" cy="146304"/>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  Go-Live — ANM Community App is Live</a:t>
            </a:r>
            <a:endParaRPr lang="en-US" sz="800" dirty="0"/>
          </a:p>
        </p:txBody>
      </p:sp>
      <p:sp>
        <p:nvSpPr>
          <p:cNvPr id="148" name="Shape 146"/>
          <p:cNvSpPr/>
          <p:nvPr/>
        </p:nvSpPr>
        <p:spPr>
          <a:xfrm>
            <a:off x="7223760" y="5012741"/>
            <a:ext cx="1554480" cy="128016"/>
          </a:xfrm>
          <a:prstGeom prst="roundRect">
            <a:avLst>
              <a:gd name="adj" fmla="val 57143"/>
            </a:avLst>
          </a:prstGeom>
          <a:solidFill>
            <a:srgbClr val="DC2626"/>
          </a:solidFill>
          <a:ln w="12700">
            <a:solidFill>
              <a:srgbClr val="DC2626"/>
            </a:solidFill>
            <a:prstDash val="solid"/>
          </a:ln>
        </p:spPr>
      </p:sp>
      <p:sp>
        <p:nvSpPr>
          <p:cNvPr id="149" name="Text 147"/>
          <p:cNvSpPr/>
          <p:nvPr/>
        </p:nvSpPr>
        <p:spPr>
          <a:xfrm>
            <a:off x="7223760" y="5012741"/>
            <a:ext cx="1554480" cy="128016"/>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Go-Live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GOVERNANCE</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Formal Sign-Off Gates</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Text 3"/>
          <p:cNvSpPr/>
          <p:nvPr/>
        </p:nvSpPr>
        <p:spPr>
          <a:xfrm>
            <a:off x="457200" y="1051560"/>
            <a:ext cx="8229600" cy="237744"/>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3 mandatory gates before proceeding — ensures ANM leadership controls every major transition.</a:t>
            </a:r>
            <a:endParaRPr lang="en-US" sz="1000" dirty="0"/>
          </a:p>
        </p:txBody>
      </p:sp>
      <p:sp>
        <p:nvSpPr>
          <p:cNvPr id="6" name="Shape 4"/>
          <p:cNvSpPr/>
          <p:nvPr/>
        </p:nvSpPr>
        <p:spPr>
          <a:xfrm>
            <a:off x="457200" y="1316736"/>
            <a:ext cx="2651760" cy="3584448"/>
          </a:xfrm>
          <a:prstGeom prst="rect">
            <a:avLst/>
          </a:prstGeom>
          <a:solidFill>
            <a:srgbClr val="EFF6FF"/>
          </a:solidFill>
          <a:ln w="12700">
            <a:solidFill>
              <a:srgbClr val="1D4ED8"/>
            </a:solidFill>
            <a:prstDash val="solid"/>
          </a:ln>
          <a:effectLst>
            <a:outerShdw sx="100000" sy="100000" kx="0" ky="0" algn="bl" rotWithShape="0" blurRad="76200" dist="38100" dir="8100000">
              <a:srgbClr val="000000">
                <a:alpha val="9000"/>
              </a:srgbClr>
            </a:outerShdw>
          </a:effectLst>
        </p:spPr>
      </p:sp>
      <p:sp>
        <p:nvSpPr>
          <p:cNvPr id="7" name="Shape 5"/>
          <p:cNvSpPr/>
          <p:nvPr/>
        </p:nvSpPr>
        <p:spPr>
          <a:xfrm>
            <a:off x="457200" y="1316736"/>
            <a:ext cx="2651760" cy="658368"/>
          </a:xfrm>
          <a:prstGeom prst="rect">
            <a:avLst/>
          </a:prstGeom>
          <a:solidFill>
            <a:srgbClr val="1D4ED8"/>
          </a:solidFill>
          <a:ln w="12700">
            <a:solidFill>
              <a:srgbClr val="1D4ED8"/>
            </a:solidFill>
            <a:prstDash val="solid"/>
          </a:ln>
        </p:spPr>
      </p:sp>
      <p:sp>
        <p:nvSpPr>
          <p:cNvPr id="8" name="Text 6"/>
          <p:cNvSpPr/>
          <p:nvPr/>
        </p:nvSpPr>
        <p:spPr>
          <a:xfrm>
            <a:off x="457200" y="1371600"/>
            <a:ext cx="2651760" cy="219456"/>
          </a:xfrm>
          <a:prstGeom prst="rect">
            <a:avLst/>
          </a:prstGeom>
          <a:noFill/>
          <a:ln/>
        </p:spPr>
        <p:txBody>
          <a:bodyPr wrap="square"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Gate G1</a:t>
            </a:r>
            <a:endParaRPr lang="en-US" sz="900" dirty="0"/>
          </a:p>
        </p:txBody>
      </p:sp>
      <p:sp>
        <p:nvSpPr>
          <p:cNvPr id="9" name="Text 7"/>
          <p:cNvSpPr/>
          <p:nvPr/>
        </p:nvSpPr>
        <p:spPr>
          <a:xfrm>
            <a:off x="457200" y="1591056"/>
            <a:ext cx="2651760" cy="182880"/>
          </a:xfrm>
          <a:prstGeom prst="rect">
            <a:avLst/>
          </a:prstGeom>
          <a:noFill/>
          <a:ln/>
        </p:spPr>
        <p:txBody>
          <a:bodyPr wrap="square" rtlCol="0" anchor="ctr"/>
          <a:lstStyle/>
          <a:p>
            <a:pPr algn="ctr" indent="0" marL="0">
              <a:buNone/>
            </a:pPr>
            <a:r>
              <a:rPr lang="en-US" sz="850" dirty="0">
                <a:solidFill>
                  <a:srgbClr val="000000"/>
                </a:solidFill>
                <a:latin typeface="Calibri" pitchFamily="34" charset="0"/>
                <a:ea typeface="Calibri" pitchFamily="34" charset="-122"/>
                <a:cs typeface="Calibri" pitchFamily="34" charset="-120"/>
              </a:rPr>
              <a:t>End Wk 2</a:t>
            </a:r>
            <a:endParaRPr lang="en-US" sz="850" dirty="0"/>
          </a:p>
        </p:txBody>
      </p:sp>
      <p:sp>
        <p:nvSpPr>
          <p:cNvPr id="10" name="Text 8"/>
          <p:cNvSpPr/>
          <p:nvPr/>
        </p:nvSpPr>
        <p:spPr>
          <a:xfrm>
            <a:off x="457200" y="1792224"/>
            <a:ext cx="2651760" cy="16459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Design &amp; Architecture Sign-Off</a:t>
            </a:r>
            <a:endParaRPr lang="en-US" sz="800" dirty="0"/>
          </a:p>
        </p:txBody>
      </p:sp>
      <p:sp>
        <p:nvSpPr>
          <p:cNvPr id="11" name="Text 9"/>
          <p:cNvSpPr/>
          <p:nvPr/>
        </p:nvSpPr>
        <p:spPr>
          <a:xfrm>
            <a:off x="566928" y="2066544"/>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PostgreSQL schema reviewed by ANM team</a:t>
            </a:r>
            <a:endParaRPr lang="en-US" sz="850" dirty="0"/>
          </a:p>
        </p:txBody>
      </p:sp>
      <p:sp>
        <p:nvSpPr>
          <p:cNvPr id="12" name="Text 10"/>
          <p:cNvSpPr/>
          <p:nvPr/>
        </p:nvSpPr>
        <p:spPr>
          <a:xfrm>
            <a:off x="566928" y="2468880"/>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14 REST API endpoints documented &amp; agreed</a:t>
            </a:r>
            <a:endParaRPr lang="en-US" sz="850" dirty="0"/>
          </a:p>
        </p:txBody>
      </p:sp>
      <p:sp>
        <p:nvSpPr>
          <p:cNvPr id="13" name="Text 11"/>
          <p:cNvSpPr/>
          <p:nvPr/>
        </p:nvSpPr>
        <p:spPr>
          <a:xfrm>
            <a:off x="566928" y="2871216"/>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Figma UI designs approved (brand, fonts, colours)</a:t>
            </a:r>
            <a:endParaRPr lang="en-US" sz="850" dirty="0"/>
          </a:p>
        </p:txBody>
      </p:sp>
      <p:sp>
        <p:nvSpPr>
          <p:cNvPr id="14" name="Text 12"/>
          <p:cNvSpPr/>
          <p:nvPr/>
        </p:nvSpPr>
        <p:spPr>
          <a:xfrm>
            <a:off x="566928" y="3273552"/>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CI/CD pipeline verified with sample build</a:t>
            </a:r>
            <a:endParaRPr lang="en-US" sz="850" dirty="0"/>
          </a:p>
        </p:txBody>
      </p:sp>
      <p:sp>
        <p:nvSpPr>
          <p:cNvPr id="15" name="Text 13"/>
          <p:cNvSpPr/>
          <p:nvPr/>
        </p:nvSpPr>
        <p:spPr>
          <a:xfrm>
            <a:off x="566928" y="3675888"/>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Development environment access confirmed</a:t>
            </a:r>
            <a:endParaRPr lang="en-US" sz="850" dirty="0"/>
          </a:p>
        </p:txBody>
      </p:sp>
      <p:sp>
        <p:nvSpPr>
          <p:cNvPr id="16" name="Shape 14"/>
          <p:cNvSpPr/>
          <p:nvPr/>
        </p:nvSpPr>
        <p:spPr>
          <a:xfrm>
            <a:off x="530352" y="4590288"/>
            <a:ext cx="2505456" cy="237744"/>
          </a:xfrm>
          <a:prstGeom prst="rect">
            <a:avLst/>
          </a:prstGeom>
          <a:solidFill>
            <a:srgbClr val="1D4ED8"/>
          </a:solidFill>
          <a:ln w="12700">
            <a:solidFill>
              <a:srgbClr val="1D4ED8"/>
            </a:solidFill>
            <a:prstDash val="solid"/>
          </a:ln>
        </p:spPr>
      </p:sp>
      <p:sp>
        <p:nvSpPr>
          <p:cNvPr id="17" name="Text 15"/>
          <p:cNvSpPr/>
          <p:nvPr/>
        </p:nvSpPr>
        <p:spPr>
          <a:xfrm>
            <a:off x="548640" y="4599432"/>
            <a:ext cx="2468880" cy="219456"/>
          </a:xfrm>
          <a:prstGeom prst="rect">
            <a:avLst/>
          </a:prstGeom>
          <a:noFill/>
          <a:ln/>
        </p:spPr>
        <p:txBody>
          <a:bodyPr wrap="square" rtlCol="0" anchor="ctr"/>
          <a:lstStyle/>
          <a:p>
            <a:pPr indent="0" marL="0">
              <a:buNone/>
            </a:pPr>
            <a:r>
              <a:rPr lang="en-US" sz="700" dirty="0">
                <a:solidFill>
                  <a:srgbClr val="FFFFFF"/>
                </a:solidFill>
                <a:latin typeface="Calibri" pitchFamily="34" charset="0"/>
                <a:ea typeface="Calibri" pitchFamily="34" charset="-122"/>
                <a:cs typeface="Calibri" pitchFamily="34" charset="-120"/>
              </a:rPr>
              <a:t>⚠  No development begins until designs &amp; schema are signed off.</a:t>
            </a:r>
            <a:endParaRPr lang="en-US" sz="700" dirty="0"/>
          </a:p>
        </p:txBody>
      </p:sp>
      <p:sp>
        <p:nvSpPr>
          <p:cNvPr id="18" name="Shape 16"/>
          <p:cNvSpPr/>
          <p:nvPr/>
        </p:nvSpPr>
        <p:spPr>
          <a:xfrm>
            <a:off x="3273552" y="1316736"/>
            <a:ext cx="2651760" cy="3584448"/>
          </a:xfrm>
          <a:prstGeom prst="rect">
            <a:avLst/>
          </a:prstGeom>
          <a:solidFill>
            <a:srgbClr val="F0FDF4"/>
          </a:solidFill>
          <a:ln w="12700">
            <a:solidFill>
              <a:srgbClr val="059669"/>
            </a:solidFill>
            <a:prstDash val="solid"/>
          </a:ln>
          <a:effectLst>
            <a:outerShdw sx="100000" sy="100000" kx="0" ky="0" algn="bl" rotWithShape="0" blurRad="76200" dist="38100" dir="8100000">
              <a:srgbClr val="000000">
                <a:alpha val="9000"/>
              </a:srgbClr>
            </a:outerShdw>
          </a:effectLst>
        </p:spPr>
      </p:sp>
      <p:sp>
        <p:nvSpPr>
          <p:cNvPr id="19" name="Shape 17"/>
          <p:cNvSpPr/>
          <p:nvPr/>
        </p:nvSpPr>
        <p:spPr>
          <a:xfrm>
            <a:off x="3273552" y="1316736"/>
            <a:ext cx="2651760" cy="658368"/>
          </a:xfrm>
          <a:prstGeom prst="rect">
            <a:avLst/>
          </a:prstGeom>
          <a:solidFill>
            <a:srgbClr val="059669"/>
          </a:solidFill>
          <a:ln w="12700">
            <a:solidFill>
              <a:srgbClr val="059669"/>
            </a:solidFill>
            <a:prstDash val="solid"/>
          </a:ln>
        </p:spPr>
      </p:sp>
      <p:sp>
        <p:nvSpPr>
          <p:cNvPr id="20" name="Text 18"/>
          <p:cNvSpPr/>
          <p:nvPr/>
        </p:nvSpPr>
        <p:spPr>
          <a:xfrm>
            <a:off x="3273552" y="1371600"/>
            <a:ext cx="2651760" cy="219456"/>
          </a:xfrm>
          <a:prstGeom prst="rect">
            <a:avLst/>
          </a:prstGeom>
          <a:noFill/>
          <a:ln/>
        </p:spPr>
        <p:txBody>
          <a:bodyPr wrap="square"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Gate G2</a:t>
            </a:r>
            <a:endParaRPr lang="en-US" sz="900" dirty="0"/>
          </a:p>
        </p:txBody>
      </p:sp>
      <p:sp>
        <p:nvSpPr>
          <p:cNvPr id="21" name="Text 19"/>
          <p:cNvSpPr/>
          <p:nvPr/>
        </p:nvSpPr>
        <p:spPr>
          <a:xfrm>
            <a:off x="3273552" y="1591056"/>
            <a:ext cx="2651760" cy="182880"/>
          </a:xfrm>
          <a:prstGeom prst="rect">
            <a:avLst/>
          </a:prstGeom>
          <a:noFill/>
          <a:ln/>
        </p:spPr>
        <p:txBody>
          <a:bodyPr wrap="square" rtlCol="0" anchor="ctr"/>
          <a:lstStyle/>
          <a:p>
            <a:pPr algn="ctr" indent="0" marL="0">
              <a:buNone/>
            </a:pPr>
            <a:r>
              <a:rPr lang="en-US" sz="850" dirty="0">
                <a:solidFill>
                  <a:srgbClr val="000000"/>
                </a:solidFill>
                <a:latin typeface="Calibri" pitchFamily="34" charset="0"/>
                <a:ea typeface="Calibri" pitchFamily="34" charset="-122"/>
                <a:cs typeface="Calibri" pitchFamily="34" charset="-120"/>
              </a:rPr>
              <a:t>End Wk 6</a:t>
            </a:r>
            <a:endParaRPr lang="en-US" sz="850" dirty="0"/>
          </a:p>
        </p:txBody>
      </p:sp>
      <p:sp>
        <p:nvSpPr>
          <p:cNvPr id="22" name="Text 20"/>
          <p:cNvSpPr/>
          <p:nvPr/>
        </p:nvSpPr>
        <p:spPr>
          <a:xfrm>
            <a:off x="3273552" y="1792224"/>
            <a:ext cx="2651760" cy="16459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MVP Core Feature Sign-Off</a:t>
            </a:r>
            <a:endParaRPr lang="en-US" sz="800" dirty="0"/>
          </a:p>
        </p:txBody>
      </p:sp>
      <p:sp>
        <p:nvSpPr>
          <p:cNvPr id="23" name="Text 21"/>
          <p:cNvSpPr/>
          <p:nvPr/>
        </p:nvSpPr>
        <p:spPr>
          <a:xfrm>
            <a:off x="3383280" y="2066544"/>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Auth + Member Directory demo accepted</a:t>
            </a:r>
            <a:endParaRPr lang="en-US" sz="850" dirty="0"/>
          </a:p>
        </p:txBody>
      </p:sp>
      <p:sp>
        <p:nvSpPr>
          <p:cNvPr id="24" name="Text 22"/>
          <p:cNvSpPr/>
          <p:nvPr/>
        </p:nvSpPr>
        <p:spPr>
          <a:xfrm>
            <a:off x="3383280" y="2468880"/>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Prayer Requests flow verified end-to-end</a:t>
            </a:r>
            <a:endParaRPr lang="en-US" sz="850" dirty="0"/>
          </a:p>
        </p:txBody>
      </p:sp>
      <p:sp>
        <p:nvSpPr>
          <p:cNvPr id="25" name="Text 23"/>
          <p:cNvSpPr/>
          <p:nvPr/>
        </p:nvSpPr>
        <p:spPr>
          <a:xfrm>
            <a:off x="3383280" y="2871216"/>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Video streaming via CloudFront &lt;2s confirmed</a:t>
            </a:r>
            <a:endParaRPr lang="en-US" sz="850" dirty="0"/>
          </a:p>
        </p:txBody>
      </p:sp>
      <p:sp>
        <p:nvSpPr>
          <p:cNvPr id="26" name="Text 24"/>
          <p:cNvSpPr/>
          <p:nvPr/>
        </p:nvSpPr>
        <p:spPr>
          <a:xfrm>
            <a:off x="3383280" y="3273552"/>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Member History notes live in staging</a:t>
            </a:r>
            <a:endParaRPr lang="en-US" sz="850" dirty="0"/>
          </a:p>
        </p:txBody>
      </p:sp>
      <p:sp>
        <p:nvSpPr>
          <p:cNvPr id="27" name="Text 25"/>
          <p:cNvSpPr/>
          <p:nvPr/>
        </p:nvSpPr>
        <p:spPr>
          <a:xfrm>
            <a:off x="3383280" y="3675888"/>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All core APIs (.NET 8) feature-complete</a:t>
            </a:r>
            <a:endParaRPr lang="en-US" sz="850" dirty="0"/>
          </a:p>
        </p:txBody>
      </p:sp>
      <p:sp>
        <p:nvSpPr>
          <p:cNvPr id="28" name="Shape 26"/>
          <p:cNvSpPr/>
          <p:nvPr/>
        </p:nvSpPr>
        <p:spPr>
          <a:xfrm>
            <a:off x="3346704" y="4590288"/>
            <a:ext cx="2505456" cy="237744"/>
          </a:xfrm>
          <a:prstGeom prst="rect">
            <a:avLst/>
          </a:prstGeom>
          <a:solidFill>
            <a:srgbClr val="059669"/>
          </a:solidFill>
          <a:ln w="12700">
            <a:solidFill>
              <a:srgbClr val="059669"/>
            </a:solidFill>
            <a:prstDash val="solid"/>
          </a:ln>
        </p:spPr>
      </p:sp>
      <p:sp>
        <p:nvSpPr>
          <p:cNvPr id="29" name="Text 27"/>
          <p:cNvSpPr/>
          <p:nvPr/>
        </p:nvSpPr>
        <p:spPr>
          <a:xfrm>
            <a:off x="3364992" y="4599432"/>
            <a:ext cx="2468880" cy="219456"/>
          </a:xfrm>
          <a:prstGeom prst="rect">
            <a:avLst/>
          </a:prstGeom>
          <a:noFill/>
          <a:ln/>
        </p:spPr>
        <p:txBody>
          <a:bodyPr wrap="square" rtlCol="0" anchor="ctr"/>
          <a:lstStyle/>
          <a:p>
            <a:pPr indent="0" marL="0">
              <a:buNone/>
            </a:pPr>
            <a:r>
              <a:rPr lang="en-US" sz="700" dirty="0">
                <a:solidFill>
                  <a:srgbClr val="FFFFFF"/>
                </a:solidFill>
                <a:latin typeface="Calibri" pitchFamily="34" charset="0"/>
                <a:ea typeface="Calibri" pitchFamily="34" charset="-122"/>
                <a:cs typeface="Calibri" pitchFamily="34" charset="-120"/>
              </a:rPr>
              <a:t>⚠  Phase 3 features only begin once core is approved.</a:t>
            </a:r>
            <a:endParaRPr lang="en-US" sz="700" dirty="0"/>
          </a:p>
        </p:txBody>
      </p:sp>
      <p:sp>
        <p:nvSpPr>
          <p:cNvPr id="30" name="Shape 28"/>
          <p:cNvSpPr/>
          <p:nvPr/>
        </p:nvSpPr>
        <p:spPr>
          <a:xfrm>
            <a:off x="6089904" y="1316736"/>
            <a:ext cx="2651760" cy="3584448"/>
          </a:xfrm>
          <a:prstGeom prst="rect">
            <a:avLst/>
          </a:prstGeom>
          <a:solidFill>
            <a:srgbClr val="F5F3FF"/>
          </a:solidFill>
          <a:ln w="12700">
            <a:solidFill>
              <a:srgbClr val="7C3AED"/>
            </a:solidFill>
            <a:prstDash val="solid"/>
          </a:ln>
          <a:effectLst>
            <a:outerShdw sx="100000" sy="100000" kx="0" ky="0" algn="bl" rotWithShape="0" blurRad="76200" dist="38100" dir="8100000">
              <a:srgbClr val="000000">
                <a:alpha val="9000"/>
              </a:srgbClr>
            </a:outerShdw>
          </a:effectLst>
        </p:spPr>
      </p:sp>
      <p:sp>
        <p:nvSpPr>
          <p:cNvPr id="31" name="Shape 29"/>
          <p:cNvSpPr/>
          <p:nvPr/>
        </p:nvSpPr>
        <p:spPr>
          <a:xfrm>
            <a:off x="6089904" y="1316736"/>
            <a:ext cx="2651760" cy="658368"/>
          </a:xfrm>
          <a:prstGeom prst="rect">
            <a:avLst/>
          </a:prstGeom>
          <a:solidFill>
            <a:srgbClr val="7C3AED"/>
          </a:solidFill>
          <a:ln w="12700">
            <a:solidFill>
              <a:srgbClr val="7C3AED"/>
            </a:solidFill>
            <a:prstDash val="solid"/>
          </a:ln>
        </p:spPr>
      </p:sp>
      <p:sp>
        <p:nvSpPr>
          <p:cNvPr id="32" name="Text 30"/>
          <p:cNvSpPr/>
          <p:nvPr/>
        </p:nvSpPr>
        <p:spPr>
          <a:xfrm>
            <a:off x="6089904" y="1371600"/>
            <a:ext cx="2651760" cy="219456"/>
          </a:xfrm>
          <a:prstGeom prst="rect">
            <a:avLst/>
          </a:prstGeom>
          <a:noFill/>
          <a:ln/>
        </p:spPr>
        <p:txBody>
          <a:bodyPr wrap="square"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Gate G3</a:t>
            </a:r>
            <a:endParaRPr lang="en-US" sz="900" dirty="0"/>
          </a:p>
        </p:txBody>
      </p:sp>
      <p:sp>
        <p:nvSpPr>
          <p:cNvPr id="33" name="Text 31"/>
          <p:cNvSpPr/>
          <p:nvPr/>
        </p:nvSpPr>
        <p:spPr>
          <a:xfrm>
            <a:off x="6089904" y="1591056"/>
            <a:ext cx="2651760" cy="182880"/>
          </a:xfrm>
          <a:prstGeom prst="rect">
            <a:avLst/>
          </a:prstGeom>
          <a:noFill/>
          <a:ln/>
        </p:spPr>
        <p:txBody>
          <a:bodyPr wrap="square" rtlCol="0" anchor="ctr"/>
          <a:lstStyle/>
          <a:p>
            <a:pPr algn="ctr" indent="0" marL="0">
              <a:buNone/>
            </a:pPr>
            <a:r>
              <a:rPr lang="en-US" sz="850" dirty="0">
                <a:solidFill>
                  <a:srgbClr val="000000"/>
                </a:solidFill>
                <a:latin typeface="Calibri" pitchFamily="34" charset="0"/>
                <a:ea typeface="Calibri" pitchFamily="34" charset="-122"/>
                <a:cs typeface="Calibri" pitchFamily="34" charset="-120"/>
              </a:rPr>
              <a:t>End Wk 10</a:t>
            </a:r>
            <a:endParaRPr lang="en-US" sz="850" dirty="0"/>
          </a:p>
        </p:txBody>
      </p:sp>
      <p:sp>
        <p:nvSpPr>
          <p:cNvPr id="34" name="Text 32"/>
          <p:cNvSpPr/>
          <p:nvPr/>
        </p:nvSpPr>
        <p:spPr>
          <a:xfrm>
            <a:off x="6089904" y="1792224"/>
            <a:ext cx="2651760" cy="16459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UAT &amp; Go-Live Sign-Off</a:t>
            </a:r>
            <a:endParaRPr lang="en-US" sz="800" dirty="0"/>
          </a:p>
        </p:txBody>
      </p:sp>
      <p:sp>
        <p:nvSpPr>
          <p:cNvPr id="35" name="Text 33"/>
          <p:cNvSpPr/>
          <p:nvPr/>
        </p:nvSpPr>
        <p:spPr>
          <a:xfrm>
            <a:off x="6199632" y="2066544"/>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All 35+ pre-launch checklist items checked</a:t>
            </a:r>
            <a:endParaRPr lang="en-US" sz="850" dirty="0"/>
          </a:p>
        </p:txBody>
      </p:sp>
      <p:sp>
        <p:nvSpPr>
          <p:cNvPr id="36" name="Text 34"/>
          <p:cNvSpPr/>
          <p:nvPr/>
        </p:nvSpPr>
        <p:spPr>
          <a:xfrm>
            <a:off x="6199632" y="2468880"/>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OWASP security audit passed &amp; documented</a:t>
            </a:r>
            <a:endParaRPr lang="en-US" sz="850" dirty="0"/>
          </a:p>
        </p:txBody>
      </p:sp>
      <p:sp>
        <p:nvSpPr>
          <p:cNvPr id="37" name="Text 35"/>
          <p:cNvSpPr/>
          <p:nvPr/>
        </p:nvSpPr>
        <p:spPr>
          <a:xfrm>
            <a:off x="6199632" y="2871216"/>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xUnit + Playwright + Appium test report attached</a:t>
            </a:r>
            <a:endParaRPr lang="en-US" sz="850" dirty="0"/>
          </a:p>
        </p:txBody>
      </p:sp>
      <p:sp>
        <p:nvSpPr>
          <p:cNvPr id="38" name="Text 36"/>
          <p:cNvSpPr/>
          <p:nvPr/>
        </p:nvSpPr>
        <p:spPr>
          <a:xfrm>
            <a:off x="6199632" y="3273552"/>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ANM UAT participants sign acceptance form</a:t>
            </a:r>
            <a:endParaRPr lang="en-US" sz="850" dirty="0"/>
          </a:p>
        </p:txBody>
      </p:sp>
      <p:sp>
        <p:nvSpPr>
          <p:cNvPr id="39" name="Text 37"/>
          <p:cNvSpPr/>
          <p:nvPr/>
        </p:nvSpPr>
        <p:spPr>
          <a:xfrm>
            <a:off x="6199632" y="3675888"/>
            <a:ext cx="2432304" cy="347472"/>
          </a:xfrm>
          <a:prstGeom prst="rect">
            <a:avLst/>
          </a:prstGeom>
          <a:noFill/>
          <a:ln/>
        </p:spPr>
        <p:txBody>
          <a:bodyPr wrap="square" rtlCol="0" anchor="t"/>
          <a:lstStyle/>
          <a:p>
            <a:pPr indent="0" marL="0">
              <a:buNone/>
            </a:pPr>
            <a:r>
              <a:rPr lang="en-US" sz="850" dirty="0">
                <a:solidFill>
                  <a:srgbClr val="1A1A2E"/>
                </a:solidFill>
                <a:latin typeface="Calibri" pitchFamily="34" charset="0"/>
                <a:ea typeface="Calibri" pitchFamily="34" charset="-122"/>
                <a:cs typeface="Calibri" pitchFamily="34" charset="-120"/>
              </a:rPr>
              <a:t>✅ App Store / Play Store submissions approved</a:t>
            </a:r>
            <a:endParaRPr lang="en-US" sz="850" dirty="0"/>
          </a:p>
        </p:txBody>
      </p:sp>
      <p:sp>
        <p:nvSpPr>
          <p:cNvPr id="40" name="Shape 38"/>
          <p:cNvSpPr/>
          <p:nvPr/>
        </p:nvSpPr>
        <p:spPr>
          <a:xfrm>
            <a:off x="6163056" y="4590288"/>
            <a:ext cx="2505456" cy="237744"/>
          </a:xfrm>
          <a:prstGeom prst="rect">
            <a:avLst/>
          </a:prstGeom>
          <a:solidFill>
            <a:srgbClr val="7C3AED"/>
          </a:solidFill>
          <a:ln w="12700">
            <a:solidFill>
              <a:srgbClr val="7C3AED"/>
            </a:solidFill>
            <a:prstDash val="solid"/>
          </a:ln>
        </p:spPr>
      </p:sp>
      <p:sp>
        <p:nvSpPr>
          <p:cNvPr id="41" name="Text 39"/>
          <p:cNvSpPr/>
          <p:nvPr/>
        </p:nvSpPr>
        <p:spPr>
          <a:xfrm>
            <a:off x="6181344" y="4599432"/>
            <a:ext cx="2468880" cy="219456"/>
          </a:xfrm>
          <a:prstGeom prst="rect">
            <a:avLst/>
          </a:prstGeom>
          <a:noFill/>
          <a:ln/>
        </p:spPr>
        <p:txBody>
          <a:bodyPr wrap="square" rtlCol="0" anchor="ctr"/>
          <a:lstStyle/>
          <a:p>
            <a:pPr indent="0" marL="0">
              <a:buNone/>
            </a:pPr>
            <a:r>
              <a:rPr lang="en-US" sz="700" dirty="0">
                <a:solidFill>
                  <a:srgbClr val="FFFFFF"/>
                </a:solidFill>
                <a:latin typeface="Calibri" pitchFamily="34" charset="0"/>
                <a:ea typeface="Calibri" pitchFamily="34" charset="-122"/>
                <a:cs typeface="Calibri" pitchFamily="34" charset="-120"/>
              </a:rPr>
              <a:t>⚠  Production release requires written stakeholder sign-off.</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PHASE BREAKDOWN</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Phase-by-Phase Task Breakdown</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Shape 3"/>
          <p:cNvSpPr/>
          <p:nvPr/>
        </p:nvSpPr>
        <p:spPr>
          <a:xfrm>
            <a:off x="320040" y="1097280"/>
            <a:ext cx="2798064" cy="1920240"/>
          </a:xfrm>
          <a:prstGeom prst="rect">
            <a:avLst/>
          </a:prstGeom>
          <a:solidFill>
            <a:srgbClr val="EFF6FF"/>
          </a:solidFill>
          <a:ln w="12700">
            <a:solidFill>
              <a:srgbClr val="2563EB"/>
            </a:solidFill>
            <a:prstDash val="solid"/>
          </a:ln>
          <a:effectLst>
            <a:outerShdw sx="100000" sy="100000" kx="0" ky="0" algn="bl" rotWithShape="0" blurRad="76200" dist="38100" dir="8100000">
              <a:srgbClr val="000000">
                <a:alpha val="9000"/>
              </a:srgbClr>
            </a:outerShdw>
          </a:effectLst>
        </p:spPr>
      </p:sp>
      <p:sp>
        <p:nvSpPr>
          <p:cNvPr id="6" name="Shape 4"/>
          <p:cNvSpPr/>
          <p:nvPr/>
        </p:nvSpPr>
        <p:spPr>
          <a:xfrm>
            <a:off x="320040" y="1097280"/>
            <a:ext cx="2798064" cy="475488"/>
          </a:xfrm>
          <a:prstGeom prst="rect">
            <a:avLst/>
          </a:prstGeom>
          <a:solidFill>
            <a:srgbClr val="2563EB"/>
          </a:solidFill>
          <a:ln w="12700">
            <a:solidFill>
              <a:srgbClr val="2563EB"/>
            </a:solidFill>
            <a:prstDash val="solid"/>
          </a:ln>
        </p:spPr>
      </p:sp>
      <p:sp>
        <p:nvSpPr>
          <p:cNvPr id="7" name="Text 5"/>
          <p:cNvSpPr/>
          <p:nvPr/>
        </p:nvSpPr>
        <p:spPr>
          <a:xfrm>
            <a:off x="393192" y="1152144"/>
            <a:ext cx="2651760" cy="219456"/>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Phase 01: Discovery &amp; Framework Config</a:t>
            </a:r>
            <a:endParaRPr lang="en-US" sz="950" dirty="0"/>
          </a:p>
        </p:txBody>
      </p:sp>
      <p:sp>
        <p:nvSpPr>
          <p:cNvPr id="8" name="Text 6"/>
          <p:cNvSpPr/>
          <p:nvPr/>
        </p:nvSpPr>
        <p:spPr>
          <a:xfrm>
            <a:off x="393192" y="1371600"/>
            <a:ext cx="2651760" cy="164592"/>
          </a:xfrm>
          <a:prstGeom prst="rect">
            <a:avLst/>
          </a:prstGeom>
          <a:noFill/>
          <a:ln/>
        </p:spPr>
        <p:txBody>
          <a:bodyPr wrap="square" rtlCol="0" anchor="ctr"/>
          <a:lstStyle/>
          <a:p>
            <a:pPr indent="0" marL="0">
              <a:buNone/>
            </a:pPr>
            <a:r>
              <a:rPr lang="en-US" sz="750" dirty="0">
                <a:solidFill>
                  <a:srgbClr val="000000"/>
                </a:solidFill>
                <a:latin typeface="Calibri" pitchFamily="34" charset="0"/>
                <a:ea typeface="Calibri" pitchFamily="34" charset="-122"/>
                <a:cs typeface="Calibri" pitchFamily="34" charset="-120"/>
              </a:rPr>
              <a:t>Wk 1–2</a:t>
            </a:r>
            <a:endParaRPr lang="en-US" sz="750" dirty="0"/>
          </a:p>
        </p:txBody>
      </p:sp>
      <p:sp>
        <p:nvSpPr>
          <p:cNvPr id="9" name="Shape 7"/>
          <p:cNvSpPr/>
          <p:nvPr/>
        </p:nvSpPr>
        <p:spPr>
          <a:xfrm>
            <a:off x="411480" y="1719072"/>
            <a:ext cx="82296" cy="82296"/>
          </a:xfrm>
          <a:prstGeom prst="ellipse">
            <a:avLst/>
          </a:prstGeom>
          <a:solidFill>
            <a:srgbClr val="2563EB"/>
          </a:solidFill>
          <a:ln w="12700">
            <a:solidFill>
              <a:srgbClr val="2563EB"/>
            </a:solidFill>
            <a:prstDash val="solid"/>
          </a:ln>
        </p:spPr>
      </p:sp>
      <p:sp>
        <p:nvSpPr>
          <p:cNvPr id="10" name="Text 8"/>
          <p:cNvSpPr/>
          <p:nvPr/>
        </p:nvSpPr>
        <p:spPr>
          <a:xfrm>
            <a:off x="539496" y="1664208"/>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Stakeholder requirements workshop</a:t>
            </a:r>
            <a:endParaRPr lang="en-US" sz="750" dirty="0"/>
          </a:p>
        </p:txBody>
      </p:sp>
      <p:sp>
        <p:nvSpPr>
          <p:cNvPr id="11" name="Shape 9"/>
          <p:cNvSpPr/>
          <p:nvPr/>
        </p:nvSpPr>
        <p:spPr>
          <a:xfrm>
            <a:off x="411480" y="1956816"/>
            <a:ext cx="82296" cy="82296"/>
          </a:xfrm>
          <a:prstGeom prst="ellipse">
            <a:avLst/>
          </a:prstGeom>
          <a:solidFill>
            <a:srgbClr val="2563EB"/>
          </a:solidFill>
          <a:ln w="12700">
            <a:solidFill>
              <a:srgbClr val="2563EB"/>
            </a:solidFill>
            <a:prstDash val="solid"/>
          </a:ln>
        </p:spPr>
      </p:sp>
      <p:sp>
        <p:nvSpPr>
          <p:cNvPr id="12" name="Text 10"/>
          <p:cNvSpPr/>
          <p:nvPr/>
        </p:nvSpPr>
        <p:spPr>
          <a:xfrm>
            <a:off x="539496" y="1901952"/>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ANM brand config + theming in Ionic</a:t>
            </a:r>
            <a:endParaRPr lang="en-US" sz="750" dirty="0"/>
          </a:p>
        </p:txBody>
      </p:sp>
      <p:sp>
        <p:nvSpPr>
          <p:cNvPr id="13" name="Shape 11"/>
          <p:cNvSpPr/>
          <p:nvPr/>
        </p:nvSpPr>
        <p:spPr>
          <a:xfrm>
            <a:off x="411480" y="2194560"/>
            <a:ext cx="82296" cy="82296"/>
          </a:xfrm>
          <a:prstGeom prst="ellipse">
            <a:avLst/>
          </a:prstGeom>
          <a:solidFill>
            <a:srgbClr val="2563EB"/>
          </a:solidFill>
          <a:ln w="12700">
            <a:solidFill>
              <a:srgbClr val="2563EB"/>
            </a:solidFill>
            <a:prstDash val="solid"/>
          </a:ln>
        </p:spPr>
      </p:sp>
      <p:sp>
        <p:nvSpPr>
          <p:cNvPr id="14" name="Text 12"/>
          <p:cNvSpPr/>
          <p:nvPr/>
        </p:nvSpPr>
        <p:spPr>
          <a:xfrm>
            <a:off x="539496" y="2139696"/>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PostgreSQL schema design (EF Core 8 migrations)</a:t>
            </a:r>
            <a:endParaRPr lang="en-US" sz="750" dirty="0"/>
          </a:p>
        </p:txBody>
      </p:sp>
      <p:sp>
        <p:nvSpPr>
          <p:cNvPr id="15" name="Shape 13"/>
          <p:cNvSpPr/>
          <p:nvPr/>
        </p:nvSpPr>
        <p:spPr>
          <a:xfrm>
            <a:off x="411480" y="2432304"/>
            <a:ext cx="82296" cy="82296"/>
          </a:xfrm>
          <a:prstGeom prst="ellipse">
            <a:avLst/>
          </a:prstGeom>
          <a:solidFill>
            <a:srgbClr val="2563EB"/>
          </a:solidFill>
          <a:ln w="12700">
            <a:solidFill>
              <a:srgbClr val="2563EB"/>
            </a:solidFill>
            <a:prstDash val="solid"/>
          </a:ln>
        </p:spPr>
      </p:sp>
      <p:sp>
        <p:nvSpPr>
          <p:cNvPr id="16" name="Text 14"/>
          <p:cNvSpPr/>
          <p:nvPr/>
        </p:nvSpPr>
        <p:spPr>
          <a:xfrm>
            <a:off x="539496" y="2377440"/>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REST API contract (14 endpoints, OpenAPI spec)</a:t>
            </a:r>
            <a:endParaRPr lang="en-US" sz="750" dirty="0"/>
          </a:p>
        </p:txBody>
      </p:sp>
      <p:sp>
        <p:nvSpPr>
          <p:cNvPr id="17" name="Shape 15"/>
          <p:cNvSpPr/>
          <p:nvPr/>
        </p:nvSpPr>
        <p:spPr>
          <a:xfrm>
            <a:off x="411480" y="2670048"/>
            <a:ext cx="82296" cy="82296"/>
          </a:xfrm>
          <a:prstGeom prst="ellipse">
            <a:avLst/>
          </a:prstGeom>
          <a:solidFill>
            <a:srgbClr val="2563EB"/>
          </a:solidFill>
          <a:ln w="12700">
            <a:solidFill>
              <a:srgbClr val="2563EB"/>
            </a:solidFill>
            <a:prstDash val="solid"/>
          </a:ln>
        </p:spPr>
      </p:sp>
      <p:sp>
        <p:nvSpPr>
          <p:cNvPr id="18" name="Text 16"/>
          <p:cNvSpPr/>
          <p:nvPr/>
        </p:nvSpPr>
        <p:spPr>
          <a:xfrm>
            <a:off x="539496" y="2615184"/>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CI/CD pipeline — GitHub Actions + AWS ECS</a:t>
            </a:r>
            <a:endParaRPr lang="en-US" sz="750" dirty="0"/>
          </a:p>
        </p:txBody>
      </p:sp>
      <p:sp>
        <p:nvSpPr>
          <p:cNvPr id="19" name="Shape 17"/>
          <p:cNvSpPr/>
          <p:nvPr/>
        </p:nvSpPr>
        <p:spPr>
          <a:xfrm>
            <a:off x="411480" y="2907792"/>
            <a:ext cx="82296" cy="82296"/>
          </a:xfrm>
          <a:prstGeom prst="ellipse">
            <a:avLst/>
          </a:prstGeom>
          <a:solidFill>
            <a:srgbClr val="2563EB"/>
          </a:solidFill>
          <a:ln w="12700">
            <a:solidFill>
              <a:srgbClr val="2563EB"/>
            </a:solidFill>
            <a:prstDash val="solid"/>
          </a:ln>
        </p:spPr>
      </p:sp>
      <p:sp>
        <p:nvSpPr>
          <p:cNvPr id="20" name="Text 18"/>
          <p:cNvSpPr/>
          <p:nvPr/>
        </p:nvSpPr>
        <p:spPr>
          <a:xfrm>
            <a:off x="539496" y="2852928"/>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Figma UI design + sign-off gate G1</a:t>
            </a:r>
            <a:endParaRPr lang="en-US" sz="750" dirty="0"/>
          </a:p>
        </p:txBody>
      </p:sp>
      <p:sp>
        <p:nvSpPr>
          <p:cNvPr id="21" name="Shape 19"/>
          <p:cNvSpPr/>
          <p:nvPr/>
        </p:nvSpPr>
        <p:spPr>
          <a:xfrm>
            <a:off x="3264408" y="1097280"/>
            <a:ext cx="2798064" cy="1920240"/>
          </a:xfrm>
          <a:prstGeom prst="rect">
            <a:avLst/>
          </a:prstGeom>
          <a:solidFill>
            <a:srgbClr val="F0FDF4"/>
          </a:solidFill>
          <a:ln w="12700">
            <a:solidFill>
              <a:srgbClr val="059669"/>
            </a:solidFill>
            <a:prstDash val="solid"/>
          </a:ln>
          <a:effectLst>
            <a:outerShdw sx="100000" sy="100000" kx="0" ky="0" algn="bl" rotWithShape="0" blurRad="76200" dist="38100" dir="8100000">
              <a:srgbClr val="000000">
                <a:alpha val="9000"/>
              </a:srgbClr>
            </a:outerShdw>
          </a:effectLst>
        </p:spPr>
      </p:sp>
      <p:sp>
        <p:nvSpPr>
          <p:cNvPr id="22" name="Shape 20"/>
          <p:cNvSpPr/>
          <p:nvPr/>
        </p:nvSpPr>
        <p:spPr>
          <a:xfrm>
            <a:off x="3264408" y="1097280"/>
            <a:ext cx="2798064" cy="475488"/>
          </a:xfrm>
          <a:prstGeom prst="rect">
            <a:avLst/>
          </a:prstGeom>
          <a:solidFill>
            <a:srgbClr val="059669"/>
          </a:solidFill>
          <a:ln w="12700">
            <a:solidFill>
              <a:srgbClr val="059669"/>
            </a:solidFill>
            <a:prstDash val="solid"/>
          </a:ln>
        </p:spPr>
      </p:sp>
      <p:sp>
        <p:nvSpPr>
          <p:cNvPr id="23" name="Text 21"/>
          <p:cNvSpPr/>
          <p:nvPr/>
        </p:nvSpPr>
        <p:spPr>
          <a:xfrm>
            <a:off x="3337560" y="1152144"/>
            <a:ext cx="2651760" cy="219456"/>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Phase 02: Core Customisation</a:t>
            </a:r>
            <a:endParaRPr lang="en-US" sz="950" dirty="0"/>
          </a:p>
        </p:txBody>
      </p:sp>
      <p:sp>
        <p:nvSpPr>
          <p:cNvPr id="24" name="Text 22"/>
          <p:cNvSpPr/>
          <p:nvPr/>
        </p:nvSpPr>
        <p:spPr>
          <a:xfrm>
            <a:off x="3337560" y="1371600"/>
            <a:ext cx="2651760" cy="164592"/>
          </a:xfrm>
          <a:prstGeom prst="rect">
            <a:avLst/>
          </a:prstGeom>
          <a:noFill/>
          <a:ln/>
        </p:spPr>
        <p:txBody>
          <a:bodyPr wrap="square" rtlCol="0" anchor="ctr"/>
          <a:lstStyle/>
          <a:p>
            <a:pPr indent="0" marL="0">
              <a:buNone/>
            </a:pPr>
            <a:r>
              <a:rPr lang="en-US" sz="750" dirty="0">
                <a:solidFill>
                  <a:srgbClr val="000000"/>
                </a:solidFill>
                <a:latin typeface="Calibri" pitchFamily="34" charset="0"/>
                <a:ea typeface="Calibri" pitchFamily="34" charset="-122"/>
                <a:cs typeface="Calibri" pitchFamily="34" charset="-120"/>
              </a:rPr>
              <a:t>Wk 3–6</a:t>
            </a:r>
            <a:endParaRPr lang="en-US" sz="750" dirty="0"/>
          </a:p>
        </p:txBody>
      </p:sp>
      <p:sp>
        <p:nvSpPr>
          <p:cNvPr id="25" name="Shape 23"/>
          <p:cNvSpPr/>
          <p:nvPr/>
        </p:nvSpPr>
        <p:spPr>
          <a:xfrm>
            <a:off x="3355848" y="1719072"/>
            <a:ext cx="82296" cy="82296"/>
          </a:xfrm>
          <a:prstGeom prst="ellipse">
            <a:avLst/>
          </a:prstGeom>
          <a:solidFill>
            <a:srgbClr val="059669"/>
          </a:solidFill>
          <a:ln w="12700">
            <a:solidFill>
              <a:srgbClr val="059669"/>
            </a:solidFill>
            <a:prstDash val="solid"/>
          </a:ln>
        </p:spPr>
      </p:sp>
      <p:sp>
        <p:nvSpPr>
          <p:cNvPr id="26" name="Text 24"/>
          <p:cNvSpPr/>
          <p:nvPr/>
        </p:nvSpPr>
        <p:spPr>
          <a:xfrm>
            <a:off x="3483864" y="1664208"/>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Firebase Auth + biometric onboarding</a:t>
            </a:r>
            <a:endParaRPr lang="en-US" sz="750" dirty="0"/>
          </a:p>
        </p:txBody>
      </p:sp>
      <p:sp>
        <p:nvSpPr>
          <p:cNvPr id="27" name="Shape 25"/>
          <p:cNvSpPr/>
          <p:nvPr/>
        </p:nvSpPr>
        <p:spPr>
          <a:xfrm>
            <a:off x="3355848" y="1956816"/>
            <a:ext cx="82296" cy="82296"/>
          </a:xfrm>
          <a:prstGeom prst="ellipse">
            <a:avLst/>
          </a:prstGeom>
          <a:solidFill>
            <a:srgbClr val="059669"/>
          </a:solidFill>
          <a:ln w="12700">
            <a:solidFill>
              <a:srgbClr val="059669"/>
            </a:solidFill>
            <a:prstDash val="solid"/>
          </a:ln>
        </p:spPr>
      </p:sp>
      <p:sp>
        <p:nvSpPr>
          <p:cNvPr id="28" name="Text 26"/>
          <p:cNvSpPr/>
          <p:nvPr/>
        </p:nvSpPr>
        <p:spPr>
          <a:xfrm>
            <a:off x="3483864" y="1901952"/>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Member Directory + Detail (React + Ionic)</a:t>
            </a:r>
            <a:endParaRPr lang="en-US" sz="750" dirty="0"/>
          </a:p>
        </p:txBody>
      </p:sp>
      <p:sp>
        <p:nvSpPr>
          <p:cNvPr id="29" name="Shape 27"/>
          <p:cNvSpPr/>
          <p:nvPr/>
        </p:nvSpPr>
        <p:spPr>
          <a:xfrm>
            <a:off x="3355848" y="2194560"/>
            <a:ext cx="82296" cy="82296"/>
          </a:xfrm>
          <a:prstGeom prst="ellipse">
            <a:avLst/>
          </a:prstGeom>
          <a:solidFill>
            <a:srgbClr val="059669"/>
          </a:solidFill>
          <a:ln w="12700">
            <a:solidFill>
              <a:srgbClr val="059669"/>
            </a:solidFill>
            <a:prstDash val="solid"/>
          </a:ln>
        </p:spPr>
      </p:sp>
      <p:sp>
        <p:nvSpPr>
          <p:cNvPr id="30" name="Text 28"/>
          <p:cNvSpPr/>
          <p:nvPr/>
        </p:nvSpPr>
        <p:spPr>
          <a:xfrm>
            <a:off x="3483864" y="2139696"/>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Member History (pastoral notes — EF Core 8)</a:t>
            </a:r>
            <a:endParaRPr lang="en-US" sz="750" dirty="0"/>
          </a:p>
        </p:txBody>
      </p:sp>
      <p:sp>
        <p:nvSpPr>
          <p:cNvPr id="31" name="Shape 29"/>
          <p:cNvSpPr/>
          <p:nvPr/>
        </p:nvSpPr>
        <p:spPr>
          <a:xfrm>
            <a:off x="3355848" y="2432304"/>
            <a:ext cx="82296" cy="82296"/>
          </a:xfrm>
          <a:prstGeom prst="ellipse">
            <a:avLst/>
          </a:prstGeom>
          <a:solidFill>
            <a:srgbClr val="059669"/>
          </a:solidFill>
          <a:ln w="12700">
            <a:solidFill>
              <a:srgbClr val="059669"/>
            </a:solidFill>
            <a:prstDash val="solid"/>
          </a:ln>
        </p:spPr>
      </p:sp>
      <p:sp>
        <p:nvSpPr>
          <p:cNvPr id="32" name="Text 30"/>
          <p:cNvSpPr/>
          <p:nvPr/>
        </p:nvSpPr>
        <p:spPr>
          <a:xfrm>
            <a:off x="3483864" y="2377440"/>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Prayer Requests module + pray interactions</a:t>
            </a:r>
            <a:endParaRPr lang="en-US" sz="750" dirty="0"/>
          </a:p>
        </p:txBody>
      </p:sp>
      <p:sp>
        <p:nvSpPr>
          <p:cNvPr id="33" name="Shape 31"/>
          <p:cNvSpPr/>
          <p:nvPr/>
        </p:nvSpPr>
        <p:spPr>
          <a:xfrm>
            <a:off x="3355848" y="2670048"/>
            <a:ext cx="82296" cy="82296"/>
          </a:xfrm>
          <a:prstGeom prst="ellipse">
            <a:avLst/>
          </a:prstGeom>
          <a:solidFill>
            <a:srgbClr val="059669"/>
          </a:solidFill>
          <a:ln w="12700">
            <a:solidFill>
              <a:srgbClr val="059669"/>
            </a:solidFill>
            <a:prstDash val="solid"/>
          </a:ln>
        </p:spPr>
      </p:sp>
      <p:sp>
        <p:nvSpPr>
          <p:cNvPr id="34" name="Text 32"/>
          <p:cNvSpPr/>
          <p:nvPr/>
        </p:nvSpPr>
        <p:spPr>
          <a:xfrm>
            <a:off x="3483864" y="2615184"/>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Video Library + AWS S3 + CloudFront streaming</a:t>
            </a:r>
            <a:endParaRPr lang="en-US" sz="750" dirty="0"/>
          </a:p>
        </p:txBody>
      </p:sp>
      <p:sp>
        <p:nvSpPr>
          <p:cNvPr id="35" name="Shape 33"/>
          <p:cNvSpPr/>
          <p:nvPr/>
        </p:nvSpPr>
        <p:spPr>
          <a:xfrm>
            <a:off x="3355848" y="2907792"/>
            <a:ext cx="82296" cy="82296"/>
          </a:xfrm>
          <a:prstGeom prst="ellipse">
            <a:avLst/>
          </a:prstGeom>
          <a:solidFill>
            <a:srgbClr val="059669"/>
          </a:solidFill>
          <a:ln w="12700">
            <a:solidFill>
              <a:srgbClr val="059669"/>
            </a:solidFill>
            <a:prstDash val="solid"/>
          </a:ln>
        </p:spPr>
      </p:sp>
      <p:sp>
        <p:nvSpPr>
          <p:cNvPr id="36" name="Text 34"/>
          <p:cNvSpPr/>
          <p:nvPr/>
        </p:nvSpPr>
        <p:spPr>
          <a:xfrm>
            <a:off x="3483864" y="2852928"/>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Backend .NET 8 APIs (all 4 core modules) — G2</a:t>
            </a:r>
            <a:endParaRPr lang="en-US" sz="750" dirty="0"/>
          </a:p>
        </p:txBody>
      </p:sp>
      <p:sp>
        <p:nvSpPr>
          <p:cNvPr id="37" name="Shape 35"/>
          <p:cNvSpPr/>
          <p:nvPr/>
        </p:nvSpPr>
        <p:spPr>
          <a:xfrm>
            <a:off x="6208776" y="1097280"/>
            <a:ext cx="2798064" cy="1920240"/>
          </a:xfrm>
          <a:prstGeom prst="rect">
            <a:avLst/>
          </a:prstGeom>
          <a:solidFill>
            <a:srgbClr val="FEF3C7"/>
          </a:solidFill>
          <a:ln w="12700">
            <a:solidFill>
              <a:srgbClr val="D97706"/>
            </a:solidFill>
            <a:prstDash val="solid"/>
          </a:ln>
          <a:effectLst>
            <a:outerShdw sx="100000" sy="100000" kx="0" ky="0" algn="bl" rotWithShape="0" blurRad="76200" dist="38100" dir="8100000">
              <a:srgbClr val="000000">
                <a:alpha val="9000"/>
              </a:srgbClr>
            </a:outerShdw>
          </a:effectLst>
        </p:spPr>
      </p:sp>
      <p:sp>
        <p:nvSpPr>
          <p:cNvPr id="38" name="Shape 36"/>
          <p:cNvSpPr/>
          <p:nvPr/>
        </p:nvSpPr>
        <p:spPr>
          <a:xfrm>
            <a:off x="6208776" y="1097280"/>
            <a:ext cx="2798064" cy="475488"/>
          </a:xfrm>
          <a:prstGeom prst="rect">
            <a:avLst/>
          </a:prstGeom>
          <a:solidFill>
            <a:srgbClr val="D97706"/>
          </a:solidFill>
          <a:ln w="12700">
            <a:solidFill>
              <a:srgbClr val="D97706"/>
            </a:solidFill>
            <a:prstDash val="solid"/>
          </a:ln>
        </p:spPr>
      </p:sp>
      <p:sp>
        <p:nvSpPr>
          <p:cNvPr id="39" name="Text 37"/>
          <p:cNvSpPr/>
          <p:nvPr/>
        </p:nvSpPr>
        <p:spPr>
          <a:xfrm>
            <a:off x="6281928" y="1152144"/>
            <a:ext cx="2651760" cy="219456"/>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Phase 03: Feature Completion</a:t>
            </a:r>
            <a:endParaRPr lang="en-US" sz="950" dirty="0"/>
          </a:p>
        </p:txBody>
      </p:sp>
      <p:sp>
        <p:nvSpPr>
          <p:cNvPr id="40" name="Text 38"/>
          <p:cNvSpPr/>
          <p:nvPr/>
        </p:nvSpPr>
        <p:spPr>
          <a:xfrm>
            <a:off x="6281928" y="1371600"/>
            <a:ext cx="2651760" cy="164592"/>
          </a:xfrm>
          <a:prstGeom prst="rect">
            <a:avLst/>
          </a:prstGeom>
          <a:noFill/>
          <a:ln/>
        </p:spPr>
        <p:txBody>
          <a:bodyPr wrap="square" rtlCol="0" anchor="ctr"/>
          <a:lstStyle/>
          <a:p>
            <a:pPr indent="0" marL="0">
              <a:buNone/>
            </a:pPr>
            <a:r>
              <a:rPr lang="en-US" sz="750" dirty="0">
                <a:solidFill>
                  <a:srgbClr val="000000"/>
                </a:solidFill>
                <a:latin typeface="Calibri" pitchFamily="34" charset="0"/>
                <a:ea typeface="Calibri" pitchFamily="34" charset="-122"/>
                <a:cs typeface="Calibri" pitchFamily="34" charset="-120"/>
              </a:rPr>
              <a:t>Wk 7–8</a:t>
            </a:r>
            <a:endParaRPr lang="en-US" sz="750" dirty="0"/>
          </a:p>
        </p:txBody>
      </p:sp>
      <p:sp>
        <p:nvSpPr>
          <p:cNvPr id="41" name="Shape 39"/>
          <p:cNvSpPr/>
          <p:nvPr/>
        </p:nvSpPr>
        <p:spPr>
          <a:xfrm>
            <a:off x="6300216" y="1719072"/>
            <a:ext cx="82296" cy="82296"/>
          </a:xfrm>
          <a:prstGeom prst="ellipse">
            <a:avLst/>
          </a:prstGeom>
          <a:solidFill>
            <a:srgbClr val="D97706"/>
          </a:solidFill>
          <a:ln w="12700">
            <a:solidFill>
              <a:srgbClr val="D97706"/>
            </a:solidFill>
            <a:prstDash val="solid"/>
          </a:ln>
        </p:spPr>
      </p:sp>
      <p:sp>
        <p:nvSpPr>
          <p:cNvPr id="42" name="Text 40"/>
          <p:cNvSpPr/>
          <p:nvPr/>
        </p:nvSpPr>
        <p:spPr>
          <a:xfrm>
            <a:off x="6428232" y="1664208"/>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Twilio Chat (1:1 in-app messaging)</a:t>
            </a:r>
            <a:endParaRPr lang="en-US" sz="750" dirty="0"/>
          </a:p>
        </p:txBody>
      </p:sp>
      <p:sp>
        <p:nvSpPr>
          <p:cNvPr id="43" name="Shape 41"/>
          <p:cNvSpPr/>
          <p:nvPr/>
        </p:nvSpPr>
        <p:spPr>
          <a:xfrm>
            <a:off x="6300216" y="1956816"/>
            <a:ext cx="82296" cy="82296"/>
          </a:xfrm>
          <a:prstGeom prst="ellipse">
            <a:avLst/>
          </a:prstGeom>
          <a:solidFill>
            <a:srgbClr val="D97706"/>
          </a:solidFill>
          <a:ln w="12700">
            <a:solidFill>
              <a:srgbClr val="D97706"/>
            </a:solidFill>
            <a:prstDash val="solid"/>
          </a:ln>
        </p:spPr>
      </p:sp>
      <p:sp>
        <p:nvSpPr>
          <p:cNvPr id="44" name="Text 42"/>
          <p:cNvSpPr/>
          <p:nvPr/>
        </p:nvSpPr>
        <p:spPr>
          <a:xfrm>
            <a:off x="6428232" y="1901952"/>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Twilio VoIP (in-app calling)</a:t>
            </a:r>
            <a:endParaRPr lang="en-US" sz="750" dirty="0"/>
          </a:p>
        </p:txBody>
      </p:sp>
      <p:sp>
        <p:nvSpPr>
          <p:cNvPr id="45" name="Shape 43"/>
          <p:cNvSpPr/>
          <p:nvPr/>
        </p:nvSpPr>
        <p:spPr>
          <a:xfrm>
            <a:off x="6300216" y="2194560"/>
            <a:ext cx="82296" cy="82296"/>
          </a:xfrm>
          <a:prstGeom prst="ellipse">
            <a:avLst/>
          </a:prstGeom>
          <a:solidFill>
            <a:srgbClr val="D97706"/>
          </a:solidFill>
          <a:ln w="12700">
            <a:solidFill>
              <a:srgbClr val="D97706"/>
            </a:solidFill>
            <a:prstDash val="solid"/>
          </a:ln>
        </p:spPr>
      </p:sp>
      <p:sp>
        <p:nvSpPr>
          <p:cNvPr id="46" name="Text 44"/>
          <p:cNvSpPr/>
          <p:nvPr/>
        </p:nvSpPr>
        <p:spPr>
          <a:xfrm>
            <a:off x="6428232" y="2139696"/>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Push notifications (Firebase FCM)</a:t>
            </a:r>
            <a:endParaRPr lang="en-US" sz="750" dirty="0"/>
          </a:p>
        </p:txBody>
      </p:sp>
      <p:sp>
        <p:nvSpPr>
          <p:cNvPr id="47" name="Shape 45"/>
          <p:cNvSpPr/>
          <p:nvPr/>
        </p:nvSpPr>
        <p:spPr>
          <a:xfrm>
            <a:off x="6300216" y="2432304"/>
            <a:ext cx="82296" cy="82296"/>
          </a:xfrm>
          <a:prstGeom prst="ellipse">
            <a:avLst/>
          </a:prstGeom>
          <a:solidFill>
            <a:srgbClr val="D97706"/>
          </a:solidFill>
          <a:ln w="12700">
            <a:solidFill>
              <a:srgbClr val="D97706"/>
            </a:solidFill>
            <a:prstDash val="solid"/>
          </a:ln>
        </p:spPr>
      </p:sp>
      <p:sp>
        <p:nvSpPr>
          <p:cNvPr id="48" name="Text 46"/>
          <p:cNvSpPr/>
          <p:nvPr/>
        </p:nvSpPr>
        <p:spPr>
          <a:xfrm>
            <a:off x="6428232" y="2377440"/>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Admin backend endpoints (RBAC .NET 8)</a:t>
            </a:r>
            <a:endParaRPr lang="en-US" sz="750" dirty="0"/>
          </a:p>
        </p:txBody>
      </p:sp>
      <p:sp>
        <p:nvSpPr>
          <p:cNvPr id="49" name="Shape 47"/>
          <p:cNvSpPr/>
          <p:nvPr/>
        </p:nvSpPr>
        <p:spPr>
          <a:xfrm>
            <a:off x="6300216" y="2670048"/>
            <a:ext cx="82296" cy="82296"/>
          </a:xfrm>
          <a:prstGeom prst="ellipse">
            <a:avLst/>
          </a:prstGeom>
          <a:solidFill>
            <a:srgbClr val="D97706"/>
          </a:solidFill>
          <a:ln w="12700">
            <a:solidFill>
              <a:srgbClr val="D97706"/>
            </a:solidFill>
            <a:prstDash val="solid"/>
          </a:ln>
        </p:spPr>
      </p:sp>
      <p:sp>
        <p:nvSpPr>
          <p:cNvPr id="50" name="Text 48"/>
          <p:cNvSpPr/>
          <p:nvPr/>
        </p:nvSpPr>
        <p:spPr>
          <a:xfrm>
            <a:off x="6428232" y="2615184"/>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Deep-link routing (Ionic Router)</a:t>
            </a:r>
            <a:endParaRPr lang="en-US" sz="750" dirty="0"/>
          </a:p>
        </p:txBody>
      </p:sp>
      <p:sp>
        <p:nvSpPr>
          <p:cNvPr id="51" name="Shape 49"/>
          <p:cNvSpPr/>
          <p:nvPr/>
        </p:nvSpPr>
        <p:spPr>
          <a:xfrm>
            <a:off x="6300216" y="2907792"/>
            <a:ext cx="82296" cy="82296"/>
          </a:xfrm>
          <a:prstGeom prst="ellipse">
            <a:avLst/>
          </a:prstGeom>
          <a:solidFill>
            <a:srgbClr val="D97706"/>
          </a:solidFill>
          <a:ln w="12700">
            <a:solidFill>
              <a:srgbClr val="D97706"/>
            </a:solidFill>
            <a:prstDash val="solid"/>
          </a:ln>
        </p:spPr>
      </p:sp>
      <p:sp>
        <p:nvSpPr>
          <p:cNvPr id="52" name="Text 50"/>
          <p:cNvSpPr/>
          <p:nvPr/>
        </p:nvSpPr>
        <p:spPr>
          <a:xfrm>
            <a:off x="6428232" y="2852928"/>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Performance audit + image optimisation</a:t>
            </a:r>
            <a:endParaRPr lang="en-US" sz="750" dirty="0"/>
          </a:p>
        </p:txBody>
      </p:sp>
      <p:sp>
        <p:nvSpPr>
          <p:cNvPr id="53" name="Shape 51"/>
          <p:cNvSpPr/>
          <p:nvPr/>
        </p:nvSpPr>
        <p:spPr>
          <a:xfrm>
            <a:off x="320040" y="3090672"/>
            <a:ext cx="2798064" cy="1920240"/>
          </a:xfrm>
          <a:prstGeom prst="rect">
            <a:avLst/>
          </a:prstGeom>
          <a:solidFill>
            <a:srgbClr val="F5F3FF"/>
          </a:solidFill>
          <a:ln w="12700">
            <a:solidFill>
              <a:srgbClr val="7C3AED"/>
            </a:solidFill>
            <a:prstDash val="solid"/>
          </a:ln>
          <a:effectLst>
            <a:outerShdw sx="100000" sy="100000" kx="0" ky="0" algn="bl" rotWithShape="0" blurRad="76200" dist="38100" dir="8100000">
              <a:srgbClr val="000000">
                <a:alpha val="9000"/>
              </a:srgbClr>
            </a:outerShdw>
          </a:effectLst>
        </p:spPr>
      </p:sp>
      <p:sp>
        <p:nvSpPr>
          <p:cNvPr id="54" name="Shape 52"/>
          <p:cNvSpPr/>
          <p:nvPr/>
        </p:nvSpPr>
        <p:spPr>
          <a:xfrm>
            <a:off x="320040" y="3090672"/>
            <a:ext cx="2798064" cy="475488"/>
          </a:xfrm>
          <a:prstGeom prst="rect">
            <a:avLst/>
          </a:prstGeom>
          <a:solidFill>
            <a:srgbClr val="7C3AED"/>
          </a:solidFill>
          <a:ln w="12700">
            <a:solidFill>
              <a:srgbClr val="7C3AED"/>
            </a:solidFill>
            <a:prstDash val="solid"/>
          </a:ln>
        </p:spPr>
      </p:sp>
      <p:sp>
        <p:nvSpPr>
          <p:cNvPr id="55" name="Text 53"/>
          <p:cNvSpPr/>
          <p:nvPr/>
        </p:nvSpPr>
        <p:spPr>
          <a:xfrm>
            <a:off x="393192" y="3145536"/>
            <a:ext cx="2651760" cy="219456"/>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Phase 04: QA, UAT &amp; Launch</a:t>
            </a:r>
            <a:endParaRPr lang="en-US" sz="950" dirty="0"/>
          </a:p>
        </p:txBody>
      </p:sp>
      <p:sp>
        <p:nvSpPr>
          <p:cNvPr id="56" name="Text 54"/>
          <p:cNvSpPr/>
          <p:nvPr/>
        </p:nvSpPr>
        <p:spPr>
          <a:xfrm>
            <a:off x="393192" y="3364992"/>
            <a:ext cx="2651760" cy="164592"/>
          </a:xfrm>
          <a:prstGeom prst="rect">
            <a:avLst/>
          </a:prstGeom>
          <a:noFill/>
          <a:ln/>
        </p:spPr>
        <p:txBody>
          <a:bodyPr wrap="square" rtlCol="0" anchor="ctr"/>
          <a:lstStyle/>
          <a:p>
            <a:pPr indent="0" marL="0">
              <a:buNone/>
            </a:pPr>
            <a:r>
              <a:rPr lang="en-US" sz="750" dirty="0">
                <a:solidFill>
                  <a:srgbClr val="000000"/>
                </a:solidFill>
                <a:latin typeface="Calibri" pitchFamily="34" charset="0"/>
                <a:ea typeface="Calibri" pitchFamily="34" charset="-122"/>
                <a:cs typeface="Calibri" pitchFamily="34" charset="-120"/>
              </a:rPr>
              <a:t>Wk 9–10</a:t>
            </a:r>
            <a:endParaRPr lang="en-US" sz="750" dirty="0"/>
          </a:p>
        </p:txBody>
      </p:sp>
      <p:sp>
        <p:nvSpPr>
          <p:cNvPr id="57" name="Shape 55"/>
          <p:cNvSpPr/>
          <p:nvPr/>
        </p:nvSpPr>
        <p:spPr>
          <a:xfrm>
            <a:off x="411480" y="3712464"/>
            <a:ext cx="82296" cy="82296"/>
          </a:xfrm>
          <a:prstGeom prst="ellipse">
            <a:avLst/>
          </a:prstGeom>
          <a:solidFill>
            <a:srgbClr val="7C3AED"/>
          </a:solidFill>
          <a:ln w="12700">
            <a:solidFill>
              <a:srgbClr val="7C3AED"/>
            </a:solidFill>
            <a:prstDash val="solid"/>
          </a:ln>
        </p:spPr>
      </p:sp>
      <p:sp>
        <p:nvSpPr>
          <p:cNvPr id="58" name="Text 56"/>
          <p:cNvSpPr/>
          <p:nvPr/>
        </p:nvSpPr>
        <p:spPr>
          <a:xfrm>
            <a:off x="539496" y="3657600"/>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xUnit unit tests (80%+ coverage)</a:t>
            </a:r>
            <a:endParaRPr lang="en-US" sz="750" dirty="0"/>
          </a:p>
        </p:txBody>
      </p:sp>
      <p:sp>
        <p:nvSpPr>
          <p:cNvPr id="59" name="Shape 57"/>
          <p:cNvSpPr/>
          <p:nvPr/>
        </p:nvSpPr>
        <p:spPr>
          <a:xfrm>
            <a:off x="411480" y="3950208"/>
            <a:ext cx="82296" cy="82296"/>
          </a:xfrm>
          <a:prstGeom prst="ellipse">
            <a:avLst/>
          </a:prstGeom>
          <a:solidFill>
            <a:srgbClr val="7C3AED"/>
          </a:solidFill>
          <a:ln w="12700">
            <a:solidFill>
              <a:srgbClr val="7C3AED"/>
            </a:solidFill>
            <a:prstDash val="solid"/>
          </a:ln>
        </p:spPr>
      </p:sp>
      <p:sp>
        <p:nvSpPr>
          <p:cNvPr id="60" name="Text 58"/>
          <p:cNvSpPr/>
          <p:nvPr/>
        </p:nvSpPr>
        <p:spPr>
          <a:xfrm>
            <a:off x="539496" y="3895344"/>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Testcontainers API integration tests</a:t>
            </a:r>
            <a:endParaRPr lang="en-US" sz="750" dirty="0"/>
          </a:p>
        </p:txBody>
      </p:sp>
      <p:sp>
        <p:nvSpPr>
          <p:cNvPr id="61" name="Shape 59"/>
          <p:cNvSpPr/>
          <p:nvPr/>
        </p:nvSpPr>
        <p:spPr>
          <a:xfrm>
            <a:off x="411480" y="4187952"/>
            <a:ext cx="82296" cy="82296"/>
          </a:xfrm>
          <a:prstGeom prst="ellipse">
            <a:avLst/>
          </a:prstGeom>
          <a:solidFill>
            <a:srgbClr val="7C3AED"/>
          </a:solidFill>
          <a:ln w="12700">
            <a:solidFill>
              <a:srgbClr val="7C3AED"/>
            </a:solidFill>
            <a:prstDash val="solid"/>
          </a:ln>
        </p:spPr>
      </p:sp>
      <p:sp>
        <p:nvSpPr>
          <p:cNvPr id="62" name="Text 60"/>
          <p:cNvSpPr/>
          <p:nvPr/>
        </p:nvSpPr>
        <p:spPr>
          <a:xfrm>
            <a:off x="539496" y="4133088"/>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Playwright E2E — web flows</a:t>
            </a:r>
            <a:endParaRPr lang="en-US" sz="750" dirty="0"/>
          </a:p>
        </p:txBody>
      </p:sp>
      <p:sp>
        <p:nvSpPr>
          <p:cNvPr id="63" name="Shape 61"/>
          <p:cNvSpPr/>
          <p:nvPr/>
        </p:nvSpPr>
        <p:spPr>
          <a:xfrm>
            <a:off x="411480" y="4425696"/>
            <a:ext cx="82296" cy="82296"/>
          </a:xfrm>
          <a:prstGeom prst="ellipse">
            <a:avLst/>
          </a:prstGeom>
          <a:solidFill>
            <a:srgbClr val="7C3AED"/>
          </a:solidFill>
          <a:ln w="12700">
            <a:solidFill>
              <a:srgbClr val="7C3AED"/>
            </a:solidFill>
            <a:prstDash val="solid"/>
          </a:ln>
        </p:spPr>
      </p:sp>
      <p:sp>
        <p:nvSpPr>
          <p:cNvPr id="64" name="Text 62"/>
          <p:cNvSpPr/>
          <p:nvPr/>
        </p:nvSpPr>
        <p:spPr>
          <a:xfrm>
            <a:off x="539496" y="4370832"/>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Appium E2E — iOS Simulator + Android</a:t>
            </a:r>
            <a:endParaRPr lang="en-US" sz="750" dirty="0"/>
          </a:p>
        </p:txBody>
      </p:sp>
      <p:sp>
        <p:nvSpPr>
          <p:cNvPr id="65" name="Shape 63"/>
          <p:cNvSpPr/>
          <p:nvPr/>
        </p:nvSpPr>
        <p:spPr>
          <a:xfrm>
            <a:off x="411480" y="4663440"/>
            <a:ext cx="82296" cy="82296"/>
          </a:xfrm>
          <a:prstGeom prst="ellipse">
            <a:avLst/>
          </a:prstGeom>
          <a:solidFill>
            <a:srgbClr val="7C3AED"/>
          </a:solidFill>
          <a:ln w="12700">
            <a:solidFill>
              <a:srgbClr val="7C3AED"/>
            </a:solidFill>
            <a:prstDash val="solid"/>
          </a:ln>
        </p:spPr>
      </p:sp>
      <p:sp>
        <p:nvSpPr>
          <p:cNvPr id="66" name="Text 64"/>
          <p:cNvSpPr/>
          <p:nvPr/>
        </p:nvSpPr>
        <p:spPr>
          <a:xfrm>
            <a:off x="539496" y="4608576"/>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OWASP mobile security audit</a:t>
            </a:r>
            <a:endParaRPr lang="en-US" sz="750" dirty="0"/>
          </a:p>
        </p:txBody>
      </p:sp>
      <p:sp>
        <p:nvSpPr>
          <p:cNvPr id="67" name="Shape 65"/>
          <p:cNvSpPr/>
          <p:nvPr/>
        </p:nvSpPr>
        <p:spPr>
          <a:xfrm>
            <a:off x="411480" y="4901184"/>
            <a:ext cx="82296" cy="82296"/>
          </a:xfrm>
          <a:prstGeom prst="ellipse">
            <a:avLst/>
          </a:prstGeom>
          <a:solidFill>
            <a:srgbClr val="7C3AED"/>
          </a:solidFill>
          <a:ln w="12700">
            <a:solidFill>
              <a:srgbClr val="7C3AED"/>
            </a:solidFill>
            <a:prstDash val="solid"/>
          </a:ln>
        </p:spPr>
      </p:sp>
      <p:sp>
        <p:nvSpPr>
          <p:cNvPr id="68" name="Text 66"/>
          <p:cNvSpPr/>
          <p:nvPr/>
        </p:nvSpPr>
        <p:spPr>
          <a:xfrm>
            <a:off x="539496" y="4846320"/>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UAT with ANM team → App Store submit</a:t>
            </a:r>
            <a:endParaRPr lang="en-US" sz="750" dirty="0"/>
          </a:p>
        </p:txBody>
      </p:sp>
      <p:sp>
        <p:nvSpPr>
          <p:cNvPr id="69" name="Shape 67"/>
          <p:cNvSpPr/>
          <p:nvPr/>
        </p:nvSpPr>
        <p:spPr>
          <a:xfrm>
            <a:off x="3264408" y="3090672"/>
            <a:ext cx="2798064" cy="1920240"/>
          </a:xfrm>
          <a:prstGeom prst="rect">
            <a:avLst/>
          </a:prstGeom>
          <a:solidFill>
            <a:srgbClr val="FEE2E2"/>
          </a:solidFill>
          <a:ln w="12700">
            <a:solidFill>
              <a:srgbClr val="DC2626"/>
            </a:solidFill>
            <a:prstDash val="solid"/>
          </a:ln>
          <a:effectLst>
            <a:outerShdw sx="100000" sy="100000" kx="0" ky="0" algn="bl" rotWithShape="0" blurRad="76200" dist="38100" dir="8100000">
              <a:srgbClr val="000000">
                <a:alpha val="9000"/>
              </a:srgbClr>
            </a:outerShdw>
          </a:effectLst>
        </p:spPr>
      </p:sp>
      <p:sp>
        <p:nvSpPr>
          <p:cNvPr id="70" name="Shape 68"/>
          <p:cNvSpPr/>
          <p:nvPr/>
        </p:nvSpPr>
        <p:spPr>
          <a:xfrm>
            <a:off x="3264408" y="3090672"/>
            <a:ext cx="2798064" cy="475488"/>
          </a:xfrm>
          <a:prstGeom prst="rect">
            <a:avLst/>
          </a:prstGeom>
          <a:solidFill>
            <a:srgbClr val="DC2626"/>
          </a:solidFill>
          <a:ln w="12700">
            <a:solidFill>
              <a:srgbClr val="DC2626"/>
            </a:solidFill>
            <a:prstDash val="solid"/>
          </a:ln>
        </p:spPr>
      </p:sp>
      <p:sp>
        <p:nvSpPr>
          <p:cNvPr id="71" name="Text 69"/>
          <p:cNvSpPr/>
          <p:nvPr/>
        </p:nvSpPr>
        <p:spPr>
          <a:xfrm>
            <a:off x="3337560" y="3145536"/>
            <a:ext cx="2651760" cy="219456"/>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Phase 05: Hypercare</a:t>
            </a:r>
            <a:endParaRPr lang="en-US" sz="950" dirty="0"/>
          </a:p>
        </p:txBody>
      </p:sp>
      <p:sp>
        <p:nvSpPr>
          <p:cNvPr id="72" name="Text 70"/>
          <p:cNvSpPr/>
          <p:nvPr/>
        </p:nvSpPr>
        <p:spPr>
          <a:xfrm>
            <a:off x="3337560" y="3364992"/>
            <a:ext cx="2651760" cy="164592"/>
          </a:xfrm>
          <a:prstGeom prst="rect">
            <a:avLst/>
          </a:prstGeom>
          <a:noFill/>
          <a:ln/>
        </p:spPr>
        <p:txBody>
          <a:bodyPr wrap="square" rtlCol="0" anchor="ctr"/>
          <a:lstStyle/>
          <a:p>
            <a:pPr indent="0" marL="0">
              <a:buNone/>
            </a:pPr>
            <a:r>
              <a:rPr lang="en-US" sz="750" dirty="0">
                <a:solidFill>
                  <a:srgbClr val="000000"/>
                </a:solidFill>
                <a:latin typeface="Calibri" pitchFamily="34" charset="0"/>
                <a:ea typeface="Calibri" pitchFamily="34" charset="-122"/>
                <a:cs typeface="Calibri" pitchFamily="34" charset="-120"/>
              </a:rPr>
              <a:t>30 Days Free</a:t>
            </a:r>
            <a:endParaRPr lang="en-US" sz="750" dirty="0"/>
          </a:p>
        </p:txBody>
      </p:sp>
      <p:sp>
        <p:nvSpPr>
          <p:cNvPr id="73" name="Shape 71"/>
          <p:cNvSpPr/>
          <p:nvPr/>
        </p:nvSpPr>
        <p:spPr>
          <a:xfrm>
            <a:off x="3355848" y="3712464"/>
            <a:ext cx="82296" cy="82296"/>
          </a:xfrm>
          <a:prstGeom prst="ellipse">
            <a:avLst/>
          </a:prstGeom>
          <a:solidFill>
            <a:srgbClr val="DC2626"/>
          </a:solidFill>
          <a:ln w="12700">
            <a:solidFill>
              <a:srgbClr val="DC2626"/>
            </a:solidFill>
            <a:prstDash val="solid"/>
          </a:ln>
        </p:spPr>
      </p:sp>
      <p:sp>
        <p:nvSpPr>
          <p:cNvPr id="74" name="Text 72"/>
          <p:cNvSpPr/>
          <p:nvPr/>
        </p:nvSpPr>
        <p:spPr>
          <a:xfrm>
            <a:off x="3483864" y="3657600"/>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30-day free post-launch support</a:t>
            </a:r>
            <a:endParaRPr lang="en-US" sz="750" dirty="0"/>
          </a:p>
        </p:txBody>
      </p:sp>
      <p:sp>
        <p:nvSpPr>
          <p:cNvPr id="75" name="Shape 73"/>
          <p:cNvSpPr/>
          <p:nvPr/>
        </p:nvSpPr>
        <p:spPr>
          <a:xfrm>
            <a:off x="3355848" y="3950208"/>
            <a:ext cx="82296" cy="82296"/>
          </a:xfrm>
          <a:prstGeom prst="ellipse">
            <a:avLst/>
          </a:prstGeom>
          <a:solidFill>
            <a:srgbClr val="DC2626"/>
          </a:solidFill>
          <a:ln w="12700">
            <a:solidFill>
              <a:srgbClr val="DC2626"/>
            </a:solidFill>
            <a:prstDash val="solid"/>
          </a:ln>
        </p:spPr>
      </p:sp>
      <p:sp>
        <p:nvSpPr>
          <p:cNvPr id="76" name="Text 74"/>
          <p:cNvSpPr/>
          <p:nvPr/>
        </p:nvSpPr>
        <p:spPr>
          <a:xfrm>
            <a:off x="3483864" y="3895344"/>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Performance monitoring (CloudWatch)</a:t>
            </a:r>
            <a:endParaRPr lang="en-US" sz="750" dirty="0"/>
          </a:p>
        </p:txBody>
      </p:sp>
      <p:sp>
        <p:nvSpPr>
          <p:cNvPr id="77" name="Shape 75"/>
          <p:cNvSpPr/>
          <p:nvPr/>
        </p:nvSpPr>
        <p:spPr>
          <a:xfrm>
            <a:off x="3355848" y="4187952"/>
            <a:ext cx="82296" cy="82296"/>
          </a:xfrm>
          <a:prstGeom prst="ellipse">
            <a:avLst/>
          </a:prstGeom>
          <a:solidFill>
            <a:srgbClr val="DC2626"/>
          </a:solidFill>
          <a:ln w="12700">
            <a:solidFill>
              <a:srgbClr val="DC2626"/>
            </a:solidFill>
            <a:prstDash val="solid"/>
          </a:ln>
        </p:spPr>
      </p:sp>
      <p:sp>
        <p:nvSpPr>
          <p:cNvPr id="78" name="Text 76"/>
          <p:cNvSpPr/>
          <p:nvPr/>
        </p:nvSpPr>
        <p:spPr>
          <a:xfrm>
            <a:off x="3483864" y="4133088"/>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Critical bug fixes at no charge</a:t>
            </a:r>
            <a:endParaRPr lang="en-US" sz="750" dirty="0"/>
          </a:p>
        </p:txBody>
      </p:sp>
      <p:sp>
        <p:nvSpPr>
          <p:cNvPr id="79" name="Shape 77"/>
          <p:cNvSpPr/>
          <p:nvPr/>
        </p:nvSpPr>
        <p:spPr>
          <a:xfrm>
            <a:off x="3355848" y="4425696"/>
            <a:ext cx="82296" cy="82296"/>
          </a:xfrm>
          <a:prstGeom prst="ellipse">
            <a:avLst/>
          </a:prstGeom>
          <a:solidFill>
            <a:srgbClr val="DC2626"/>
          </a:solidFill>
          <a:ln w="12700">
            <a:solidFill>
              <a:srgbClr val="DC2626"/>
            </a:solidFill>
            <a:prstDash val="solid"/>
          </a:ln>
        </p:spPr>
      </p:sp>
      <p:sp>
        <p:nvSpPr>
          <p:cNvPr id="80" name="Text 78"/>
          <p:cNvSpPr/>
          <p:nvPr/>
        </p:nvSpPr>
        <p:spPr>
          <a:xfrm>
            <a:off x="3483864" y="4370832"/>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Admin team training &amp; handover</a:t>
            </a:r>
            <a:endParaRPr lang="en-US" sz="750" dirty="0"/>
          </a:p>
        </p:txBody>
      </p:sp>
      <p:sp>
        <p:nvSpPr>
          <p:cNvPr id="81" name="Shape 79"/>
          <p:cNvSpPr/>
          <p:nvPr/>
        </p:nvSpPr>
        <p:spPr>
          <a:xfrm>
            <a:off x="3355848" y="4663440"/>
            <a:ext cx="82296" cy="82296"/>
          </a:xfrm>
          <a:prstGeom prst="ellipse">
            <a:avLst/>
          </a:prstGeom>
          <a:solidFill>
            <a:srgbClr val="DC2626"/>
          </a:solidFill>
          <a:ln w="12700">
            <a:solidFill>
              <a:srgbClr val="DC2626"/>
            </a:solidFill>
            <a:prstDash val="solid"/>
          </a:ln>
        </p:spPr>
      </p:sp>
      <p:sp>
        <p:nvSpPr>
          <p:cNvPr id="82" name="Text 80"/>
          <p:cNvSpPr/>
          <p:nvPr/>
        </p:nvSpPr>
        <p:spPr>
          <a:xfrm>
            <a:off x="3483864" y="4608576"/>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Source code + doc delivery</a:t>
            </a:r>
            <a:endParaRPr lang="en-US" sz="750" dirty="0"/>
          </a:p>
        </p:txBody>
      </p:sp>
      <p:sp>
        <p:nvSpPr>
          <p:cNvPr id="83" name="Shape 81"/>
          <p:cNvSpPr/>
          <p:nvPr/>
        </p:nvSpPr>
        <p:spPr>
          <a:xfrm>
            <a:off x="3355848" y="4901184"/>
            <a:ext cx="82296" cy="82296"/>
          </a:xfrm>
          <a:prstGeom prst="ellipse">
            <a:avLst/>
          </a:prstGeom>
          <a:solidFill>
            <a:srgbClr val="DC2626"/>
          </a:solidFill>
          <a:ln w="12700">
            <a:solidFill>
              <a:srgbClr val="DC2626"/>
            </a:solidFill>
            <a:prstDash val="solid"/>
          </a:ln>
        </p:spPr>
      </p:sp>
      <p:sp>
        <p:nvSpPr>
          <p:cNvPr id="84" name="Text 82"/>
          <p:cNvSpPr/>
          <p:nvPr/>
        </p:nvSpPr>
        <p:spPr>
          <a:xfrm>
            <a:off x="3483864" y="4846320"/>
            <a:ext cx="2505456" cy="201168"/>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Phase 2 backlog planning</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SPRINT PLANNING</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Sprint 1 — Weeks 1–2: Discovery &amp; Framework Config</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Text 3"/>
          <p:cNvSpPr/>
          <p:nvPr/>
        </p:nvSpPr>
        <p:spPr>
          <a:xfrm>
            <a:off x="457200" y="1042416"/>
            <a:ext cx="8229600" cy="237744"/>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Goal: Establish all foundations before a single line of feature code is written. Sign-off Gate 1 at end of Week 2.</a:t>
            </a:r>
            <a:endParaRPr lang="en-US" sz="1000" dirty="0"/>
          </a:p>
        </p:txBody>
      </p:sp>
      <p:sp>
        <p:nvSpPr>
          <p:cNvPr id="6" name="Shape 4"/>
          <p:cNvSpPr/>
          <p:nvPr/>
        </p:nvSpPr>
        <p:spPr>
          <a:xfrm>
            <a:off x="457200" y="1335024"/>
            <a:ext cx="8458200" cy="274320"/>
          </a:xfrm>
          <a:prstGeom prst="rect">
            <a:avLst/>
          </a:prstGeom>
          <a:solidFill>
            <a:srgbClr val="2563EB"/>
          </a:solidFill>
          <a:ln w="12700">
            <a:solidFill>
              <a:srgbClr val="2563EB"/>
            </a:solidFill>
            <a:prstDash val="solid"/>
          </a:ln>
        </p:spPr>
      </p:sp>
      <p:sp>
        <p:nvSpPr>
          <p:cNvPr id="7" name="Text 5"/>
          <p:cNvSpPr/>
          <p:nvPr/>
        </p:nvSpPr>
        <p:spPr>
          <a:xfrm>
            <a:off x="50292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SP</a:t>
            </a:r>
            <a:endParaRPr lang="en-US" sz="850" dirty="0"/>
          </a:p>
        </p:txBody>
      </p:sp>
      <p:sp>
        <p:nvSpPr>
          <p:cNvPr id="8" name="Text 6"/>
          <p:cNvSpPr/>
          <p:nvPr/>
        </p:nvSpPr>
        <p:spPr>
          <a:xfrm>
            <a:off x="100584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Story</a:t>
            </a:r>
            <a:endParaRPr lang="en-US" sz="850" dirty="0"/>
          </a:p>
        </p:txBody>
      </p:sp>
      <p:sp>
        <p:nvSpPr>
          <p:cNvPr id="9" name="Text 7"/>
          <p:cNvSpPr/>
          <p:nvPr/>
        </p:nvSpPr>
        <p:spPr>
          <a:xfrm>
            <a:off x="557784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Owner / Notes</a:t>
            </a:r>
            <a:endParaRPr lang="en-US" sz="850" dirty="0"/>
          </a:p>
        </p:txBody>
      </p:sp>
      <p:sp>
        <p:nvSpPr>
          <p:cNvPr id="10" name="Shape 8"/>
          <p:cNvSpPr/>
          <p:nvPr/>
        </p:nvSpPr>
        <p:spPr>
          <a:xfrm>
            <a:off x="457200" y="1627632"/>
            <a:ext cx="8458200" cy="393192"/>
          </a:xfrm>
          <a:prstGeom prst="rect">
            <a:avLst/>
          </a:prstGeom>
          <a:solidFill>
            <a:srgbClr val="FFFFFF"/>
          </a:solidFill>
          <a:ln w="5080">
            <a:solidFill>
              <a:srgbClr val="E2E8F0"/>
            </a:solidFill>
            <a:prstDash val="solid"/>
          </a:ln>
        </p:spPr>
      </p:sp>
      <p:sp>
        <p:nvSpPr>
          <p:cNvPr id="11" name="Shape 9"/>
          <p:cNvSpPr/>
          <p:nvPr/>
        </p:nvSpPr>
        <p:spPr>
          <a:xfrm>
            <a:off x="502920" y="1719072"/>
            <a:ext cx="402336" cy="201168"/>
          </a:xfrm>
          <a:prstGeom prst="roundRect">
            <a:avLst>
              <a:gd name="adj" fmla="val 36364"/>
            </a:avLst>
          </a:prstGeom>
          <a:solidFill>
            <a:srgbClr val="2563EB"/>
          </a:solidFill>
          <a:ln w="12700">
            <a:solidFill>
              <a:srgbClr val="2563EB"/>
            </a:solidFill>
            <a:prstDash val="solid"/>
          </a:ln>
        </p:spPr>
      </p:sp>
      <p:sp>
        <p:nvSpPr>
          <p:cNvPr id="12" name="Text 10"/>
          <p:cNvSpPr/>
          <p:nvPr/>
        </p:nvSpPr>
        <p:spPr>
          <a:xfrm>
            <a:off x="502920" y="1719072"/>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8pt</a:t>
            </a:r>
            <a:endParaRPr lang="en-US" sz="800" dirty="0"/>
          </a:p>
        </p:txBody>
      </p:sp>
      <p:sp>
        <p:nvSpPr>
          <p:cNvPr id="13" name="Text 11"/>
          <p:cNvSpPr/>
          <p:nvPr/>
        </p:nvSpPr>
        <p:spPr>
          <a:xfrm>
            <a:off x="969264" y="1682496"/>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Project kickoff + requirements finalisation</a:t>
            </a:r>
            <a:endParaRPr lang="en-US" sz="850" dirty="0"/>
          </a:p>
        </p:txBody>
      </p:sp>
      <p:sp>
        <p:nvSpPr>
          <p:cNvPr id="14" name="Text 12"/>
          <p:cNvSpPr/>
          <p:nvPr/>
        </p:nvSpPr>
        <p:spPr>
          <a:xfrm>
            <a:off x="5541264" y="1682496"/>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PM + Architect | ANM team workshop, scope signed</a:t>
            </a:r>
            <a:endParaRPr lang="en-US" sz="750" dirty="0"/>
          </a:p>
        </p:txBody>
      </p:sp>
      <p:sp>
        <p:nvSpPr>
          <p:cNvPr id="15" name="Shape 13"/>
          <p:cNvSpPr/>
          <p:nvPr/>
        </p:nvSpPr>
        <p:spPr>
          <a:xfrm>
            <a:off x="457200" y="2029968"/>
            <a:ext cx="8458200" cy="393192"/>
          </a:xfrm>
          <a:prstGeom prst="rect">
            <a:avLst/>
          </a:prstGeom>
          <a:solidFill>
            <a:srgbClr val="F8F9FC"/>
          </a:solidFill>
          <a:ln w="5080">
            <a:solidFill>
              <a:srgbClr val="E2E8F0"/>
            </a:solidFill>
            <a:prstDash val="solid"/>
          </a:ln>
        </p:spPr>
      </p:sp>
      <p:sp>
        <p:nvSpPr>
          <p:cNvPr id="16" name="Shape 14"/>
          <p:cNvSpPr/>
          <p:nvPr/>
        </p:nvSpPr>
        <p:spPr>
          <a:xfrm>
            <a:off x="502920" y="2121408"/>
            <a:ext cx="402336" cy="201168"/>
          </a:xfrm>
          <a:prstGeom prst="roundRect">
            <a:avLst>
              <a:gd name="adj" fmla="val 36364"/>
            </a:avLst>
          </a:prstGeom>
          <a:solidFill>
            <a:srgbClr val="2563EB"/>
          </a:solidFill>
          <a:ln w="12700">
            <a:solidFill>
              <a:srgbClr val="2563EB"/>
            </a:solidFill>
            <a:prstDash val="solid"/>
          </a:ln>
        </p:spPr>
      </p:sp>
      <p:sp>
        <p:nvSpPr>
          <p:cNvPr id="17" name="Text 15"/>
          <p:cNvSpPr/>
          <p:nvPr/>
        </p:nvSpPr>
        <p:spPr>
          <a:xfrm>
            <a:off x="502920" y="2121408"/>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5pt</a:t>
            </a:r>
            <a:endParaRPr lang="en-US" sz="800" dirty="0"/>
          </a:p>
        </p:txBody>
      </p:sp>
      <p:sp>
        <p:nvSpPr>
          <p:cNvPr id="18" name="Text 16"/>
          <p:cNvSpPr/>
          <p:nvPr/>
        </p:nvSpPr>
        <p:spPr>
          <a:xfrm>
            <a:off x="969264" y="2084832"/>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PostgreSQL schema + API contract doc (OpenAPI)</a:t>
            </a:r>
            <a:endParaRPr lang="en-US" sz="850" dirty="0"/>
          </a:p>
        </p:txBody>
      </p:sp>
      <p:sp>
        <p:nvSpPr>
          <p:cNvPr id="19" name="Text 17"/>
          <p:cNvSpPr/>
          <p:nvPr/>
        </p:nvSpPr>
        <p:spPr>
          <a:xfrm>
            <a:off x="5541264" y="2084832"/>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Backend + Architect | 5 tables, 14 endpoints (EF Core 8)</a:t>
            </a:r>
            <a:endParaRPr lang="en-US" sz="750" dirty="0"/>
          </a:p>
        </p:txBody>
      </p:sp>
      <p:sp>
        <p:nvSpPr>
          <p:cNvPr id="20" name="Shape 18"/>
          <p:cNvSpPr/>
          <p:nvPr/>
        </p:nvSpPr>
        <p:spPr>
          <a:xfrm>
            <a:off x="457200" y="2432304"/>
            <a:ext cx="8458200" cy="393192"/>
          </a:xfrm>
          <a:prstGeom prst="rect">
            <a:avLst/>
          </a:prstGeom>
          <a:solidFill>
            <a:srgbClr val="FFFFFF"/>
          </a:solidFill>
          <a:ln w="5080">
            <a:solidFill>
              <a:srgbClr val="E2E8F0"/>
            </a:solidFill>
            <a:prstDash val="solid"/>
          </a:ln>
        </p:spPr>
      </p:sp>
      <p:sp>
        <p:nvSpPr>
          <p:cNvPr id="21" name="Shape 19"/>
          <p:cNvSpPr/>
          <p:nvPr/>
        </p:nvSpPr>
        <p:spPr>
          <a:xfrm>
            <a:off x="502920" y="2523744"/>
            <a:ext cx="402336" cy="201168"/>
          </a:xfrm>
          <a:prstGeom prst="roundRect">
            <a:avLst>
              <a:gd name="adj" fmla="val 36364"/>
            </a:avLst>
          </a:prstGeom>
          <a:solidFill>
            <a:srgbClr val="2563EB"/>
          </a:solidFill>
          <a:ln w="12700">
            <a:solidFill>
              <a:srgbClr val="2563EB"/>
            </a:solidFill>
            <a:prstDash val="solid"/>
          </a:ln>
        </p:spPr>
      </p:sp>
      <p:sp>
        <p:nvSpPr>
          <p:cNvPr id="22" name="Text 20"/>
          <p:cNvSpPr/>
          <p:nvPr/>
        </p:nvSpPr>
        <p:spPr>
          <a:xfrm>
            <a:off x="502920" y="2523744"/>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8pt</a:t>
            </a:r>
            <a:endParaRPr lang="en-US" sz="800" dirty="0"/>
          </a:p>
        </p:txBody>
      </p:sp>
      <p:sp>
        <p:nvSpPr>
          <p:cNvPr id="23" name="Text 21"/>
          <p:cNvSpPr/>
          <p:nvPr/>
        </p:nvSpPr>
        <p:spPr>
          <a:xfrm>
            <a:off x="969264" y="2487168"/>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CI/CD pipeline — GitHub Actions + ECS + Docker</a:t>
            </a:r>
            <a:endParaRPr lang="en-US" sz="850" dirty="0"/>
          </a:p>
        </p:txBody>
      </p:sp>
      <p:sp>
        <p:nvSpPr>
          <p:cNvPr id="24" name="Text 22"/>
          <p:cNvSpPr/>
          <p:nvPr/>
        </p:nvSpPr>
        <p:spPr>
          <a:xfrm>
            <a:off x="5541264" y="2487168"/>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DevOps | PR gates → .NET 8 build → deploy to staging</a:t>
            </a:r>
            <a:endParaRPr lang="en-US" sz="750" dirty="0"/>
          </a:p>
        </p:txBody>
      </p:sp>
      <p:sp>
        <p:nvSpPr>
          <p:cNvPr id="25" name="Shape 23"/>
          <p:cNvSpPr/>
          <p:nvPr/>
        </p:nvSpPr>
        <p:spPr>
          <a:xfrm>
            <a:off x="457200" y="2834640"/>
            <a:ext cx="8458200" cy="393192"/>
          </a:xfrm>
          <a:prstGeom prst="rect">
            <a:avLst/>
          </a:prstGeom>
          <a:solidFill>
            <a:srgbClr val="F8F9FC"/>
          </a:solidFill>
          <a:ln w="5080">
            <a:solidFill>
              <a:srgbClr val="E2E8F0"/>
            </a:solidFill>
            <a:prstDash val="solid"/>
          </a:ln>
        </p:spPr>
      </p:sp>
      <p:sp>
        <p:nvSpPr>
          <p:cNvPr id="26" name="Shape 24"/>
          <p:cNvSpPr/>
          <p:nvPr/>
        </p:nvSpPr>
        <p:spPr>
          <a:xfrm>
            <a:off x="502920" y="2926080"/>
            <a:ext cx="402336" cy="201168"/>
          </a:xfrm>
          <a:prstGeom prst="roundRect">
            <a:avLst>
              <a:gd name="adj" fmla="val 36364"/>
            </a:avLst>
          </a:prstGeom>
          <a:solidFill>
            <a:srgbClr val="2563EB"/>
          </a:solidFill>
          <a:ln w="12700">
            <a:solidFill>
              <a:srgbClr val="2563EB"/>
            </a:solidFill>
            <a:prstDash val="solid"/>
          </a:ln>
        </p:spPr>
      </p:sp>
      <p:sp>
        <p:nvSpPr>
          <p:cNvPr id="27" name="Text 25"/>
          <p:cNvSpPr/>
          <p:nvPr/>
        </p:nvSpPr>
        <p:spPr>
          <a:xfrm>
            <a:off x="502920" y="2926080"/>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5pt</a:t>
            </a:r>
            <a:endParaRPr lang="en-US" sz="800" dirty="0"/>
          </a:p>
        </p:txBody>
      </p:sp>
      <p:sp>
        <p:nvSpPr>
          <p:cNvPr id="28" name="Text 26"/>
          <p:cNvSpPr/>
          <p:nvPr/>
        </p:nvSpPr>
        <p:spPr>
          <a:xfrm>
            <a:off x="969264" y="2889504"/>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AWS RDS PostgreSQL provisioning (staging)</a:t>
            </a:r>
            <a:endParaRPr lang="en-US" sz="850" dirty="0"/>
          </a:p>
        </p:txBody>
      </p:sp>
      <p:sp>
        <p:nvSpPr>
          <p:cNvPr id="29" name="Text 27"/>
          <p:cNvSpPr/>
          <p:nvPr/>
        </p:nvSpPr>
        <p:spPr>
          <a:xfrm>
            <a:off x="5541264" y="2889504"/>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DevOps | RDS Multi-AZ config, security group, VPC</a:t>
            </a:r>
            <a:endParaRPr lang="en-US" sz="750" dirty="0"/>
          </a:p>
        </p:txBody>
      </p:sp>
      <p:sp>
        <p:nvSpPr>
          <p:cNvPr id="30" name="Shape 28"/>
          <p:cNvSpPr/>
          <p:nvPr/>
        </p:nvSpPr>
        <p:spPr>
          <a:xfrm>
            <a:off x="457200" y="3236976"/>
            <a:ext cx="8458200" cy="393192"/>
          </a:xfrm>
          <a:prstGeom prst="rect">
            <a:avLst/>
          </a:prstGeom>
          <a:solidFill>
            <a:srgbClr val="FFFFFF"/>
          </a:solidFill>
          <a:ln w="5080">
            <a:solidFill>
              <a:srgbClr val="E2E8F0"/>
            </a:solidFill>
            <a:prstDash val="solid"/>
          </a:ln>
        </p:spPr>
      </p:sp>
      <p:sp>
        <p:nvSpPr>
          <p:cNvPr id="31" name="Shape 29"/>
          <p:cNvSpPr/>
          <p:nvPr/>
        </p:nvSpPr>
        <p:spPr>
          <a:xfrm>
            <a:off x="502920" y="3328416"/>
            <a:ext cx="402336" cy="201168"/>
          </a:xfrm>
          <a:prstGeom prst="roundRect">
            <a:avLst>
              <a:gd name="adj" fmla="val 36364"/>
            </a:avLst>
          </a:prstGeom>
          <a:solidFill>
            <a:srgbClr val="2563EB"/>
          </a:solidFill>
          <a:ln w="12700">
            <a:solidFill>
              <a:srgbClr val="2563EB"/>
            </a:solidFill>
            <a:prstDash val="solid"/>
          </a:ln>
        </p:spPr>
      </p:sp>
      <p:sp>
        <p:nvSpPr>
          <p:cNvPr id="32" name="Text 30"/>
          <p:cNvSpPr/>
          <p:nvPr/>
        </p:nvSpPr>
        <p:spPr>
          <a:xfrm>
            <a:off x="502920" y="3328416"/>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8pt</a:t>
            </a:r>
            <a:endParaRPr lang="en-US" sz="800" dirty="0"/>
          </a:p>
        </p:txBody>
      </p:sp>
      <p:sp>
        <p:nvSpPr>
          <p:cNvPr id="33" name="Text 31"/>
          <p:cNvSpPr/>
          <p:nvPr/>
        </p:nvSpPr>
        <p:spPr>
          <a:xfrm>
            <a:off x="969264" y="3291840"/>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Ionic/Capacitor project scaffold + brand theming</a:t>
            </a:r>
            <a:endParaRPr lang="en-US" sz="850" dirty="0"/>
          </a:p>
        </p:txBody>
      </p:sp>
      <p:sp>
        <p:nvSpPr>
          <p:cNvPr id="34" name="Text 32"/>
          <p:cNvSpPr/>
          <p:nvPr/>
        </p:nvSpPr>
        <p:spPr>
          <a:xfrm>
            <a:off x="5541264" y="3291840"/>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Mobile Dev | ANM colours, fonts, bottom nav, dark mode</a:t>
            </a:r>
            <a:endParaRPr lang="en-US" sz="750" dirty="0"/>
          </a:p>
        </p:txBody>
      </p:sp>
      <p:sp>
        <p:nvSpPr>
          <p:cNvPr id="35" name="Shape 33"/>
          <p:cNvSpPr/>
          <p:nvPr/>
        </p:nvSpPr>
        <p:spPr>
          <a:xfrm>
            <a:off x="457200" y="3639312"/>
            <a:ext cx="8458200" cy="393192"/>
          </a:xfrm>
          <a:prstGeom prst="rect">
            <a:avLst/>
          </a:prstGeom>
          <a:solidFill>
            <a:srgbClr val="F8F9FC"/>
          </a:solidFill>
          <a:ln w="5080">
            <a:solidFill>
              <a:srgbClr val="E2E8F0"/>
            </a:solidFill>
            <a:prstDash val="solid"/>
          </a:ln>
        </p:spPr>
      </p:sp>
      <p:sp>
        <p:nvSpPr>
          <p:cNvPr id="36" name="Shape 34"/>
          <p:cNvSpPr/>
          <p:nvPr/>
        </p:nvSpPr>
        <p:spPr>
          <a:xfrm>
            <a:off x="502920" y="3730752"/>
            <a:ext cx="402336" cy="201168"/>
          </a:xfrm>
          <a:prstGeom prst="roundRect">
            <a:avLst>
              <a:gd name="adj" fmla="val 36364"/>
            </a:avLst>
          </a:prstGeom>
          <a:solidFill>
            <a:srgbClr val="2563EB"/>
          </a:solidFill>
          <a:ln w="12700">
            <a:solidFill>
              <a:srgbClr val="2563EB"/>
            </a:solidFill>
            <a:prstDash val="solid"/>
          </a:ln>
        </p:spPr>
      </p:sp>
      <p:sp>
        <p:nvSpPr>
          <p:cNvPr id="37" name="Text 35"/>
          <p:cNvSpPr/>
          <p:nvPr/>
        </p:nvSpPr>
        <p:spPr>
          <a:xfrm>
            <a:off x="502920" y="3730752"/>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8pt</a:t>
            </a:r>
            <a:endParaRPr lang="en-US" sz="800" dirty="0"/>
          </a:p>
        </p:txBody>
      </p:sp>
      <p:sp>
        <p:nvSpPr>
          <p:cNvPr id="38" name="Text 36"/>
          <p:cNvSpPr/>
          <p:nvPr/>
        </p:nvSpPr>
        <p:spPr>
          <a:xfrm>
            <a:off x="969264" y="3694176"/>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Figma high-fidelity UI designs — all screens</a:t>
            </a:r>
            <a:endParaRPr lang="en-US" sz="850" dirty="0"/>
          </a:p>
        </p:txBody>
      </p:sp>
      <p:sp>
        <p:nvSpPr>
          <p:cNvPr id="39" name="Text 37"/>
          <p:cNvSpPr/>
          <p:nvPr/>
        </p:nvSpPr>
        <p:spPr>
          <a:xfrm>
            <a:off x="5541264" y="3694176"/>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UI/UX | 9 screens, component library, design sign-off</a:t>
            </a:r>
            <a:endParaRPr lang="en-US" sz="750" dirty="0"/>
          </a:p>
        </p:txBody>
      </p:sp>
      <p:sp>
        <p:nvSpPr>
          <p:cNvPr id="40" name="Shape 38"/>
          <p:cNvSpPr/>
          <p:nvPr/>
        </p:nvSpPr>
        <p:spPr>
          <a:xfrm>
            <a:off x="457200" y="4041648"/>
            <a:ext cx="8458200" cy="393192"/>
          </a:xfrm>
          <a:prstGeom prst="rect">
            <a:avLst/>
          </a:prstGeom>
          <a:solidFill>
            <a:srgbClr val="FFFFFF"/>
          </a:solidFill>
          <a:ln w="5080">
            <a:solidFill>
              <a:srgbClr val="E2E8F0"/>
            </a:solidFill>
            <a:prstDash val="solid"/>
          </a:ln>
        </p:spPr>
      </p:sp>
      <p:sp>
        <p:nvSpPr>
          <p:cNvPr id="41" name="Shape 39"/>
          <p:cNvSpPr/>
          <p:nvPr/>
        </p:nvSpPr>
        <p:spPr>
          <a:xfrm>
            <a:off x="502920" y="4133088"/>
            <a:ext cx="402336" cy="201168"/>
          </a:xfrm>
          <a:prstGeom prst="roundRect">
            <a:avLst>
              <a:gd name="adj" fmla="val 36364"/>
            </a:avLst>
          </a:prstGeom>
          <a:solidFill>
            <a:srgbClr val="2563EB"/>
          </a:solidFill>
          <a:ln w="12700">
            <a:solidFill>
              <a:srgbClr val="2563EB"/>
            </a:solidFill>
            <a:prstDash val="solid"/>
          </a:ln>
        </p:spPr>
      </p:sp>
      <p:sp>
        <p:nvSpPr>
          <p:cNvPr id="42" name="Text 40"/>
          <p:cNvSpPr/>
          <p:nvPr/>
        </p:nvSpPr>
        <p:spPr>
          <a:xfrm>
            <a:off x="502920" y="4133088"/>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3pt</a:t>
            </a:r>
            <a:endParaRPr lang="en-US" sz="800" dirty="0"/>
          </a:p>
        </p:txBody>
      </p:sp>
      <p:sp>
        <p:nvSpPr>
          <p:cNvPr id="43" name="Text 41"/>
          <p:cNvSpPr/>
          <p:nvPr/>
        </p:nvSpPr>
        <p:spPr>
          <a:xfrm>
            <a:off x="969264" y="4096512"/>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Firebase Auth project setup + .NET JWT middleware</a:t>
            </a:r>
            <a:endParaRPr lang="en-US" sz="850" dirty="0"/>
          </a:p>
        </p:txBody>
      </p:sp>
      <p:sp>
        <p:nvSpPr>
          <p:cNvPr id="44" name="Text 42"/>
          <p:cNvSpPr/>
          <p:nvPr/>
        </p:nvSpPr>
        <p:spPr>
          <a:xfrm>
            <a:off x="5541264" y="4096512"/>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Backend | Firebase Admin SDK, JWT Bearer, role claims</a:t>
            </a:r>
            <a:endParaRPr lang="en-US" sz="750" dirty="0"/>
          </a:p>
        </p:txBody>
      </p:sp>
      <p:sp>
        <p:nvSpPr>
          <p:cNvPr id="45" name="Shape 43"/>
          <p:cNvSpPr/>
          <p:nvPr/>
        </p:nvSpPr>
        <p:spPr>
          <a:xfrm>
            <a:off x="457200" y="4443984"/>
            <a:ext cx="8458200" cy="393192"/>
          </a:xfrm>
          <a:prstGeom prst="rect">
            <a:avLst/>
          </a:prstGeom>
          <a:solidFill>
            <a:srgbClr val="F8F9FC"/>
          </a:solidFill>
          <a:ln w="5080">
            <a:solidFill>
              <a:srgbClr val="E2E8F0"/>
            </a:solidFill>
            <a:prstDash val="solid"/>
          </a:ln>
        </p:spPr>
      </p:sp>
      <p:sp>
        <p:nvSpPr>
          <p:cNvPr id="46" name="Shape 44"/>
          <p:cNvSpPr/>
          <p:nvPr/>
        </p:nvSpPr>
        <p:spPr>
          <a:xfrm>
            <a:off x="502920" y="4535424"/>
            <a:ext cx="402336" cy="201168"/>
          </a:xfrm>
          <a:prstGeom prst="roundRect">
            <a:avLst>
              <a:gd name="adj" fmla="val 36364"/>
            </a:avLst>
          </a:prstGeom>
          <a:solidFill>
            <a:srgbClr val="2563EB"/>
          </a:solidFill>
          <a:ln w="12700">
            <a:solidFill>
              <a:srgbClr val="2563EB"/>
            </a:solidFill>
            <a:prstDash val="solid"/>
          </a:ln>
        </p:spPr>
      </p:sp>
      <p:sp>
        <p:nvSpPr>
          <p:cNvPr id="47" name="Text 45"/>
          <p:cNvSpPr/>
          <p:nvPr/>
        </p:nvSpPr>
        <p:spPr>
          <a:xfrm>
            <a:off x="502920" y="4535424"/>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3pt</a:t>
            </a:r>
            <a:endParaRPr lang="en-US" sz="800" dirty="0"/>
          </a:p>
        </p:txBody>
      </p:sp>
      <p:sp>
        <p:nvSpPr>
          <p:cNvPr id="48" name="Text 46"/>
          <p:cNvSpPr/>
          <p:nvPr/>
        </p:nvSpPr>
        <p:spPr>
          <a:xfrm>
            <a:off x="969264" y="4498848"/>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Security Consultant kickoff brief</a:t>
            </a:r>
            <a:endParaRPr lang="en-US" sz="850" dirty="0"/>
          </a:p>
        </p:txBody>
      </p:sp>
      <p:sp>
        <p:nvSpPr>
          <p:cNvPr id="49" name="Text 47"/>
          <p:cNvSpPr/>
          <p:nvPr/>
        </p:nvSpPr>
        <p:spPr>
          <a:xfrm>
            <a:off x="5541264" y="4498848"/>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Security | OWASP checklist, pentest plan, data mapping</a:t>
            </a:r>
            <a:endParaRPr lang="en-US" sz="750" dirty="0"/>
          </a:p>
        </p:txBody>
      </p:sp>
      <p:sp>
        <p:nvSpPr>
          <p:cNvPr id="50" name="Shape 48"/>
          <p:cNvSpPr/>
          <p:nvPr/>
        </p:nvSpPr>
        <p:spPr>
          <a:xfrm>
            <a:off x="457200" y="4791456"/>
            <a:ext cx="8458200" cy="201168"/>
          </a:xfrm>
          <a:prstGeom prst="rect">
            <a:avLst/>
          </a:prstGeom>
          <a:solidFill>
            <a:srgbClr val="2563EB"/>
          </a:solidFill>
          <a:ln w="12700">
            <a:solidFill>
              <a:srgbClr val="2563EB"/>
            </a:solidFill>
            <a:prstDash val="solid"/>
          </a:ln>
        </p:spPr>
      </p:sp>
      <p:sp>
        <p:nvSpPr>
          <p:cNvPr id="51" name="Text 49"/>
          <p:cNvSpPr/>
          <p:nvPr/>
        </p:nvSpPr>
        <p:spPr>
          <a:xfrm>
            <a:off x="548640" y="4796028"/>
            <a:ext cx="8321040" cy="182880"/>
          </a:xfrm>
          <a:prstGeom prst="rect">
            <a:avLst/>
          </a:prstGeom>
          <a:noFill/>
          <a:ln/>
        </p:spPr>
        <p:txBody>
          <a:bodyPr wrap="square" rtlCol="0" anchor="ctr"/>
          <a:lstStyle/>
          <a:p>
            <a:pPr indent="0" marL="0">
              <a:buNone/>
            </a:pPr>
            <a:r>
              <a:rPr lang="en-US" sz="750" dirty="0">
                <a:solidFill>
                  <a:srgbClr val="FFFFFF"/>
                </a:solidFill>
                <a:latin typeface="Calibri" pitchFamily="34" charset="0"/>
                <a:ea typeface="Calibri" pitchFamily="34" charset="-122"/>
                <a:cs typeface="Calibri" pitchFamily="34" charset="-120"/>
              </a:rPr>
              <a:t>Sprint 1 Total: 48 Story Points   |   End Gate: Design &amp; Architecture Sign-Off   |   Sprint Review: EOD Wk 2 Demo</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SPRINT PLANNING</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Sprint 2 — Weeks 3–4: Core Customisation Part 1</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Text 3"/>
          <p:cNvSpPr/>
          <p:nvPr/>
        </p:nvSpPr>
        <p:spPr>
          <a:xfrm>
            <a:off x="457200" y="1042416"/>
            <a:ext cx="8229600" cy="237744"/>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Goal: Auth, Member Directory, History &amp; core APIs live in staging by end of Week 4.</a:t>
            </a:r>
            <a:endParaRPr lang="en-US" sz="1000" dirty="0"/>
          </a:p>
        </p:txBody>
      </p:sp>
      <p:sp>
        <p:nvSpPr>
          <p:cNvPr id="6" name="Shape 4"/>
          <p:cNvSpPr/>
          <p:nvPr/>
        </p:nvSpPr>
        <p:spPr>
          <a:xfrm>
            <a:off x="457200" y="1335024"/>
            <a:ext cx="8458200" cy="274320"/>
          </a:xfrm>
          <a:prstGeom prst="rect">
            <a:avLst/>
          </a:prstGeom>
          <a:solidFill>
            <a:srgbClr val="059669"/>
          </a:solidFill>
          <a:ln w="12700">
            <a:solidFill>
              <a:srgbClr val="059669"/>
            </a:solidFill>
            <a:prstDash val="solid"/>
          </a:ln>
        </p:spPr>
      </p:sp>
      <p:sp>
        <p:nvSpPr>
          <p:cNvPr id="7" name="Text 5"/>
          <p:cNvSpPr/>
          <p:nvPr/>
        </p:nvSpPr>
        <p:spPr>
          <a:xfrm>
            <a:off x="50292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SP</a:t>
            </a:r>
            <a:endParaRPr lang="en-US" sz="850" dirty="0"/>
          </a:p>
        </p:txBody>
      </p:sp>
      <p:sp>
        <p:nvSpPr>
          <p:cNvPr id="8" name="Text 6"/>
          <p:cNvSpPr/>
          <p:nvPr/>
        </p:nvSpPr>
        <p:spPr>
          <a:xfrm>
            <a:off x="100584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Story</a:t>
            </a:r>
            <a:endParaRPr lang="en-US" sz="850" dirty="0"/>
          </a:p>
        </p:txBody>
      </p:sp>
      <p:sp>
        <p:nvSpPr>
          <p:cNvPr id="9" name="Text 7"/>
          <p:cNvSpPr/>
          <p:nvPr/>
        </p:nvSpPr>
        <p:spPr>
          <a:xfrm>
            <a:off x="557784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Owner / Notes</a:t>
            </a:r>
            <a:endParaRPr lang="en-US" sz="850" dirty="0"/>
          </a:p>
        </p:txBody>
      </p:sp>
      <p:sp>
        <p:nvSpPr>
          <p:cNvPr id="10" name="Shape 8"/>
          <p:cNvSpPr/>
          <p:nvPr/>
        </p:nvSpPr>
        <p:spPr>
          <a:xfrm>
            <a:off x="457200" y="1627632"/>
            <a:ext cx="8458200" cy="393192"/>
          </a:xfrm>
          <a:prstGeom prst="rect">
            <a:avLst/>
          </a:prstGeom>
          <a:solidFill>
            <a:srgbClr val="FFFFFF"/>
          </a:solidFill>
          <a:ln w="5080">
            <a:solidFill>
              <a:srgbClr val="E2E8F0"/>
            </a:solidFill>
            <a:prstDash val="solid"/>
          </a:ln>
        </p:spPr>
      </p:sp>
      <p:sp>
        <p:nvSpPr>
          <p:cNvPr id="11" name="Shape 9"/>
          <p:cNvSpPr/>
          <p:nvPr/>
        </p:nvSpPr>
        <p:spPr>
          <a:xfrm>
            <a:off x="502920" y="1719072"/>
            <a:ext cx="402336" cy="201168"/>
          </a:xfrm>
          <a:prstGeom prst="roundRect">
            <a:avLst>
              <a:gd name="adj" fmla="val 36364"/>
            </a:avLst>
          </a:prstGeom>
          <a:solidFill>
            <a:srgbClr val="059669"/>
          </a:solidFill>
          <a:ln w="12700">
            <a:solidFill>
              <a:srgbClr val="059669"/>
            </a:solidFill>
            <a:prstDash val="solid"/>
          </a:ln>
        </p:spPr>
      </p:sp>
      <p:sp>
        <p:nvSpPr>
          <p:cNvPr id="12" name="Text 10"/>
          <p:cNvSpPr/>
          <p:nvPr/>
        </p:nvSpPr>
        <p:spPr>
          <a:xfrm>
            <a:off x="502920" y="1719072"/>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6pt</a:t>
            </a:r>
            <a:endParaRPr lang="en-US" sz="800" dirty="0"/>
          </a:p>
        </p:txBody>
      </p:sp>
      <p:sp>
        <p:nvSpPr>
          <p:cNvPr id="13" name="Text 11"/>
          <p:cNvSpPr/>
          <p:nvPr/>
        </p:nvSpPr>
        <p:spPr>
          <a:xfrm>
            <a:off x="969264" y="1682496"/>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Firebase Auth + biometric onboarding (Capacitor Biometric)</a:t>
            </a:r>
            <a:endParaRPr lang="en-US" sz="850" dirty="0"/>
          </a:p>
        </p:txBody>
      </p:sp>
      <p:sp>
        <p:nvSpPr>
          <p:cNvPr id="14" name="Text 12"/>
          <p:cNvSpPr/>
          <p:nvPr/>
        </p:nvSpPr>
        <p:spPr>
          <a:xfrm>
            <a:off x="5541264" y="1682496"/>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Mobile Dev | Login, OTP, Google OAuth, fingerprint</a:t>
            </a:r>
            <a:endParaRPr lang="en-US" sz="750" dirty="0"/>
          </a:p>
        </p:txBody>
      </p:sp>
      <p:sp>
        <p:nvSpPr>
          <p:cNvPr id="15" name="Shape 13"/>
          <p:cNvSpPr/>
          <p:nvPr/>
        </p:nvSpPr>
        <p:spPr>
          <a:xfrm>
            <a:off x="457200" y="2029968"/>
            <a:ext cx="8458200" cy="393192"/>
          </a:xfrm>
          <a:prstGeom prst="rect">
            <a:avLst/>
          </a:prstGeom>
          <a:solidFill>
            <a:srgbClr val="F8F9FC"/>
          </a:solidFill>
          <a:ln w="5080">
            <a:solidFill>
              <a:srgbClr val="E2E8F0"/>
            </a:solidFill>
            <a:prstDash val="solid"/>
          </a:ln>
        </p:spPr>
      </p:sp>
      <p:sp>
        <p:nvSpPr>
          <p:cNvPr id="16" name="Shape 14"/>
          <p:cNvSpPr/>
          <p:nvPr/>
        </p:nvSpPr>
        <p:spPr>
          <a:xfrm>
            <a:off x="502920" y="2121408"/>
            <a:ext cx="402336" cy="201168"/>
          </a:xfrm>
          <a:prstGeom prst="roundRect">
            <a:avLst>
              <a:gd name="adj" fmla="val 36364"/>
            </a:avLst>
          </a:prstGeom>
          <a:solidFill>
            <a:srgbClr val="059669"/>
          </a:solidFill>
          <a:ln w="12700">
            <a:solidFill>
              <a:srgbClr val="059669"/>
            </a:solidFill>
            <a:prstDash val="solid"/>
          </a:ln>
        </p:spPr>
      </p:sp>
      <p:sp>
        <p:nvSpPr>
          <p:cNvPr id="17" name="Text 15"/>
          <p:cNvSpPr/>
          <p:nvPr/>
        </p:nvSpPr>
        <p:spPr>
          <a:xfrm>
            <a:off x="502920" y="2121408"/>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8pt</a:t>
            </a:r>
            <a:endParaRPr lang="en-US" sz="800" dirty="0"/>
          </a:p>
        </p:txBody>
      </p:sp>
      <p:sp>
        <p:nvSpPr>
          <p:cNvPr id="18" name="Text 16"/>
          <p:cNvSpPr/>
          <p:nvPr/>
        </p:nvSpPr>
        <p:spPr>
          <a:xfrm>
            <a:off x="969264" y="2084832"/>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Member Directory — search, filter, role badges (Ionic list)</a:t>
            </a:r>
            <a:endParaRPr lang="en-US" sz="850" dirty="0"/>
          </a:p>
        </p:txBody>
      </p:sp>
      <p:sp>
        <p:nvSpPr>
          <p:cNvPr id="19" name="Text 17"/>
          <p:cNvSpPr/>
          <p:nvPr/>
        </p:nvSpPr>
        <p:spPr>
          <a:xfrm>
            <a:off x="5541264" y="2084832"/>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Mobile Dev | Paginated, debounced search, avatars</a:t>
            </a:r>
            <a:endParaRPr lang="en-US" sz="750" dirty="0"/>
          </a:p>
        </p:txBody>
      </p:sp>
      <p:sp>
        <p:nvSpPr>
          <p:cNvPr id="20" name="Shape 18"/>
          <p:cNvSpPr/>
          <p:nvPr/>
        </p:nvSpPr>
        <p:spPr>
          <a:xfrm>
            <a:off x="457200" y="2432304"/>
            <a:ext cx="8458200" cy="393192"/>
          </a:xfrm>
          <a:prstGeom prst="rect">
            <a:avLst/>
          </a:prstGeom>
          <a:solidFill>
            <a:srgbClr val="FFFFFF"/>
          </a:solidFill>
          <a:ln w="5080">
            <a:solidFill>
              <a:srgbClr val="E2E8F0"/>
            </a:solidFill>
            <a:prstDash val="solid"/>
          </a:ln>
        </p:spPr>
      </p:sp>
      <p:sp>
        <p:nvSpPr>
          <p:cNvPr id="21" name="Shape 19"/>
          <p:cNvSpPr/>
          <p:nvPr/>
        </p:nvSpPr>
        <p:spPr>
          <a:xfrm>
            <a:off x="502920" y="2523744"/>
            <a:ext cx="402336" cy="201168"/>
          </a:xfrm>
          <a:prstGeom prst="roundRect">
            <a:avLst>
              <a:gd name="adj" fmla="val 36364"/>
            </a:avLst>
          </a:prstGeom>
          <a:solidFill>
            <a:srgbClr val="059669"/>
          </a:solidFill>
          <a:ln w="12700">
            <a:solidFill>
              <a:srgbClr val="059669"/>
            </a:solidFill>
            <a:prstDash val="solid"/>
          </a:ln>
        </p:spPr>
      </p:sp>
      <p:sp>
        <p:nvSpPr>
          <p:cNvPr id="22" name="Text 20"/>
          <p:cNvSpPr/>
          <p:nvPr/>
        </p:nvSpPr>
        <p:spPr>
          <a:xfrm>
            <a:off x="502920" y="2523744"/>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5pt</a:t>
            </a:r>
            <a:endParaRPr lang="en-US" sz="800" dirty="0"/>
          </a:p>
        </p:txBody>
      </p:sp>
      <p:sp>
        <p:nvSpPr>
          <p:cNvPr id="23" name="Text 21"/>
          <p:cNvSpPr/>
          <p:nvPr/>
        </p:nvSpPr>
        <p:spPr>
          <a:xfrm>
            <a:off x="969264" y="2487168"/>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Member Detail page — call/message/pray CTAs</a:t>
            </a:r>
            <a:endParaRPr lang="en-US" sz="850" dirty="0"/>
          </a:p>
        </p:txBody>
      </p:sp>
      <p:sp>
        <p:nvSpPr>
          <p:cNvPr id="24" name="Text 22"/>
          <p:cNvSpPr/>
          <p:nvPr/>
        </p:nvSpPr>
        <p:spPr>
          <a:xfrm>
            <a:off x="5541264" y="2487168"/>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Mobile Dev | Profile card, stat chips, action buttons</a:t>
            </a:r>
            <a:endParaRPr lang="en-US" sz="750" dirty="0"/>
          </a:p>
        </p:txBody>
      </p:sp>
      <p:sp>
        <p:nvSpPr>
          <p:cNvPr id="25" name="Shape 23"/>
          <p:cNvSpPr/>
          <p:nvPr/>
        </p:nvSpPr>
        <p:spPr>
          <a:xfrm>
            <a:off x="457200" y="2834640"/>
            <a:ext cx="8458200" cy="393192"/>
          </a:xfrm>
          <a:prstGeom prst="rect">
            <a:avLst/>
          </a:prstGeom>
          <a:solidFill>
            <a:srgbClr val="F8F9FC"/>
          </a:solidFill>
          <a:ln w="5080">
            <a:solidFill>
              <a:srgbClr val="E2E8F0"/>
            </a:solidFill>
            <a:prstDash val="solid"/>
          </a:ln>
        </p:spPr>
      </p:sp>
      <p:sp>
        <p:nvSpPr>
          <p:cNvPr id="26" name="Shape 24"/>
          <p:cNvSpPr/>
          <p:nvPr/>
        </p:nvSpPr>
        <p:spPr>
          <a:xfrm>
            <a:off x="502920" y="2926080"/>
            <a:ext cx="402336" cy="201168"/>
          </a:xfrm>
          <a:prstGeom prst="roundRect">
            <a:avLst>
              <a:gd name="adj" fmla="val 36364"/>
            </a:avLst>
          </a:prstGeom>
          <a:solidFill>
            <a:srgbClr val="059669"/>
          </a:solidFill>
          <a:ln w="12700">
            <a:solidFill>
              <a:srgbClr val="059669"/>
            </a:solidFill>
            <a:prstDash val="solid"/>
          </a:ln>
        </p:spPr>
      </p:sp>
      <p:sp>
        <p:nvSpPr>
          <p:cNvPr id="27" name="Text 25"/>
          <p:cNvSpPr/>
          <p:nvPr/>
        </p:nvSpPr>
        <p:spPr>
          <a:xfrm>
            <a:off x="502920" y="2926080"/>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5pt</a:t>
            </a:r>
            <a:endParaRPr lang="en-US" sz="800" dirty="0"/>
          </a:p>
        </p:txBody>
      </p:sp>
      <p:sp>
        <p:nvSpPr>
          <p:cNvPr id="28" name="Text 26"/>
          <p:cNvSpPr/>
          <p:nvPr/>
        </p:nvSpPr>
        <p:spPr>
          <a:xfrm>
            <a:off x="969264" y="2889504"/>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Member History (pastoral notes) — CRUD + timestamp log</a:t>
            </a:r>
            <a:endParaRPr lang="en-US" sz="850" dirty="0"/>
          </a:p>
        </p:txBody>
      </p:sp>
      <p:sp>
        <p:nvSpPr>
          <p:cNvPr id="29" name="Text 27"/>
          <p:cNvSpPr/>
          <p:nvPr/>
        </p:nvSpPr>
        <p:spPr>
          <a:xfrm>
            <a:off x="5541264" y="2889504"/>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Full Stack | .NET 8 API + EF Core + Ionic UI</a:t>
            </a:r>
            <a:endParaRPr lang="en-US" sz="750" dirty="0"/>
          </a:p>
        </p:txBody>
      </p:sp>
      <p:sp>
        <p:nvSpPr>
          <p:cNvPr id="30" name="Shape 28"/>
          <p:cNvSpPr/>
          <p:nvPr/>
        </p:nvSpPr>
        <p:spPr>
          <a:xfrm>
            <a:off x="457200" y="3236976"/>
            <a:ext cx="8458200" cy="393192"/>
          </a:xfrm>
          <a:prstGeom prst="rect">
            <a:avLst/>
          </a:prstGeom>
          <a:solidFill>
            <a:srgbClr val="FFFFFF"/>
          </a:solidFill>
          <a:ln w="5080">
            <a:solidFill>
              <a:srgbClr val="E2E8F0"/>
            </a:solidFill>
            <a:prstDash val="solid"/>
          </a:ln>
        </p:spPr>
      </p:sp>
      <p:sp>
        <p:nvSpPr>
          <p:cNvPr id="31" name="Shape 29"/>
          <p:cNvSpPr/>
          <p:nvPr/>
        </p:nvSpPr>
        <p:spPr>
          <a:xfrm>
            <a:off x="502920" y="3328416"/>
            <a:ext cx="402336" cy="201168"/>
          </a:xfrm>
          <a:prstGeom prst="roundRect">
            <a:avLst>
              <a:gd name="adj" fmla="val 36364"/>
            </a:avLst>
          </a:prstGeom>
          <a:solidFill>
            <a:srgbClr val="059669"/>
          </a:solidFill>
          <a:ln w="12700">
            <a:solidFill>
              <a:srgbClr val="059669"/>
            </a:solidFill>
            <a:prstDash val="solid"/>
          </a:ln>
        </p:spPr>
      </p:sp>
      <p:sp>
        <p:nvSpPr>
          <p:cNvPr id="32" name="Text 30"/>
          <p:cNvSpPr/>
          <p:nvPr/>
        </p:nvSpPr>
        <p:spPr>
          <a:xfrm>
            <a:off x="502920" y="3328416"/>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5pt</a:t>
            </a:r>
            <a:endParaRPr lang="en-US" sz="800" dirty="0"/>
          </a:p>
        </p:txBody>
      </p:sp>
      <p:sp>
        <p:nvSpPr>
          <p:cNvPr id="33" name="Text 31"/>
          <p:cNvSpPr/>
          <p:nvPr/>
        </p:nvSpPr>
        <p:spPr>
          <a:xfrm>
            <a:off x="969264" y="3291840"/>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.NET 8 REST APIs (auth + directory + history modules)</a:t>
            </a:r>
            <a:endParaRPr lang="en-US" sz="850" dirty="0"/>
          </a:p>
        </p:txBody>
      </p:sp>
      <p:sp>
        <p:nvSpPr>
          <p:cNvPr id="34" name="Text 32"/>
          <p:cNvSpPr/>
          <p:nvPr/>
        </p:nvSpPr>
        <p:spPr>
          <a:xfrm>
            <a:off x="5541264" y="3291840"/>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Backend | EF Core 8 migrations, JWT auth, xUnit tests</a:t>
            </a:r>
            <a:endParaRPr lang="en-US" sz="750" dirty="0"/>
          </a:p>
        </p:txBody>
      </p:sp>
      <p:sp>
        <p:nvSpPr>
          <p:cNvPr id="35" name="Shape 33"/>
          <p:cNvSpPr/>
          <p:nvPr/>
        </p:nvSpPr>
        <p:spPr>
          <a:xfrm>
            <a:off x="457200" y="3639312"/>
            <a:ext cx="8458200" cy="393192"/>
          </a:xfrm>
          <a:prstGeom prst="rect">
            <a:avLst/>
          </a:prstGeom>
          <a:solidFill>
            <a:srgbClr val="F8F9FC"/>
          </a:solidFill>
          <a:ln w="5080">
            <a:solidFill>
              <a:srgbClr val="E2E8F0"/>
            </a:solidFill>
            <a:prstDash val="solid"/>
          </a:ln>
        </p:spPr>
      </p:sp>
      <p:sp>
        <p:nvSpPr>
          <p:cNvPr id="36" name="Shape 34"/>
          <p:cNvSpPr/>
          <p:nvPr/>
        </p:nvSpPr>
        <p:spPr>
          <a:xfrm>
            <a:off x="502920" y="3730752"/>
            <a:ext cx="402336" cy="201168"/>
          </a:xfrm>
          <a:prstGeom prst="roundRect">
            <a:avLst>
              <a:gd name="adj" fmla="val 36364"/>
            </a:avLst>
          </a:prstGeom>
          <a:solidFill>
            <a:srgbClr val="059669"/>
          </a:solidFill>
          <a:ln w="12700">
            <a:solidFill>
              <a:srgbClr val="059669"/>
            </a:solidFill>
            <a:prstDash val="solid"/>
          </a:ln>
        </p:spPr>
      </p:sp>
      <p:sp>
        <p:nvSpPr>
          <p:cNvPr id="37" name="Text 35"/>
          <p:cNvSpPr/>
          <p:nvPr/>
        </p:nvSpPr>
        <p:spPr>
          <a:xfrm>
            <a:off x="502920" y="3730752"/>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3pt</a:t>
            </a:r>
            <a:endParaRPr lang="en-US" sz="800" dirty="0"/>
          </a:p>
        </p:txBody>
      </p:sp>
      <p:sp>
        <p:nvSpPr>
          <p:cNvPr id="38" name="Text 36"/>
          <p:cNvSpPr/>
          <p:nvPr/>
        </p:nvSpPr>
        <p:spPr>
          <a:xfrm>
            <a:off x="969264" y="3694176"/>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AWS RDS PostgreSQL staging provisioned</a:t>
            </a:r>
            <a:endParaRPr lang="en-US" sz="850" dirty="0"/>
          </a:p>
        </p:txBody>
      </p:sp>
      <p:sp>
        <p:nvSpPr>
          <p:cNvPr id="39" name="Text 37"/>
          <p:cNvSpPr/>
          <p:nvPr/>
        </p:nvSpPr>
        <p:spPr>
          <a:xfrm>
            <a:off x="5541264" y="3694176"/>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DevOps | RDS Multi-AZ, security group, VPC config</a:t>
            </a:r>
            <a:endParaRPr lang="en-US" sz="750" dirty="0"/>
          </a:p>
        </p:txBody>
      </p:sp>
      <p:sp>
        <p:nvSpPr>
          <p:cNvPr id="40" name="Shape 38"/>
          <p:cNvSpPr/>
          <p:nvPr/>
        </p:nvSpPr>
        <p:spPr>
          <a:xfrm>
            <a:off x="457200" y="4041648"/>
            <a:ext cx="8458200" cy="393192"/>
          </a:xfrm>
          <a:prstGeom prst="rect">
            <a:avLst/>
          </a:prstGeom>
          <a:solidFill>
            <a:srgbClr val="FFFFFF"/>
          </a:solidFill>
          <a:ln w="5080">
            <a:solidFill>
              <a:srgbClr val="E2E8F0"/>
            </a:solidFill>
            <a:prstDash val="solid"/>
          </a:ln>
        </p:spPr>
      </p:sp>
      <p:sp>
        <p:nvSpPr>
          <p:cNvPr id="41" name="Shape 39"/>
          <p:cNvSpPr/>
          <p:nvPr/>
        </p:nvSpPr>
        <p:spPr>
          <a:xfrm>
            <a:off x="502920" y="4133088"/>
            <a:ext cx="402336" cy="201168"/>
          </a:xfrm>
          <a:prstGeom prst="roundRect">
            <a:avLst>
              <a:gd name="adj" fmla="val 36364"/>
            </a:avLst>
          </a:prstGeom>
          <a:solidFill>
            <a:srgbClr val="059669"/>
          </a:solidFill>
          <a:ln w="12700">
            <a:solidFill>
              <a:srgbClr val="059669"/>
            </a:solidFill>
            <a:prstDash val="solid"/>
          </a:ln>
        </p:spPr>
      </p:sp>
      <p:sp>
        <p:nvSpPr>
          <p:cNvPr id="42" name="Text 40"/>
          <p:cNvSpPr/>
          <p:nvPr/>
        </p:nvSpPr>
        <p:spPr>
          <a:xfrm>
            <a:off x="502920" y="4133088"/>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3pt</a:t>
            </a:r>
            <a:endParaRPr lang="en-US" sz="800" dirty="0"/>
          </a:p>
        </p:txBody>
      </p:sp>
      <p:sp>
        <p:nvSpPr>
          <p:cNvPr id="43" name="Text 41"/>
          <p:cNvSpPr/>
          <p:nvPr/>
        </p:nvSpPr>
        <p:spPr>
          <a:xfrm>
            <a:off x="969264" y="4096512"/>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GitHub Actions CI/CD — PR gate + staging auto-deploy</a:t>
            </a:r>
            <a:endParaRPr lang="en-US" sz="850" dirty="0"/>
          </a:p>
        </p:txBody>
      </p:sp>
      <p:sp>
        <p:nvSpPr>
          <p:cNvPr id="44" name="Text 42"/>
          <p:cNvSpPr/>
          <p:nvPr/>
        </p:nvSpPr>
        <p:spPr>
          <a:xfrm>
            <a:off x="5541264" y="4096512"/>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DevOps | Docker build → ECS Fargate staging</a:t>
            </a:r>
            <a:endParaRPr lang="en-US" sz="750" dirty="0"/>
          </a:p>
        </p:txBody>
      </p:sp>
      <p:sp>
        <p:nvSpPr>
          <p:cNvPr id="45" name="Shape 43"/>
          <p:cNvSpPr/>
          <p:nvPr/>
        </p:nvSpPr>
        <p:spPr>
          <a:xfrm>
            <a:off x="457200" y="4443984"/>
            <a:ext cx="8458200" cy="393192"/>
          </a:xfrm>
          <a:prstGeom prst="rect">
            <a:avLst/>
          </a:prstGeom>
          <a:solidFill>
            <a:srgbClr val="F8F9FC"/>
          </a:solidFill>
          <a:ln w="5080">
            <a:solidFill>
              <a:srgbClr val="E2E8F0"/>
            </a:solidFill>
            <a:prstDash val="solid"/>
          </a:ln>
        </p:spPr>
      </p:sp>
      <p:sp>
        <p:nvSpPr>
          <p:cNvPr id="46" name="Shape 44"/>
          <p:cNvSpPr/>
          <p:nvPr/>
        </p:nvSpPr>
        <p:spPr>
          <a:xfrm>
            <a:off x="502920" y="4535424"/>
            <a:ext cx="402336" cy="201168"/>
          </a:xfrm>
          <a:prstGeom prst="roundRect">
            <a:avLst>
              <a:gd name="adj" fmla="val 36364"/>
            </a:avLst>
          </a:prstGeom>
          <a:solidFill>
            <a:srgbClr val="059669"/>
          </a:solidFill>
          <a:ln w="12700">
            <a:solidFill>
              <a:srgbClr val="059669"/>
            </a:solidFill>
            <a:prstDash val="solid"/>
          </a:ln>
        </p:spPr>
      </p:sp>
      <p:sp>
        <p:nvSpPr>
          <p:cNvPr id="47" name="Text 45"/>
          <p:cNvSpPr/>
          <p:nvPr/>
        </p:nvSpPr>
        <p:spPr>
          <a:xfrm>
            <a:off x="502920" y="4535424"/>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3pt</a:t>
            </a:r>
            <a:endParaRPr lang="en-US" sz="800" dirty="0"/>
          </a:p>
        </p:txBody>
      </p:sp>
      <p:sp>
        <p:nvSpPr>
          <p:cNvPr id="48" name="Text 46"/>
          <p:cNvSpPr/>
          <p:nvPr/>
        </p:nvSpPr>
        <p:spPr>
          <a:xfrm>
            <a:off x="969264" y="4498848"/>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Weekly demo prep + stakeholder review</a:t>
            </a:r>
            <a:endParaRPr lang="en-US" sz="850" dirty="0"/>
          </a:p>
        </p:txBody>
      </p:sp>
      <p:sp>
        <p:nvSpPr>
          <p:cNvPr id="49" name="Text 47"/>
          <p:cNvSpPr/>
          <p:nvPr/>
        </p:nvSpPr>
        <p:spPr>
          <a:xfrm>
            <a:off x="5541264" y="4498848"/>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PM | Demo recording + feedback log</a:t>
            </a:r>
            <a:endParaRPr lang="en-US" sz="750" dirty="0"/>
          </a:p>
        </p:txBody>
      </p:sp>
      <p:sp>
        <p:nvSpPr>
          <p:cNvPr id="50" name="Shape 48"/>
          <p:cNvSpPr/>
          <p:nvPr/>
        </p:nvSpPr>
        <p:spPr>
          <a:xfrm>
            <a:off x="457200" y="4791456"/>
            <a:ext cx="8458200" cy="201168"/>
          </a:xfrm>
          <a:prstGeom prst="rect">
            <a:avLst/>
          </a:prstGeom>
          <a:solidFill>
            <a:srgbClr val="059669"/>
          </a:solidFill>
          <a:ln w="12700">
            <a:solidFill>
              <a:srgbClr val="059669"/>
            </a:solidFill>
            <a:prstDash val="solid"/>
          </a:ln>
        </p:spPr>
      </p:sp>
      <p:sp>
        <p:nvSpPr>
          <p:cNvPr id="51" name="Text 49"/>
          <p:cNvSpPr/>
          <p:nvPr/>
        </p:nvSpPr>
        <p:spPr>
          <a:xfrm>
            <a:off x="548640" y="4796028"/>
            <a:ext cx="8321040" cy="182880"/>
          </a:xfrm>
          <a:prstGeom prst="rect">
            <a:avLst/>
          </a:prstGeom>
          <a:noFill/>
          <a:ln/>
        </p:spPr>
        <p:txBody>
          <a:bodyPr wrap="square" rtlCol="0" anchor="ctr"/>
          <a:lstStyle/>
          <a:p>
            <a:pPr indent="0" marL="0">
              <a:buNone/>
            </a:pPr>
            <a:r>
              <a:rPr lang="en-US" sz="750" dirty="0">
                <a:solidFill>
                  <a:srgbClr val="FFFFFF"/>
                </a:solidFill>
                <a:latin typeface="Calibri" pitchFamily="34" charset="0"/>
                <a:ea typeface="Calibri" pitchFamily="34" charset="-122"/>
                <a:cs typeface="Calibri" pitchFamily="34" charset="-120"/>
              </a:rPr>
              <a:t>Sprint 2 Total: 38 Story Points   |   Checkpoint: Auth + Directory Live in Staging   |   Sprint Review: EOD Wk 4 Demo</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SPRINT PLANNING</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Sprint 3 — Weeks 5–6: Core Customisation Part 2</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Text 3"/>
          <p:cNvSpPr/>
          <p:nvPr/>
        </p:nvSpPr>
        <p:spPr>
          <a:xfrm>
            <a:off x="457200" y="1042416"/>
            <a:ext cx="8229600" cy="237744"/>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Goal: Prayer Requests, Video Library, admin APIs complete. Sign-off Gate 2 (MVP Core) at end of Week 6.</a:t>
            </a:r>
            <a:endParaRPr lang="en-US" sz="1000" dirty="0"/>
          </a:p>
        </p:txBody>
      </p:sp>
      <p:sp>
        <p:nvSpPr>
          <p:cNvPr id="6" name="Shape 4"/>
          <p:cNvSpPr/>
          <p:nvPr/>
        </p:nvSpPr>
        <p:spPr>
          <a:xfrm>
            <a:off x="457200" y="1335024"/>
            <a:ext cx="8458200" cy="274320"/>
          </a:xfrm>
          <a:prstGeom prst="rect">
            <a:avLst/>
          </a:prstGeom>
          <a:solidFill>
            <a:srgbClr val="059669"/>
          </a:solidFill>
          <a:ln w="12700">
            <a:solidFill>
              <a:srgbClr val="059669"/>
            </a:solidFill>
            <a:prstDash val="solid"/>
          </a:ln>
        </p:spPr>
      </p:sp>
      <p:sp>
        <p:nvSpPr>
          <p:cNvPr id="7" name="Text 5"/>
          <p:cNvSpPr/>
          <p:nvPr/>
        </p:nvSpPr>
        <p:spPr>
          <a:xfrm>
            <a:off x="50292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SP</a:t>
            </a:r>
            <a:endParaRPr lang="en-US" sz="850" dirty="0"/>
          </a:p>
        </p:txBody>
      </p:sp>
      <p:sp>
        <p:nvSpPr>
          <p:cNvPr id="8" name="Text 6"/>
          <p:cNvSpPr/>
          <p:nvPr/>
        </p:nvSpPr>
        <p:spPr>
          <a:xfrm>
            <a:off x="100584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Story</a:t>
            </a:r>
            <a:endParaRPr lang="en-US" sz="850" dirty="0"/>
          </a:p>
        </p:txBody>
      </p:sp>
      <p:sp>
        <p:nvSpPr>
          <p:cNvPr id="9" name="Text 7"/>
          <p:cNvSpPr/>
          <p:nvPr/>
        </p:nvSpPr>
        <p:spPr>
          <a:xfrm>
            <a:off x="557784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Owner / Notes</a:t>
            </a:r>
            <a:endParaRPr lang="en-US" sz="850" dirty="0"/>
          </a:p>
        </p:txBody>
      </p:sp>
      <p:sp>
        <p:nvSpPr>
          <p:cNvPr id="10" name="Shape 8"/>
          <p:cNvSpPr/>
          <p:nvPr/>
        </p:nvSpPr>
        <p:spPr>
          <a:xfrm>
            <a:off x="457200" y="1627632"/>
            <a:ext cx="8458200" cy="393192"/>
          </a:xfrm>
          <a:prstGeom prst="rect">
            <a:avLst/>
          </a:prstGeom>
          <a:solidFill>
            <a:srgbClr val="FFFFFF"/>
          </a:solidFill>
          <a:ln w="5080">
            <a:solidFill>
              <a:srgbClr val="E2E8F0"/>
            </a:solidFill>
            <a:prstDash val="solid"/>
          </a:ln>
        </p:spPr>
      </p:sp>
      <p:sp>
        <p:nvSpPr>
          <p:cNvPr id="11" name="Shape 9"/>
          <p:cNvSpPr/>
          <p:nvPr/>
        </p:nvSpPr>
        <p:spPr>
          <a:xfrm>
            <a:off x="502920" y="1719072"/>
            <a:ext cx="402336" cy="201168"/>
          </a:xfrm>
          <a:prstGeom prst="roundRect">
            <a:avLst>
              <a:gd name="adj" fmla="val 36364"/>
            </a:avLst>
          </a:prstGeom>
          <a:solidFill>
            <a:srgbClr val="059669"/>
          </a:solidFill>
          <a:ln w="12700">
            <a:solidFill>
              <a:srgbClr val="059669"/>
            </a:solidFill>
            <a:prstDash val="solid"/>
          </a:ln>
        </p:spPr>
      </p:sp>
      <p:sp>
        <p:nvSpPr>
          <p:cNvPr id="12" name="Text 10"/>
          <p:cNvSpPr/>
          <p:nvPr/>
        </p:nvSpPr>
        <p:spPr>
          <a:xfrm>
            <a:off x="502920" y="1719072"/>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8pt</a:t>
            </a:r>
            <a:endParaRPr lang="en-US" sz="800" dirty="0"/>
          </a:p>
        </p:txBody>
      </p:sp>
      <p:sp>
        <p:nvSpPr>
          <p:cNvPr id="13" name="Text 11"/>
          <p:cNvSpPr/>
          <p:nvPr/>
        </p:nvSpPr>
        <p:spPr>
          <a:xfrm>
            <a:off x="969264" y="1682496"/>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Prayer Requests — submit, browse, pray, anonymous flag</a:t>
            </a:r>
            <a:endParaRPr lang="en-US" sz="850" dirty="0"/>
          </a:p>
        </p:txBody>
      </p:sp>
      <p:sp>
        <p:nvSpPr>
          <p:cNvPr id="14" name="Text 12"/>
          <p:cNvSpPr/>
          <p:nvPr/>
        </p:nvSpPr>
        <p:spPr>
          <a:xfrm>
            <a:off x="5541264" y="1682496"/>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Full Stack | JWT-auth .NET 8 API + real-time count</a:t>
            </a:r>
            <a:endParaRPr lang="en-US" sz="750" dirty="0"/>
          </a:p>
        </p:txBody>
      </p:sp>
      <p:sp>
        <p:nvSpPr>
          <p:cNvPr id="15" name="Shape 13"/>
          <p:cNvSpPr/>
          <p:nvPr/>
        </p:nvSpPr>
        <p:spPr>
          <a:xfrm>
            <a:off x="457200" y="2029968"/>
            <a:ext cx="8458200" cy="393192"/>
          </a:xfrm>
          <a:prstGeom prst="rect">
            <a:avLst/>
          </a:prstGeom>
          <a:solidFill>
            <a:srgbClr val="F8F9FC"/>
          </a:solidFill>
          <a:ln w="5080">
            <a:solidFill>
              <a:srgbClr val="E2E8F0"/>
            </a:solidFill>
            <a:prstDash val="solid"/>
          </a:ln>
        </p:spPr>
      </p:sp>
      <p:sp>
        <p:nvSpPr>
          <p:cNvPr id="16" name="Shape 14"/>
          <p:cNvSpPr/>
          <p:nvPr/>
        </p:nvSpPr>
        <p:spPr>
          <a:xfrm>
            <a:off x="502920" y="2121408"/>
            <a:ext cx="402336" cy="201168"/>
          </a:xfrm>
          <a:prstGeom prst="roundRect">
            <a:avLst>
              <a:gd name="adj" fmla="val 36364"/>
            </a:avLst>
          </a:prstGeom>
          <a:solidFill>
            <a:srgbClr val="059669"/>
          </a:solidFill>
          <a:ln w="12700">
            <a:solidFill>
              <a:srgbClr val="059669"/>
            </a:solidFill>
            <a:prstDash val="solid"/>
          </a:ln>
        </p:spPr>
      </p:sp>
      <p:sp>
        <p:nvSpPr>
          <p:cNvPr id="17" name="Text 15"/>
          <p:cNvSpPr/>
          <p:nvPr/>
        </p:nvSpPr>
        <p:spPr>
          <a:xfrm>
            <a:off x="502920" y="2121408"/>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6pt</a:t>
            </a:r>
            <a:endParaRPr lang="en-US" sz="800" dirty="0"/>
          </a:p>
        </p:txBody>
      </p:sp>
      <p:sp>
        <p:nvSpPr>
          <p:cNvPr id="18" name="Text 16"/>
          <p:cNvSpPr/>
          <p:nvPr/>
        </p:nvSpPr>
        <p:spPr>
          <a:xfrm>
            <a:off x="969264" y="2084832"/>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Video Library — category feed + CloudFront presigned stream</a:t>
            </a:r>
            <a:endParaRPr lang="en-US" sz="850" dirty="0"/>
          </a:p>
        </p:txBody>
      </p:sp>
      <p:sp>
        <p:nvSpPr>
          <p:cNvPr id="19" name="Text 17"/>
          <p:cNvSpPr/>
          <p:nvPr/>
        </p:nvSpPr>
        <p:spPr>
          <a:xfrm>
            <a:off x="5541264" y="2084832"/>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Full Stack | S3 upload pipeline + CDN streaming &lt;2s</a:t>
            </a:r>
            <a:endParaRPr lang="en-US" sz="750" dirty="0"/>
          </a:p>
        </p:txBody>
      </p:sp>
      <p:sp>
        <p:nvSpPr>
          <p:cNvPr id="20" name="Shape 18"/>
          <p:cNvSpPr/>
          <p:nvPr/>
        </p:nvSpPr>
        <p:spPr>
          <a:xfrm>
            <a:off x="457200" y="2432304"/>
            <a:ext cx="8458200" cy="393192"/>
          </a:xfrm>
          <a:prstGeom prst="rect">
            <a:avLst/>
          </a:prstGeom>
          <a:solidFill>
            <a:srgbClr val="FFFFFF"/>
          </a:solidFill>
          <a:ln w="5080">
            <a:solidFill>
              <a:srgbClr val="E2E8F0"/>
            </a:solidFill>
            <a:prstDash val="solid"/>
          </a:ln>
        </p:spPr>
      </p:sp>
      <p:sp>
        <p:nvSpPr>
          <p:cNvPr id="21" name="Shape 19"/>
          <p:cNvSpPr/>
          <p:nvPr/>
        </p:nvSpPr>
        <p:spPr>
          <a:xfrm>
            <a:off x="502920" y="2523744"/>
            <a:ext cx="402336" cy="201168"/>
          </a:xfrm>
          <a:prstGeom prst="roundRect">
            <a:avLst>
              <a:gd name="adj" fmla="val 36364"/>
            </a:avLst>
          </a:prstGeom>
          <a:solidFill>
            <a:srgbClr val="059669"/>
          </a:solidFill>
          <a:ln w="12700">
            <a:solidFill>
              <a:srgbClr val="059669"/>
            </a:solidFill>
            <a:prstDash val="solid"/>
          </a:ln>
        </p:spPr>
      </p:sp>
      <p:sp>
        <p:nvSpPr>
          <p:cNvPr id="22" name="Text 20"/>
          <p:cNvSpPr/>
          <p:nvPr/>
        </p:nvSpPr>
        <p:spPr>
          <a:xfrm>
            <a:off x="502920" y="2523744"/>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5pt</a:t>
            </a:r>
            <a:endParaRPr lang="en-US" sz="800" dirty="0"/>
          </a:p>
        </p:txBody>
      </p:sp>
      <p:sp>
        <p:nvSpPr>
          <p:cNvPr id="23" name="Text 21"/>
          <p:cNvSpPr/>
          <p:nvPr/>
        </p:nvSpPr>
        <p:spPr>
          <a:xfrm>
            <a:off x="969264" y="2487168"/>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.NET 8 REST APIs for prayer + video modules</a:t>
            </a:r>
            <a:endParaRPr lang="en-US" sz="850" dirty="0"/>
          </a:p>
        </p:txBody>
      </p:sp>
      <p:sp>
        <p:nvSpPr>
          <p:cNvPr id="24" name="Text 22"/>
          <p:cNvSpPr/>
          <p:nvPr/>
        </p:nvSpPr>
        <p:spPr>
          <a:xfrm>
            <a:off x="5541264" y="2487168"/>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Backend | EF Core 8, xUnit tested, OpenAPI documented</a:t>
            </a:r>
            <a:endParaRPr lang="en-US" sz="750" dirty="0"/>
          </a:p>
        </p:txBody>
      </p:sp>
      <p:sp>
        <p:nvSpPr>
          <p:cNvPr id="25" name="Shape 23"/>
          <p:cNvSpPr/>
          <p:nvPr/>
        </p:nvSpPr>
        <p:spPr>
          <a:xfrm>
            <a:off x="457200" y="2834640"/>
            <a:ext cx="8458200" cy="393192"/>
          </a:xfrm>
          <a:prstGeom prst="rect">
            <a:avLst/>
          </a:prstGeom>
          <a:solidFill>
            <a:srgbClr val="F8F9FC"/>
          </a:solidFill>
          <a:ln w="5080">
            <a:solidFill>
              <a:srgbClr val="E2E8F0"/>
            </a:solidFill>
            <a:prstDash val="solid"/>
          </a:ln>
        </p:spPr>
      </p:sp>
      <p:sp>
        <p:nvSpPr>
          <p:cNvPr id="26" name="Shape 24"/>
          <p:cNvSpPr/>
          <p:nvPr/>
        </p:nvSpPr>
        <p:spPr>
          <a:xfrm>
            <a:off x="502920" y="2926080"/>
            <a:ext cx="402336" cy="201168"/>
          </a:xfrm>
          <a:prstGeom prst="roundRect">
            <a:avLst>
              <a:gd name="adj" fmla="val 36364"/>
            </a:avLst>
          </a:prstGeom>
          <a:solidFill>
            <a:srgbClr val="059669"/>
          </a:solidFill>
          <a:ln w="12700">
            <a:solidFill>
              <a:srgbClr val="059669"/>
            </a:solidFill>
            <a:prstDash val="solid"/>
          </a:ln>
        </p:spPr>
      </p:sp>
      <p:sp>
        <p:nvSpPr>
          <p:cNvPr id="27" name="Text 25"/>
          <p:cNvSpPr/>
          <p:nvPr/>
        </p:nvSpPr>
        <p:spPr>
          <a:xfrm>
            <a:off x="502920" y="2926080"/>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4pt</a:t>
            </a:r>
            <a:endParaRPr lang="en-US" sz="800" dirty="0"/>
          </a:p>
        </p:txBody>
      </p:sp>
      <p:sp>
        <p:nvSpPr>
          <p:cNvPr id="28" name="Text 26"/>
          <p:cNvSpPr/>
          <p:nvPr/>
        </p:nvSpPr>
        <p:spPr>
          <a:xfrm>
            <a:off x="969264" y="2889504"/>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Admin RBAC — role-based access on all .NET 8 endpoints</a:t>
            </a:r>
            <a:endParaRPr lang="en-US" sz="850" dirty="0"/>
          </a:p>
        </p:txBody>
      </p:sp>
      <p:sp>
        <p:nvSpPr>
          <p:cNvPr id="29" name="Text 27"/>
          <p:cNvSpPr/>
          <p:nvPr/>
        </p:nvSpPr>
        <p:spPr>
          <a:xfrm>
            <a:off x="5541264" y="2889504"/>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Backend | [Authorize(Roles)] + policy middleware</a:t>
            </a:r>
            <a:endParaRPr lang="en-US" sz="750" dirty="0"/>
          </a:p>
        </p:txBody>
      </p:sp>
      <p:sp>
        <p:nvSpPr>
          <p:cNvPr id="30" name="Shape 28"/>
          <p:cNvSpPr/>
          <p:nvPr/>
        </p:nvSpPr>
        <p:spPr>
          <a:xfrm>
            <a:off x="457200" y="3236976"/>
            <a:ext cx="8458200" cy="393192"/>
          </a:xfrm>
          <a:prstGeom prst="rect">
            <a:avLst/>
          </a:prstGeom>
          <a:solidFill>
            <a:srgbClr val="FFFFFF"/>
          </a:solidFill>
          <a:ln w="5080">
            <a:solidFill>
              <a:srgbClr val="E2E8F0"/>
            </a:solidFill>
            <a:prstDash val="solid"/>
          </a:ln>
        </p:spPr>
      </p:sp>
      <p:sp>
        <p:nvSpPr>
          <p:cNvPr id="31" name="Shape 29"/>
          <p:cNvSpPr/>
          <p:nvPr/>
        </p:nvSpPr>
        <p:spPr>
          <a:xfrm>
            <a:off x="502920" y="3328416"/>
            <a:ext cx="402336" cy="201168"/>
          </a:xfrm>
          <a:prstGeom prst="roundRect">
            <a:avLst>
              <a:gd name="adj" fmla="val 36364"/>
            </a:avLst>
          </a:prstGeom>
          <a:solidFill>
            <a:srgbClr val="059669"/>
          </a:solidFill>
          <a:ln w="12700">
            <a:solidFill>
              <a:srgbClr val="059669"/>
            </a:solidFill>
            <a:prstDash val="solid"/>
          </a:ln>
        </p:spPr>
      </p:sp>
      <p:sp>
        <p:nvSpPr>
          <p:cNvPr id="32" name="Text 30"/>
          <p:cNvSpPr/>
          <p:nvPr/>
        </p:nvSpPr>
        <p:spPr>
          <a:xfrm>
            <a:off x="502920" y="3328416"/>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4pt</a:t>
            </a:r>
            <a:endParaRPr lang="en-US" sz="800" dirty="0"/>
          </a:p>
        </p:txBody>
      </p:sp>
      <p:sp>
        <p:nvSpPr>
          <p:cNvPr id="33" name="Text 31"/>
          <p:cNvSpPr/>
          <p:nvPr/>
        </p:nvSpPr>
        <p:spPr>
          <a:xfrm>
            <a:off x="969264" y="3291840"/>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Deep-link routing + bottom-nav polish (Ionic Router)</a:t>
            </a:r>
            <a:endParaRPr lang="en-US" sz="850" dirty="0"/>
          </a:p>
        </p:txBody>
      </p:sp>
      <p:sp>
        <p:nvSpPr>
          <p:cNvPr id="34" name="Text 32"/>
          <p:cNvSpPr/>
          <p:nvPr/>
        </p:nvSpPr>
        <p:spPr>
          <a:xfrm>
            <a:off x="5541264" y="3291840"/>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Mobile Dev | Universal links, gestures, transitions</a:t>
            </a:r>
            <a:endParaRPr lang="en-US" sz="750" dirty="0"/>
          </a:p>
        </p:txBody>
      </p:sp>
      <p:sp>
        <p:nvSpPr>
          <p:cNvPr id="35" name="Shape 33"/>
          <p:cNvSpPr/>
          <p:nvPr/>
        </p:nvSpPr>
        <p:spPr>
          <a:xfrm>
            <a:off x="457200" y="3639312"/>
            <a:ext cx="8458200" cy="393192"/>
          </a:xfrm>
          <a:prstGeom prst="rect">
            <a:avLst/>
          </a:prstGeom>
          <a:solidFill>
            <a:srgbClr val="F8F9FC"/>
          </a:solidFill>
          <a:ln w="5080">
            <a:solidFill>
              <a:srgbClr val="E2E8F0"/>
            </a:solidFill>
            <a:prstDash val="solid"/>
          </a:ln>
        </p:spPr>
      </p:sp>
      <p:sp>
        <p:nvSpPr>
          <p:cNvPr id="36" name="Shape 34"/>
          <p:cNvSpPr/>
          <p:nvPr/>
        </p:nvSpPr>
        <p:spPr>
          <a:xfrm>
            <a:off x="502920" y="3730752"/>
            <a:ext cx="402336" cy="201168"/>
          </a:xfrm>
          <a:prstGeom prst="roundRect">
            <a:avLst>
              <a:gd name="adj" fmla="val 36364"/>
            </a:avLst>
          </a:prstGeom>
          <a:solidFill>
            <a:srgbClr val="059669"/>
          </a:solidFill>
          <a:ln w="12700">
            <a:solidFill>
              <a:srgbClr val="059669"/>
            </a:solidFill>
            <a:prstDash val="solid"/>
          </a:ln>
        </p:spPr>
      </p:sp>
      <p:sp>
        <p:nvSpPr>
          <p:cNvPr id="37" name="Text 35"/>
          <p:cNvSpPr/>
          <p:nvPr/>
        </p:nvSpPr>
        <p:spPr>
          <a:xfrm>
            <a:off x="502920" y="3730752"/>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4pt</a:t>
            </a:r>
            <a:endParaRPr lang="en-US" sz="800" dirty="0"/>
          </a:p>
        </p:txBody>
      </p:sp>
      <p:sp>
        <p:nvSpPr>
          <p:cNvPr id="38" name="Text 36"/>
          <p:cNvSpPr/>
          <p:nvPr/>
        </p:nvSpPr>
        <p:spPr>
          <a:xfrm>
            <a:off x="969264" y="3694176"/>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Performance audit + image lazy-loading optimisation</a:t>
            </a:r>
            <a:endParaRPr lang="en-US" sz="850" dirty="0"/>
          </a:p>
        </p:txBody>
      </p:sp>
      <p:sp>
        <p:nvSpPr>
          <p:cNvPr id="39" name="Text 37"/>
          <p:cNvSpPr/>
          <p:nvPr/>
        </p:nvSpPr>
        <p:spPr>
          <a:xfrm>
            <a:off x="5541264" y="3694176"/>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Mobile Dev + QA | Lighthouse + Capacitor perf profiling</a:t>
            </a:r>
            <a:endParaRPr lang="en-US" sz="750" dirty="0"/>
          </a:p>
        </p:txBody>
      </p:sp>
      <p:sp>
        <p:nvSpPr>
          <p:cNvPr id="40" name="Shape 38"/>
          <p:cNvSpPr/>
          <p:nvPr/>
        </p:nvSpPr>
        <p:spPr>
          <a:xfrm>
            <a:off x="457200" y="4041648"/>
            <a:ext cx="8458200" cy="393192"/>
          </a:xfrm>
          <a:prstGeom prst="rect">
            <a:avLst/>
          </a:prstGeom>
          <a:solidFill>
            <a:srgbClr val="FFFFFF"/>
          </a:solidFill>
          <a:ln w="5080">
            <a:solidFill>
              <a:srgbClr val="E2E8F0"/>
            </a:solidFill>
            <a:prstDash val="solid"/>
          </a:ln>
        </p:spPr>
      </p:sp>
      <p:sp>
        <p:nvSpPr>
          <p:cNvPr id="41" name="Shape 39"/>
          <p:cNvSpPr/>
          <p:nvPr/>
        </p:nvSpPr>
        <p:spPr>
          <a:xfrm>
            <a:off x="502920" y="4133088"/>
            <a:ext cx="402336" cy="201168"/>
          </a:xfrm>
          <a:prstGeom prst="roundRect">
            <a:avLst>
              <a:gd name="adj" fmla="val 36364"/>
            </a:avLst>
          </a:prstGeom>
          <a:solidFill>
            <a:srgbClr val="059669"/>
          </a:solidFill>
          <a:ln w="12700">
            <a:solidFill>
              <a:srgbClr val="059669"/>
            </a:solidFill>
            <a:prstDash val="solid"/>
          </a:ln>
        </p:spPr>
      </p:sp>
      <p:sp>
        <p:nvSpPr>
          <p:cNvPr id="42" name="Text 40"/>
          <p:cNvSpPr/>
          <p:nvPr/>
        </p:nvSpPr>
        <p:spPr>
          <a:xfrm>
            <a:off x="502920" y="4133088"/>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3pt</a:t>
            </a:r>
            <a:endParaRPr lang="en-US" sz="800" dirty="0"/>
          </a:p>
        </p:txBody>
      </p:sp>
      <p:sp>
        <p:nvSpPr>
          <p:cNvPr id="43" name="Text 41"/>
          <p:cNvSpPr/>
          <p:nvPr/>
        </p:nvSpPr>
        <p:spPr>
          <a:xfrm>
            <a:off x="969264" y="4096512"/>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Weekly demo prep + stakeholder review</a:t>
            </a:r>
            <a:endParaRPr lang="en-US" sz="850" dirty="0"/>
          </a:p>
        </p:txBody>
      </p:sp>
      <p:sp>
        <p:nvSpPr>
          <p:cNvPr id="44" name="Text 42"/>
          <p:cNvSpPr/>
          <p:nvPr/>
        </p:nvSpPr>
        <p:spPr>
          <a:xfrm>
            <a:off x="5541264" y="4096512"/>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PM | Demo recording + feedback log</a:t>
            </a:r>
            <a:endParaRPr lang="en-US" sz="750" dirty="0"/>
          </a:p>
        </p:txBody>
      </p:sp>
      <p:sp>
        <p:nvSpPr>
          <p:cNvPr id="45" name="Shape 43"/>
          <p:cNvSpPr/>
          <p:nvPr/>
        </p:nvSpPr>
        <p:spPr>
          <a:xfrm>
            <a:off x="457200" y="4443984"/>
            <a:ext cx="8458200" cy="393192"/>
          </a:xfrm>
          <a:prstGeom prst="rect">
            <a:avLst/>
          </a:prstGeom>
          <a:solidFill>
            <a:srgbClr val="F8F9FC"/>
          </a:solidFill>
          <a:ln w="5080">
            <a:solidFill>
              <a:srgbClr val="E2E8F0"/>
            </a:solidFill>
            <a:prstDash val="solid"/>
          </a:ln>
        </p:spPr>
      </p:sp>
      <p:sp>
        <p:nvSpPr>
          <p:cNvPr id="46" name="Shape 44"/>
          <p:cNvSpPr/>
          <p:nvPr/>
        </p:nvSpPr>
        <p:spPr>
          <a:xfrm>
            <a:off x="502920" y="4535424"/>
            <a:ext cx="402336" cy="201168"/>
          </a:xfrm>
          <a:prstGeom prst="roundRect">
            <a:avLst>
              <a:gd name="adj" fmla="val 36364"/>
            </a:avLst>
          </a:prstGeom>
          <a:solidFill>
            <a:srgbClr val="059669"/>
          </a:solidFill>
          <a:ln w="12700">
            <a:solidFill>
              <a:srgbClr val="059669"/>
            </a:solidFill>
            <a:prstDash val="solid"/>
          </a:ln>
        </p:spPr>
      </p:sp>
      <p:sp>
        <p:nvSpPr>
          <p:cNvPr id="47" name="Text 45"/>
          <p:cNvSpPr/>
          <p:nvPr/>
        </p:nvSpPr>
        <p:spPr>
          <a:xfrm>
            <a:off x="502920" y="4535424"/>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3pt</a:t>
            </a:r>
            <a:endParaRPr lang="en-US" sz="800" dirty="0"/>
          </a:p>
        </p:txBody>
      </p:sp>
      <p:sp>
        <p:nvSpPr>
          <p:cNvPr id="48" name="Text 46"/>
          <p:cNvSpPr/>
          <p:nvPr/>
        </p:nvSpPr>
        <p:spPr>
          <a:xfrm>
            <a:off x="969264" y="4498848"/>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Gate 2 MVP Core sign-off session</a:t>
            </a:r>
            <a:endParaRPr lang="en-US" sz="850" dirty="0"/>
          </a:p>
        </p:txBody>
      </p:sp>
      <p:sp>
        <p:nvSpPr>
          <p:cNvPr id="49" name="Text 47"/>
          <p:cNvSpPr/>
          <p:nvPr/>
        </p:nvSpPr>
        <p:spPr>
          <a:xfrm>
            <a:off x="5541264" y="4498848"/>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PM + Architect | Wk 6 formal review + sign-off form</a:t>
            </a:r>
            <a:endParaRPr lang="en-US" sz="750" dirty="0"/>
          </a:p>
        </p:txBody>
      </p:sp>
      <p:sp>
        <p:nvSpPr>
          <p:cNvPr id="50" name="Shape 48"/>
          <p:cNvSpPr/>
          <p:nvPr/>
        </p:nvSpPr>
        <p:spPr>
          <a:xfrm>
            <a:off x="457200" y="4791456"/>
            <a:ext cx="8458200" cy="201168"/>
          </a:xfrm>
          <a:prstGeom prst="rect">
            <a:avLst/>
          </a:prstGeom>
          <a:solidFill>
            <a:srgbClr val="059669"/>
          </a:solidFill>
          <a:ln w="12700">
            <a:solidFill>
              <a:srgbClr val="059669"/>
            </a:solidFill>
            <a:prstDash val="solid"/>
          </a:ln>
        </p:spPr>
      </p:sp>
      <p:sp>
        <p:nvSpPr>
          <p:cNvPr id="51" name="Text 49"/>
          <p:cNvSpPr/>
          <p:nvPr/>
        </p:nvSpPr>
        <p:spPr>
          <a:xfrm>
            <a:off x="548640" y="4796028"/>
            <a:ext cx="8321040" cy="182880"/>
          </a:xfrm>
          <a:prstGeom prst="rect">
            <a:avLst/>
          </a:prstGeom>
          <a:noFill/>
          <a:ln/>
        </p:spPr>
        <p:txBody>
          <a:bodyPr wrap="square" rtlCol="0" anchor="ctr"/>
          <a:lstStyle/>
          <a:p>
            <a:pPr indent="0" marL="0">
              <a:buNone/>
            </a:pPr>
            <a:r>
              <a:rPr lang="en-US" sz="750" dirty="0">
                <a:solidFill>
                  <a:srgbClr val="FFFFFF"/>
                </a:solidFill>
                <a:latin typeface="Calibri" pitchFamily="34" charset="0"/>
                <a:ea typeface="Calibri" pitchFamily="34" charset="-122"/>
                <a:cs typeface="Calibri" pitchFamily="34" charset="-120"/>
              </a:rPr>
              <a:t>Sprint 3 Total: 37 Story Points   |   End Gate G2: MVP Core Sign-Off   |   Sprint Review: EOD Wk 6 Demo</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SPRINT PLANNING</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Sprint 4 — Weeks 7–8: Feature Completion</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Text 3"/>
          <p:cNvSpPr/>
          <p:nvPr/>
        </p:nvSpPr>
        <p:spPr>
          <a:xfrm>
            <a:off x="457200" y="1042416"/>
            <a:ext cx="8229600" cy="237744"/>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Goal: Twilio Chat + VoIP, FCM push notifications, and all advanced features live in staging.</a:t>
            </a:r>
            <a:endParaRPr lang="en-US" sz="1000" dirty="0"/>
          </a:p>
        </p:txBody>
      </p:sp>
      <p:sp>
        <p:nvSpPr>
          <p:cNvPr id="6" name="Shape 4"/>
          <p:cNvSpPr/>
          <p:nvPr/>
        </p:nvSpPr>
        <p:spPr>
          <a:xfrm>
            <a:off x="457200" y="1335024"/>
            <a:ext cx="8458200" cy="274320"/>
          </a:xfrm>
          <a:prstGeom prst="rect">
            <a:avLst/>
          </a:prstGeom>
          <a:solidFill>
            <a:srgbClr val="D97706"/>
          </a:solidFill>
          <a:ln w="12700">
            <a:solidFill>
              <a:srgbClr val="D97706"/>
            </a:solidFill>
            <a:prstDash val="solid"/>
          </a:ln>
        </p:spPr>
      </p:sp>
      <p:sp>
        <p:nvSpPr>
          <p:cNvPr id="7" name="Text 5"/>
          <p:cNvSpPr/>
          <p:nvPr/>
        </p:nvSpPr>
        <p:spPr>
          <a:xfrm>
            <a:off x="50292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SP</a:t>
            </a:r>
            <a:endParaRPr lang="en-US" sz="850" dirty="0"/>
          </a:p>
        </p:txBody>
      </p:sp>
      <p:sp>
        <p:nvSpPr>
          <p:cNvPr id="8" name="Text 6"/>
          <p:cNvSpPr/>
          <p:nvPr/>
        </p:nvSpPr>
        <p:spPr>
          <a:xfrm>
            <a:off x="100584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Story</a:t>
            </a:r>
            <a:endParaRPr lang="en-US" sz="850" dirty="0"/>
          </a:p>
        </p:txBody>
      </p:sp>
      <p:sp>
        <p:nvSpPr>
          <p:cNvPr id="9" name="Text 7"/>
          <p:cNvSpPr/>
          <p:nvPr/>
        </p:nvSpPr>
        <p:spPr>
          <a:xfrm>
            <a:off x="557784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Owner / Notes</a:t>
            </a:r>
            <a:endParaRPr lang="en-US" sz="850" dirty="0"/>
          </a:p>
        </p:txBody>
      </p:sp>
      <p:sp>
        <p:nvSpPr>
          <p:cNvPr id="10" name="Shape 8"/>
          <p:cNvSpPr/>
          <p:nvPr/>
        </p:nvSpPr>
        <p:spPr>
          <a:xfrm>
            <a:off x="457200" y="1627632"/>
            <a:ext cx="8458200" cy="393192"/>
          </a:xfrm>
          <a:prstGeom prst="rect">
            <a:avLst/>
          </a:prstGeom>
          <a:solidFill>
            <a:srgbClr val="FFFFFF"/>
          </a:solidFill>
          <a:ln w="5080">
            <a:solidFill>
              <a:srgbClr val="E2E8F0"/>
            </a:solidFill>
            <a:prstDash val="solid"/>
          </a:ln>
        </p:spPr>
      </p:sp>
      <p:sp>
        <p:nvSpPr>
          <p:cNvPr id="11" name="Shape 9"/>
          <p:cNvSpPr/>
          <p:nvPr/>
        </p:nvSpPr>
        <p:spPr>
          <a:xfrm>
            <a:off x="502920" y="1719072"/>
            <a:ext cx="402336" cy="201168"/>
          </a:xfrm>
          <a:prstGeom prst="roundRect">
            <a:avLst>
              <a:gd name="adj" fmla="val 36364"/>
            </a:avLst>
          </a:prstGeom>
          <a:solidFill>
            <a:srgbClr val="D97706"/>
          </a:solidFill>
          <a:ln w="12700">
            <a:solidFill>
              <a:srgbClr val="D97706"/>
            </a:solidFill>
            <a:prstDash val="solid"/>
          </a:ln>
        </p:spPr>
      </p:sp>
      <p:sp>
        <p:nvSpPr>
          <p:cNvPr id="12" name="Text 10"/>
          <p:cNvSpPr/>
          <p:nvPr/>
        </p:nvSpPr>
        <p:spPr>
          <a:xfrm>
            <a:off x="502920" y="1719072"/>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6pt</a:t>
            </a:r>
            <a:endParaRPr lang="en-US" sz="800" dirty="0"/>
          </a:p>
        </p:txBody>
      </p:sp>
      <p:sp>
        <p:nvSpPr>
          <p:cNvPr id="13" name="Text 11"/>
          <p:cNvSpPr/>
          <p:nvPr/>
        </p:nvSpPr>
        <p:spPr>
          <a:xfrm>
            <a:off x="969264" y="1682496"/>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Twilio Chat integration (1:1 messaging, read receipts)</a:t>
            </a:r>
            <a:endParaRPr lang="en-US" sz="850" dirty="0"/>
          </a:p>
        </p:txBody>
      </p:sp>
      <p:sp>
        <p:nvSpPr>
          <p:cNvPr id="14" name="Text 12"/>
          <p:cNvSpPr/>
          <p:nvPr/>
        </p:nvSpPr>
        <p:spPr>
          <a:xfrm>
            <a:off x="5541264" y="1682496"/>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Mobile+Backend | Twilio Conversations SDK + .NET 8</a:t>
            </a:r>
            <a:endParaRPr lang="en-US" sz="750" dirty="0"/>
          </a:p>
        </p:txBody>
      </p:sp>
      <p:sp>
        <p:nvSpPr>
          <p:cNvPr id="15" name="Shape 13"/>
          <p:cNvSpPr/>
          <p:nvPr/>
        </p:nvSpPr>
        <p:spPr>
          <a:xfrm>
            <a:off x="457200" y="2029968"/>
            <a:ext cx="8458200" cy="393192"/>
          </a:xfrm>
          <a:prstGeom prst="rect">
            <a:avLst/>
          </a:prstGeom>
          <a:solidFill>
            <a:srgbClr val="F8F9FC"/>
          </a:solidFill>
          <a:ln w="5080">
            <a:solidFill>
              <a:srgbClr val="E2E8F0"/>
            </a:solidFill>
            <a:prstDash val="solid"/>
          </a:ln>
        </p:spPr>
      </p:sp>
      <p:sp>
        <p:nvSpPr>
          <p:cNvPr id="16" name="Shape 14"/>
          <p:cNvSpPr/>
          <p:nvPr/>
        </p:nvSpPr>
        <p:spPr>
          <a:xfrm>
            <a:off x="502920" y="2121408"/>
            <a:ext cx="402336" cy="201168"/>
          </a:xfrm>
          <a:prstGeom prst="roundRect">
            <a:avLst>
              <a:gd name="adj" fmla="val 36364"/>
            </a:avLst>
          </a:prstGeom>
          <a:solidFill>
            <a:srgbClr val="D97706"/>
          </a:solidFill>
          <a:ln w="12700">
            <a:solidFill>
              <a:srgbClr val="D97706"/>
            </a:solidFill>
            <a:prstDash val="solid"/>
          </a:ln>
        </p:spPr>
      </p:sp>
      <p:sp>
        <p:nvSpPr>
          <p:cNvPr id="17" name="Text 15"/>
          <p:cNvSpPr/>
          <p:nvPr/>
        </p:nvSpPr>
        <p:spPr>
          <a:xfrm>
            <a:off x="502920" y="2121408"/>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6pt</a:t>
            </a:r>
            <a:endParaRPr lang="en-US" sz="800" dirty="0"/>
          </a:p>
        </p:txBody>
      </p:sp>
      <p:sp>
        <p:nvSpPr>
          <p:cNvPr id="18" name="Text 16"/>
          <p:cNvSpPr/>
          <p:nvPr/>
        </p:nvSpPr>
        <p:spPr>
          <a:xfrm>
            <a:off x="969264" y="2084832"/>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Twilio VoIP integration (in-app calling, no phone sharing)</a:t>
            </a:r>
            <a:endParaRPr lang="en-US" sz="850" dirty="0"/>
          </a:p>
        </p:txBody>
      </p:sp>
      <p:sp>
        <p:nvSpPr>
          <p:cNvPr id="19" name="Text 17"/>
          <p:cNvSpPr/>
          <p:nvPr/>
        </p:nvSpPr>
        <p:spPr>
          <a:xfrm>
            <a:off x="5541264" y="2084832"/>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Mobile+Backend | Twilio Voice + Capacitor audio</a:t>
            </a:r>
            <a:endParaRPr lang="en-US" sz="750" dirty="0"/>
          </a:p>
        </p:txBody>
      </p:sp>
      <p:sp>
        <p:nvSpPr>
          <p:cNvPr id="20" name="Shape 18"/>
          <p:cNvSpPr/>
          <p:nvPr/>
        </p:nvSpPr>
        <p:spPr>
          <a:xfrm>
            <a:off x="457200" y="2432304"/>
            <a:ext cx="8458200" cy="393192"/>
          </a:xfrm>
          <a:prstGeom prst="rect">
            <a:avLst/>
          </a:prstGeom>
          <a:solidFill>
            <a:srgbClr val="FFFFFF"/>
          </a:solidFill>
          <a:ln w="5080">
            <a:solidFill>
              <a:srgbClr val="E2E8F0"/>
            </a:solidFill>
            <a:prstDash val="solid"/>
          </a:ln>
        </p:spPr>
      </p:sp>
      <p:sp>
        <p:nvSpPr>
          <p:cNvPr id="21" name="Shape 19"/>
          <p:cNvSpPr/>
          <p:nvPr/>
        </p:nvSpPr>
        <p:spPr>
          <a:xfrm>
            <a:off x="502920" y="2523744"/>
            <a:ext cx="402336" cy="201168"/>
          </a:xfrm>
          <a:prstGeom prst="roundRect">
            <a:avLst>
              <a:gd name="adj" fmla="val 36364"/>
            </a:avLst>
          </a:prstGeom>
          <a:solidFill>
            <a:srgbClr val="D97706"/>
          </a:solidFill>
          <a:ln w="12700">
            <a:solidFill>
              <a:srgbClr val="D97706"/>
            </a:solidFill>
            <a:prstDash val="solid"/>
          </a:ln>
        </p:spPr>
      </p:sp>
      <p:sp>
        <p:nvSpPr>
          <p:cNvPr id="22" name="Text 20"/>
          <p:cNvSpPr/>
          <p:nvPr/>
        </p:nvSpPr>
        <p:spPr>
          <a:xfrm>
            <a:off x="502920" y="2523744"/>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4pt</a:t>
            </a:r>
            <a:endParaRPr lang="en-US" sz="800" dirty="0"/>
          </a:p>
        </p:txBody>
      </p:sp>
      <p:sp>
        <p:nvSpPr>
          <p:cNvPr id="23" name="Text 21"/>
          <p:cNvSpPr/>
          <p:nvPr/>
        </p:nvSpPr>
        <p:spPr>
          <a:xfrm>
            <a:off x="969264" y="2487168"/>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Firebase FCM push notifications (iOS + Android)</a:t>
            </a:r>
            <a:endParaRPr lang="en-US" sz="850" dirty="0"/>
          </a:p>
        </p:txBody>
      </p:sp>
      <p:sp>
        <p:nvSpPr>
          <p:cNvPr id="24" name="Text 22"/>
          <p:cNvSpPr/>
          <p:nvPr/>
        </p:nvSpPr>
        <p:spPr>
          <a:xfrm>
            <a:off x="5541264" y="2487168"/>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Mobile+DevOps | Topic targeting + delivery history log</a:t>
            </a:r>
            <a:endParaRPr lang="en-US" sz="750" dirty="0"/>
          </a:p>
        </p:txBody>
      </p:sp>
      <p:sp>
        <p:nvSpPr>
          <p:cNvPr id="25" name="Shape 23"/>
          <p:cNvSpPr/>
          <p:nvPr/>
        </p:nvSpPr>
        <p:spPr>
          <a:xfrm>
            <a:off x="457200" y="2834640"/>
            <a:ext cx="8458200" cy="393192"/>
          </a:xfrm>
          <a:prstGeom prst="rect">
            <a:avLst/>
          </a:prstGeom>
          <a:solidFill>
            <a:srgbClr val="F8F9FC"/>
          </a:solidFill>
          <a:ln w="5080">
            <a:solidFill>
              <a:srgbClr val="E2E8F0"/>
            </a:solidFill>
            <a:prstDash val="solid"/>
          </a:ln>
        </p:spPr>
      </p:sp>
      <p:sp>
        <p:nvSpPr>
          <p:cNvPr id="26" name="Shape 24"/>
          <p:cNvSpPr/>
          <p:nvPr/>
        </p:nvSpPr>
        <p:spPr>
          <a:xfrm>
            <a:off x="502920" y="2926080"/>
            <a:ext cx="402336" cy="201168"/>
          </a:xfrm>
          <a:prstGeom prst="roundRect">
            <a:avLst>
              <a:gd name="adj" fmla="val 36364"/>
            </a:avLst>
          </a:prstGeom>
          <a:solidFill>
            <a:srgbClr val="D97706"/>
          </a:solidFill>
          <a:ln w="12700">
            <a:solidFill>
              <a:srgbClr val="D97706"/>
            </a:solidFill>
            <a:prstDash val="solid"/>
          </a:ln>
        </p:spPr>
      </p:sp>
      <p:sp>
        <p:nvSpPr>
          <p:cNvPr id="27" name="Text 25"/>
          <p:cNvSpPr/>
          <p:nvPr/>
        </p:nvSpPr>
        <p:spPr>
          <a:xfrm>
            <a:off x="502920" y="2926080"/>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5pt</a:t>
            </a:r>
            <a:endParaRPr lang="en-US" sz="800" dirty="0"/>
          </a:p>
        </p:txBody>
      </p:sp>
      <p:sp>
        <p:nvSpPr>
          <p:cNvPr id="28" name="Text 26"/>
          <p:cNvSpPr/>
          <p:nvPr/>
        </p:nvSpPr>
        <p:spPr>
          <a:xfrm>
            <a:off x="969264" y="2889504"/>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Group Chat / Forum threads (Ionic + SignalR WebSocket)</a:t>
            </a:r>
            <a:endParaRPr lang="en-US" sz="850" dirty="0"/>
          </a:p>
        </p:txBody>
      </p:sp>
      <p:sp>
        <p:nvSpPr>
          <p:cNvPr id="29" name="Text 27"/>
          <p:cNvSpPr/>
          <p:nvPr/>
        </p:nvSpPr>
        <p:spPr>
          <a:xfrm>
            <a:off x="5541264" y="2889504"/>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Full Stack | .NET 8 SignalR hub + Ionic real-time UI</a:t>
            </a:r>
            <a:endParaRPr lang="en-US" sz="750" dirty="0"/>
          </a:p>
        </p:txBody>
      </p:sp>
      <p:sp>
        <p:nvSpPr>
          <p:cNvPr id="30" name="Shape 28"/>
          <p:cNvSpPr/>
          <p:nvPr/>
        </p:nvSpPr>
        <p:spPr>
          <a:xfrm>
            <a:off x="457200" y="3236976"/>
            <a:ext cx="8458200" cy="393192"/>
          </a:xfrm>
          <a:prstGeom prst="rect">
            <a:avLst/>
          </a:prstGeom>
          <a:solidFill>
            <a:srgbClr val="FFFFFF"/>
          </a:solidFill>
          <a:ln w="5080">
            <a:solidFill>
              <a:srgbClr val="E2E8F0"/>
            </a:solidFill>
            <a:prstDash val="solid"/>
          </a:ln>
        </p:spPr>
      </p:sp>
      <p:sp>
        <p:nvSpPr>
          <p:cNvPr id="31" name="Shape 29"/>
          <p:cNvSpPr/>
          <p:nvPr/>
        </p:nvSpPr>
        <p:spPr>
          <a:xfrm>
            <a:off x="502920" y="3328416"/>
            <a:ext cx="402336" cy="201168"/>
          </a:xfrm>
          <a:prstGeom prst="roundRect">
            <a:avLst>
              <a:gd name="adj" fmla="val 36364"/>
            </a:avLst>
          </a:prstGeom>
          <a:solidFill>
            <a:srgbClr val="D97706"/>
          </a:solidFill>
          <a:ln w="12700">
            <a:solidFill>
              <a:srgbClr val="D97706"/>
            </a:solidFill>
            <a:prstDash val="solid"/>
          </a:ln>
        </p:spPr>
      </p:sp>
      <p:sp>
        <p:nvSpPr>
          <p:cNvPr id="32" name="Text 30"/>
          <p:cNvSpPr/>
          <p:nvPr/>
        </p:nvSpPr>
        <p:spPr>
          <a:xfrm>
            <a:off x="502920" y="3328416"/>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4pt</a:t>
            </a:r>
            <a:endParaRPr lang="en-US" sz="800" dirty="0"/>
          </a:p>
        </p:txBody>
      </p:sp>
      <p:sp>
        <p:nvSpPr>
          <p:cNvPr id="33" name="Text 31"/>
          <p:cNvSpPr/>
          <p:nvPr/>
        </p:nvSpPr>
        <p:spPr>
          <a:xfrm>
            <a:off x="969264" y="3291840"/>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Event Calendar + RSVP module</a:t>
            </a:r>
            <a:endParaRPr lang="en-US" sz="850" dirty="0"/>
          </a:p>
        </p:txBody>
      </p:sp>
      <p:sp>
        <p:nvSpPr>
          <p:cNvPr id="34" name="Text 32"/>
          <p:cNvSpPr/>
          <p:nvPr/>
        </p:nvSpPr>
        <p:spPr>
          <a:xfrm>
            <a:off x="5541264" y="3291840"/>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Full Stack | .NET 8 + EF Core + Ionic calendar view</a:t>
            </a:r>
            <a:endParaRPr lang="en-US" sz="750" dirty="0"/>
          </a:p>
        </p:txBody>
      </p:sp>
      <p:sp>
        <p:nvSpPr>
          <p:cNvPr id="35" name="Shape 33"/>
          <p:cNvSpPr/>
          <p:nvPr/>
        </p:nvSpPr>
        <p:spPr>
          <a:xfrm>
            <a:off x="457200" y="3639312"/>
            <a:ext cx="8458200" cy="393192"/>
          </a:xfrm>
          <a:prstGeom prst="rect">
            <a:avLst/>
          </a:prstGeom>
          <a:solidFill>
            <a:srgbClr val="F8F9FC"/>
          </a:solidFill>
          <a:ln w="5080">
            <a:solidFill>
              <a:srgbClr val="E2E8F0"/>
            </a:solidFill>
            <a:prstDash val="solid"/>
          </a:ln>
        </p:spPr>
      </p:sp>
      <p:sp>
        <p:nvSpPr>
          <p:cNvPr id="36" name="Shape 34"/>
          <p:cNvSpPr/>
          <p:nvPr/>
        </p:nvSpPr>
        <p:spPr>
          <a:xfrm>
            <a:off x="502920" y="3730752"/>
            <a:ext cx="402336" cy="201168"/>
          </a:xfrm>
          <a:prstGeom prst="roundRect">
            <a:avLst>
              <a:gd name="adj" fmla="val 36364"/>
            </a:avLst>
          </a:prstGeom>
          <a:solidFill>
            <a:srgbClr val="D97706"/>
          </a:solidFill>
          <a:ln w="12700">
            <a:solidFill>
              <a:srgbClr val="D97706"/>
            </a:solidFill>
            <a:prstDash val="solid"/>
          </a:ln>
        </p:spPr>
      </p:sp>
      <p:sp>
        <p:nvSpPr>
          <p:cNvPr id="37" name="Text 35"/>
          <p:cNvSpPr/>
          <p:nvPr/>
        </p:nvSpPr>
        <p:spPr>
          <a:xfrm>
            <a:off x="502920" y="3730752"/>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4pt</a:t>
            </a:r>
            <a:endParaRPr lang="en-US" sz="800" dirty="0"/>
          </a:p>
        </p:txBody>
      </p:sp>
      <p:sp>
        <p:nvSpPr>
          <p:cNvPr id="38" name="Text 36"/>
          <p:cNvSpPr/>
          <p:nvPr/>
        </p:nvSpPr>
        <p:spPr>
          <a:xfrm>
            <a:off x="969264" y="3694176"/>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Admin dashboard — user management, content moderation</a:t>
            </a:r>
            <a:endParaRPr lang="en-US" sz="850" dirty="0"/>
          </a:p>
        </p:txBody>
      </p:sp>
      <p:sp>
        <p:nvSpPr>
          <p:cNvPr id="39" name="Text 37"/>
          <p:cNvSpPr/>
          <p:nvPr/>
        </p:nvSpPr>
        <p:spPr>
          <a:xfrm>
            <a:off x="5541264" y="3694176"/>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Full Stack | RBAC admin panel, reporting views</a:t>
            </a:r>
            <a:endParaRPr lang="en-US" sz="750" dirty="0"/>
          </a:p>
        </p:txBody>
      </p:sp>
      <p:sp>
        <p:nvSpPr>
          <p:cNvPr id="40" name="Shape 38"/>
          <p:cNvSpPr/>
          <p:nvPr/>
        </p:nvSpPr>
        <p:spPr>
          <a:xfrm>
            <a:off x="457200" y="4041648"/>
            <a:ext cx="8458200" cy="393192"/>
          </a:xfrm>
          <a:prstGeom prst="rect">
            <a:avLst/>
          </a:prstGeom>
          <a:solidFill>
            <a:srgbClr val="FFFFFF"/>
          </a:solidFill>
          <a:ln w="5080">
            <a:solidFill>
              <a:srgbClr val="E2E8F0"/>
            </a:solidFill>
            <a:prstDash val="solid"/>
          </a:ln>
        </p:spPr>
      </p:sp>
      <p:sp>
        <p:nvSpPr>
          <p:cNvPr id="41" name="Shape 39"/>
          <p:cNvSpPr/>
          <p:nvPr/>
        </p:nvSpPr>
        <p:spPr>
          <a:xfrm>
            <a:off x="502920" y="4133088"/>
            <a:ext cx="402336" cy="201168"/>
          </a:xfrm>
          <a:prstGeom prst="roundRect">
            <a:avLst>
              <a:gd name="adj" fmla="val 36364"/>
            </a:avLst>
          </a:prstGeom>
          <a:solidFill>
            <a:srgbClr val="D97706"/>
          </a:solidFill>
          <a:ln w="12700">
            <a:solidFill>
              <a:srgbClr val="D97706"/>
            </a:solidFill>
            <a:prstDash val="solid"/>
          </a:ln>
        </p:spPr>
      </p:sp>
      <p:sp>
        <p:nvSpPr>
          <p:cNvPr id="42" name="Text 40"/>
          <p:cNvSpPr/>
          <p:nvPr/>
        </p:nvSpPr>
        <p:spPr>
          <a:xfrm>
            <a:off x="502920" y="4133088"/>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3pt</a:t>
            </a:r>
            <a:endParaRPr lang="en-US" sz="800" dirty="0"/>
          </a:p>
        </p:txBody>
      </p:sp>
      <p:sp>
        <p:nvSpPr>
          <p:cNvPr id="43" name="Text 41"/>
          <p:cNvSpPr/>
          <p:nvPr/>
        </p:nvSpPr>
        <p:spPr>
          <a:xfrm>
            <a:off x="969264" y="4096512"/>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Performance audit — API p95 &lt; 200ms target</a:t>
            </a:r>
            <a:endParaRPr lang="en-US" sz="850" dirty="0"/>
          </a:p>
        </p:txBody>
      </p:sp>
      <p:sp>
        <p:nvSpPr>
          <p:cNvPr id="44" name="Text 42"/>
          <p:cNvSpPr/>
          <p:nvPr/>
        </p:nvSpPr>
        <p:spPr>
          <a:xfrm>
            <a:off x="5541264" y="4096512"/>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DevOps + QA | k6 load test 200 concurrent users</a:t>
            </a:r>
            <a:endParaRPr lang="en-US" sz="750" dirty="0"/>
          </a:p>
        </p:txBody>
      </p:sp>
      <p:sp>
        <p:nvSpPr>
          <p:cNvPr id="45" name="Shape 43"/>
          <p:cNvSpPr/>
          <p:nvPr/>
        </p:nvSpPr>
        <p:spPr>
          <a:xfrm>
            <a:off x="457200" y="4443984"/>
            <a:ext cx="8458200" cy="393192"/>
          </a:xfrm>
          <a:prstGeom prst="rect">
            <a:avLst/>
          </a:prstGeom>
          <a:solidFill>
            <a:srgbClr val="F8F9FC"/>
          </a:solidFill>
          <a:ln w="5080">
            <a:solidFill>
              <a:srgbClr val="E2E8F0"/>
            </a:solidFill>
            <a:prstDash val="solid"/>
          </a:ln>
        </p:spPr>
      </p:sp>
      <p:sp>
        <p:nvSpPr>
          <p:cNvPr id="46" name="Shape 44"/>
          <p:cNvSpPr/>
          <p:nvPr/>
        </p:nvSpPr>
        <p:spPr>
          <a:xfrm>
            <a:off x="502920" y="4535424"/>
            <a:ext cx="402336" cy="201168"/>
          </a:xfrm>
          <a:prstGeom prst="roundRect">
            <a:avLst>
              <a:gd name="adj" fmla="val 36364"/>
            </a:avLst>
          </a:prstGeom>
          <a:solidFill>
            <a:srgbClr val="D97706"/>
          </a:solidFill>
          <a:ln w="12700">
            <a:solidFill>
              <a:srgbClr val="D97706"/>
            </a:solidFill>
            <a:prstDash val="solid"/>
          </a:ln>
        </p:spPr>
      </p:sp>
      <p:sp>
        <p:nvSpPr>
          <p:cNvPr id="47" name="Text 45"/>
          <p:cNvSpPr/>
          <p:nvPr/>
        </p:nvSpPr>
        <p:spPr>
          <a:xfrm>
            <a:off x="502920" y="4535424"/>
            <a:ext cx="402336"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3pt</a:t>
            </a:r>
            <a:endParaRPr lang="en-US" sz="800" dirty="0"/>
          </a:p>
        </p:txBody>
      </p:sp>
      <p:sp>
        <p:nvSpPr>
          <p:cNvPr id="48" name="Text 46"/>
          <p:cNvSpPr/>
          <p:nvPr/>
        </p:nvSpPr>
        <p:spPr>
          <a:xfrm>
            <a:off x="969264" y="4498848"/>
            <a:ext cx="4535424" cy="292608"/>
          </a:xfrm>
          <a:prstGeom prst="rect">
            <a:avLst/>
          </a:prstGeom>
          <a:noFill/>
          <a:ln/>
        </p:spPr>
        <p:txBody>
          <a:bodyPr wrap="square" rtlCol="0" anchor="ctr"/>
          <a:lstStyle/>
          <a:p>
            <a:pPr indent="0" marL="0">
              <a:buNone/>
            </a:pPr>
            <a:r>
              <a:rPr lang="en-US" sz="850" dirty="0">
                <a:solidFill>
                  <a:srgbClr val="1A1A2E"/>
                </a:solidFill>
                <a:latin typeface="Calibri" pitchFamily="34" charset="0"/>
                <a:ea typeface="Calibri" pitchFamily="34" charset="-122"/>
                <a:cs typeface="Calibri" pitchFamily="34" charset="-120"/>
              </a:rPr>
              <a:t>Weekly demo prep + stakeholder review</a:t>
            </a:r>
            <a:endParaRPr lang="en-US" sz="850" dirty="0"/>
          </a:p>
        </p:txBody>
      </p:sp>
      <p:sp>
        <p:nvSpPr>
          <p:cNvPr id="49" name="Text 47"/>
          <p:cNvSpPr/>
          <p:nvPr/>
        </p:nvSpPr>
        <p:spPr>
          <a:xfrm>
            <a:off x="5541264" y="4498848"/>
            <a:ext cx="3291840" cy="29260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PM | Demo recording + feedback log</a:t>
            </a:r>
            <a:endParaRPr lang="en-US" sz="750" dirty="0"/>
          </a:p>
        </p:txBody>
      </p:sp>
      <p:sp>
        <p:nvSpPr>
          <p:cNvPr id="50" name="Shape 48"/>
          <p:cNvSpPr/>
          <p:nvPr/>
        </p:nvSpPr>
        <p:spPr>
          <a:xfrm>
            <a:off x="457200" y="4791456"/>
            <a:ext cx="8458200" cy="201168"/>
          </a:xfrm>
          <a:prstGeom prst="rect">
            <a:avLst/>
          </a:prstGeom>
          <a:solidFill>
            <a:srgbClr val="D97706"/>
          </a:solidFill>
          <a:ln w="12700">
            <a:solidFill>
              <a:srgbClr val="D97706"/>
            </a:solidFill>
            <a:prstDash val="solid"/>
          </a:ln>
        </p:spPr>
      </p:sp>
      <p:sp>
        <p:nvSpPr>
          <p:cNvPr id="51" name="Text 49"/>
          <p:cNvSpPr/>
          <p:nvPr/>
        </p:nvSpPr>
        <p:spPr>
          <a:xfrm>
            <a:off x="548640" y="4796028"/>
            <a:ext cx="8321040" cy="182880"/>
          </a:xfrm>
          <a:prstGeom prst="rect">
            <a:avLst/>
          </a:prstGeom>
          <a:noFill/>
          <a:ln/>
        </p:spPr>
        <p:txBody>
          <a:bodyPr wrap="square" rtlCol="0" anchor="ctr"/>
          <a:lstStyle/>
          <a:p>
            <a:pPr indent="0" marL="0">
              <a:buNone/>
            </a:pPr>
            <a:r>
              <a:rPr lang="en-US" sz="750" dirty="0">
                <a:solidFill>
                  <a:srgbClr val="FFFFFF"/>
                </a:solidFill>
                <a:latin typeface="Calibri" pitchFamily="34" charset="0"/>
                <a:ea typeface="Calibri" pitchFamily="34" charset="-122"/>
                <a:cs typeface="Calibri" pitchFamily="34" charset="-120"/>
              </a:rPr>
              <a:t>Sprint 4 Total: 35 Story Points   |   Checkpoint: All Features Feature-Complete in Staging   |   Sprint Review: EOD Wk 8 Demo</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SPRINT PLANNING</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Sprint 5 — Weeks 9–10: QA, UAT &amp; Go-Live</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Text 3"/>
          <p:cNvSpPr/>
          <p:nvPr/>
        </p:nvSpPr>
        <p:spPr>
          <a:xfrm>
            <a:off x="457200" y="1042416"/>
            <a:ext cx="8229600" cy="237744"/>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Goal: Full test suite complete, security passed, UAT signed off, apps live on App Store and Play Store. 🚀</a:t>
            </a:r>
            <a:endParaRPr lang="en-US" sz="1000" dirty="0"/>
          </a:p>
        </p:txBody>
      </p:sp>
      <p:sp>
        <p:nvSpPr>
          <p:cNvPr id="6" name="Shape 4"/>
          <p:cNvSpPr/>
          <p:nvPr/>
        </p:nvSpPr>
        <p:spPr>
          <a:xfrm>
            <a:off x="457200" y="1335024"/>
            <a:ext cx="8458200" cy="274320"/>
          </a:xfrm>
          <a:prstGeom prst="rect">
            <a:avLst/>
          </a:prstGeom>
          <a:solidFill>
            <a:srgbClr val="7C3AED"/>
          </a:solidFill>
          <a:ln w="12700">
            <a:solidFill>
              <a:srgbClr val="7C3AED"/>
            </a:solidFill>
            <a:prstDash val="solid"/>
          </a:ln>
        </p:spPr>
      </p:sp>
      <p:sp>
        <p:nvSpPr>
          <p:cNvPr id="7" name="Text 5"/>
          <p:cNvSpPr/>
          <p:nvPr/>
        </p:nvSpPr>
        <p:spPr>
          <a:xfrm>
            <a:off x="50292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SP</a:t>
            </a:r>
            <a:endParaRPr lang="en-US" sz="850" dirty="0"/>
          </a:p>
        </p:txBody>
      </p:sp>
      <p:sp>
        <p:nvSpPr>
          <p:cNvPr id="8" name="Text 6"/>
          <p:cNvSpPr/>
          <p:nvPr/>
        </p:nvSpPr>
        <p:spPr>
          <a:xfrm>
            <a:off x="100584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Story</a:t>
            </a:r>
            <a:endParaRPr lang="en-US" sz="850" dirty="0"/>
          </a:p>
        </p:txBody>
      </p:sp>
      <p:sp>
        <p:nvSpPr>
          <p:cNvPr id="9" name="Text 7"/>
          <p:cNvSpPr/>
          <p:nvPr/>
        </p:nvSpPr>
        <p:spPr>
          <a:xfrm>
            <a:off x="5577840" y="1371600"/>
            <a:ext cx="182880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Owner / Notes</a:t>
            </a:r>
            <a:endParaRPr lang="en-US" sz="850" dirty="0"/>
          </a:p>
        </p:txBody>
      </p:sp>
      <p:sp>
        <p:nvSpPr>
          <p:cNvPr id="10" name="Shape 8"/>
          <p:cNvSpPr/>
          <p:nvPr/>
        </p:nvSpPr>
        <p:spPr>
          <a:xfrm>
            <a:off x="457200" y="1627632"/>
            <a:ext cx="8458200" cy="265176"/>
          </a:xfrm>
          <a:prstGeom prst="rect">
            <a:avLst/>
          </a:prstGeom>
          <a:solidFill>
            <a:srgbClr val="FFFFFF"/>
          </a:solidFill>
          <a:ln w="5080">
            <a:solidFill>
              <a:srgbClr val="E2E8F0"/>
            </a:solidFill>
            <a:prstDash val="solid"/>
          </a:ln>
        </p:spPr>
      </p:sp>
      <p:sp>
        <p:nvSpPr>
          <p:cNvPr id="11" name="Shape 9"/>
          <p:cNvSpPr/>
          <p:nvPr/>
        </p:nvSpPr>
        <p:spPr>
          <a:xfrm>
            <a:off x="502920" y="1682496"/>
            <a:ext cx="402336" cy="164592"/>
          </a:xfrm>
          <a:prstGeom prst="roundRect">
            <a:avLst>
              <a:gd name="adj" fmla="val 44444"/>
            </a:avLst>
          </a:prstGeom>
          <a:solidFill>
            <a:srgbClr val="7C3AED"/>
          </a:solidFill>
          <a:ln w="12700">
            <a:solidFill>
              <a:srgbClr val="7C3AED"/>
            </a:solidFill>
            <a:prstDash val="solid"/>
          </a:ln>
        </p:spPr>
      </p:sp>
      <p:sp>
        <p:nvSpPr>
          <p:cNvPr id="12" name="Text 10"/>
          <p:cNvSpPr/>
          <p:nvPr/>
        </p:nvSpPr>
        <p:spPr>
          <a:xfrm>
            <a:off x="502920" y="1682496"/>
            <a:ext cx="402336" cy="16459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4pt</a:t>
            </a:r>
            <a:endParaRPr lang="en-US" sz="800" dirty="0"/>
          </a:p>
        </p:txBody>
      </p:sp>
      <p:sp>
        <p:nvSpPr>
          <p:cNvPr id="13" name="Text 11"/>
          <p:cNvSpPr/>
          <p:nvPr/>
        </p:nvSpPr>
        <p:spPr>
          <a:xfrm>
            <a:off x="969264" y="1664208"/>
            <a:ext cx="4535424" cy="201168"/>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xUnit unit tests — 80%+ coverage on all .NET 8 services</a:t>
            </a:r>
            <a:endParaRPr lang="en-US" sz="800" dirty="0"/>
          </a:p>
        </p:txBody>
      </p:sp>
      <p:sp>
        <p:nvSpPr>
          <p:cNvPr id="14" name="Text 12"/>
          <p:cNvSpPr/>
          <p:nvPr/>
        </p:nvSpPr>
        <p:spPr>
          <a:xfrm>
            <a:off x="5541264" y="1664208"/>
            <a:ext cx="3291840" cy="201168"/>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Wk9 · QA | Mocked services, edge cases, all modules</a:t>
            </a:r>
            <a:endParaRPr lang="en-US" sz="700" dirty="0"/>
          </a:p>
        </p:txBody>
      </p:sp>
      <p:sp>
        <p:nvSpPr>
          <p:cNvPr id="15" name="Shape 13"/>
          <p:cNvSpPr/>
          <p:nvPr/>
        </p:nvSpPr>
        <p:spPr>
          <a:xfrm>
            <a:off x="457200" y="1901952"/>
            <a:ext cx="8458200" cy="265176"/>
          </a:xfrm>
          <a:prstGeom prst="rect">
            <a:avLst/>
          </a:prstGeom>
          <a:solidFill>
            <a:srgbClr val="F8F9FC"/>
          </a:solidFill>
          <a:ln w="5080">
            <a:solidFill>
              <a:srgbClr val="E2E8F0"/>
            </a:solidFill>
            <a:prstDash val="solid"/>
          </a:ln>
        </p:spPr>
      </p:sp>
      <p:sp>
        <p:nvSpPr>
          <p:cNvPr id="16" name="Shape 14"/>
          <p:cNvSpPr/>
          <p:nvPr/>
        </p:nvSpPr>
        <p:spPr>
          <a:xfrm>
            <a:off x="502920" y="1956816"/>
            <a:ext cx="402336" cy="164592"/>
          </a:xfrm>
          <a:prstGeom prst="roundRect">
            <a:avLst>
              <a:gd name="adj" fmla="val 44444"/>
            </a:avLst>
          </a:prstGeom>
          <a:solidFill>
            <a:srgbClr val="7C3AED"/>
          </a:solidFill>
          <a:ln w="12700">
            <a:solidFill>
              <a:srgbClr val="7C3AED"/>
            </a:solidFill>
            <a:prstDash val="solid"/>
          </a:ln>
        </p:spPr>
      </p:sp>
      <p:sp>
        <p:nvSpPr>
          <p:cNvPr id="17" name="Text 15"/>
          <p:cNvSpPr/>
          <p:nvPr/>
        </p:nvSpPr>
        <p:spPr>
          <a:xfrm>
            <a:off x="502920" y="1956816"/>
            <a:ext cx="402336" cy="16459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4pt</a:t>
            </a:r>
            <a:endParaRPr lang="en-US" sz="800" dirty="0"/>
          </a:p>
        </p:txBody>
      </p:sp>
      <p:sp>
        <p:nvSpPr>
          <p:cNvPr id="18" name="Text 16"/>
          <p:cNvSpPr/>
          <p:nvPr/>
        </p:nvSpPr>
        <p:spPr>
          <a:xfrm>
            <a:off x="969264" y="1938528"/>
            <a:ext cx="4535424" cy="201168"/>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Testcontainers API integration tests — all endpoints</a:t>
            </a:r>
            <a:endParaRPr lang="en-US" sz="800" dirty="0"/>
          </a:p>
        </p:txBody>
      </p:sp>
      <p:sp>
        <p:nvSpPr>
          <p:cNvPr id="19" name="Text 17"/>
          <p:cNvSpPr/>
          <p:nvPr/>
        </p:nvSpPr>
        <p:spPr>
          <a:xfrm>
            <a:off x="5541264" y="1938528"/>
            <a:ext cx="3291840" cy="201168"/>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Wk9 · QA | Dockerised PostgreSQL test DB, +/- paths</a:t>
            </a:r>
            <a:endParaRPr lang="en-US" sz="700" dirty="0"/>
          </a:p>
        </p:txBody>
      </p:sp>
      <p:sp>
        <p:nvSpPr>
          <p:cNvPr id="20" name="Shape 18"/>
          <p:cNvSpPr/>
          <p:nvPr/>
        </p:nvSpPr>
        <p:spPr>
          <a:xfrm>
            <a:off x="457200" y="2176272"/>
            <a:ext cx="8458200" cy="265176"/>
          </a:xfrm>
          <a:prstGeom prst="rect">
            <a:avLst/>
          </a:prstGeom>
          <a:solidFill>
            <a:srgbClr val="FFFFFF"/>
          </a:solidFill>
          <a:ln w="5080">
            <a:solidFill>
              <a:srgbClr val="E2E8F0"/>
            </a:solidFill>
            <a:prstDash val="solid"/>
          </a:ln>
        </p:spPr>
      </p:sp>
      <p:sp>
        <p:nvSpPr>
          <p:cNvPr id="21" name="Shape 19"/>
          <p:cNvSpPr/>
          <p:nvPr/>
        </p:nvSpPr>
        <p:spPr>
          <a:xfrm>
            <a:off x="502920" y="2231136"/>
            <a:ext cx="402336" cy="164592"/>
          </a:xfrm>
          <a:prstGeom prst="roundRect">
            <a:avLst>
              <a:gd name="adj" fmla="val 44444"/>
            </a:avLst>
          </a:prstGeom>
          <a:solidFill>
            <a:srgbClr val="7C3AED"/>
          </a:solidFill>
          <a:ln w="12700">
            <a:solidFill>
              <a:srgbClr val="7C3AED"/>
            </a:solidFill>
            <a:prstDash val="solid"/>
          </a:ln>
        </p:spPr>
      </p:sp>
      <p:sp>
        <p:nvSpPr>
          <p:cNvPr id="22" name="Text 20"/>
          <p:cNvSpPr/>
          <p:nvPr/>
        </p:nvSpPr>
        <p:spPr>
          <a:xfrm>
            <a:off x="502920" y="2231136"/>
            <a:ext cx="402336" cy="16459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4pt</a:t>
            </a:r>
            <a:endParaRPr lang="en-US" sz="800" dirty="0"/>
          </a:p>
        </p:txBody>
      </p:sp>
      <p:sp>
        <p:nvSpPr>
          <p:cNvPr id="23" name="Text 21"/>
          <p:cNvSpPr/>
          <p:nvPr/>
        </p:nvSpPr>
        <p:spPr>
          <a:xfrm>
            <a:off x="969264" y="2212848"/>
            <a:ext cx="4535424" cy="201168"/>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Playwright E2E — web flows (member, prayer, video, chat)</a:t>
            </a:r>
            <a:endParaRPr lang="en-US" sz="800" dirty="0"/>
          </a:p>
        </p:txBody>
      </p:sp>
      <p:sp>
        <p:nvSpPr>
          <p:cNvPr id="24" name="Text 22"/>
          <p:cNvSpPr/>
          <p:nvPr/>
        </p:nvSpPr>
        <p:spPr>
          <a:xfrm>
            <a:off x="5541264" y="2212848"/>
            <a:ext cx="3291840" cy="201168"/>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Wk9 · QA | Headed + headless CI runs, all journeys</a:t>
            </a:r>
            <a:endParaRPr lang="en-US" sz="700" dirty="0"/>
          </a:p>
        </p:txBody>
      </p:sp>
      <p:sp>
        <p:nvSpPr>
          <p:cNvPr id="25" name="Shape 23"/>
          <p:cNvSpPr/>
          <p:nvPr/>
        </p:nvSpPr>
        <p:spPr>
          <a:xfrm>
            <a:off x="457200" y="2450592"/>
            <a:ext cx="8458200" cy="265176"/>
          </a:xfrm>
          <a:prstGeom prst="rect">
            <a:avLst/>
          </a:prstGeom>
          <a:solidFill>
            <a:srgbClr val="F8F9FC"/>
          </a:solidFill>
          <a:ln w="5080">
            <a:solidFill>
              <a:srgbClr val="E2E8F0"/>
            </a:solidFill>
            <a:prstDash val="solid"/>
          </a:ln>
        </p:spPr>
      </p:sp>
      <p:sp>
        <p:nvSpPr>
          <p:cNvPr id="26" name="Shape 24"/>
          <p:cNvSpPr/>
          <p:nvPr/>
        </p:nvSpPr>
        <p:spPr>
          <a:xfrm>
            <a:off x="502920" y="2505456"/>
            <a:ext cx="402336" cy="164592"/>
          </a:xfrm>
          <a:prstGeom prst="roundRect">
            <a:avLst>
              <a:gd name="adj" fmla="val 44444"/>
            </a:avLst>
          </a:prstGeom>
          <a:solidFill>
            <a:srgbClr val="7C3AED"/>
          </a:solidFill>
          <a:ln w="12700">
            <a:solidFill>
              <a:srgbClr val="7C3AED"/>
            </a:solidFill>
            <a:prstDash val="solid"/>
          </a:ln>
        </p:spPr>
      </p:sp>
      <p:sp>
        <p:nvSpPr>
          <p:cNvPr id="27" name="Text 25"/>
          <p:cNvSpPr/>
          <p:nvPr/>
        </p:nvSpPr>
        <p:spPr>
          <a:xfrm>
            <a:off x="502920" y="2505456"/>
            <a:ext cx="402336" cy="16459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4pt</a:t>
            </a:r>
            <a:endParaRPr lang="en-US" sz="800" dirty="0"/>
          </a:p>
        </p:txBody>
      </p:sp>
      <p:sp>
        <p:nvSpPr>
          <p:cNvPr id="28" name="Text 26"/>
          <p:cNvSpPr/>
          <p:nvPr/>
        </p:nvSpPr>
        <p:spPr>
          <a:xfrm>
            <a:off x="969264" y="2487168"/>
            <a:ext cx="4535424" cy="201168"/>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Appium E2E — iOS Simulator + Android Emulator</a:t>
            </a:r>
            <a:endParaRPr lang="en-US" sz="800" dirty="0"/>
          </a:p>
        </p:txBody>
      </p:sp>
      <p:sp>
        <p:nvSpPr>
          <p:cNvPr id="29" name="Text 27"/>
          <p:cNvSpPr/>
          <p:nvPr/>
        </p:nvSpPr>
        <p:spPr>
          <a:xfrm>
            <a:off x="5541264" y="2487168"/>
            <a:ext cx="3291840" cy="201168"/>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Wk9 · QA | Login → member → pray → video → VoIP call</a:t>
            </a:r>
            <a:endParaRPr lang="en-US" sz="700" dirty="0"/>
          </a:p>
        </p:txBody>
      </p:sp>
      <p:sp>
        <p:nvSpPr>
          <p:cNvPr id="30" name="Shape 28"/>
          <p:cNvSpPr/>
          <p:nvPr/>
        </p:nvSpPr>
        <p:spPr>
          <a:xfrm>
            <a:off x="457200" y="2724912"/>
            <a:ext cx="8458200" cy="265176"/>
          </a:xfrm>
          <a:prstGeom prst="rect">
            <a:avLst/>
          </a:prstGeom>
          <a:solidFill>
            <a:srgbClr val="FFFFFF"/>
          </a:solidFill>
          <a:ln w="5080">
            <a:solidFill>
              <a:srgbClr val="E2E8F0"/>
            </a:solidFill>
            <a:prstDash val="solid"/>
          </a:ln>
        </p:spPr>
      </p:sp>
      <p:sp>
        <p:nvSpPr>
          <p:cNvPr id="31" name="Shape 29"/>
          <p:cNvSpPr/>
          <p:nvPr/>
        </p:nvSpPr>
        <p:spPr>
          <a:xfrm>
            <a:off x="502920" y="2779776"/>
            <a:ext cx="402336" cy="164592"/>
          </a:xfrm>
          <a:prstGeom prst="roundRect">
            <a:avLst>
              <a:gd name="adj" fmla="val 44444"/>
            </a:avLst>
          </a:prstGeom>
          <a:solidFill>
            <a:srgbClr val="7C3AED"/>
          </a:solidFill>
          <a:ln w="12700">
            <a:solidFill>
              <a:srgbClr val="7C3AED"/>
            </a:solidFill>
            <a:prstDash val="solid"/>
          </a:ln>
        </p:spPr>
      </p:sp>
      <p:sp>
        <p:nvSpPr>
          <p:cNvPr id="32" name="Text 30"/>
          <p:cNvSpPr/>
          <p:nvPr/>
        </p:nvSpPr>
        <p:spPr>
          <a:xfrm>
            <a:off x="502920" y="2779776"/>
            <a:ext cx="402336" cy="16459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3pt</a:t>
            </a:r>
            <a:endParaRPr lang="en-US" sz="800" dirty="0"/>
          </a:p>
        </p:txBody>
      </p:sp>
      <p:sp>
        <p:nvSpPr>
          <p:cNvPr id="33" name="Text 31"/>
          <p:cNvSpPr/>
          <p:nvPr/>
        </p:nvSpPr>
        <p:spPr>
          <a:xfrm>
            <a:off x="969264" y="2761488"/>
            <a:ext cx="4535424" cy="201168"/>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OWASP security audit + penetration test</a:t>
            </a:r>
            <a:endParaRPr lang="en-US" sz="800" dirty="0"/>
          </a:p>
        </p:txBody>
      </p:sp>
      <p:sp>
        <p:nvSpPr>
          <p:cNvPr id="34" name="Text 32"/>
          <p:cNvSpPr/>
          <p:nvPr/>
        </p:nvSpPr>
        <p:spPr>
          <a:xfrm>
            <a:off x="5541264" y="2761488"/>
            <a:ext cx="3291840" cy="201168"/>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Wk9 · Security | Mobile Top 10, JWT review, RDS audit</a:t>
            </a:r>
            <a:endParaRPr lang="en-US" sz="700" dirty="0"/>
          </a:p>
        </p:txBody>
      </p:sp>
      <p:sp>
        <p:nvSpPr>
          <p:cNvPr id="35" name="Shape 33"/>
          <p:cNvSpPr/>
          <p:nvPr/>
        </p:nvSpPr>
        <p:spPr>
          <a:xfrm>
            <a:off x="457200" y="2999232"/>
            <a:ext cx="8458200" cy="265176"/>
          </a:xfrm>
          <a:prstGeom prst="rect">
            <a:avLst/>
          </a:prstGeom>
          <a:solidFill>
            <a:srgbClr val="F8F9FC"/>
          </a:solidFill>
          <a:ln w="5080">
            <a:solidFill>
              <a:srgbClr val="E2E8F0"/>
            </a:solidFill>
            <a:prstDash val="solid"/>
          </a:ln>
        </p:spPr>
      </p:sp>
      <p:sp>
        <p:nvSpPr>
          <p:cNvPr id="36" name="Shape 34"/>
          <p:cNvSpPr/>
          <p:nvPr/>
        </p:nvSpPr>
        <p:spPr>
          <a:xfrm>
            <a:off x="502920" y="3054096"/>
            <a:ext cx="402336" cy="164592"/>
          </a:xfrm>
          <a:prstGeom prst="roundRect">
            <a:avLst>
              <a:gd name="adj" fmla="val 44444"/>
            </a:avLst>
          </a:prstGeom>
          <a:solidFill>
            <a:srgbClr val="7C3AED"/>
          </a:solidFill>
          <a:ln w="12700">
            <a:solidFill>
              <a:srgbClr val="7C3AED"/>
            </a:solidFill>
            <a:prstDash val="solid"/>
          </a:ln>
        </p:spPr>
      </p:sp>
      <p:sp>
        <p:nvSpPr>
          <p:cNvPr id="37" name="Text 35"/>
          <p:cNvSpPr/>
          <p:nvPr/>
        </p:nvSpPr>
        <p:spPr>
          <a:xfrm>
            <a:off x="502920" y="3054096"/>
            <a:ext cx="402336" cy="16459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3pt</a:t>
            </a:r>
            <a:endParaRPr lang="en-US" sz="800" dirty="0"/>
          </a:p>
        </p:txBody>
      </p:sp>
      <p:sp>
        <p:nvSpPr>
          <p:cNvPr id="38" name="Text 36"/>
          <p:cNvSpPr/>
          <p:nvPr/>
        </p:nvSpPr>
        <p:spPr>
          <a:xfrm>
            <a:off x="969264" y="3035808"/>
            <a:ext cx="4535424" cy="201168"/>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Production infrastructure (RDS Multi-AZ, ECS Fargate, WAF)</a:t>
            </a:r>
            <a:endParaRPr lang="en-US" sz="800" dirty="0"/>
          </a:p>
        </p:txBody>
      </p:sp>
      <p:sp>
        <p:nvSpPr>
          <p:cNvPr id="39" name="Text 37"/>
          <p:cNvSpPr/>
          <p:nvPr/>
        </p:nvSpPr>
        <p:spPr>
          <a:xfrm>
            <a:off x="5541264" y="3035808"/>
            <a:ext cx="3291840" cy="201168"/>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Wk9 · DevOps | Prod deploy, CloudWatch alarms, scaling</a:t>
            </a:r>
            <a:endParaRPr lang="en-US" sz="700" dirty="0"/>
          </a:p>
        </p:txBody>
      </p:sp>
      <p:sp>
        <p:nvSpPr>
          <p:cNvPr id="40" name="Shape 38"/>
          <p:cNvSpPr/>
          <p:nvPr/>
        </p:nvSpPr>
        <p:spPr>
          <a:xfrm>
            <a:off x="457200" y="3273552"/>
            <a:ext cx="8458200" cy="265176"/>
          </a:xfrm>
          <a:prstGeom prst="rect">
            <a:avLst/>
          </a:prstGeom>
          <a:solidFill>
            <a:srgbClr val="FFFFFF"/>
          </a:solidFill>
          <a:ln w="5080">
            <a:solidFill>
              <a:srgbClr val="E2E8F0"/>
            </a:solidFill>
            <a:prstDash val="solid"/>
          </a:ln>
        </p:spPr>
      </p:sp>
      <p:sp>
        <p:nvSpPr>
          <p:cNvPr id="41" name="Shape 39"/>
          <p:cNvSpPr/>
          <p:nvPr/>
        </p:nvSpPr>
        <p:spPr>
          <a:xfrm>
            <a:off x="502920" y="3328416"/>
            <a:ext cx="402336" cy="164592"/>
          </a:xfrm>
          <a:prstGeom prst="roundRect">
            <a:avLst>
              <a:gd name="adj" fmla="val 44444"/>
            </a:avLst>
          </a:prstGeom>
          <a:solidFill>
            <a:srgbClr val="7C3AED"/>
          </a:solidFill>
          <a:ln w="12700">
            <a:solidFill>
              <a:srgbClr val="7C3AED"/>
            </a:solidFill>
            <a:prstDash val="solid"/>
          </a:ln>
        </p:spPr>
      </p:sp>
      <p:sp>
        <p:nvSpPr>
          <p:cNvPr id="42" name="Text 40"/>
          <p:cNvSpPr/>
          <p:nvPr/>
        </p:nvSpPr>
        <p:spPr>
          <a:xfrm>
            <a:off x="502920" y="3328416"/>
            <a:ext cx="402336" cy="16459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3pt</a:t>
            </a:r>
            <a:endParaRPr lang="en-US" sz="800" dirty="0"/>
          </a:p>
        </p:txBody>
      </p:sp>
      <p:sp>
        <p:nvSpPr>
          <p:cNvPr id="43" name="Text 41"/>
          <p:cNvSpPr/>
          <p:nvPr/>
        </p:nvSpPr>
        <p:spPr>
          <a:xfrm>
            <a:off x="969264" y="3310128"/>
            <a:ext cx="4535424" cy="201168"/>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k6 load test — 500 concurrent users, p95 &lt; 200ms</a:t>
            </a:r>
            <a:endParaRPr lang="en-US" sz="800" dirty="0"/>
          </a:p>
        </p:txBody>
      </p:sp>
      <p:sp>
        <p:nvSpPr>
          <p:cNvPr id="44" name="Text 42"/>
          <p:cNvSpPr/>
          <p:nvPr/>
        </p:nvSpPr>
        <p:spPr>
          <a:xfrm>
            <a:off x="5541264" y="3310128"/>
            <a:ext cx="3291840" cy="201168"/>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Wk10 · QA + DevOps | Full load test report</a:t>
            </a:r>
            <a:endParaRPr lang="en-US" sz="700" dirty="0"/>
          </a:p>
        </p:txBody>
      </p:sp>
      <p:sp>
        <p:nvSpPr>
          <p:cNvPr id="45" name="Shape 43"/>
          <p:cNvSpPr/>
          <p:nvPr/>
        </p:nvSpPr>
        <p:spPr>
          <a:xfrm>
            <a:off x="457200" y="3547872"/>
            <a:ext cx="8458200" cy="265176"/>
          </a:xfrm>
          <a:prstGeom prst="rect">
            <a:avLst/>
          </a:prstGeom>
          <a:solidFill>
            <a:srgbClr val="F8F9FC"/>
          </a:solidFill>
          <a:ln w="5080">
            <a:solidFill>
              <a:srgbClr val="E2E8F0"/>
            </a:solidFill>
            <a:prstDash val="solid"/>
          </a:ln>
        </p:spPr>
      </p:sp>
      <p:sp>
        <p:nvSpPr>
          <p:cNvPr id="46" name="Shape 44"/>
          <p:cNvSpPr/>
          <p:nvPr/>
        </p:nvSpPr>
        <p:spPr>
          <a:xfrm>
            <a:off x="502920" y="3602736"/>
            <a:ext cx="402336" cy="164592"/>
          </a:xfrm>
          <a:prstGeom prst="roundRect">
            <a:avLst>
              <a:gd name="adj" fmla="val 44444"/>
            </a:avLst>
          </a:prstGeom>
          <a:solidFill>
            <a:srgbClr val="7C3AED"/>
          </a:solidFill>
          <a:ln w="12700">
            <a:solidFill>
              <a:srgbClr val="7C3AED"/>
            </a:solidFill>
            <a:prstDash val="solid"/>
          </a:ln>
        </p:spPr>
      </p:sp>
      <p:sp>
        <p:nvSpPr>
          <p:cNvPr id="47" name="Text 45"/>
          <p:cNvSpPr/>
          <p:nvPr/>
        </p:nvSpPr>
        <p:spPr>
          <a:xfrm>
            <a:off x="502920" y="3602736"/>
            <a:ext cx="402336" cy="16459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3pt</a:t>
            </a:r>
            <a:endParaRPr lang="en-US" sz="800" dirty="0"/>
          </a:p>
        </p:txBody>
      </p:sp>
      <p:sp>
        <p:nvSpPr>
          <p:cNvPr id="48" name="Text 46"/>
          <p:cNvSpPr/>
          <p:nvPr/>
        </p:nvSpPr>
        <p:spPr>
          <a:xfrm>
            <a:off x="969264" y="3584448"/>
            <a:ext cx="4535424" cy="201168"/>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UAT with ANM team (20 pilot members) + sign-off form</a:t>
            </a:r>
            <a:endParaRPr lang="en-US" sz="800" dirty="0"/>
          </a:p>
        </p:txBody>
      </p:sp>
      <p:sp>
        <p:nvSpPr>
          <p:cNvPr id="49" name="Text 47"/>
          <p:cNvSpPr/>
          <p:nvPr/>
        </p:nvSpPr>
        <p:spPr>
          <a:xfrm>
            <a:off x="5541264" y="3584448"/>
            <a:ext cx="3291840" cy="201168"/>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Wk10 · PM | Acceptance testing, issue triage, sign-off</a:t>
            </a:r>
            <a:endParaRPr lang="en-US" sz="700" dirty="0"/>
          </a:p>
        </p:txBody>
      </p:sp>
      <p:sp>
        <p:nvSpPr>
          <p:cNvPr id="50" name="Shape 48"/>
          <p:cNvSpPr/>
          <p:nvPr/>
        </p:nvSpPr>
        <p:spPr>
          <a:xfrm>
            <a:off x="457200" y="3822192"/>
            <a:ext cx="8458200" cy="265176"/>
          </a:xfrm>
          <a:prstGeom prst="rect">
            <a:avLst/>
          </a:prstGeom>
          <a:solidFill>
            <a:srgbClr val="FFFFFF"/>
          </a:solidFill>
          <a:ln w="5080">
            <a:solidFill>
              <a:srgbClr val="E2E8F0"/>
            </a:solidFill>
            <a:prstDash val="solid"/>
          </a:ln>
        </p:spPr>
      </p:sp>
      <p:sp>
        <p:nvSpPr>
          <p:cNvPr id="51" name="Shape 49"/>
          <p:cNvSpPr/>
          <p:nvPr/>
        </p:nvSpPr>
        <p:spPr>
          <a:xfrm>
            <a:off x="502920" y="3877056"/>
            <a:ext cx="402336" cy="164592"/>
          </a:xfrm>
          <a:prstGeom prst="roundRect">
            <a:avLst>
              <a:gd name="adj" fmla="val 44444"/>
            </a:avLst>
          </a:prstGeom>
          <a:solidFill>
            <a:srgbClr val="7C3AED"/>
          </a:solidFill>
          <a:ln w="12700">
            <a:solidFill>
              <a:srgbClr val="7C3AED"/>
            </a:solidFill>
            <a:prstDash val="solid"/>
          </a:ln>
        </p:spPr>
      </p:sp>
      <p:sp>
        <p:nvSpPr>
          <p:cNvPr id="52" name="Text 50"/>
          <p:cNvSpPr/>
          <p:nvPr/>
        </p:nvSpPr>
        <p:spPr>
          <a:xfrm>
            <a:off x="502920" y="3877056"/>
            <a:ext cx="402336" cy="16459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3pt</a:t>
            </a:r>
            <a:endParaRPr lang="en-US" sz="800" dirty="0"/>
          </a:p>
        </p:txBody>
      </p:sp>
      <p:sp>
        <p:nvSpPr>
          <p:cNvPr id="53" name="Text 51"/>
          <p:cNvSpPr/>
          <p:nvPr/>
        </p:nvSpPr>
        <p:spPr>
          <a:xfrm>
            <a:off x="969264" y="3858768"/>
            <a:ext cx="4535424" cy="201168"/>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App Store + Play Store submission + metadata</a:t>
            </a:r>
            <a:endParaRPr lang="en-US" sz="800" dirty="0"/>
          </a:p>
        </p:txBody>
      </p:sp>
      <p:sp>
        <p:nvSpPr>
          <p:cNvPr id="54" name="Text 52"/>
          <p:cNvSpPr/>
          <p:nvPr/>
        </p:nvSpPr>
        <p:spPr>
          <a:xfrm>
            <a:off x="5541264" y="3858768"/>
            <a:ext cx="3291840" cy="201168"/>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Wk10 · DevOps | Capacitor builds, screenshots, review</a:t>
            </a:r>
            <a:endParaRPr lang="en-US" sz="700" dirty="0"/>
          </a:p>
        </p:txBody>
      </p:sp>
      <p:sp>
        <p:nvSpPr>
          <p:cNvPr id="55" name="Shape 53"/>
          <p:cNvSpPr/>
          <p:nvPr/>
        </p:nvSpPr>
        <p:spPr>
          <a:xfrm>
            <a:off x="457200" y="4096512"/>
            <a:ext cx="8458200" cy="265176"/>
          </a:xfrm>
          <a:prstGeom prst="rect">
            <a:avLst/>
          </a:prstGeom>
          <a:solidFill>
            <a:srgbClr val="F8F9FC"/>
          </a:solidFill>
          <a:ln w="5080">
            <a:solidFill>
              <a:srgbClr val="E2E8F0"/>
            </a:solidFill>
            <a:prstDash val="solid"/>
          </a:ln>
        </p:spPr>
      </p:sp>
      <p:sp>
        <p:nvSpPr>
          <p:cNvPr id="56" name="Shape 54"/>
          <p:cNvSpPr/>
          <p:nvPr/>
        </p:nvSpPr>
        <p:spPr>
          <a:xfrm>
            <a:off x="502920" y="4151376"/>
            <a:ext cx="402336" cy="164592"/>
          </a:xfrm>
          <a:prstGeom prst="roundRect">
            <a:avLst>
              <a:gd name="adj" fmla="val 44444"/>
            </a:avLst>
          </a:prstGeom>
          <a:solidFill>
            <a:srgbClr val="7C3AED"/>
          </a:solidFill>
          <a:ln w="12700">
            <a:solidFill>
              <a:srgbClr val="7C3AED"/>
            </a:solidFill>
            <a:prstDash val="solid"/>
          </a:ln>
        </p:spPr>
      </p:sp>
      <p:sp>
        <p:nvSpPr>
          <p:cNvPr id="57" name="Text 55"/>
          <p:cNvSpPr/>
          <p:nvPr/>
        </p:nvSpPr>
        <p:spPr>
          <a:xfrm>
            <a:off x="502920" y="4151376"/>
            <a:ext cx="402336" cy="16459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2pt</a:t>
            </a:r>
            <a:endParaRPr lang="en-US" sz="800" dirty="0"/>
          </a:p>
        </p:txBody>
      </p:sp>
      <p:sp>
        <p:nvSpPr>
          <p:cNvPr id="58" name="Text 56"/>
          <p:cNvSpPr/>
          <p:nvPr/>
        </p:nvSpPr>
        <p:spPr>
          <a:xfrm>
            <a:off x="969264" y="4133088"/>
            <a:ext cx="4535424" cy="201168"/>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Source code handover + deployment docs delivered</a:t>
            </a:r>
            <a:endParaRPr lang="en-US" sz="800" dirty="0"/>
          </a:p>
        </p:txBody>
      </p:sp>
      <p:sp>
        <p:nvSpPr>
          <p:cNvPr id="59" name="Text 57"/>
          <p:cNvSpPr/>
          <p:nvPr/>
        </p:nvSpPr>
        <p:spPr>
          <a:xfrm>
            <a:off x="5541264" y="4133088"/>
            <a:ext cx="3291840" cy="201168"/>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Wk10 · PM + Architect | Repo access, runbooks, wiki</a:t>
            </a:r>
            <a:endParaRPr lang="en-US" sz="700" dirty="0"/>
          </a:p>
        </p:txBody>
      </p:sp>
      <p:sp>
        <p:nvSpPr>
          <p:cNvPr id="60" name="Shape 58"/>
          <p:cNvSpPr/>
          <p:nvPr/>
        </p:nvSpPr>
        <p:spPr>
          <a:xfrm>
            <a:off x="457200" y="4791456"/>
            <a:ext cx="8458200" cy="201168"/>
          </a:xfrm>
          <a:prstGeom prst="rect">
            <a:avLst/>
          </a:prstGeom>
          <a:solidFill>
            <a:srgbClr val="7C3AED"/>
          </a:solidFill>
          <a:ln w="12700">
            <a:solidFill>
              <a:srgbClr val="7C3AED"/>
            </a:solidFill>
            <a:prstDash val="solid"/>
          </a:ln>
        </p:spPr>
      </p:sp>
      <p:sp>
        <p:nvSpPr>
          <p:cNvPr id="61" name="Text 59"/>
          <p:cNvSpPr/>
          <p:nvPr/>
        </p:nvSpPr>
        <p:spPr>
          <a:xfrm>
            <a:off x="548640" y="4796028"/>
            <a:ext cx="8321040" cy="182880"/>
          </a:xfrm>
          <a:prstGeom prst="rect">
            <a:avLst/>
          </a:prstGeom>
          <a:noFill/>
          <a:ln/>
        </p:spPr>
        <p:txBody>
          <a:bodyPr wrap="square" rtlCol="0" anchor="ctr"/>
          <a:lstStyle/>
          <a:p>
            <a:pPr indent="0" marL="0">
              <a:buNone/>
            </a:pPr>
            <a:r>
              <a:rPr lang="en-US" sz="750" dirty="0">
                <a:solidFill>
                  <a:srgbClr val="FFFFFF"/>
                </a:solidFill>
                <a:latin typeface="Calibri" pitchFamily="34" charset="0"/>
                <a:ea typeface="Calibri" pitchFamily="34" charset="-122"/>
                <a:cs typeface="Calibri" pitchFamily="34" charset="-120"/>
              </a:rPr>
              <a:t>Sprint 5 Total: 33 Story Points   |   End Gate G3: UAT &amp; Go-Live Sign-Off   |   🚀 App Store + Play Store Live — Week 10</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TEAM STRUCTURE</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Team Structure &amp; RACI</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Shape 3"/>
          <p:cNvSpPr/>
          <p:nvPr/>
        </p:nvSpPr>
        <p:spPr>
          <a:xfrm>
            <a:off x="457200" y="1078992"/>
            <a:ext cx="3017520" cy="274320"/>
          </a:xfrm>
          <a:prstGeom prst="rect">
            <a:avLst/>
          </a:prstGeom>
          <a:solidFill>
            <a:srgbClr val="1B2F6E"/>
          </a:solidFill>
          <a:ln w="12700">
            <a:solidFill>
              <a:srgbClr val="1B2F6E"/>
            </a:solidFill>
            <a:prstDash val="solid"/>
          </a:ln>
        </p:spPr>
      </p:sp>
      <p:sp>
        <p:nvSpPr>
          <p:cNvPr id="6" name="Text 4"/>
          <p:cNvSpPr/>
          <p:nvPr/>
        </p:nvSpPr>
        <p:spPr>
          <a:xfrm>
            <a:off x="502920" y="1106424"/>
            <a:ext cx="2926080" cy="21945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Activity</a:t>
            </a:r>
            <a:endParaRPr lang="en-US" sz="850" dirty="0"/>
          </a:p>
        </p:txBody>
      </p:sp>
      <p:sp>
        <p:nvSpPr>
          <p:cNvPr id="7" name="Shape 5"/>
          <p:cNvSpPr/>
          <p:nvPr/>
        </p:nvSpPr>
        <p:spPr>
          <a:xfrm>
            <a:off x="3474720" y="1078992"/>
            <a:ext cx="658368" cy="274320"/>
          </a:xfrm>
          <a:prstGeom prst="rect">
            <a:avLst/>
          </a:prstGeom>
          <a:solidFill>
            <a:srgbClr val="1B2F6E"/>
          </a:solidFill>
          <a:ln w="12700">
            <a:solidFill>
              <a:srgbClr val="1B2F6E"/>
            </a:solidFill>
            <a:prstDash val="solid"/>
          </a:ln>
        </p:spPr>
      </p:sp>
      <p:sp>
        <p:nvSpPr>
          <p:cNvPr id="8" name="Text 6"/>
          <p:cNvSpPr/>
          <p:nvPr/>
        </p:nvSpPr>
        <p:spPr>
          <a:xfrm>
            <a:off x="3474720" y="1106424"/>
            <a:ext cx="658368" cy="219456"/>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PM</a:t>
            </a:r>
            <a:endParaRPr lang="en-US" sz="750" dirty="0"/>
          </a:p>
        </p:txBody>
      </p:sp>
      <p:sp>
        <p:nvSpPr>
          <p:cNvPr id="9" name="Shape 7"/>
          <p:cNvSpPr/>
          <p:nvPr/>
        </p:nvSpPr>
        <p:spPr>
          <a:xfrm>
            <a:off x="4151376" y="1078992"/>
            <a:ext cx="658368" cy="274320"/>
          </a:xfrm>
          <a:prstGeom prst="rect">
            <a:avLst/>
          </a:prstGeom>
          <a:solidFill>
            <a:srgbClr val="1B2F6E"/>
          </a:solidFill>
          <a:ln w="12700">
            <a:solidFill>
              <a:srgbClr val="1B2F6E"/>
            </a:solidFill>
            <a:prstDash val="solid"/>
          </a:ln>
        </p:spPr>
      </p:sp>
      <p:sp>
        <p:nvSpPr>
          <p:cNvPr id="10" name="Text 8"/>
          <p:cNvSpPr/>
          <p:nvPr/>
        </p:nvSpPr>
        <p:spPr>
          <a:xfrm>
            <a:off x="4151376" y="1106424"/>
            <a:ext cx="658368" cy="219456"/>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ARC</a:t>
            </a:r>
            <a:endParaRPr lang="en-US" sz="750" dirty="0"/>
          </a:p>
        </p:txBody>
      </p:sp>
      <p:sp>
        <p:nvSpPr>
          <p:cNvPr id="11" name="Shape 9"/>
          <p:cNvSpPr/>
          <p:nvPr/>
        </p:nvSpPr>
        <p:spPr>
          <a:xfrm>
            <a:off x="4828032" y="1078992"/>
            <a:ext cx="658368" cy="274320"/>
          </a:xfrm>
          <a:prstGeom prst="rect">
            <a:avLst/>
          </a:prstGeom>
          <a:solidFill>
            <a:srgbClr val="1B2F6E"/>
          </a:solidFill>
          <a:ln w="12700">
            <a:solidFill>
              <a:srgbClr val="1B2F6E"/>
            </a:solidFill>
            <a:prstDash val="solid"/>
          </a:ln>
        </p:spPr>
      </p:sp>
      <p:sp>
        <p:nvSpPr>
          <p:cNvPr id="12" name="Text 10"/>
          <p:cNvSpPr/>
          <p:nvPr/>
        </p:nvSpPr>
        <p:spPr>
          <a:xfrm>
            <a:off x="4828032" y="1106424"/>
            <a:ext cx="658368" cy="219456"/>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DES</a:t>
            </a:r>
            <a:endParaRPr lang="en-US" sz="750" dirty="0"/>
          </a:p>
        </p:txBody>
      </p:sp>
      <p:sp>
        <p:nvSpPr>
          <p:cNvPr id="13" name="Shape 11"/>
          <p:cNvSpPr/>
          <p:nvPr/>
        </p:nvSpPr>
        <p:spPr>
          <a:xfrm>
            <a:off x="5504688" y="1078992"/>
            <a:ext cx="658368" cy="274320"/>
          </a:xfrm>
          <a:prstGeom prst="rect">
            <a:avLst/>
          </a:prstGeom>
          <a:solidFill>
            <a:srgbClr val="1B2F6E"/>
          </a:solidFill>
          <a:ln w="12700">
            <a:solidFill>
              <a:srgbClr val="1B2F6E"/>
            </a:solidFill>
            <a:prstDash val="solid"/>
          </a:ln>
        </p:spPr>
      </p:sp>
      <p:sp>
        <p:nvSpPr>
          <p:cNvPr id="14" name="Text 12"/>
          <p:cNvSpPr/>
          <p:nvPr/>
        </p:nvSpPr>
        <p:spPr>
          <a:xfrm>
            <a:off x="5504688" y="1106424"/>
            <a:ext cx="658368" cy="219456"/>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MOB ×2</a:t>
            </a:r>
            <a:endParaRPr lang="en-US" sz="750" dirty="0"/>
          </a:p>
        </p:txBody>
      </p:sp>
      <p:sp>
        <p:nvSpPr>
          <p:cNvPr id="15" name="Shape 13"/>
          <p:cNvSpPr/>
          <p:nvPr/>
        </p:nvSpPr>
        <p:spPr>
          <a:xfrm>
            <a:off x="6181344" y="1078992"/>
            <a:ext cx="658368" cy="274320"/>
          </a:xfrm>
          <a:prstGeom prst="rect">
            <a:avLst/>
          </a:prstGeom>
          <a:solidFill>
            <a:srgbClr val="1B2F6E"/>
          </a:solidFill>
          <a:ln w="12700">
            <a:solidFill>
              <a:srgbClr val="1B2F6E"/>
            </a:solidFill>
            <a:prstDash val="solid"/>
          </a:ln>
        </p:spPr>
      </p:sp>
      <p:sp>
        <p:nvSpPr>
          <p:cNvPr id="16" name="Text 14"/>
          <p:cNvSpPr/>
          <p:nvPr/>
        </p:nvSpPr>
        <p:spPr>
          <a:xfrm>
            <a:off x="6181344" y="1106424"/>
            <a:ext cx="658368" cy="219456"/>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BAK</a:t>
            </a:r>
            <a:endParaRPr lang="en-US" sz="750" dirty="0"/>
          </a:p>
        </p:txBody>
      </p:sp>
      <p:sp>
        <p:nvSpPr>
          <p:cNvPr id="17" name="Shape 15"/>
          <p:cNvSpPr/>
          <p:nvPr/>
        </p:nvSpPr>
        <p:spPr>
          <a:xfrm>
            <a:off x="6858000" y="1078992"/>
            <a:ext cx="658368" cy="274320"/>
          </a:xfrm>
          <a:prstGeom prst="rect">
            <a:avLst/>
          </a:prstGeom>
          <a:solidFill>
            <a:srgbClr val="1B2F6E"/>
          </a:solidFill>
          <a:ln w="12700">
            <a:solidFill>
              <a:srgbClr val="1B2F6E"/>
            </a:solidFill>
            <a:prstDash val="solid"/>
          </a:ln>
        </p:spPr>
      </p:sp>
      <p:sp>
        <p:nvSpPr>
          <p:cNvPr id="18" name="Text 16"/>
          <p:cNvSpPr/>
          <p:nvPr/>
        </p:nvSpPr>
        <p:spPr>
          <a:xfrm>
            <a:off x="6858000" y="1106424"/>
            <a:ext cx="658368" cy="219456"/>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DEV</a:t>
            </a:r>
            <a:endParaRPr lang="en-US" sz="750" dirty="0"/>
          </a:p>
        </p:txBody>
      </p:sp>
      <p:sp>
        <p:nvSpPr>
          <p:cNvPr id="19" name="Shape 17"/>
          <p:cNvSpPr/>
          <p:nvPr/>
        </p:nvSpPr>
        <p:spPr>
          <a:xfrm>
            <a:off x="7534656" y="1078992"/>
            <a:ext cx="658368" cy="274320"/>
          </a:xfrm>
          <a:prstGeom prst="rect">
            <a:avLst/>
          </a:prstGeom>
          <a:solidFill>
            <a:srgbClr val="1B2F6E"/>
          </a:solidFill>
          <a:ln w="12700">
            <a:solidFill>
              <a:srgbClr val="1B2F6E"/>
            </a:solidFill>
            <a:prstDash val="solid"/>
          </a:ln>
        </p:spPr>
      </p:sp>
      <p:sp>
        <p:nvSpPr>
          <p:cNvPr id="20" name="Text 18"/>
          <p:cNvSpPr/>
          <p:nvPr/>
        </p:nvSpPr>
        <p:spPr>
          <a:xfrm>
            <a:off x="7534656" y="1106424"/>
            <a:ext cx="658368" cy="219456"/>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QA</a:t>
            </a:r>
            <a:endParaRPr lang="en-US" sz="750" dirty="0"/>
          </a:p>
        </p:txBody>
      </p:sp>
      <p:sp>
        <p:nvSpPr>
          <p:cNvPr id="21" name="Shape 19"/>
          <p:cNvSpPr/>
          <p:nvPr/>
        </p:nvSpPr>
        <p:spPr>
          <a:xfrm>
            <a:off x="8211312" y="1078992"/>
            <a:ext cx="658368" cy="274320"/>
          </a:xfrm>
          <a:prstGeom prst="rect">
            <a:avLst/>
          </a:prstGeom>
          <a:solidFill>
            <a:srgbClr val="1B2F6E"/>
          </a:solidFill>
          <a:ln w="12700">
            <a:solidFill>
              <a:srgbClr val="1B2F6E"/>
            </a:solidFill>
            <a:prstDash val="solid"/>
          </a:ln>
        </p:spPr>
      </p:sp>
      <p:sp>
        <p:nvSpPr>
          <p:cNvPr id="22" name="Text 20"/>
          <p:cNvSpPr/>
          <p:nvPr/>
        </p:nvSpPr>
        <p:spPr>
          <a:xfrm>
            <a:off x="8211312" y="1106424"/>
            <a:ext cx="658368" cy="219456"/>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SEC</a:t>
            </a:r>
            <a:endParaRPr lang="en-US" sz="750" dirty="0"/>
          </a:p>
        </p:txBody>
      </p:sp>
      <p:sp>
        <p:nvSpPr>
          <p:cNvPr id="23" name="Shape 21"/>
          <p:cNvSpPr/>
          <p:nvPr/>
        </p:nvSpPr>
        <p:spPr>
          <a:xfrm>
            <a:off x="457200" y="1371600"/>
            <a:ext cx="3017520" cy="338328"/>
          </a:xfrm>
          <a:prstGeom prst="rect">
            <a:avLst/>
          </a:prstGeom>
          <a:solidFill>
            <a:srgbClr val="FFFFFF"/>
          </a:solidFill>
          <a:ln w="5080">
            <a:solidFill>
              <a:srgbClr val="E2E8F0"/>
            </a:solidFill>
            <a:prstDash val="solid"/>
          </a:ln>
        </p:spPr>
      </p:sp>
      <p:sp>
        <p:nvSpPr>
          <p:cNvPr id="24" name="Text 22"/>
          <p:cNvSpPr/>
          <p:nvPr/>
        </p:nvSpPr>
        <p:spPr>
          <a:xfrm>
            <a:off x="502920" y="1417320"/>
            <a:ext cx="2926080" cy="256032"/>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Discovery &amp; Stakeholder Workshops</a:t>
            </a:r>
            <a:endParaRPr lang="en-US" sz="800" dirty="0"/>
          </a:p>
        </p:txBody>
      </p:sp>
      <p:sp>
        <p:nvSpPr>
          <p:cNvPr id="25" name="Shape 23"/>
          <p:cNvSpPr/>
          <p:nvPr/>
        </p:nvSpPr>
        <p:spPr>
          <a:xfrm>
            <a:off x="3474720" y="1371600"/>
            <a:ext cx="658368" cy="338328"/>
          </a:xfrm>
          <a:prstGeom prst="rect">
            <a:avLst/>
          </a:prstGeom>
          <a:solidFill>
            <a:srgbClr val="FFFFFF"/>
          </a:solidFill>
          <a:ln w="3810">
            <a:solidFill>
              <a:srgbClr val="E2E8F0"/>
            </a:solidFill>
            <a:prstDash val="solid"/>
          </a:ln>
        </p:spPr>
      </p:sp>
      <p:sp>
        <p:nvSpPr>
          <p:cNvPr id="26" name="Text 24"/>
          <p:cNvSpPr/>
          <p:nvPr/>
        </p:nvSpPr>
        <p:spPr>
          <a:xfrm>
            <a:off x="3474720" y="1417320"/>
            <a:ext cx="658368" cy="256032"/>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A</a:t>
            </a:r>
            <a:endParaRPr lang="en-US" sz="900" dirty="0"/>
          </a:p>
        </p:txBody>
      </p:sp>
      <p:sp>
        <p:nvSpPr>
          <p:cNvPr id="27" name="Shape 25"/>
          <p:cNvSpPr/>
          <p:nvPr/>
        </p:nvSpPr>
        <p:spPr>
          <a:xfrm>
            <a:off x="4151376" y="1371600"/>
            <a:ext cx="658368" cy="338328"/>
          </a:xfrm>
          <a:prstGeom prst="rect">
            <a:avLst/>
          </a:prstGeom>
          <a:solidFill>
            <a:srgbClr val="FFFFFF"/>
          </a:solidFill>
          <a:ln w="3810">
            <a:solidFill>
              <a:srgbClr val="E2E8F0"/>
            </a:solidFill>
            <a:prstDash val="solid"/>
          </a:ln>
        </p:spPr>
      </p:sp>
      <p:sp>
        <p:nvSpPr>
          <p:cNvPr id="28" name="Text 26"/>
          <p:cNvSpPr/>
          <p:nvPr/>
        </p:nvSpPr>
        <p:spPr>
          <a:xfrm>
            <a:off x="4151376" y="1417320"/>
            <a:ext cx="658368" cy="256032"/>
          </a:xfrm>
          <a:prstGeom prst="rect">
            <a:avLst/>
          </a:prstGeom>
          <a:noFill/>
          <a:ln/>
        </p:spPr>
        <p:txBody>
          <a:bodyPr wrap="square"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R</a:t>
            </a:r>
            <a:endParaRPr lang="en-US" sz="900" dirty="0"/>
          </a:p>
        </p:txBody>
      </p:sp>
      <p:sp>
        <p:nvSpPr>
          <p:cNvPr id="29" name="Shape 27"/>
          <p:cNvSpPr/>
          <p:nvPr/>
        </p:nvSpPr>
        <p:spPr>
          <a:xfrm>
            <a:off x="4828032" y="1371600"/>
            <a:ext cx="658368" cy="338328"/>
          </a:xfrm>
          <a:prstGeom prst="rect">
            <a:avLst/>
          </a:prstGeom>
          <a:solidFill>
            <a:srgbClr val="FFFFFF"/>
          </a:solidFill>
          <a:ln w="3810">
            <a:solidFill>
              <a:srgbClr val="E2E8F0"/>
            </a:solidFill>
            <a:prstDash val="solid"/>
          </a:ln>
        </p:spPr>
      </p:sp>
      <p:sp>
        <p:nvSpPr>
          <p:cNvPr id="30" name="Text 28"/>
          <p:cNvSpPr/>
          <p:nvPr/>
        </p:nvSpPr>
        <p:spPr>
          <a:xfrm>
            <a:off x="4828032" y="1417320"/>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31" name="Shape 29"/>
          <p:cNvSpPr/>
          <p:nvPr/>
        </p:nvSpPr>
        <p:spPr>
          <a:xfrm>
            <a:off x="5504688" y="1371600"/>
            <a:ext cx="658368" cy="338328"/>
          </a:xfrm>
          <a:prstGeom prst="rect">
            <a:avLst/>
          </a:prstGeom>
          <a:solidFill>
            <a:srgbClr val="FFFFFF"/>
          </a:solidFill>
          <a:ln w="3810">
            <a:solidFill>
              <a:srgbClr val="E2E8F0"/>
            </a:solidFill>
            <a:prstDash val="solid"/>
          </a:ln>
        </p:spPr>
      </p:sp>
      <p:sp>
        <p:nvSpPr>
          <p:cNvPr id="32" name="Text 30"/>
          <p:cNvSpPr/>
          <p:nvPr/>
        </p:nvSpPr>
        <p:spPr>
          <a:xfrm>
            <a:off x="5504688" y="1417320"/>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33" name="Shape 31"/>
          <p:cNvSpPr/>
          <p:nvPr/>
        </p:nvSpPr>
        <p:spPr>
          <a:xfrm>
            <a:off x="6181344" y="1371600"/>
            <a:ext cx="658368" cy="338328"/>
          </a:xfrm>
          <a:prstGeom prst="rect">
            <a:avLst/>
          </a:prstGeom>
          <a:solidFill>
            <a:srgbClr val="FFFFFF"/>
          </a:solidFill>
          <a:ln w="3810">
            <a:solidFill>
              <a:srgbClr val="E2E8F0"/>
            </a:solidFill>
            <a:prstDash val="solid"/>
          </a:ln>
        </p:spPr>
      </p:sp>
      <p:sp>
        <p:nvSpPr>
          <p:cNvPr id="34" name="Text 32"/>
          <p:cNvSpPr/>
          <p:nvPr/>
        </p:nvSpPr>
        <p:spPr>
          <a:xfrm>
            <a:off x="6181344" y="1417320"/>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35" name="Shape 33"/>
          <p:cNvSpPr/>
          <p:nvPr/>
        </p:nvSpPr>
        <p:spPr>
          <a:xfrm>
            <a:off x="6858000" y="1371600"/>
            <a:ext cx="658368" cy="338328"/>
          </a:xfrm>
          <a:prstGeom prst="rect">
            <a:avLst/>
          </a:prstGeom>
          <a:solidFill>
            <a:srgbClr val="FFFFFF"/>
          </a:solidFill>
          <a:ln w="3810">
            <a:solidFill>
              <a:srgbClr val="E2E8F0"/>
            </a:solidFill>
            <a:prstDash val="solid"/>
          </a:ln>
        </p:spPr>
      </p:sp>
      <p:sp>
        <p:nvSpPr>
          <p:cNvPr id="36" name="Text 34"/>
          <p:cNvSpPr/>
          <p:nvPr/>
        </p:nvSpPr>
        <p:spPr>
          <a:xfrm>
            <a:off x="6858000" y="1417320"/>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37" name="Shape 35"/>
          <p:cNvSpPr/>
          <p:nvPr/>
        </p:nvSpPr>
        <p:spPr>
          <a:xfrm>
            <a:off x="7534656" y="1371600"/>
            <a:ext cx="658368" cy="338328"/>
          </a:xfrm>
          <a:prstGeom prst="rect">
            <a:avLst/>
          </a:prstGeom>
          <a:solidFill>
            <a:srgbClr val="FFFFFF"/>
          </a:solidFill>
          <a:ln w="3810">
            <a:solidFill>
              <a:srgbClr val="E2E8F0"/>
            </a:solidFill>
            <a:prstDash val="solid"/>
          </a:ln>
        </p:spPr>
      </p:sp>
      <p:sp>
        <p:nvSpPr>
          <p:cNvPr id="38" name="Text 36"/>
          <p:cNvSpPr/>
          <p:nvPr/>
        </p:nvSpPr>
        <p:spPr>
          <a:xfrm>
            <a:off x="7534656" y="1417320"/>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39" name="Shape 37"/>
          <p:cNvSpPr/>
          <p:nvPr/>
        </p:nvSpPr>
        <p:spPr>
          <a:xfrm>
            <a:off x="8211312" y="1371600"/>
            <a:ext cx="658368" cy="338328"/>
          </a:xfrm>
          <a:prstGeom prst="rect">
            <a:avLst/>
          </a:prstGeom>
          <a:solidFill>
            <a:srgbClr val="FFFFFF"/>
          </a:solidFill>
          <a:ln w="3810">
            <a:solidFill>
              <a:srgbClr val="E2E8F0"/>
            </a:solidFill>
            <a:prstDash val="solid"/>
          </a:ln>
        </p:spPr>
      </p:sp>
      <p:sp>
        <p:nvSpPr>
          <p:cNvPr id="40" name="Text 38"/>
          <p:cNvSpPr/>
          <p:nvPr/>
        </p:nvSpPr>
        <p:spPr>
          <a:xfrm>
            <a:off x="8211312" y="1417320"/>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41" name="Shape 39"/>
          <p:cNvSpPr/>
          <p:nvPr/>
        </p:nvSpPr>
        <p:spPr>
          <a:xfrm>
            <a:off x="457200" y="1719072"/>
            <a:ext cx="3017520" cy="338328"/>
          </a:xfrm>
          <a:prstGeom prst="rect">
            <a:avLst/>
          </a:prstGeom>
          <a:solidFill>
            <a:srgbClr val="F8F9FC"/>
          </a:solidFill>
          <a:ln w="5080">
            <a:solidFill>
              <a:srgbClr val="E2E8F0"/>
            </a:solidFill>
            <a:prstDash val="solid"/>
          </a:ln>
        </p:spPr>
      </p:sp>
      <p:sp>
        <p:nvSpPr>
          <p:cNvPr id="42" name="Text 40"/>
          <p:cNvSpPr/>
          <p:nvPr/>
        </p:nvSpPr>
        <p:spPr>
          <a:xfrm>
            <a:off x="502920" y="1764792"/>
            <a:ext cx="2926080" cy="256032"/>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DB Schema + API Contract</a:t>
            </a:r>
            <a:endParaRPr lang="en-US" sz="800" dirty="0"/>
          </a:p>
        </p:txBody>
      </p:sp>
      <p:sp>
        <p:nvSpPr>
          <p:cNvPr id="43" name="Shape 41"/>
          <p:cNvSpPr/>
          <p:nvPr/>
        </p:nvSpPr>
        <p:spPr>
          <a:xfrm>
            <a:off x="3474720" y="1719072"/>
            <a:ext cx="658368" cy="338328"/>
          </a:xfrm>
          <a:prstGeom prst="rect">
            <a:avLst/>
          </a:prstGeom>
          <a:solidFill>
            <a:srgbClr val="F8F9FC"/>
          </a:solidFill>
          <a:ln w="3810">
            <a:solidFill>
              <a:srgbClr val="E2E8F0"/>
            </a:solidFill>
            <a:prstDash val="solid"/>
          </a:ln>
        </p:spPr>
      </p:sp>
      <p:sp>
        <p:nvSpPr>
          <p:cNvPr id="44" name="Text 42"/>
          <p:cNvSpPr/>
          <p:nvPr/>
        </p:nvSpPr>
        <p:spPr>
          <a:xfrm>
            <a:off x="3474720" y="1764792"/>
            <a:ext cx="658368" cy="256032"/>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A</a:t>
            </a:r>
            <a:endParaRPr lang="en-US" sz="900" dirty="0"/>
          </a:p>
        </p:txBody>
      </p:sp>
      <p:sp>
        <p:nvSpPr>
          <p:cNvPr id="45" name="Shape 43"/>
          <p:cNvSpPr/>
          <p:nvPr/>
        </p:nvSpPr>
        <p:spPr>
          <a:xfrm>
            <a:off x="4151376" y="1719072"/>
            <a:ext cx="658368" cy="338328"/>
          </a:xfrm>
          <a:prstGeom prst="rect">
            <a:avLst/>
          </a:prstGeom>
          <a:solidFill>
            <a:srgbClr val="F8F9FC"/>
          </a:solidFill>
          <a:ln w="3810">
            <a:solidFill>
              <a:srgbClr val="E2E8F0"/>
            </a:solidFill>
            <a:prstDash val="solid"/>
          </a:ln>
        </p:spPr>
      </p:sp>
      <p:sp>
        <p:nvSpPr>
          <p:cNvPr id="46" name="Text 44"/>
          <p:cNvSpPr/>
          <p:nvPr/>
        </p:nvSpPr>
        <p:spPr>
          <a:xfrm>
            <a:off x="4151376" y="1764792"/>
            <a:ext cx="658368" cy="256032"/>
          </a:xfrm>
          <a:prstGeom prst="rect">
            <a:avLst/>
          </a:prstGeom>
          <a:noFill/>
          <a:ln/>
        </p:spPr>
        <p:txBody>
          <a:bodyPr wrap="square"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R</a:t>
            </a:r>
            <a:endParaRPr lang="en-US" sz="900" dirty="0"/>
          </a:p>
        </p:txBody>
      </p:sp>
      <p:sp>
        <p:nvSpPr>
          <p:cNvPr id="47" name="Shape 45"/>
          <p:cNvSpPr/>
          <p:nvPr/>
        </p:nvSpPr>
        <p:spPr>
          <a:xfrm>
            <a:off x="4828032" y="1719072"/>
            <a:ext cx="658368" cy="338328"/>
          </a:xfrm>
          <a:prstGeom prst="rect">
            <a:avLst/>
          </a:prstGeom>
          <a:solidFill>
            <a:srgbClr val="F8F9FC"/>
          </a:solidFill>
          <a:ln w="3810">
            <a:solidFill>
              <a:srgbClr val="E2E8F0"/>
            </a:solidFill>
            <a:prstDash val="solid"/>
          </a:ln>
        </p:spPr>
      </p:sp>
      <p:sp>
        <p:nvSpPr>
          <p:cNvPr id="48" name="Text 46"/>
          <p:cNvSpPr/>
          <p:nvPr/>
        </p:nvSpPr>
        <p:spPr>
          <a:xfrm>
            <a:off x="4828032" y="1764792"/>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49" name="Shape 47"/>
          <p:cNvSpPr/>
          <p:nvPr/>
        </p:nvSpPr>
        <p:spPr>
          <a:xfrm>
            <a:off x="5504688" y="1719072"/>
            <a:ext cx="658368" cy="338328"/>
          </a:xfrm>
          <a:prstGeom prst="rect">
            <a:avLst/>
          </a:prstGeom>
          <a:solidFill>
            <a:srgbClr val="F8F9FC"/>
          </a:solidFill>
          <a:ln w="3810">
            <a:solidFill>
              <a:srgbClr val="E2E8F0"/>
            </a:solidFill>
            <a:prstDash val="solid"/>
          </a:ln>
        </p:spPr>
      </p:sp>
      <p:sp>
        <p:nvSpPr>
          <p:cNvPr id="50" name="Text 48"/>
          <p:cNvSpPr/>
          <p:nvPr/>
        </p:nvSpPr>
        <p:spPr>
          <a:xfrm>
            <a:off x="5504688" y="1764792"/>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51" name="Shape 49"/>
          <p:cNvSpPr/>
          <p:nvPr/>
        </p:nvSpPr>
        <p:spPr>
          <a:xfrm>
            <a:off x="6181344" y="1719072"/>
            <a:ext cx="658368" cy="338328"/>
          </a:xfrm>
          <a:prstGeom prst="rect">
            <a:avLst/>
          </a:prstGeom>
          <a:solidFill>
            <a:srgbClr val="F8F9FC"/>
          </a:solidFill>
          <a:ln w="3810">
            <a:solidFill>
              <a:srgbClr val="E2E8F0"/>
            </a:solidFill>
            <a:prstDash val="solid"/>
          </a:ln>
        </p:spPr>
      </p:sp>
      <p:sp>
        <p:nvSpPr>
          <p:cNvPr id="52" name="Text 50"/>
          <p:cNvSpPr/>
          <p:nvPr/>
        </p:nvSpPr>
        <p:spPr>
          <a:xfrm>
            <a:off x="6181344" y="1764792"/>
            <a:ext cx="658368" cy="256032"/>
          </a:xfrm>
          <a:prstGeom prst="rect">
            <a:avLst/>
          </a:prstGeom>
          <a:noFill/>
          <a:ln/>
        </p:spPr>
        <p:txBody>
          <a:bodyPr wrap="square"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R</a:t>
            </a:r>
            <a:endParaRPr lang="en-US" sz="900" dirty="0"/>
          </a:p>
        </p:txBody>
      </p:sp>
      <p:sp>
        <p:nvSpPr>
          <p:cNvPr id="53" name="Shape 51"/>
          <p:cNvSpPr/>
          <p:nvPr/>
        </p:nvSpPr>
        <p:spPr>
          <a:xfrm>
            <a:off x="6858000" y="1719072"/>
            <a:ext cx="658368" cy="338328"/>
          </a:xfrm>
          <a:prstGeom prst="rect">
            <a:avLst/>
          </a:prstGeom>
          <a:solidFill>
            <a:srgbClr val="F8F9FC"/>
          </a:solidFill>
          <a:ln w="3810">
            <a:solidFill>
              <a:srgbClr val="E2E8F0"/>
            </a:solidFill>
            <a:prstDash val="solid"/>
          </a:ln>
        </p:spPr>
      </p:sp>
      <p:sp>
        <p:nvSpPr>
          <p:cNvPr id="54" name="Text 52"/>
          <p:cNvSpPr/>
          <p:nvPr/>
        </p:nvSpPr>
        <p:spPr>
          <a:xfrm>
            <a:off x="6858000" y="1764792"/>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55" name="Shape 53"/>
          <p:cNvSpPr/>
          <p:nvPr/>
        </p:nvSpPr>
        <p:spPr>
          <a:xfrm>
            <a:off x="7534656" y="1719072"/>
            <a:ext cx="658368" cy="338328"/>
          </a:xfrm>
          <a:prstGeom prst="rect">
            <a:avLst/>
          </a:prstGeom>
          <a:solidFill>
            <a:srgbClr val="F8F9FC"/>
          </a:solidFill>
          <a:ln w="3810">
            <a:solidFill>
              <a:srgbClr val="E2E8F0"/>
            </a:solidFill>
            <a:prstDash val="solid"/>
          </a:ln>
        </p:spPr>
      </p:sp>
      <p:sp>
        <p:nvSpPr>
          <p:cNvPr id="56" name="Text 54"/>
          <p:cNvSpPr/>
          <p:nvPr/>
        </p:nvSpPr>
        <p:spPr>
          <a:xfrm>
            <a:off x="7534656" y="1764792"/>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57" name="Shape 55"/>
          <p:cNvSpPr/>
          <p:nvPr/>
        </p:nvSpPr>
        <p:spPr>
          <a:xfrm>
            <a:off x="8211312" y="1719072"/>
            <a:ext cx="658368" cy="338328"/>
          </a:xfrm>
          <a:prstGeom prst="rect">
            <a:avLst/>
          </a:prstGeom>
          <a:solidFill>
            <a:srgbClr val="F8F9FC"/>
          </a:solidFill>
          <a:ln w="3810">
            <a:solidFill>
              <a:srgbClr val="E2E8F0"/>
            </a:solidFill>
            <a:prstDash val="solid"/>
          </a:ln>
        </p:spPr>
      </p:sp>
      <p:sp>
        <p:nvSpPr>
          <p:cNvPr id="58" name="Text 56"/>
          <p:cNvSpPr/>
          <p:nvPr/>
        </p:nvSpPr>
        <p:spPr>
          <a:xfrm>
            <a:off x="8211312" y="1764792"/>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59" name="Shape 57"/>
          <p:cNvSpPr/>
          <p:nvPr/>
        </p:nvSpPr>
        <p:spPr>
          <a:xfrm>
            <a:off x="457200" y="2066544"/>
            <a:ext cx="3017520" cy="338328"/>
          </a:xfrm>
          <a:prstGeom prst="rect">
            <a:avLst/>
          </a:prstGeom>
          <a:solidFill>
            <a:srgbClr val="FFFFFF"/>
          </a:solidFill>
          <a:ln w="5080">
            <a:solidFill>
              <a:srgbClr val="E2E8F0"/>
            </a:solidFill>
            <a:prstDash val="solid"/>
          </a:ln>
        </p:spPr>
      </p:sp>
      <p:sp>
        <p:nvSpPr>
          <p:cNvPr id="60" name="Text 58"/>
          <p:cNvSpPr/>
          <p:nvPr/>
        </p:nvSpPr>
        <p:spPr>
          <a:xfrm>
            <a:off x="502920" y="2112264"/>
            <a:ext cx="2926080" cy="256032"/>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Figma UI/UX Design</a:t>
            </a:r>
            <a:endParaRPr lang="en-US" sz="800" dirty="0"/>
          </a:p>
        </p:txBody>
      </p:sp>
      <p:sp>
        <p:nvSpPr>
          <p:cNvPr id="61" name="Shape 59"/>
          <p:cNvSpPr/>
          <p:nvPr/>
        </p:nvSpPr>
        <p:spPr>
          <a:xfrm>
            <a:off x="3474720" y="2066544"/>
            <a:ext cx="658368" cy="338328"/>
          </a:xfrm>
          <a:prstGeom prst="rect">
            <a:avLst/>
          </a:prstGeom>
          <a:solidFill>
            <a:srgbClr val="FFFFFF"/>
          </a:solidFill>
          <a:ln w="3810">
            <a:solidFill>
              <a:srgbClr val="E2E8F0"/>
            </a:solidFill>
            <a:prstDash val="solid"/>
          </a:ln>
        </p:spPr>
      </p:sp>
      <p:sp>
        <p:nvSpPr>
          <p:cNvPr id="62" name="Text 60"/>
          <p:cNvSpPr/>
          <p:nvPr/>
        </p:nvSpPr>
        <p:spPr>
          <a:xfrm>
            <a:off x="3474720" y="2112264"/>
            <a:ext cx="658368" cy="256032"/>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A</a:t>
            </a:r>
            <a:endParaRPr lang="en-US" sz="900" dirty="0"/>
          </a:p>
        </p:txBody>
      </p:sp>
      <p:sp>
        <p:nvSpPr>
          <p:cNvPr id="63" name="Shape 61"/>
          <p:cNvSpPr/>
          <p:nvPr/>
        </p:nvSpPr>
        <p:spPr>
          <a:xfrm>
            <a:off x="4151376" y="2066544"/>
            <a:ext cx="658368" cy="338328"/>
          </a:xfrm>
          <a:prstGeom prst="rect">
            <a:avLst/>
          </a:prstGeom>
          <a:solidFill>
            <a:srgbClr val="FFFFFF"/>
          </a:solidFill>
          <a:ln w="3810">
            <a:solidFill>
              <a:srgbClr val="E2E8F0"/>
            </a:solidFill>
            <a:prstDash val="solid"/>
          </a:ln>
        </p:spPr>
      </p:sp>
      <p:sp>
        <p:nvSpPr>
          <p:cNvPr id="64" name="Text 62"/>
          <p:cNvSpPr/>
          <p:nvPr/>
        </p:nvSpPr>
        <p:spPr>
          <a:xfrm>
            <a:off x="4151376" y="2112264"/>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65" name="Shape 63"/>
          <p:cNvSpPr/>
          <p:nvPr/>
        </p:nvSpPr>
        <p:spPr>
          <a:xfrm>
            <a:off x="4828032" y="2066544"/>
            <a:ext cx="658368" cy="338328"/>
          </a:xfrm>
          <a:prstGeom prst="rect">
            <a:avLst/>
          </a:prstGeom>
          <a:solidFill>
            <a:srgbClr val="FFFFFF"/>
          </a:solidFill>
          <a:ln w="3810">
            <a:solidFill>
              <a:srgbClr val="E2E8F0"/>
            </a:solidFill>
            <a:prstDash val="solid"/>
          </a:ln>
        </p:spPr>
      </p:sp>
      <p:sp>
        <p:nvSpPr>
          <p:cNvPr id="66" name="Text 64"/>
          <p:cNvSpPr/>
          <p:nvPr/>
        </p:nvSpPr>
        <p:spPr>
          <a:xfrm>
            <a:off x="4828032" y="2112264"/>
            <a:ext cx="658368" cy="256032"/>
          </a:xfrm>
          <a:prstGeom prst="rect">
            <a:avLst/>
          </a:prstGeom>
          <a:noFill/>
          <a:ln/>
        </p:spPr>
        <p:txBody>
          <a:bodyPr wrap="square"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R</a:t>
            </a:r>
            <a:endParaRPr lang="en-US" sz="900" dirty="0"/>
          </a:p>
        </p:txBody>
      </p:sp>
      <p:sp>
        <p:nvSpPr>
          <p:cNvPr id="67" name="Shape 65"/>
          <p:cNvSpPr/>
          <p:nvPr/>
        </p:nvSpPr>
        <p:spPr>
          <a:xfrm>
            <a:off x="5504688" y="2066544"/>
            <a:ext cx="658368" cy="338328"/>
          </a:xfrm>
          <a:prstGeom prst="rect">
            <a:avLst/>
          </a:prstGeom>
          <a:solidFill>
            <a:srgbClr val="FFFFFF"/>
          </a:solidFill>
          <a:ln w="3810">
            <a:solidFill>
              <a:srgbClr val="E2E8F0"/>
            </a:solidFill>
            <a:prstDash val="solid"/>
          </a:ln>
        </p:spPr>
      </p:sp>
      <p:sp>
        <p:nvSpPr>
          <p:cNvPr id="68" name="Text 66"/>
          <p:cNvSpPr/>
          <p:nvPr/>
        </p:nvSpPr>
        <p:spPr>
          <a:xfrm>
            <a:off x="5504688" y="2112264"/>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69" name="Shape 67"/>
          <p:cNvSpPr/>
          <p:nvPr/>
        </p:nvSpPr>
        <p:spPr>
          <a:xfrm>
            <a:off x="6181344" y="2066544"/>
            <a:ext cx="658368" cy="338328"/>
          </a:xfrm>
          <a:prstGeom prst="rect">
            <a:avLst/>
          </a:prstGeom>
          <a:solidFill>
            <a:srgbClr val="FFFFFF"/>
          </a:solidFill>
          <a:ln w="3810">
            <a:solidFill>
              <a:srgbClr val="E2E8F0"/>
            </a:solidFill>
            <a:prstDash val="solid"/>
          </a:ln>
        </p:spPr>
      </p:sp>
      <p:sp>
        <p:nvSpPr>
          <p:cNvPr id="70" name="Text 68"/>
          <p:cNvSpPr/>
          <p:nvPr/>
        </p:nvSpPr>
        <p:spPr>
          <a:xfrm>
            <a:off x="6181344" y="2112264"/>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71" name="Shape 69"/>
          <p:cNvSpPr/>
          <p:nvPr/>
        </p:nvSpPr>
        <p:spPr>
          <a:xfrm>
            <a:off x="6858000" y="2066544"/>
            <a:ext cx="658368" cy="338328"/>
          </a:xfrm>
          <a:prstGeom prst="rect">
            <a:avLst/>
          </a:prstGeom>
          <a:solidFill>
            <a:srgbClr val="FFFFFF"/>
          </a:solidFill>
          <a:ln w="3810">
            <a:solidFill>
              <a:srgbClr val="E2E8F0"/>
            </a:solidFill>
            <a:prstDash val="solid"/>
          </a:ln>
        </p:spPr>
      </p:sp>
      <p:sp>
        <p:nvSpPr>
          <p:cNvPr id="72" name="Text 70"/>
          <p:cNvSpPr/>
          <p:nvPr/>
        </p:nvSpPr>
        <p:spPr>
          <a:xfrm>
            <a:off x="6858000" y="2112264"/>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73" name="Shape 71"/>
          <p:cNvSpPr/>
          <p:nvPr/>
        </p:nvSpPr>
        <p:spPr>
          <a:xfrm>
            <a:off x="7534656" y="2066544"/>
            <a:ext cx="658368" cy="338328"/>
          </a:xfrm>
          <a:prstGeom prst="rect">
            <a:avLst/>
          </a:prstGeom>
          <a:solidFill>
            <a:srgbClr val="FFFFFF"/>
          </a:solidFill>
          <a:ln w="3810">
            <a:solidFill>
              <a:srgbClr val="E2E8F0"/>
            </a:solidFill>
            <a:prstDash val="solid"/>
          </a:ln>
        </p:spPr>
      </p:sp>
      <p:sp>
        <p:nvSpPr>
          <p:cNvPr id="74" name="Text 72"/>
          <p:cNvSpPr/>
          <p:nvPr/>
        </p:nvSpPr>
        <p:spPr>
          <a:xfrm>
            <a:off x="7534656" y="2112264"/>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75" name="Shape 73"/>
          <p:cNvSpPr/>
          <p:nvPr/>
        </p:nvSpPr>
        <p:spPr>
          <a:xfrm>
            <a:off x="8211312" y="2066544"/>
            <a:ext cx="658368" cy="338328"/>
          </a:xfrm>
          <a:prstGeom prst="rect">
            <a:avLst/>
          </a:prstGeom>
          <a:solidFill>
            <a:srgbClr val="FFFFFF"/>
          </a:solidFill>
          <a:ln w="3810">
            <a:solidFill>
              <a:srgbClr val="E2E8F0"/>
            </a:solidFill>
            <a:prstDash val="solid"/>
          </a:ln>
        </p:spPr>
      </p:sp>
      <p:sp>
        <p:nvSpPr>
          <p:cNvPr id="76" name="Text 74"/>
          <p:cNvSpPr/>
          <p:nvPr/>
        </p:nvSpPr>
        <p:spPr>
          <a:xfrm>
            <a:off x="8211312" y="2112264"/>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77" name="Shape 75"/>
          <p:cNvSpPr/>
          <p:nvPr/>
        </p:nvSpPr>
        <p:spPr>
          <a:xfrm>
            <a:off x="457200" y="2414016"/>
            <a:ext cx="3017520" cy="338328"/>
          </a:xfrm>
          <a:prstGeom prst="rect">
            <a:avLst/>
          </a:prstGeom>
          <a:solidFill>
            <a:srgbClr val="F8F9FC"/>
          </a:solidFill>
          <a:ln w="5080">
            <a:solidFill>
              <a:srgbClr val="E2E8F0"/>
            </a:solidFill>
            <a:prstDash val="solid"/>
          </a:ln>
        </p:spPr>
      </p:sp>
      <p:sp>
        <p:nvSpPr>
          <p:cNvPr id="78" name="Text 76"/>
          <p:cNvSpPr/>
          <p:nvPr/>
        </p:nvSpPr>
        <p:spPr>
          <a:xfrm>
            <a:off x="502920" y="2459736"/>
            <a:ext cx="2926080" cy="256032"/>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CI/CD + AWS Infrastructure</a:t>
            </a:r>
            <a:endParaRPr lang="en-US" sz="800" dirty="0"/>
          </a:p>
        </p:txBody>
      </p:sp>
      <p:sp>
        <p:nvSpPr>
          <p:cNvPr id="79" name="Shape 77"/>
          <p:cNvSpPr/>
          <p:nvPr/>
        </p:nvSpPr>
        <p:spPr>
          <a:xfrm>
            <a:off x="3474720" y="2414016"/>
            <a:ext cx="658368" cy="338328"/>
          </a:xfrm>
          <a:prstGeom prst="rect">
            <a:avLst/>
          </a:prstGeom>
          <a:solidFill>
            <a:srgbClr val="F8F9FC"/>
          </a:solidFill>
          <a:ln w="3810">
            <a:solidFill>
              <a:srgbClr val="E2E8F0"/>
            </a:solidFill>
            <a:prstDash val="solid"/>
          </a:ln>
        </p:spPr>
      </p:sp>
      <p:sp>
        <p:nvSpPr>
          <p:cNvPr id="80" name="Text 78"/>
          <p:cNvSpPr/>
          <p:nvPr/>
        </p:nvSpPr>
        <p:spPr>
          <a:xfrm>
            <a:off x="3474720" y="2459736"/>
            <a:ext cx="658368" cy="256032"/>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A</a:t>
            </a:r>
            <a:endParaRPr lang="en-US" sz="900" dirty="0"/>
          </a:p>
        </p:txBody>
      </p:sp>
      <p:sp>
        <p:nvSpPr>
          <p:cNvPr id="81" name="Shape 79"/>
          <p:cNvSpPr/>
          <p:nvPr/>
        </p:nvSpPr>
        <p:spPr>
          <a:xfrm>
            <a:off x="4151376" y="2414016"/>
            <a:ext cx="658368" cy="338328"/>
          </a:xfrm>
          <a:prstGeom prst="rect">
            <a:avLst/>
          </a:prstGeom>
          <a:solidFill>
            <a:srgbClr val="F8F9FC"/>
          </a:solidFill>
          <a:ln w="3810">
            <a:solidFill>
              <a:srgbClr val="E2E8F0"/>
            </a:solidFill>
            <a:prstDash val="solid"/>
          </a:ln>
        </p:spPr>
      </p:sp>
      <p:sp>
        <p:nvSpPr>
          <p:cNvPr id="82" name="Text 80"/>
          <p:cNvSpPr/>
          <p:nvPr/>
        </p:nvSpPr>
        <p:spPr>
          <a:xfrm>
            <a:off x="4151376" y="2459736"/>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83" name="Shape 81"/>
          <p:cNvSpPr/>
          <p:nvPr/>
        </p:nvSpPr>
        <p:spPr>
          <a:xfrm>
            <a:off x="4828032" y="2414016"/>
            <a:ext cx="658368" cy="338328"/>
          </a:xfrm>
          <a:prstGeom prst="rect">
            <a:avLst/>
          </a:prstGeom>
          <a:solidFill>
            <a:srgbClr val="F8F9FC"/>
          </a:solidFill>
          <a:ln w="3810">
            <a:solidFill>
              <a:srgbClr val="E2E8F0"/>
            </a:solidFill>
            <a:prstDash val="solid"/>
          </a:ln>
        </p:spPr>
      </p:sp>
      <p:sp>
        <p:nvSpPr>
          <p:cNvPr id="84" name="Text 82"/>
          <p:cNvSpPr/>
          <p:nvPr/>
        </p:nvSpPr>
        <p:spPr>
          <a:xfrm>
            <a:off x="4828032" y="2459736"/>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85" name="Shape 83"/>
          <p:cNvSpPr/>
          <p:nvPr/>
        </p:nvSpPr>
        <p:spPr>
          <a:xfrm>
            <a:off x="5504688" y="2414016"/>
            <a:ext cx="658368" cy="338328"/>
          </a:xfrm>
          <a:prstGeom prst="rect">
            <a:avLst/>
          </a:prstGeom>
          <a:solidFill>
            <a:srgbClr val="F8F9FC"/>
          </a:solidFill>
          <a:ln w="3810">
            <a:solidFill>
              <a:srgbClr val="E2E8F0"/>
            </a:solidFill>
            <a:prstDash val="solid"/>
          </a:ln>
        </p:spPr>
      </p:sp>
      <p:sp>
        <p:nvSpPr>
          <p:cNvPr id="86" name="Text 84"/>
          <p:cNvSpPr/>
          <p:nvPr/>
        </p:nvSpPr>
        <p:spPr>
          <a:xfrm>
            <a:off x="5504688" y="2459736"/>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87" name="Shape 85"/>
          <p:cNvSpPr/>
          <p:nvPr/>
        </p:nvSpPr>
        <p:spPr>
          <a:xfrm>
            <a:off x="6181344" y="2414016"/>
            <a:ext cx="658368" cy="338328"/>
          </a:xfrm>
          <a:prstGeom prst="rect">
            <a:avLst/>
          </a:prstGeom>
          <a:solidFill>
            <a:srgbClr val="F8F9FC"/>
          </a:solidFill>
          <a:ln w="3810">
            <a:solidFill>
              <a:srgbClr val="E2E8F0"/>
            </a:solidFill>
            <a:prstDash val="solid"/>
          </a:ln>
        </p:spPr>
      </p:sp>
      <p:sp>
        <p:nvSpPr>
          <p:cNvPr id="88" name="Text 86"/>
          <p:cNvSpPr/>
          <p:nvPr/>
        </p:nvSpPr>
        <p:spPr>
          <a:xfrm>
            <a:off x="6181344" y="2459736"/>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89" name="Shape 87"/>
          <p:cNvSpPr/>
          <p:nvPr/>
        </p:nvSpPr>
        <p:spPr>
          <a:xfrm>
            <a:off x="6858000" y="2414016"/>
            <a:ext cx="658368" cy="338328"/>
          </a:xfrm>
          <a:prstGeom prst="rect">
            <a:avLst/>
          </a:prstGeom>
          <a:solidFill>
            <a:srgbClr val="F8F9FC"/>
          </a:solidFill>
          <a:ln w="3810">
            <a:solidFill>
              <a:srgbClr val="E2E8F0"/>
            </a:solidFill>
            <a:prstDash val="solid"/>
          </a:ln>
        </p:spPr>
      </p:sp>
      <p:sp>
        <p:nvSpPr>
          <p:cNvPr id="90" name="Text 88"/>
          <p:cNvSpPr/>
          <p:nvPr/>
        </p:nvSpPr>
        <p:spPr>
          <a:xfrm>
            <a:off x="6858000" y="2459736"/>
            <a:ext cx="658368" cy="256032"/>
          </a:xfrm>
          <a:prstGeom prst="rect">
            <a:avLst/>
          </a:prstGeom>
          <a:noFill/>
          <a:ln/>
        </p:spPr>
        <p:txBody>
          <a:bodyPr wrap="square"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R</a:t>
            </a:r>
            <a:endParaRPr lang="en-US" sz="900" dirty="0"/>
          </a:p>
        </p:txBody>
      </p:sp>
      <p:sp>
        <p:nvSpPr>
          <p:cNvPr id="91" name="Shape 89"/>
          <p:cNvSpPr/>
          <p:nvPr/>
        </p:nvSpPr>
        <p:spPr>
          <a:xfrm>
            <a:off x="7534656" y="2414016"/>
            <a:ext cx="658368" cy="338328"/>
          </a:xfrm>
          <a:prstGeom prst="rect">
            <a:avLst/>
          </a:prstGeom>
          <a:solidFill>
            <a:srgbClr val="F8F9FC"/>
          </a:solidFill>
          <a:ln w="3810">
            <a:solidFill>
              <a:srgbClr val="E2E8F0"/>
            </a:solidFill>
            <a:prstDash val="solid"/>
          </a:ln>
        </p:spPr>
      </p:sp>
      <p:sp>
        <p:nvSpPr>
          <p:cNvPr id="92" name="Text 90"/>
          <p:cNvSpPr/>
          <p:nvPr/>
        </p:nvSpPr>
        <p:spPr>
          <a:xfrm>
            <a:off x="7534656" y="2459736"/>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93" name="Shape 91"/>
          <p:cNvSpPr/>
          <p:nvPr/>
        </p:nvSpPr>
        <p:spPr>
          <a:xfrm>
            <a:off x="8211312" y="2414016"/>
            <a:ext cx="658368" cy="338328"/>
          </a:xfrm>
          <a:prstGeom prst="rect">
            <a:avLst/>
          </a:prstGeom>
          <a:solidFill>
            <a:srgbClr val="F8F9FC"/>
          </a:solidFill>
          <a:ln w="3810">
            <a:solidFill>
              <a:srgbClr val="E2E8F0"/>
            </a:solidFill>
            <a:prstDash val="solid"/>
          </a:ln>
        </p:spPr>
      </p:sp>
      <p:sp>
        <p:nvSpPr>
          <p:cNvPr id="94" name="Text 92"/>
          <p:cNvSpPr/>
          <p:nvPr/>
        </p:nvSpPr>
        <p:spPr>
          <a:xfrm>
            <a:off x="8211312" y="2459736"/>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95" name="Shape 93"/>
          <p:cNvSpPr/>
          <p:nvPr/>
        </p:nvSpPr>
        <p:spPr>
          <a:xfrm>
            <a:off x="457200" y="2761488"/>
            <a:ext cx="3017520" cy="338328"/>
          </a:xfrm>
          <a:prstGeom prst="rect">
            <a:avLst/>
          </a:prstGeom>
          <a:solidFill>
            <a:srgbClr val="FFFFFF"/>
          </a:solidFill>
          <a:ln w="5080">
            <a:solidFill>
              <a:srgbClr val="E2E8F0"/>
            </a:solidFill>
            <a:prstDash val="solid"/>
          </a:ln>
        </p:spPr>
      </p:sp>
      <p:sp>
        <p:nvSpPr>
          <p:cNvPr id="96" name="Text 94"/>
          <p:cNvSpPr/>
          <p:nvPr/>
        </p:nvSpPr>
        <p:spPr>
          <a:xfrm>
            <a:off x="502920" y="2807208"/>
            <a:ext cx="2926080" cy="256032"/>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React + Ionic Mobile Development</a:t>
            </a:r>
            <a:endParaRPr lang="en-US" sz="800" dirty="0"/>
          </a:p>
        </p:txBody>
      </p:sp>
      <p:sp>
        <p:nvSpPr>
          <p:cNvPr id="97" name="Shape 95"/>
          <p:cNvSpPr/>
          <p:nvPr/>
        </p:nvSpPr>
        <p:spPr>
          <a:xfrm>
            <a:off x="3474720" y="2761488"/>
            <a:ext cx="658368" cy="338328"/>
          </a:xfrm>
          <a:prstGeom prst="rect">
            <a:avLst/>
          </a:prstGeom>
          <a:solidFill>
            <a:srgbClr val="FFFFFF"/>
          </a:solidFill>
          <a:ln w="3810">
            <a:solidFill>
              <a:srgbClr val="E2E8F0"/>
            </a:solidFill>
            <a:prstDash val="solid"/>
          </a:ln>
        </p:spPr>
      </p:sp>
      <p:sp>
        <p:nvSpPr>
          <p:cNvPr id="98" name="Text 96"/>
          <p:cNvSpPr/>
          <p:nvPr/>
        </p:nvSpPr>
        <p:spPr>
          <a:xfrm>
            <a:off x="3474720" y="2807208"/>
            <a:ext cx="658368" cy="256032"/>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A</a:t>
            </a:r>
            <a:endParaRPr lang="en-US" sz="900" dirty="0"/>
          </a:p>
        </p:txBody>
      </p:sp>
      <p:sp>
        <p:nvSpPr>
          <p:cNvPr id="99" name="Shape 97"/>
          <p:cNvSpPr/>
          <p:nvPr/>
        </p:nvSpPr>
        <p:spPr>
          <a:xfrm>
            <a:off x="4151376" y="2761488"/>
            <a:ext cx="658368" cy="338328"/>
          </a:xfrm>
          <a:prstGeom prst="rect">
            <a:avLst/>
          </a:prstGeom>
          <a:solidFill>
            <a:srgbClr val="FFFFFF"/>
          </a:solidFill>
          <a:ln w="3810">
            <a:solidFill>
              <a:srgbClr val="E2E8F0"/>
            </a:solidFill>
            <a:prstDash val="solid"/>
          </a:ln>
        </p:spPr>
      </p:sp>
      <p:sp>
        <p:nvSpPr>
          <p:cNvPr id="100" name="Text 98"/>
          <p:cNvSpPr/>
          <p:nvPr/>
        </p:nvSpPr>
        <p:spPr>
          <a:xfrm>
            <a:off x="4151376" y="2807208"/>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01" name="Shape 99"/>
          <p:cNvSpPr/>
          <p:nvPr/>
        </p:nvSpPr>
        <p:spPr>
          <a:xfrm>
            <a:off x="4828032" y="2761488"/>
            <a:ext cx="658368" cy="338328"/>
          </a:xfrm>
          <a:prstGeom prst="rect">
            <a:avLst/>
          </a:prstGeom>
          <a:solidFill>
            <a:srgbClr val="FFFFFF"/>
          </a:solidFill>
          <a:ln w="3810">
            <a:solidFill>
              <a:srgbClr val="E2E8F0"/>
            </a:solidFill>
            <a:prstDash val="solid"/>
          </a:ln>
        </p:spPr>
      </p:sp>
      <p:sp>
        <p:nvSpPr>
          <p:cNvPr id="102" name="Text 100"/>
          <p:cNvSpPr/>
          <p:nvPr/>
        </p:nvSpPr>
        <p:spPr>
          <a:xfrm>
            <a:off x="4828032" y="2807208"/>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03" name="Shape 101"/>
          <p:cNvSpPr/>
          <p:nvPr/>
        </p:nvSpPr>
        <p:spPr>
          <a:xfrm>
            <a:off x="5504688" y="2761488"/>
            <a:ext cx="658368" cy="338328"/>
          </a:xfrm>
          <a:prstGeom prst="rect">
            <a:avLst/>
          </a:prstGeom>
          <a:solidFill>
            <a:srgbClr val="FFFFFF"/>
          </a:solidFill>
          <a:ln w="3810">
            <a:solidFill>
              <a:srgbClr val="E2E8F0"/>
            </a:solidFill>
            <a:prstDash val="solid"/>
          </a:ln>
        </p:spPr>
      </p:sp>
      <p:sp>
        <p:nvSpPr>
          <p:cNvPr id="104" name="Text 102"/>
          <p:cNvSpPr/>
          <p:nvPr/>
        </p:nvSpPr>
        <p:spPr>
          <a:xfrm>
            <a:off x="5504688" y="2807208"/>
            <a:ext cx="658368" cy="256032"/>
          </a:xfrm>
          <a:prstGeom prst="rect">
            <a:avLst/>
          </a:prstGeom>
          <a:noFill/>
          <a:ln/>
        </p:spPr>
        <p:txBody>
          <a:bodyPr wrap="square"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R</a:t>
            </a:r>
            <a:endParaRPr lang="en-US" sz="900" dirty="0"/>
          </a:p>
        </p:txBody>
      </p:sp>
      <p:sp>
        <p:nvSpPr>
          <p:cNvPr id="105" name="Shape 103"/>
          <p:cNvSpPr/>
          <p:nvPr/>
        </p:nvSpPr>
        <p:spPr>
          <a:xfrm>
            <a:off x="6181344" y="2761488"/>
            <a:ext cx="658368" cy="338328"/>
          </a:xfrm>
          <a:prstGeom prst="rect">
            <a:avLst/>
          </a:prstGeom>
          <a:solidFill>
            <a:srgbClr val="FFFFFF"/>
          </a:solidFill>
          <a:ln w="3810">
            <a:solidFill>
              <a:srgbClr val="E2E8F0"/>
            </a:solidFill>
            <a:prstDash val="solid"/>
          </a:ln>
        </p:spPr>
      </p:sp>
      <p:sp>
        <p:nvSpPr>
          <p:cNvPr id="106" name="Text 104"/>
          <p:cNvSpPr/>
          <p:nvPr/>
        </p:nvSpPr>
        <p:spPr>
          <a:xfrm>
            <a:off x="6181344" y="2807208"/>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07" name="Shape 105"/>
          <p:cNvSpPr/>
          <p:nvPr/>
        </p:nvSpPr>
        <p:spPr>
          <a:xfrm>
            <a:off x="6858000" y="2761488"/>
            <a:ext cx="658368" cy="338328"/>
          </a:xfrm>
          <a:prstGeom prst="rect">
            <a:avLst/>
          </a:prstGeom>
          <a:solidFill>
            <a:srgbClr val="FFFFFF"/>
          </a:solidFill>
          <a:ln w="3810">
            <a:solidFill>
              <a:srgbClr val="E2E8F0"/>
            </a:solidFill>
            <a:prstDash val="solid"/>
          </a:ln>
        </p:spPr>
      </p:sp>
      <p:sp>
        <p:nvSpPr>
          <p:cNvPr id="108" name="Text 106"/>
          <p:cNvSpPr/>
          <p:nvPr/>
        </p:nvSpPr>
        <p:spPr>
          <a:xfrm>
            <a:off x="6858000" y="2807208"/>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09" name="Shape 107"/>
          <p:cNvSpPr/>
          <p:nvPr/>
        </p:nvSpPr>
        <p:spPr>
          <a:xfrm>
            <a:off x="7534656" y="2761488"/>
            <a:ext cx="658368" cy="338328"/>
          </a:xfrm>
          <a:prstGeom prst="rect">
            <a:avLst/>
          </a:prstGeom>
          <a:solidFill>
            <a:srgbClr val="FFFFFF"/>
          </a:solidFill>
          <a:ln w="3810">
            <a:solidFill>
              <a:srgbClr val="E2E8F0"/>
            </a:solidFill>
            <a:prstDash val="solid"/>
          </a:ln>
        </p:spPr>
      </p:sp>
      <p:sp>
        <p:nvSpPr>
          <p:cNvPr id="110" name="Text 108"/>
          <p:cNvSpPr/>
          <p:nvPr/>
        </p:nvSpPr>
        <p:spPr>
          <a:xfrm>
            <a:off x="7534656" y="2807208"/>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11" name="Shape 109"/>
          <p:cNvSpPr/>
          <p:nvPr/>
        </p:nvSpPr>
        <p:spPr>
          <a:xfrm>
            <a:off x="8211312" y="2761488"/>
            <a:ext cx="658368" cy="338328"/>
          </a:xfrm>
          <a:prstGeom prst="rect">
            <a:avLst/>
          </a:prstGeom>
          <a:solidFill>
            <a:srgbClr val="FFFFFF"/>
          </a:solidFill>
          <a:ln w="3810">
            <a:solidFill>
              <a:srgbClr val="E2E8F0"/>
            </a:solidFill>
            <a:prstDash val="solid"/>
          </a:ln>
        </p:spPr>
      </p:sp>
      <p:sp>
        <p:nvSpPr>
          <p:cNvPr id="112" name="Text 110"/>
          <p:cNvSpPr/>
          <p:nvPr/>
        </p:nvSpPr>
        <p:spPr>
          <a:xfrm>
            <a:off x="8211312" y="2807208"/>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13" name="Shape 111"/>
          <p:cNvSpPr/>
          <p:nvPr/>
        </p:nvSpPr>
        <p:spPr>
          <a:xfrm>
            <a:off x="457200" y="3108960"/>
            <a:ext cx="3017520" cy="338328"/>
          </a:xfrm>
          <a:prstGeom prst="rect">
            <a:avLst/>
          </a:prstGeom>
          <a:solidFill>
            <a:srgbClr val="F8F9FC"/>
          </a:solidFill>
          <a:ln w="5080">
            <a:solidFill>
              <a:srgbClr val="E2E8F0"/>
            </a:solidFill>
            <a:prstDash val="solid"/>
          </a:ln>
        </p:spPr>
      </p:sp>
      <p:sp>
        <p:nvSpPr>
          <p:cNvPr id="114" name="Text 112"/>
          <p:cNvSpPr/>
          <p:nvPr/>
        </p:nvSpPr>
        <p:spPr>
          <a:xfrm>
            <a:off x="502920" y="3154680"/>
            <a:ext cx="2926080" cy="256032"/>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ASP.NET Core .NET 8 Backend APIs</a:t>
            </a:r>
            <a:endParaRPr lang="en-US" sz="800" dirty="0"/>
          </a:p>
        </p:txBody>
      </p:sp>
      <p:sp>
        <p:nvSpPr>
          <p:cNvPr id="115" name="Shape 113"/>
          <p:cNvSpPr/>
          <p:nvPr/>
        </p:nvSpPr>
        <p:spPr>
          <a:xfrm>
            <a:off x="3474720" y="3108960"/>
            <a:ext cx="658368" cy="338328"/>
          </a:xfrm>
          <a:prstGeom prst="rect">
            <a:avLst/>
          </a:prstGeom>
          <a:solidFill>
            <a:srgbClr val="F8F9FC"/>
          </a:solidFill>
          <a:ln w="3810">
            <a:solidFill>
              <a:srgbClr val="E2E8F0"/>
            </a:solidFill>
            <a:prstDash val="solid"/>
          </a:ln>
        </p:spPr>
      </p:sp>
      <p:sp>
        <p:nvSpPr>
          <p:cNvPr id="116" name="Text 114"/>
          <p:cNvSpPr/>
          <p:nvPr/>
        </p:nvSpPr>
        <p:spPr>
          <a:xfrm>
            <a:off x="3474720" y="3154680"/>
            <a:ext cx="658368" cy="256032"/>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A</a:t>
            </a:r>
            <a:endParaRPr lang="en-US" sz="900" dirty="0"/>
          </a:p>
        </p:txBody>
      </p:sp>
      <p:sp>
        <p:nvSpPr>
          <p:cNvPr id="117" name="Shape 115"/>
          <p:cNvSpPr/>
          <p:nvPr/>
        </p:nvSpPr>
        <p:spPr>
          <a:xfrm>
            <a:off x="4151376" y="3108960"/>
            <a:ext cx="658368" cy="338328"/>
          </a:xfrm>
          <a:prstGeom prst="rect">
            <a:avLst/>
          </a:prstGeom>
          <a:solidFill>
            <a:srgbClr val="F8F9FC"/>
          </a:solidFill>
          <a:ln w="3810">
            <a:solidFill>
              <a:srgbClr val="E2E8F0"/>
            </a:solidFill>
            <a:prstDash val="solid"/>
          </a:ln>
        </p:spPr>
      </p:sp>
      <p:sp>
        <p:nvSpPr>
          <p:cNvPr id="118" name="Text 116"/>
          <p:cNvSpPr/>
          <p:nvPr/>
        </p:nvSpPr>
        <p:spPr>
          <a:xfrm>
            <a:off x="4151376" y="3154680"/>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19" name="Shape 117"/>
          <p:cNvSpPr/>
          <p:nvPr/>
        </p:nvSpPr>
        <p:spPr>
          <a:xfrm>
            <a:off x="4828032" y="3108960"/>
            <a:ext cx="658368" cy="338328"/>
          </a:xfrm>
          <a:prstGeom prst="rect">
            <a:avLst/>
          </a:prstGeom>
          <a:solidFill>
            <a:srgbClr val="F8F9FC"/>
          </a:solidFill>
          <a:ln w="3810">
            <a:solidFill>
              <a:srgbClr val="E2E8F0"/>
            </a:solidFill>
            <a:prstDash val="solid"/>
          </a:ln>
        </p:spPr>
      </p:sp>
      <p:sp>
        <p:nvSpPr>
          <p:cNvPr id="120" name="Text 118"/>
          <p:cNvSpPr/>
          <p:nvPr/>
        </p:nvSpPr>
        <p:spPr>
          <a:xfrm>
            <a:off x="4828032" y="3154680"/>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21" name="Shape 119"/>
          <p:cNvSpPr/>
          <p:nvPr/>
        </p:nvSpPr>
        <p:spPr>
          <a:xfrm>
            <a:off x="5504688" y="3108960"/>
            <a:ext cx="658368" cy="338328"/>
          </a:xfrm>
          <a:prstGeom prst="rect">
            <a:avLst/>
          </a:prstGeom>
          <a:solidFill>
            <a:srgbClr val="F8F9FC"/>
          </a:solidFill>
          <a:ln w="3810">
            <a:solidFill>
              <a:srgbClr val="E2E8F0"/>
            </a:solidFill>
            <a:prstDash val="solid"/>
          </a:ln>
        </p:spPr>
      </p:sp>
      <p:sp>
        <p:nvSpPr>
          <p:cNvPr id="122" name="Text 120"/>
          <p:cNvSpPr/>
          <p:nvPr/>
        </p:nvSpPr>
        <p:spPr>
          <a:xfrm>
            <a:off x="5504688" y="3154680"/>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23" name="Shape 121"/>
          <p:cNvSpPr/>
          <p:nvPr/>
        </p:nvSpPr>
        <p:spPr>
          <a:xfrm>
            <a:off x="6181344" y="3108960"/>
            <a:ext cx="658368" cy="338328"/>
          </a:xfrm>
          <a:prstGeom prst="rect">
            <a:avLst/>
          </a:prstGeom>
          <a:solidFill>
            <a:srgbClr val="F8F9FC"/>
          </a:solidFill>
          <a:ln w="3810">
            <a:solidFill>
              <a:srgbClr val="E2E8F0"/>
            </a:solidFill>
            <a:prstDash val="solid"/>
          </a:ln>
        </p:spPr>
      </p:sp>
      <p:sp>
        <p:nvSpPr>
          <p:cNvPr id="124" name="Text 122"/>
          <p:cNvSpPr/>
          <p:nvPr/>
        </p:nvSpPr>
        <p:spPr>
          <a:xfrm>
            <a:off x="6181344" y="3154680"/>
            <a:ext cx="658368" cy="256032"/>
          </a:xfrm>
          <a:prstGeom prst="rect">
            <a:avLst/>
          </a:prstGeom>
          <a:noFill/>
          <a:ln/>
        </p:spPr>
        <p:txBody>
          <a:bodyPr wrap="square"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R</a:t>
            </a:r>
            <a:endParaRPr lang="en-US" sz="900" dirty="0"/>
          </a:p>
        </p:txBody>
      </p:sp>
      <p:sp>
        <p:nvSpPr>
          <p:cNvPr id="125" name="Shape 123"/>
          <p:cNvSpPr/>
          <p:nvPr/>
        </p:nvSpPr>
        <p:spPr>
          <a:xfrm>
            <a:off x="6858000" y="3108960"/>
            <a:ext cx="658368" cy="338328"/>
          </a:xfrm>
          <a:prstGeom prst="rect">
            <a:avLst/>
          </a:prstGeom>
          <a:solidFill>
            <a:srgbClr val="F8F9FC"/>
          </a:solidFill>
          <a:ln w="3810">
            <a:solidFill>
              <a:srgbClr val="E2E8F0"/>
            </a:solidFill>
            <a:prstDash val="solid"/>
          </a:ln>
        </p:spPr>
      </p:sp>
      <p:sp>
        <p:nvSpPr>
          <p:cNvPr id="126" name="Text 124"/>
          <p:cNvSpPr/>
          <p:nvPr/>
        </p:nvSpPr>
        <p:spPr>
          <a:xfrm>
            <a:off x="6858000" y="3154680"/>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27" name="Shape 125"/>
          <p:cNvSpPr/>
          <p:nvPr/>
        </p:nvSpPr>
        <p:spPr>
          <a:xfrm>
            <a:off x="7534656" y="3108960"/>
            <a:ext cx="658368" cy="338328"/>
          </a:xfrm>
          <a:prstGeom prst="rect">
            <a:avLst/>
          </a:prstGeom>
          <a:solidFill>
            <a:srgbClr val="F8F9FC"/>
          </a:solidFill>
          <a:ln w="3810">
            <a:solidFill>
              <a:srgbClr val="E2E8F0"/>
            </a:solidFill>
            <a:prstDash val="solid"/>
          </a:ln>
        </p:spPr>
      </p:sp>
      <p:sp>
        <p:nvSpPr>
          <p:cNvPr id="128" name="Text 126"/>
          <p:cNvSpPr/>
          <p:nvPr/>
        </p:nvSpPr>
        <p:spPr>
          <a:xfrm>
            <a:off x="7534656" y="3154680"/>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29" name="Shape 127"/>
          <p:cNvSpPr/>
          <p:nvPr/>
        </p:nvSpPr>
        <p:spPr>
          <a:xfrm>
            <a:off x="8211312" y="3108960"/>
            <a:ext cx="658368" cy="338328"/>
          </a:xfrm>
          <a:prstGeom prst="rect">
            <a:avLst/>
          </a:prstGeom>
          <a:solidFill>
            <a:srgbClr val="F8F9FC"/>
          </a:solidFill>
          <a:ln w="3810">
            <a:solidFill>
              <a:srgbClr val="E2E8F0"/>
            </a:solidFill>
            <a:prstDash val="solid"/>
          </a:ln>
        </p:spPr>
      </p:sp>
      <p:sp>
        <p:nvSpPr>
          <p:cNvPr id="130" name="Text 128"/>
          <p:cNvSpPr/>
          <p:nvPr/>
        </p:nvSpPr>
        <p:spPr>
          <a:xfrm>
            <a:off x="8211312" y="3154680"/>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31" name="Shape 129"/>
          <p:cNvSpPr/>
          <p:nvPr/>
        </p:nvSpPr>
        <p:spPr>
          <a:xfrm>
            <a:off x="457200" y="3456432"/>
            <a:ext cx="3017520" cy="338328"/>
          </a:xfrm>
          <a:prstGeom prst="rect">
            <a:avLst/>
          </a:prstGeom>
          <a:solidFill>
            <a:srgbClr val="FFFFFF"/>
          </a:solidFill>
          <a:ln w="5080">
            <a:solidFill>
              <a:srgbClr val="E2E8F0"/>
            </a:solidFill>
            <a:prstDash val="solid"/>
          </a:ln>
        </p:spPr>
      </p:sp>
      <p:sp>
        <p:nvSpPr>
          <p:cNvPr id="132" name="Text 130"/>
          <p:cNvSpPr/>
          <p:nvPr/>
        </p:nvSpPr>
        <p:spPr>
          <a:xfrm>
            <a:off x="502920" y="3502152"/>
            <a:ext cx="2926080" cy="256032"/>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xUnit + Playwright + Appium QA</a:t>
            </a:r>
            <a:endParaRPr lang="en-US" sz="800" dirty="0"/>
          </a:p>
        </p:txBody>
      </p:sp>
      <p:sp>
        <p:nvSpPr>
          <p:cNvPr id="133" name="Shape 131"/>
          <p:cNvSpPr/>
          <p:nvPr/>
        </p:nvSpPr>
        <p:spPr>
          <a:xfrm>
            <a:off x="3474720" y="3456432"/>
            <a:ext cx="658368" cy="338328"/>
          </a:xfrm>
          <a:prstGeom prst="rect">
            <a:avLst/>
          </a:prstGeom>
          <a:solidFill>
            <a:srgbClr val="FFFFFF"/>
          </a:solidFill>
          <a:ln w="3810">
            <a:solidFill>
              <a:srgbClr val="E2E8F0"/>
            </a:solidFill>
            <a:prstDash val="solid"/>
          </a:ln>
        </p:spPr>
      </p:sp>
      <p:sp>
        <p:nvSpPr>
          <p:cNvPr id="134" name="Text 132"/>
          <p:cNvSpPr/>
          <p:nvPr/>
        </p:nvSpPr>
        <p:spPr>
          <a:xfrm>
            <a:off x="3474720" y="3502152"/>
            <a:ext cx="658368" cy="256032"/>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A</a:t>
            </a:r>
            <a:endParaRPr lang="en-US" sz="900" dirty="0"/>
          </a:p>
        </p:txBody>
      </p:sp>
      <p:sp>
        <p:nvSpPr>
          <p:cNvPr id="135" name="Shape 133"/>
          <p:cNvSpPr/>
          <p:nvPr/>
        </p:nvSpPr>
        <p:spPr>
          <a:xfrm>
            <a:off x="4151376" y="3456432"/>
            <a:ext cx="658368" cy="338328"/>
          </a:xfrm>
          <a:prstGeom prst="rect">
            <a:avLst/>
          </a:prstGeom>
          <a:solidFill>
            <a:srgbClr val="FFFFFF"/>
          </a:solidFill>
          <a:ln w="3810">
            <a:solidFill>
              <a:srgbClr val="E2E8F0"/>
            </a:solidFill>
            <a:prstDash val="solid"/>
          </a:ln>
        </p:spPr>
      </p:sp>
      <p:sp>
        <p:nvSpPr>
          <p:cNvPr id="136" name="Text 134"/>
          <p:cNvSpPr/>
          <p:nvPr/>
        </p:nvSpPr>
        <p:spPr>
          <a:xfrm>
            <a:off x="4151376" y="3502152"/>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37" name="Shape 135"/>
          <p:cNvSpPr/>
          <p:nvPr/>
        </p:nvSpPr>
        <p:spPr>
          <a:xfrm>
            <a:off x="4828032" y="3456432"/>
            <a:ext cx="658368" cy="338328"/>
          </a:xfrm>
          <a:prstGeom prst="rect">
            <a:avLst/>
          </a:prstGeom>
          <a:solidFill>
            <a:srgbClr val="FFFFFF"/>
          </a:solidFill>
          <a:ln w="3810">
            <a:solidFill>
              <a:srgbClr val="E2E8F0"/>
            </a:solidFill>
            <a:prstDash val="solid"/>
          </a:ln>
        </p:spPr>
      </p:sp>
      <p:sp>
        <p:nvSpPr>
          <p:cNvPr id="138" name="Text 136"/>
          <p:cNvSpPr/>
          <p:nvPr/>
        </p:nvSpPr>
        <p:spPr>
          <a:xfrm>
            <a:off x="4828032" y="3502152"/>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39" name="Shape 137"/>
          <p:cNvSpPr/>
          <p:nvPr/>
        </p:nvSpPr>
        <p:spPr>
          <a:xfrm>
            <a:off x="5504688" y="3456432"/>
            <a:ext cx="658368" cy="338328"/>
          </a:xfrm>
          <a:prstGeom prst="rect">
            <a:avLst/>
          </a:prstGeom>
          <a:solidFill>
            <a:srgbClr val="FFFFFF"/>
          </a:solidFill>
          <a:ln w="3810">
            <a:solidFill>
              <a:srgbClr val="E2E8F0"/>
            </a:solidFill>
            <a:prstDash val="solid"/>
          </a:ln>
        </p:spPr>
      </p:sp>
      <p:sp>
        <p:nvSpPr>
          <p:cNvPr id="140" name="Text 138"/>
          <p:cNvSpPr/>
          <p:nvPr/>
        </p:nvSpPr>
        <p:spPr>
          <a:xfrm>
            <a:off x="5504688" y="3502152"/>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41" name="Shape 139"/>
          <p:cNvSpPr/>
          <p:nvPr/>
        </p:nvSpPr>
        <p:spPr>
          <a:xfrm>
            <a:off x="6181344" y="3456432"/>
            <a:ext cx="658368" cy="338328"/>
          </a:xfrm>
          <a:prstGeom prst="rect">
            <a:avLst/>
          </a:prstGeom>
          <a:solidFill>
            <a:srgbClr val="FFFFFF"/>
          </a:solidFill>
          <a:ln w="3810">
            <a:solidFill>
              <a:srgbClr val="E2E8F0"/>
            </a:solidFill>
            <a:prstDash val="solid"/>
          </a:ln>
        </p:spPr>
      </p:sp>
      <p:sp>
        <p:nvSpPr>
          <p:cNvPr id="142" name="Text 140"/>
          <p:cNvSpPr/>
          <p:nvPr/>
        </p:nvSpPr>
        <p:spPr>
          <a:xfrm>
            <a:off x="6181344" y="3502152"/>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43" name="Shape 141"/>
          <p:cNvSpPr/>
          <p:nvPr/>
        </p:nvSpPr>
        <p:spPr>
          <a:xfrm>
            <a:off x="6858000" y="3456432"/>
            <a:ext cx="658368" cy="338328"/>
          </a:xfrm>
          <a:prstGeom prst="rect">
            <a:avLst/>
          </a:prstGeom>
          <a:solidFill>
            <a:srgbClr val="FFFFFF"/>
          </a:solidFill>
          <a:ln w="3810">
            <a:solidFill>
              <a:srgbClr val="E2E8F0"/>
            </a:solidFill>
            <a:prstDash val="solid"/>
          </a:ln>
        </p:spPr>
      </p:sp>
      <p:sp>
        <p:nvSpPr>
          <p:cNvPr id="144" name="Text 142"/>
          <p:cNvSpPr/>
          <p:nvPr/>
        </p:nvSpPr>
        <p:spPr>
          <a:xfrm>
            <a:off x="6858000" y="3502152"/>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45" name="Shape 143"/>
          <p:cNvSpPr/>
          <p:nvPr/>
        </p:nvSpPr>
        <p:spPr>
          <a:xfrm>
            <a:off x="7534656" y="3456432"/>
            <a:ext cx="658368" cy="338328"/>
          </a:xfrm>
          <a:prstGeom prst="rect">
            <a:avLst/>
          </a:prstGeom>
          <a:solidFill>
            <a:srgbClr val="FFFFFF"/>
          </a:solidFill>
          <a:ln w="3810">
            <a:solidFill>
              <a:srgbClr val="E2E8F0"/>
            </a:solidFill>
            <a:prstDash val="solid"/>
          </a:ln>
        </p:spPr>
      </p:sp>
      <p:sp>
        <p:nvSpPr>
          <p:cNvPr id="146" name="Text 144"/>
          <p:cNvSpPr/>
          <p:nvPr/>
        </p:nvSpPr>
        <p:spPr>
          <a:xfrm>
            <a:off x="7534656" y="3502152"/>
            <a:ext cx="658368" cy="256032"/>
          </a:xfrm>
          <a:prstGeom prst="rect">
            <a:avLst/>
          </a:prstGeom>
          <a:noFill/>
          <a:ln/>
        </p:spPr>
        <p:txBody>
          <a:bodyPr wrap="square"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R</a:t>
            </a:r>
            <a:endParaRPr lang="en-US" sz="900" dirty="0"/>
          </a:p>
        </p:txBody>
      </p:sp>
      <p:sp>
        <p:nvSpPr>
          <p:cNvPr id="147" name="Shape 145"/>
          <p:cNvSpPr/>
          <p:nvPr/>
        </p:nvSpPr>
        <p:spPr>
          <a:xfrm>
            <a:off x="8211312" y="3456432"/>
            <a:ext cx="658368" cy="338328"/>
          </a:xfrm>
          <a:prstGeom prst="rect">
            <a:avLst/>
          </a:prstGeom>
          <a:solidFill>
            <a:srgbClr val="FFFFFF"/>
          </a:solidFill>
          <a:ln w="3810">
            <a:solidFill>
              <a:srgbClr val="E2E8F0"/>
            </a:solidFill>
            <a:prstDash val="solid"/>
          </a:ln>
        </p:spPr>
      </p:sp>
      <p:sp>
        <p:nvSpPr>
          <p:cNvPr id="148" name="Text 146"/>
          <p:cNvSpPr/>
          <p:nvPr/>
        </p:nvSpPr>
        <p:spPr>
          <a:xfrm>
            <a:off x="8211312" y="3502152"/>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49" name="Shape 147"/>
          <p:cNvSpPr/>
          <p:nvPr/>
        </p:nvSpPr>
        <p:spPr>
          <a:xfrm>
            <a:off x="457200" y="3803904"/>
            <a:ext cx="3017520" cy="338328"/>
          </a:xfrm>
          <a:prstGeom prst="rect">
            <a:avLst/>
          </a:prstGeom>
          <a:solidFill>
            <a:srgbClr val="F8F9FC"/>
          </a:solidFill>
          <a:ln w="5080">
            <a:solidFill>
              <a:srgbClr val="E2E8F0"/>
            </a:solidFill>
            <a:prstDash val="solid"/>
          </a:ln>
        </p:spPr>
      </p:sp>
      <p:sp>
        <p:nvSpPr>
          <p:cNvPr id="150" name="Text 148"/>
          <p:cNvSpPr/>
          <p:nvPr/>
        </p:nvSpPr>
        <p:spPr>
          <a:xfrm>
            <a:off x="502920" y="3849624"/>
            <a:ext cx="2926080" cy="256032"/>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OWASP Security Audit</a:t>
            </a:r>
            <a:endParaRPr lang="en-US" sz="800" dirty="0"/>
          </a:p>
        </p:txBody>
      </p:sp>
      <p:sp>
        <p:nvSpPr>
          <p:cNvPr id="151" name="Shape 149"/>
          <p:cNvSpPr/>
          <p:nvPr/>
        </p:nvSpPr>
        <p:spPr>
          <a:xfrm>
            <a:off x="3474720" y="3803904"/>
            <a:ext cx="658368" cy="338328"/>
          </a:xfrm>
          <a:prstGeom prst="rect">
            <a:avLst/>
          </a:prstGeom>
          <a:solidFill>
            <a:srgbClr val="F8F9FC"/>
          </a:solidFill>
          <a:ln w="3810">
            <a:solidFill>
              <a:srgbClr val="E2E8F0"/>
            </a:solidFill>
            <a:prstDash val="solid"/>
          </a:ln>
        </p:spPr>
      </p:sp>
      <p:sp>
        <p:nvSpPr>
          <p:cNvPr id="152" name="Text 150"/>
          <p:cNvSpPr/>
          <p:nvPr/>
        </p:nvSpPr>
        <p:spPr>
          <a:xfrm>
            <a:off x="3474720" y="3849624"/>
            <a:ext cx="658368" cy="256032"/>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A</a:t>
            </a:r>
            <a:endParaRPr lang="en-US" sz="900" dirty="0"/>
          </a:p>
        </p:txBody>
      </p:sp>
      <p:sp>
        <p:nvSpPr>
          <p:cNvPr id="153" name="Shape 151"/>
          <p:cNvSpPr/>
          <p:nvPr/>
        </p:nvSpPr>
        <p:spPr>
          <a:xfrm>
            <a:off x="4151376" y="3803904"/>
            <a:ext cx="658368" cy="338328"/>
          </a:xfrm>
          <a:prstGeom prst="rect">
            <a:avLst/>
          </a:prstGeom>
          <a:solidFill>
            <a:srgbClr val="F8F9FC"/>
          </a:solidFill>
          <a:ln w="3810">
            <a:solidFill>
              <a:srgbClr val="E2E8F0"/>
            </a:solidFill>
            <a:prstDash val="solid"/>
          </a:ln>
        </p:spPr>
      </p:sp>
      <p:sp>
        <p:nvSpPr>
          <p:cNvPr id="154" name="Text 152"/>
          <p:cNvSpPr/>
          <p:nvPr/>
        </p:nvSpPr>
        <p:spPr>
          <a:xfrm>
            <a:off x="4151376" y="3849624"/>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55" name="Shape 153"/>
          <p:cNvSpPr/>
          <p:nvPr/>
        </p:nvSpPr>
        <p:spPr>
          <a:xfrm>
            <a:off x="4828032" y="3803904"/>
            <a:ext cx="658368" cy="338328"/>
          </a:xfrm>
          <a:prstGeom prst="rect">
            <a:avLst/>
          </a:prstGeom>
          <a:solidFill>
            <a:srgbClr val="F8F9FC"/>
          </a:solidFill>
          <a:ln w="3810">
            <a:solidFill>
              <a:srgbClr val="E2E8F0"/>
            </a:solidFill>
            <a:prstDash val="solid"/>
          </a:ln>
        </p:spPr>
      </p:sp>
      <p:sp>
        <p:nvSpPr>
          <p:cNvPr id="156" name="Text 154"/>
          <p:cNvSpPr/>
          <p:nvPr/>
        </p:nvSpPr>
        <p:spPr>
          <a:xfrm>
            <a:off x="4828032" y="3849624"/>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57" name="Shape 155"/>
          <p:cNvSpPr/>
          <p:nvPr/>
        </p:nvSpPr>
        <p:spPr>
          <a:xfrm>
            <a:off x="5504688" y="3803904"/>
            <a:ext cx="658368" cy="338328"/>
          </a:xfrm>
          <a:prstGeom prst="rect">
            <a:avLst/>
          </a:prstGeom>
          <a:solidFill>
            <a:srgbClr val="F8F9FC"/>
          </a:solidFill>
          <a:ln w="3810">
            <a:solidFill>
              <a:srgbClr val="E2E8F0"/>
            </a:solidFill>
            <a:prstDash val="solid"/>
          </a:ln>
        </p:spPr>
      </p:sp>
      <p:sp>
        <p:nvSpPr>
          <p:cNvPr id="158" name="Text 156"/>
          <p:cNvSpPr/>
          <p:nvPr/>
        </p:nvSpPr>
        <p:spPr>
          <a:xfrm>
            <a:off x="5504688" y="3849624"/>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59" name="Shape 157"/>
          <p:cNvSpPr/>
          <p:nvPr/>
        </p:nvSpPr>
        <p:spPr>
          <a:xfrm>
            <a:off x="6181344" y="3803904"/>
            <a:ext cx="658368" cy="338328"/>
          </a:xfrm>
          <a:prstGeom prst="rect">
            <a:avLst/>
          </a:prstGeom>
          <a:solidFill>
            <a:srgbClr val="F8F9FC"/>
          </a:solidFill>
          <a:ln w="3810">
            <a:solidFill>
              <a:srgbClr val="E2E8F0"/>
            </a:solidFill>
            <a:prstDash val="solid"/>
          </a:ln>
        </p:spPr>
      </p:sp>
      <p:sp>
        <p:nvSpPr>
          <p:cNvPr id="160" name="Text 158"/>
          <p:cNvSpPr/>
          <p:nvPr/>
        </p:nvSpPr>
        <p:spPr>
          <a:xfrm>
            <a:off x="6181344" y="3849624"/>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61" name="Shape 159"/>
          <p:cNvSpPr/>
          <p:nvPr/>
        </p:nvSpPr>
        <p:spPr>
          <a:xfrm>
            <a:off x="6858000" y="3803904"/>
            <a:ext cx="658368" cy="338328"/>
          </a:xfrm>
          <a:prstGeom prst="rect">
            <a:avLst/>
          </a:prstGeom>
          <a:solidFill>
            <a:srgbClr val="F8F9FC"/>
          </a:solidFill>
          <a:ln w="3810">
            <a:solidFill>
              <a:srgbClr val="E2E8F0"/>
            </a:solidFill>
            <a:prstDash val="solid"/>
          </a:ln>
        </p:spPr>
      </p:sp>
      <p:sp>
        <p:nvSpPr>
          <p:cNvPr id="162" name="Text 160"/>
          <p:cNvSpPr/>
          <p:nvPr/>
        </p:nvSpPr>
        <p:spPr>
          <a:xfrm>
            <a:off x="6858000" y="3849624"/>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63" name="Shape 161"/>
          <p:cNvSpPr/>
          <p:nvPr/>
        </p:nvSpPr>
        <p:spPr>
          <a:xfrm>
            <a:off x="7534656" y="3803904"/>
            <a:ext cx="658368" cy="338328"/>
          </a:xfrm>
          <a:prstGeom prst="rect">
            <a:avLst/>
          </a:prstGeom>
          <a:solidFill>
            <a:srgbClr val="F8F9FC"/>
          </a:solidFill>
          <a:ln w="3810">
            <a:solidFill>
              <a:srgbClr val="E2E8F0"/>
            </a:solidFill>
            <a:prstDash val="solid"/>
          </a:ln>
        </p:spPr>
      </p:sp>
      <p:sp>
        <p:nvSpPr>
          <p:cNvPr id="164" name="Text 162"/>
          <p:cNvSpPr/>
          <p:nvPr/>
        </p:nvSpPr>
        <p:spPr>
          <a:xfrm>
            <a:off x="7534656" y="3849624"/>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65" name="Shape 163"/>
          <p:cNvSpPr/>
          <p:nvPr/>
        </p:nvSpPr>
        <p:spPr>
          <a:xfrm>
            <a:off x="8211312" y="3803904"/>
            <a:ext cx="658368" cy="338328"/>
          </a:xfrm>
          <a:prstGeom prst="rect">
            <a:avLst/>
          </a:prstGeom>
          <a:solidFill>
            <a:srgbClr val="F8F9FC"/>
          </a:solidFill>
          <a:ln w="3810">
            <a:solidFill>
              <a:srgbClr val="E2E8F0"/>
            </a:solidFill>
            <a:prstDash val="solid"/>
          </a:ln>
        </p:spPr>
      </p:sp>
      <p:sp>
        <p:nvSpPr>
          <p:cNvPr id="166" name="Text 164"/>
          <p:cNvSpPr/>
          <p:nvPr/>
        </p:nvSpPr>
        <p:spPr>
          <a:xfrm>
            <a:off x="8211312" y="3849624"/>
            <a:ext cx="658368" cy="256032"/>
          </a:xfrm>
          <a:prstGeom prst="rect">
            <a:avLst/>
          </a:prstGeom>
          <a:noFill/>
          <a:ln/>
        </p:spPr>
        <p:txBody>
          <a:bodyPr wrap="square"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R</a:t>
            </a:r>
            <a:endParaRPr lang="en-US" sz="900" dirty="0"/>
          </a:p>
        </p:txBody>
      </p:sp>
      <p:sp>
        <p:nvSpPr>
          <p:cNvPr id="167" name="Shape 165"/>
          <p:cNvSpPr/>
          <p:nvPr/>
        </p:nvSpPr>
        <p:spPr>
          <a:xfrm>
            <a:off x="457200" y="4151376"/>
            <a:ext cx="3017520" cy="338328"/>
          </a:xfrm>
          <a:prstGeom prst="rect">
            <a:avLst/>
          </a:prstGeom>
          <a:solidFill>
            <a:srgbClr val="FFFFFF"/>
          </a:solidFill>
          <a:ln w="5080">
            <a:solidFill>
              <a:srgbClr val="E2E8F0"/>
            </a:solidFill>
            <a:prstDash val="solid"/>
          </a:ln>
        </p:spPr>
      </p:sp>
      <p:sp>
        <p:nvSpPr>
          <p:cNvPr id="168" name="Text 166"/>
          <p:cNvSpPr/>
          <p:nvPr/>
        </p:nvSpPr>
        <p:spPr>
          <a:xfrm>
            <a:off x="502920" y="4197096"/>
            <a:ext cx="2926080" cy="256032"/>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App Store / Play Store Submission</a:t>
            </a:r>
            <a:endParaRPr lang="en-US" sz="800" dirty="0"/>
          </a:p>
        </p:txBody>
      </p:sp>
      <p:sp>
        <p:nvSpPr>
          <p:cNvPr id="169" name="Shape 167"/>
          <p:cNvSpPr/>
          <p:nvPr/>
        </p:nvSpPr>
        <p:spPr>
          <a:xfrm>
            <a:off x="3474720" y="4151376"/>
            <a:ext cx="658368" cy="338328"/>
          </a:xfrm>
          <a:prstGeom prst="rect">
            <a:avLst/>
          </a:prstGeom>
          <a:solidFill>
            <a:srgbClr val="FFFFFF"/>
          </a:solidFill>
          <a:ln w="3810">
            <a:solidFill>
              <a:srgbClr val="E2E8F0"/>
            </a:solidFill>
            <a:prstDash val="solid"/>
          </a:ln>
        </p:spPr>
      </p:sp>
      <p:sp>
        <p:nvSpPr>
          <p:cNvPr id="170" name="Text 168"/>
          <p:cNvSpPr/>
          <p:nvPr/>
        </p:nvSpPr>
        <p:spPr>
          <a:xfrm>
            <a:off x="3474720" y="4197096"/>
            <a:ext cx="658368" cy="256032"/>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A</a:t>
            </a:r>
            <a:endParaRPr lang="en-US" sz="900" dirty="0"/>
          </a:p>
        </p:txBody>
      </p:sp>
      <p:sp>
        <p:nvSpPr>
          <p:cNvPr id="171" name="Shape 169"/>
          <p:cNvSpPr/>
          <p:nvPr/>
        </p:nvSpPr>
        <p:spPr>
          <a:xfrm>
            <a:off x="4151376" y="4151376"/>
            <a:ext cx="658368" cy="338328"/>
          </a:xfrm>
          <a:prstGeom prst="rect">
            <a:avLst/>
          </a:prstGeom>
          <a:solidFill>
            <a:srgbClr val="FFFFFF"/>
          </a:solidFill>
          <a:ln w="3810">
            <a:solidFill>
              <a:srgbClr val="E2E8F0"/>
            </a:solidFill>
            <a:prstDash val="solid"/>
          </a:ln>
        </p:spPr>
      </p:sp>
      <p:sp>
        <p:nvSpPr>
          <p:cNvPr id="172" name="Text 170"/>
          <p:cNvSpPr/>
          <p:nvPr/>
        </p:nvSpPr>
        <p:spPr>
          <a:xfrm>
            <a:off x="4151376" y="4197096"/>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73" name="Shape 171"/>
          <p:cNvSpPr/>
          <p:nvPr/>
        </p:nvSpPr>
        <p:spPr>
          <a:xfrm>
            <a:off x="4828032" y="4151376"/>
            <a:ext cx="658368" cy="338328"/>
          </a:xfrm>
          <a:prstGeom prst="rect">
            <a:avLst/>
          </a:prstGeom>
          <a:solidFill>
            <a:srgbClr val="FFFFFF"/>
          </a:solidFill>
          <a:ln w="3810">
            <a:solidFill>
              <a:srgbClr val="E2E8F0"/>
            </a:solidFill>
            <a:prstDash val="solid"/>
          </a:ln>
        </p:spPr>
      </p:sp>
      <p:sp>
        <p:nvSpPr>
          <p:cNvPr id="174" name="Text 172"/>
          <p:cNvSpPr/>
          <p:nvPr/>
        </p:nvSpPr>
        <p:spPr>
          <a:xfrm>
            <a:off x="4828032" y="4197096"/>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75" name="Shape 173"/>
          <p:cNvSpPr/>
          <p:nvPr/>
        </p:nvSpPr>
        <p:spPr>
          <a:xfrm>
            <a:off x="5504688" y="4151376"/>
            <a:ext cx="658368" cy="338328"/>
          </a:xfrm>
          <a:prstGeom prst="rect">
            <a:avLst/>
          </a:prstGeom>
          <a:solidFill>
            <a:srgbClr val="FFFFFF"/>
          </a:solidFill>
          <a:ln w="3810">
            <a:solidFill>
              <a:srgbClr val="E2E8F0"/>
            </a:solidFill>
            <a:prstDash val="solid"/>
          </a:ln>
        </p:spPr>
      </p:sp>
      <p:sp>
        <p:nvSpPr>
          <p:cNvPr id="176" name="Text 174"/>
          <p:cNvSpPr/>
          <p:nvPr/>
        </p:nvSpPr>
        <p:spPr>
          <a:xfrm>
            <a:off x="5504688" y="4197096"/>
            <a:ext cx="658368" cy="256032"/>
          </a:xfrm>
          <a:prstGeom prst="rect">
            <a:avLst/>
          </a:prstGeom>
          <a:noFill/>
          <a:ln/>
        </p:spPr>
        <p:txBody>
          <a:bodyPr wrap="square"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R</a:t>
            </a:r>
            <a:endParaRPr lang="en-US" sz="900" dirty="0"/>
          </a:p>
        </p:txBody>
      </p:sp>
      <p:sp>
        <p:nvSpPr>
          <p:cNvPr id="177" name="Shape 175"/>
          <p:cNvSpPr/>
          <p:nvPr/>
        </p:nvSpPr>
        <p:spPr>
          <a:xfrm>
            <a:off x="6181344" y="4151376"/>
            <a:ext cx="658368" cy="338328"/>
          </a:xfrm>
          <a:prstGeom prst="rect">
            <a:avLst/>
          </a:prstGeom>
          <a:solidFill>
            <a:srgbClr val="FFFFFF"/>
          </a:solidFill>
          <a:ln w="3810">
            <a:solidFill>
              <a:srgbClr val="E2E8F0"/>
            </a:solidFill>
            <a:prstDash val="solid"/>
          </a:ln>
        </p:spPr>
      </p:sp>
      <p:sp>
        <p:nvSpPr>
          <p:cNvPr id="178" name="Text 176"/>
          <p:cNvSpPr/>
          <p:nvPr/>
        </p:nvSpPr>
        <p:spPr>
          <a:xfrm>
            <a:off x="6181344" y="4197096"/>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79" name="Shape 177"/>
          <p:cNvSpPr/>
          <p:nvPr/>
        </p:nvSpPr>
        <p:spPr>
          <a:xfrm>
            <a:off x="6858000" y="4151376"/>
            <a:ext cx="658368" cy="338328"/>
          </a:xfrm>
          <a:prstGeom prst="rect">
            <a:avLst/>
          </a:prstGeom>
          <a:solidFill>
            <a:srgbClr val="FFFFFF"/>
          </a:solidFill>
          <a:ln w="3810">
            <a:solidFill>
              <a:srgbClr val="E2E8F0"/>
            </a:solidFill>
            <a:prstDash val="solid"/>
          </a:ln>
        </p:spPr>
      </p:sp>
      <p:sp>
        <p:nvSpPr>
          <p:cNvPr id="180" name="Text 178"/>
          <p:cNvSpPr/>
          <p:nvPr/>
        </p:nvSpPr>
        <p:spPr>
          <a:xfrm>
            <a:off x="6858000" y="4197096"/>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81" name="Shape 179"/>
          <p:cNvSpPr/>
          <p:nvPr/>
        </p:nvSpPr>
        <p:spPr>
          <a:xfrm>
            <a:off x="7534656" y="4151376"/>
            <a:ext cx="658368" cy="338328"/>
          </a:xfrm>
          <a:prstGeom prst="rect">
            <a:avLst/>
          </a:prstGeom>
          <a:solidFill>
            <a:srgbClr val="FFFFFF"/>
          </a:solidFill>
          <a:ln w="3810">
            <a:solidFill>
              <a:srgbClr val="E2E8F0"/>
            </a:solidFill>
            <a:prstDash val="solid"/>
          </a:ln>
        </p:spPr>
      </p:sp>
      <p:sp>
        <p:nvSpPr>
          <p:cNvPr id="182" name="Text 180"/>
          <p:cNvSpPr/>
          <p:nvPr/>
        </p:nvSpPr>
        <p:spPr>
          <a:xfrm>
            <a:off x="7534656" y="4197096"/>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83" name="Shape 181"/>
          <p:cNvSpPr/>
          <p:nvPr/>
        </p:nvSpPr>
        <p:spPr>
          <a:xfrm>
            <a:off x="8211312" y="4151376"/>
            <a:ext cx="658368" cy="338328"/>
          </a:xfrm>
          <a:prstGeom prst="rect">
            <a:avLst/>
          </a:prstGeom>
          <a:solidFill>
            <a:srgbClr val="FFFFFF"/>
          </a:solidFill>
          <a:ln w="3810">
            <a:solidFill>
              <a:srgbClr val="E2E8F0"/>
            </a:solidFill>
            <a:prstDash val="solid"/>
          </a:ln>
        </p:spPr>
      </p:sp>
      <p:sp>
        <p:nvSpPr>
          <p:cNvPr id="184" name="Text 182"/>
          <p:cNvSpPr/>
          <p:nvPr/>
        </p:nvSpPr>
        <p:spPr>
          <a:xfrm>
            <a:off x="8211312" y="4197096"/>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85" name="Shape 183"/>
          <p:cNvSpPr/>
          <p:nvPr/>
        </p:nvSpPr>
        <p:spPr>
          <a:xfrm>
            <a:off x="457200" y="4498848"/>
            <a:ext cx="3017520" cy="338328"/>
          </a:xfrm>
          <a:prstGeom prst="rect">
            <a:avLst/>
          </a:prstGeom>
          <a:solidFill>
            <a:srgbClr val="F8F9FC"/>
          </a:solidFill>
          <a:ln w="5080">
            <a:solidFill>
              <a:srgbClr val="E2E8F0"/>
            </a:solidFill>
            <a:prstDash val="solid"/>
          </a:ln>
        </p:spPr>
      </p:sp>
      <p:sp>
        <p:nvSpPr>
          <p:cNvPr id="186" name="Text 184"/>
          <p:cNvSpPr/>
          <p:nvPr/>
        </p:nvSpPr>
        <p:spPr>
          <a:xfrm>
            <a:off x="502920" y="4544568"/>
            <a:ext cx="2926080" cy="256032"/>
          </a:xfrm>
          <a:prstGeom prst="rect">
            <a:avLst/>
          </a:prstGeom>
          <a:noFill/>
          <a:ln/>
        </p:spPr>
        <p:txBody>
          <a:bodyPr wrap="square" rtlCol="0" anchor="ctr"/>
          <a:lstStyle/>
          <a:p>
            <a:pPr indent="0" marL="0">
              <a:buNone/>
            </a:pPr>
            <a:r>
              <a:rPr lang="en-US" sz="800" dirty="0">
                <a:solidFill>
                  <a:srgbClr val="1A1A2E"/>
                </a:solidFill>
                <a:latin typeface="Calibri" pitchFamily="34" charset="0"/>
                <a:ea typeface="Calibri" pitchFamily="34" charset="-122"/>
                <a:cs typeface="Calibri" pitchFamily="34" charset="-120"/>
              </a:rPr>
              <a:t>Hypercare &amp; Handover</a:t>
            </a:r>
            <a:endParaRPr lang="en-US" sz="800" dirty="0"/>
          </a:p>
        </p:txBody>
      </p:sp>
      <p:sp>
        <p:nvSpPr>
          <p:cNvPr id="187" name="Shape 185"/>
          <p:cNvSpPr/>
          <p:nvPr/>
        </p:nvSpPr>
        <p:spPr>
          <a:xfrm>
            <a:off x="3474720" y="4498848"/>
            <a:ext cx="658368" cy="338328"/>
          </a:xfrm>
          <a:prstGeom prst="rect">
            <a:avLst/>
          </a:prstGeom>
          <a:solidFill>
            <a:srgbClr val="F8F9FC"/>
          </a:solidFill>
          <a:ln w="3810">
            <a:solidFill>
              <a:srgbClr val="E2E8F0"/>
            </a:solidFill>
            <a:prstDash val="solid"/>
          </a:ln>
        </p:spPr>
      </p:sp>
      <p:sp>
        <p:nvSpPr>
          <p:cNvPr id="188" name="Text 186"/>
          <p:cNvSpPr/>
          <p:nvPr/>
        </p:nvSpPr>
        <p:spPr>
          <a:xfrm>
            <a:off x="3474720" y="4544568"/>
            <a:ext cx="658368" cy="256032"/>
          </a:xfrm>
          <a:prstGeom prst="rect">
            <a:avLst/>
          </a:prstGeom>
          <a:noFill/>
          <a:ln/>
        </p:spPr>
        <p:txBody>
          <a:bodyPr wrap="square"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R</a:t>
            </a:r>
            <a:endParaRPr lang="en-US" sz="900" dirty="0"/>
          </a:p>
        </p:txBody>
      </p:sp>
      <p:sp>
        <p:nvSpPr>
          <p:cNvPr id="189" name="Shape 187"/>
          <p:cNvSpPr/>
          <p:nvPr/>
        </p:nvSpPr>
        <p:spPr>
          <a:xfrm>
            <a:off x="4151376" y="4498848"/>
            <a:ext cx="658368" cy="338328"/>
          </a:xfrm>
          <a:prstGeom prst="rect">
            <a:avLst/>
          </a:prstGeom>
          <a:solidFill>
            <a:srgbClr val="F8F9FC"/>
          </a:solidFill>
          <a:ln w="3810">
            <a:solidFill>
              <a:srgbClr val="E2E8F0"/>
            </a:solidFill>
            <a:prstDash val="solid"/>
          </a:ln>
        </p:spPr>
      </p:sp>
      <p:sp>
        <p:nvSpPr>
          <p:cNvPr id="190" name="Text 188"/>
          <p:cNvSpPr/>
          <p:nvPr/>
        </p:nvSpPr>
        <p:spPr>
          <a:xfrm>
            <a:off x="4151376" y="4544568"/>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91" name="Shape 189"/>
          <p:cNvSpPr/>
          <p:nvPr/>
        </p:nvSpPr>
        <p:spPr>
          <a:xfrm>
            <a:off x="4828032" y="4498848"/>
            <a:ext cx="658368" cy="338328"/>
          </a:xfrm>
          <a:prstGeom prst="rect">
            <a:avLst/>
          </a:prstGeom>
          <a:solidFill>
            <a:srgbClr val="F8F9FC"/>
          </a:solidFill>
          <a:ln w="3810">
            <a:solidFill>
              <a:srgbClr val="E2E8F0"/>
            </a:solidFill>
            <a:prstDash val="solid"/>
          </a:ln>
        </p:spPr>
      </p:sp>
      <p:sp>
        <p:nvSpPr>
          <p:cNvPr id="192" name="Text 190"/>
          <p:cNvSpPr/>
          <p:nvPr/>
        </p:nvSpPr>
        <p:spPr>
          <a:xfrm>
            <a:off x="4828032" y="4544568"/>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193" name="Shape 191"/>
          <p:cNvSpPr/>
          <p:nvPr/>
        </p:nvSpPr>
        <p:spPr>
          <a:xfrm>
            <a:off x="5504688" y="4498848"/>
            <a:ext cx="658368" cy="338328"/>
          </a:xfrm>
          <a:prstGeom prst="rect">
            <a:avLst/>
          </a:prstGeom>
          <a:solidFill>
            <a:srgbClr val="F8F9FC"/>
          </a:solidFill>
          <a:ln w="3810">
            <a:solidFill>
              <a:srgbClr val="E2E8F0"/>
            </a:solidFill>
            <a:prstDash val="solid"/>
          </a:ln>
        </p:spPr>
      </p:sp>
      <p:sp>
        <p:nvSpPr>
          <p:cNvPr id="194" name="Text 192"/>
          <p:cNvSpPr/>
          <p:nvPr/>
        </p:nvSpPr>
        <p:spPr>
          <a:xfrm>
            <a:off x="5504688" y="4544568"/>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95" name="Shape 193"/>
          <p:cNvSpPr/>
          <p:nvPr/>
        </p:nvSpPr>
        <p:spPr>
          <a:xfrm>
            <a:off x="6181344" y="4498848"/>
            <a:ext cx="658368" cy="338328"/>
          </a:xfrm>
          <a:prstGeom prst="rect">
            <a:avLst/>
          </a:prstGeom>
          <a:solidFill>
            <a:srgbClr val="F8F9FC"/>
          </a:solidFill>
          <a:ln w="3810">
            <a:solidFill>
              <a:srgbClr val="E2E8F0"/>
            </a:solidFill>
            <a:prstDash val="solid"/>
          </a:ln>
        </p:spPr>
      </p:sp>
      <p:sp>
        <p:nvSpPr>
          <p:cNvPr id="196" name="Text 194"/>
          <p:cNvSpPr/>
          <p:nvPr/>
        </p:nvSpPr>
        <p:spPr>
          <a:xfrm>
            <a:off x="6181344" y="4544568"/>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97" name="Shape 195"/>
          <p:cNvSpPr/>
          <p:nvPr/>
        </p:nvSpPr>
        <p:spPr>
          <a:xfrm>
            <a:off x="6858000" y="4498848"/>
            <a:ext cx="658368" cy="338328"/>
          </a:xfrm>
          <a:prstGeom prst="rect">
            <a:avLst/>
          </a:prstGeom>
          <a:solidFill>
            <a:srgbClr val="F8F9FC"/>
          </a:solidFill>
          <a:ln w="3810">
            <a:solidFill>
              <a:srgbClr val="E2E8F0"/>
            </a:solidFill>
            <a:prstDash val="solid"/>
          </a:ln>
        </p:spPr>
      </p:sp>
      <p:sp>
        <p:nvSpPr>
          <p:cNvPr id="198" name="Text 196"/>
          <p:cNvSpPr/>
          <p:nvPr/>
        </p:nvSpPr>
        <p:spPr>
          <a:xfrm>
            <a:off x="6858000" y="4544568"/>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199" name="Shape 197"/>
          <p:cNvSpPr/>
          <p:nvPr/>
        </p:nvSpPr>
        <p:spPr>
          <a:xfrm>
            <a:off x="7534656" y="4498848"/>
            <a:ext cx="658368" cy="338328"/>
          </a:xfrm>
          <a:prstGeom prst="rect">
            <a:avLst/>
          </a:prstGeom>
          <a:solidFill>
            <a:srgbClr val="F8F9FC"/>
          </a:solidFill>
          <a:ln w="3810">
            <a:solidFill>
              <a:srgbClr val="E2E8F0"/>
            </a:solidFill>
            <a:prstDash val="solid"/>
          </a:ln>
        </p:spPr>
      </p:sp>
      <p:sp>
        <p:nvSpPr>
          <p:cNvPr id="200" name="Text 198"/>
          <p:cNvSpPr/>
          <p:nvPr/>
        </p:nvSpPr>
        <p:spPr>
          <a:xfrm>
            <a:off x="7534656" y="4544568"/>
            <a:ext cx="658368" cy="256032"/>
          </a:xfrm>
          <a:prstGeom prst="rect">
            <a:avLst/>
          </a:prstGeom>
          <a:noFill/>
          <a:ln/>
        </p:spPr>
        <p:txBody>
          <a:bodyPr wrap="square"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C</a:t>
            </a:r>
            <a:endParaRPr lang="en-US" sz="900" dirty="0"/>
          </a:p>
        </p:txBody>
      </p:sp>
      <p:sp>
        <p:nvSpPr>
          <p:cNvPr id="201" name="Shape 199"/>
          <p:cNvSpPr/>
          <p:nvPr/>
        </p:nvSpPr>
        <p:spPr>
          <a:xfrm>
            <a:off x="8211312" y="4498848"/>
            <a:ext cx="658368" cy="338328"/>
          </a:xfrm>
          <a:prstGeom prst="rect">
            <a:avLst/>
          </a:prstGeom>
          <a:solidFill>
            <a:srgbClr val="F8F9FC"/>
          </a:solidFill>
          <a:ln w="3810">
            <a:solidFill>
              <a:srgbClr val="E2E8F0"/>
            </a:solidFill>
            <a:prstDash val="solid"/>
          </a:ln>
        </p:spPr>
      </p:sp>
      <p:sp>
        <p:nvSpPr>
          <p:cNvPr id="202" name="Text 200"/>
          <p:cNvSpPr/>
          <p:nvPr/>
        </p:nvSpPr>
        <p:spPr>
          <a:xfrm>
            <a:off x="8211312" y="4544568"/>
            <a:ext cx="658368"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a:t>
            </a:r>
            <a:endParaRPr lang="en-US" sz="900" dirty="0"/>
          </a:p>
        </p:txBody>
      </p:sp>
      <p:sp>
        <p:nvSpPr>
          <p:cNvPr id="203" name="Shape 201"/>
          <p:cNvSpPr/>
          <p:nvPr/>
        </p:nvSpPr>
        <p:spPr>
          <a:xfrm>
            <a:off x="457200" y="4818888"/>
            <a:ext cx="8458200" cy="182880"/>
          </a:xfrm>
          <a:prstGeom prst="rect">
            <a:avLst/>
          </a:prstGeom>
          <a:solidFill>
            <a:srgbClr val="F1F5F9"/>
          </a:solidFill>
          <a:ln w="12700">
            <a:solidFill>
              <a:srgbClr val="E2E8F0"/>
            </a:solidFill>
            <a:prstDash val="solid"/>
          </a:ln>
        </p:spPr>
      </p:sp>
      <p:sp>
        <p:nvSpPr>
          <p:cNvPr id="204" name="Text 202"/>
          <p:cNvSpPr/>
          <p:nvPr/>
        </p:nvSpPr>
        <p:spPr>
          <a:xfrm>
            <a:off x="548640" y="4828032"/>
            <a:ext cx="4572000" cy="164592"/>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R = Responsible   A = Accountable   C = Consulted   I = Informed</a:t>
            </a:r>
            <a:endParaRPr lang="en-US" sz="750" dirty="0"/>
          </a:p>
        </p:txBody>
      </p:sp>
      <p:sp>
        <p:nvSpPr>
          <p:cNvPr id="205" name="Text 203"/>
          <p:cNvSpPr/>
          <p:nvPr/>
        </p:nvSpPr>
        <p:spPr>
          <a:xfrm>
            <a:off x="4754880" y="4828032"/>
            <a:ext cx="4114800" cy="164592"/>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MOB=Mobile Dev  BAK=Backend Dev  DEV=DevOps  ARC=Architect  DES=Designer  SEC=Security</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QUALITY ASSURANCE</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QA &amp; Testing Strategy</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Shape 3"/>
          <p:cNvSpPr/>
          <p:nvPr/>
        </p:nvSpPr>
        <p:spPr>
          <a:xfrm>
            <a:off x="457200" y="1115568"/>
            <a:ext cx="4160520" cy="1170432"/>
          </a:xfrm>
          <a:prstGeom prst="rect">
            <a:avLst/>
          </a:prstGeom>
          <a:solidFill>
            <a:srgbClr val="EFF6FF"/>
          </a:solidFill>
          <a:ln w="12700">
            <a:solidFill>
              <a:srgbClr val="2563EB"/>
            </a:solidFill>
            <a:prstDash val="solid"/>
          </a:ln>
          <a:effectLst>
            <a:outerShdw sx="100000" sy="100000" kx="0" ky="0" algn="bl" rotWithShape="0" blurRad="76200" dist="38100" dir="8100000">
              <a:srgbClr val="000000">
                <a:alpha val="9000"/>
              </a:srgbClr>
            </a:outerShdw>
          </a:effectLst>
        </p:spPr>
      </p:sp>
      <p:sp>
        <p:nvSpPr>
          <p:cNvPr id="6" name="Shape 4"/>
          <p:cNvSpPr/>
          <p:nvPr/>
        </p:nvSpPr>
        <p:spPr>
          <a:xfrm>
            <a:off x="457200" y="1115568"/>
            <a:ext cx="54864" cy="1170432"/>
          </a:xfrm>
          <a:prstGeom prst="rect">
            <a:avLst/>
          </a:prstGeom>
          <a:solidFill>
            <a:srgbClr val="2563EB"/>
          </a:solidFill>
          <a:ln w="12700">
            <a:solidFill>
              <a:srgbClr val="2563EB"/>
            </a:solidFill>
            <a:prstDash val="solid"/>
          </a:ln>
        </p:spPr>
      </p:sp>
      <p:sp>
        <p:nvSpPr>
          <p:cNvPr id="7" name="Text 5"/>
          <p:cNvSpPr/>
          <p:nvPr/>
        </p:nvSpPr>
        <p:spPr>
          <a:xfrm>
            <a:off x="621792" y="1170432"/>
            <a:ext cx="2286000" cy="237744"/>
          </a:xfrm>
          <a:prstGeom prst="rect">
            <a:avLst/>
          </a:prstGeom>
          <a:noFill/>
          <a:ln/>
        </p:spPr>
        <p:txBody>
          <a:bodyPr wrap="square"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Unit Tests</a:t>
            </a:r>
            <a:endParaRPr lang="en-US" sz="1100" dirty="0"/>
          </a:p>
        </p:txBody>
      </p:sp>
      <p:sp>
        <p:nvSpPr>
          <p:cNvPr id="8" name="Shape 6"/>
          <p:cNvSpPr/>
          <p:nvPr/>
        </p:nvSpPr>
        <p:spPr>
          <a:xfrm>
            <a:off x="3529584" y="1170432"/>
            <a:ext cx="1005840" cy="201168"/>
          </a:xfrm>
          <a:prstGeom prst="roundRect">
            <a:avLst>
              <a:gd name="adj" fmla="val 36364"/>
            </a:avLst>
          </a:prstGeom>
          <a:solidFill>
            <a:srgbClr val="2563EB"/>
          </a:solidFill>
          <a:ln w="12700">
            <a:solidFill>
              <a:srgbClr val="2563EB"/>
            </a:solidFill>
            <a:prstDash val="solid"/>
          </a:ln>
        </p:spPr>
      </p:sp>
      <p:sp>
        <p:nvSpPr>
          <p:cNvPr id="9" name="Text 7"/>
          <p:cNvSpPr/>
          <p:nvPr/>
        </p:nvSpPr>
        <p:spPr>
          <a:xfrm>
            <a:off x="3529584" y="1170432"/>
            <a:ext cx="1005840"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xUnit (.NET 8)</a:t>
            </a:r>
            <a:endParaRPr lang="en-US" sz="800" dirty="0"/>
          </a:p>
        </p:txBody>
      </p:sp>
      <p:sp>
        <p:nvSpPr>
          <p:cNvPr id="10" name="Text 8"/>
          <p:cNvSpPr/>
          <p:nvPr/>
        </p:nvSpPr>
        <p:spPr>
          <a:xfrm>
            <a:off x="621792" y="1426464"/>
            <a:ext cx="3886200" cy="18288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 Backend Dev + QA  ·  📅 Every PR</a:t>
            </a:r>
            <a:endParaRPr lang="en-US" sz="750" dirty="0"/>
          </a:p>
        </p:txBody>
      </p:sp>
      <p:sp>
        <p:nvSpPr>
          <p:cNvPr id="11" name="Text 9"/>
          <p:cNvSpPr/>
          <p:nvPr/>
        </p:nvSpPr>
        <p:spPr>
          <a:xfrm>
            <a:off x="621792" y="1627632"/>
            <a:ext cx="3886200" cy="603504"/>
          </a:xfrm>
          <a:prstGeom prst="rect">
            <a:avLst/>
          </a:prstGeom>
          <a:noFill/>
          <a:ln/>
        </p:spPr>
        <p:txBody>
          <a:bodyPr wrap="square" rtlCol="0" anchor="t"/>
          <a:lstStyle/>
          <a:p>
            <a:pPr indent="0" marL="0">
              <a:buNone/>
            </a:pPr>
            <a:r>
              <a:rPr lang="en-US" sz="800" dirty="0">
                <a:solidFill>
                  <a:srgbClr val="1A1A2E"/>
                </a:solidFill>
                <a:latin typeface="Calibri" pitchFamily="34" charset="0"/>
                <a:ea typeface="Calibri" pitchFamily="34" charset="-122"/>
                <a:cs typeface="Calibri" pitchFamily="34" charset="-120"/>
              </a:rPr>
              <a:t>All ASP.NET Core service-layer business logic tested in isolation. Mocked dependencies via NSubstitute. 80%+ line coverage enforced in CI gate.</a:t>
            </a:r>
            <a:endParaRPr lang="en-US" sz="800" dirty="0"/>
          </a:p>
        </p:txBody>
      </p:sp>
      <p:sp>
        <p:nvSpPr>
          <p:cNvPr id="12" name="Shape 10"/>
          <p:cNvSpPr/>
          <p:nvPr/>
        </p:nvSpPr>
        <p:spPr>
          <a:xfrm>
            <a:off x="4773168" y="1115568"/>
            <a:ext cx="4160520" cy="1170432"/>
          </a:xfrm>
          <a:prstGeom prst="rect">
            <a:avLst/>
          </a:prstGeom>
          <a:solidFill>
            <a:srgbClr val="F0FDF4"/>
          </a:solidFill>
          <a:ln w="12700">
            <a:solidFill>
              <a:srgbClr val="059669"/>
            </a:solidFill>
            <a:prstDash val="solid"/>
          </a:ln>
          <a:effectLst>
            <a:outerShdw sx="100000" sy="100000" kx="0" ky="0" algn="bl" rotWithShape="0" blurRad="76200" dist="38100" dir="8100000">
              <a:srgbClr val="000000">
                <a:alpha val="9000"/>
              </a:srgbClr>
            </a:outerShdw>
          </a:effectLst>
        </p:spPr>
      </p:sp>
      <p:sp>
        <p:nvSpPr>
          <p:cNvPr id="13" name="Shape 11"/>
          <p:cNvSpPr/>
          <p:nvPr/>
        </p:nvSpPr>
        <p:spPr>
          <a:xfrm>
            <a:off x="4773168" y="1115568"/>
            <a:ext cx="54864" cy="1170432"/>
          </a:xfrm>
          <a:prstGeom prst="rect">
            <a:avLst/>
          </a:prstGeom>
          <a:solidFill>
            <a:srgbClr val="059669"/>
          </a:solidFill>
          <a:ln w="12700">
            <a:solidFill>
              <a:srgbClr val="059669"/>
            </a:solidFill>
            <a:prstDash val="solid"/>
          </a:ln>
        </p:spPr>
      </p:sp>
      <p:sp>
        <p:nvSpPr>
          <p:cNvPr id="14" name="Text 12"/>
          <p:cNvSpPr/>
          <p:nvPr/>
        </p:nvSpPr>
        <p:spPr>
          <a:xfrm>
            <a:off x="4937760" y="1170432"/>
            <a:ext cx="2286000" cy="237744"/>
          </a:xfrm>
          <a:prstGeom prst="rect">
            <a:avLst/>
          </a:prstGeom>
          <a:noFill/>
          <a:ln/>
        </p:spPr>
        <p:txBody>
          <a:bodyPr wrap="square" rtlCol="0" anchor="ctr"/>
          <a:lstStyle/>
          <a:p>
            <a:pPr indent="0" marL="0">
              <a:buNone/>
            </a:pPr>
            <a:r>
              <a:rPr lang="en-US" sz="1100" b="1" dirty="0">
                <a:solidFill>
                  <a:srgbClr val="059669"/>
                </a:solidFill>
                <a:latin typeface="Calibri" pitchFamily="34" charset="0"/>
                <a:ea typeface="Calibri" pitchFamily="34" charset="-122"/>
                <a:cs typeface="Calibri" pitchFamily="34" charset="-120"/>
              </a:rPr>
              <a:t>Integration Tests</a:t>
            </a:r>
            <a:endParaRPr lang="en-US" sz="1100" dirty="0"/>
          </a:p>
        </p:txBody>
      </p:sp>
      <p:sp>
        <p:nvSpPr>
          <p:cNvPr id="15" name="Shape 13"/>
          <p:cNvSpPr/>
          <p:nvPr/>
        </p:nvSpPr>
        <p:spPr>
          <a:xfrm>
            <a:off x="7845552" y="1170432"/>
            <a:ext cx="1005840" cy="201168"/>
          </a:xfrm>
          <a:prstGeom prst="roundRect">
            <a:avLst>
              <a:gd name="adj" fmla="val 36364"/>
            </a:avLst>
          </a:prstGeom>
          <a:solidFill>
            <a:srgbClr val="059669"/>
          </a:solidFill>
          <a:ln w="12700">
            <a:solidFill>
              <a:srgbClr val="059669"/>
            </a:solidFill>
            <a:prstDash val="solid"/>
          </a:ln>
        </p:spPr>
      </p:sp>
      <p:sp>
        <p:nvSpPr>
          <p:cNvPr id="16" name="Text 14"/>
          <p:cNvSpPr/>
          <p:nvPr/>
        </p:nvSpPr>
        <p:spPr>
          <a:xfrm>
            <a:off x="7845552" y="1170432"/>
            <a:ext cx="1005840"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xUnit + Testcontainers</a:t>
            </a:r>
            <a:endParaRPr lang="en-US" sz="800" dirty="0"/>
          </a:p>
        </p:txBody>
      </p:sp>
      <p:sp>
        <p:nvSpPr>
          <p:cNvPr id="17" name="Text 15"/>
          <p:cNvSpPr/>
          <p:nvPr/>
        </p:nvSpPr>
        <p:spPr>
          <a:xfrm>
            <a:off x="4937760" y="1426464"/>
            <a:ext cx="3886200" cy="18288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 QA  ·  📅 Wk 6</a:t>
            </a:r>
            <a:endParaRPr lang="en-US" sz="750" dirty="0"/>
          </a:p>
        </p:txBody>
      </p:sp>
      <p:sp>
        <p:nvSpPr>
          <p:cNvPr id="18" name="Text 16"/>
          <p:cNvSpPr/>
          <p:nvPr/>
        </p:nvSpPr>
        <p:spPr>
          <a:xfrm>
            <a:off x="4937760" y="1627632"/>
            <a:ext cx="3886200" cy="603504"/>
          </a:xfrm>
          <a:prstGeom prst="rect">
            <a:avLst/>
          </a:prstGeom>
          <a:noFill/>
          <a:ln/>
        </p:spPr>
        <p:txBody>
          <a:bodyPr wrap="square" rtlCol="0" anchor="t"/>
          <a:lstStyle/>
          <a:p>
            <a:pPr indent="0" marL="0">
              <a:buNone/>
            </a:pPr>
            <a:r>
              <a:rPr lang="en-US" sz="800" dirty="0">
                <a:solidFill>
                  <a:srgbClr val="1A1A2E"/>
                </a:solidFill>
                <a:latin typeface="Calibri" pitchFamily="34" charset="0"/>
                <a:ea typeface="Calibri" pitchFamily="34" charset="-122"/>
                <a:cs typeface="Calibri" pitchFamily="34" charset="-120"/>
              </a:rPr>
              <a:t>All 14 REST API endpoints tested against a real Dockerised PostgreSQL database. Positive + negative paths. Auth header validation. Response schema verified.</a:t>
            </a:r>
            <a:endParaRPr lang="en-US" sz="800" dirty="0"/>
          </a:p>
        </p:txBody>
      </p:sp>
      <p:sp>
        <p:nvSpPr>
          <p:cNvPr id="19" name="Shape 17"/>
          <p:cNvSpPr/>
          <p:nvPr/>
        </p:nvSpPr>
        <p:spPr>
          <a:xfrm>
            <a:off x="457200" y="2359152"/>
            <a:ext cx="4160520" cy="1170432"/>
          </a:xfrm>
          <a:prstGeom prst="rect">
            <a:avLst/>
          </a:prstGeom>
          <a:solidFill>
            <a:srgbClr val="FEF3C7"/>
          </a:solidFill>
          <a:ln w="12700">
            <a:solidFill>
              <a:srgbClr val="D97706"/>
            </a:solidFill>
            <a:prstDash val="solid"/>
          </a:ln>
          <a:effectLst>
            <a:outerShdw sx="100000" sy="100000" kx="0" ky="0" algn="bl" rotWithShape="0" blurRad="76200" dist="38100" dir="8100000">
              <a:srgbClr val="000000">
                <a:alpha val="9000"/>
              </a:srgbClr>
            </a:outerShdw>
          </a:effectLst>
        </p:spPr>
      </p:sp>
      <p:sp>
        <p:nvSpPr>
          <p:cNvPr id="20" name="Shape 18"/>
          <p:cNvSpPr/>
          <p:nvPr/>
        </p:nvSpPr>
        <p:spPr>
          <a:xfrm>
            <a:off x="457200" y="2359152"/>
            <a:ext cx="54864" cy="1170432"/>
          </a:xfrm>
          <a:prstGeom prst="rect">
            <a:avLst/>
          </a:prstGeom>
          <a:solidFill>
            <a:srgbClr val="D97706"/>
          </a:solidFill>
          <a:ln w="12700">
            <a:solidFill>
              <a:srgbClr val="D97706"/>
            </a:solidFill>
            <a:prstDash val="solid"/>
          </a:ln>
        </p:spPr>
      </p:sp>
      <p:sp>
        <p:nvSpPr>
          <p:cNvPr id="21" name="Text 19"/>
          <p:cNvSpPr/>
          <p:nvPr/>
        </p:nvSpPr>
        <p:spPr>
          <a:xfrm>
            <a:off x="621792" y="2414016"/>
            <a:ext cx="2286000" cy="237744"/>
          </a:xfrm>
          <a:prstGeom prst="rect">
            <a:avLst/>
          </a:prstGeom>
          <a:noFill/>
          <a:ln/>
        </p:spPr>
        <p:txBody>
          <a:bodyPr wrap="square"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E2E — Web</a:t>
            </a:r>
            <a:endParaRPr lang="en-US" sz="1100" dirty="0"/>
          </a:p>
        </p:txBody>
      </p:sp>
      <p:sp>
        <p:nvSpPr>
          <p:cNvPr id="22" name="Shape 20"/>
          <p:cNvSpPr/>
          <p:nvPr/>
        </p:nvSpPr>
        <p:spPr>
          <a:xfrm>
            <a:off x="3529584" y="2414016"/>
            <a:ext cx="1005840" cy="201168"/>
          </a:xfrm>
          <a:prstGeom prst="roundRect">
            <a:avLst>
              <a:gd name="adj" fmla="val 36364"/>
            </a:avLst>
          </a:prstGeom>
          <a:solidFill>
            <a:srgbClr val="D97706"/>
          </a:solidFill>
          <a:ln w="12700">
            <a:solidFill>
              <a:srgbClr val="D97706"/>
            </a:solidFill>
            <a:prstDash val="solid"/>
          </a:ln>
        </p:spPr>
      </p:sp>
      <p:sp>
        <p:nvSpPr>
          <p:cNvPr id="23" name="Text 21"/>
          <p:cNvSpPr/>
          <p:nvPr/>
        </p:nvSpPr>
        <p:spPr>
          <a:xfrm>
            <a:off x="3529584" y="2414016"/>
            <a:ext cx="1005840"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Playwright</a:t>
            </a:r>
            <a:endParaRPr lang="en-US" sz="800" dirty="0"/>
          </a:p>
        </p:txBody>
      </p:sp>
      <p:sp>
        <p:nvSpPr>
          <p:cNvPr id="24" name="Text 22"/>
          <p:cNvSpPr/>
          <p:nvPr/>
        </p:nvSpPr>
        <p:spPr>
          <a:xfrm>
            <a:off x="621792" y="2670048"/>
            <a:ext cx="3886200" cy="18288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 QA  ·  📅 Wk 6</a:t>
            </a:r>
            <a:endParaRPr lang="en-US" sz="750" dirty="0"/>
          </a:p>
        </p:txBody>
      </p:sp>
      <p:sp>
        <p:nvSpPr>
          <p:cNvPr id="25" name="Text 23"/>
          <p:cNvSpPr/>
          <p:nvPr/>
        </p:nvSpPr>
        <p:spPr>
          <a:xfrm>
            <a:off x="621792" y="2871216"/>
            <a:ext cx="3886200" cy="603504"/>
          </a:xfrm>
          <a:prstGeom prst="rect">
            <a:avLst/>
          </a:prstGeom>
          <a:noFill/>
          <a:ln/>
        </p:spPr>
        <p:txBody>
          <a:bodyPr wrap="square" rtlCol="0" anchor="t"/>
          <a:lstStyle/>
          <a:p>
            <a:pPr indent="0" marL="0">
              <a:buNone/>
            </a:pPr>
            <a:r>
              <a:rPr lang="en-US" sz="800" dirty="0">
                <a:solidFill>
                  <a:srgbClr val="1A1A2E"/>
                </a:solidFill>
                <a:latin typeface="Calibri" pitchFamily="34" charset="0"/>
                <a:ea typeface="Calibri" pitchFamily="34" charset="-122"/>
                <a:cs typeface="Calibri" pitchFamily="34" charset="-120"/>
              </a:rPr>
              <a:t>Full user journeys in Chromium/Firefox/WebKit: login → member search → prayer request → video play. Runs headed in dev, headless in CI.</a:t>
            </a:r>
            <a:endParaRPr lang="en-US" sz="800" dirty="0"/>
          </a:p>
        </p:txBody>
      </p:sp>
      <p:sp>
        <p:nvSpPr>
          <p:cNvPr id="26" name="Shape 24"/>
          <p:cNvSpPr/>
          <p:nvPr/>
        </p:nvSpPr>
        <p:spPr>
          <a:xfrm>
            <a:off x="4773168" y="2359152"/>
            <a:ext cx="4160520" cy="1170432"/>
          </a:xfrm>
          <a:prstGeom prst="rect">
            <a:avLst/>
          </a:prstGeom>
          <a:solidFill>
            <a:srgbClr val="F5F3FF"/>
          </a:solidFill>
          <a:ln w="12700">
            <a:solidFill>
              <a:srgbClr val="7C3AED"/>
            </a:solidFill>
            <a:prstDash val="solid"/>
          </a:ln>
          <a:effectLst>
            <a:outerShdw sx="100000" sy="100000" kx="0" ky="0" algn="bl" rotWithShape="0" blurRad="76200" dist="38100" dir="8100000">
              <a:srgbClr val="000000">
                <a:alpha val="9000"/>
              </a:srgbClr>
            </a:outerShdw>
          </a:effectLst>
        </p:spPr>
      </p:sp>
      <p:sp>
        <p:nvSpPr>
          <p:cNvPr id="27" name="Shape 25"/>
          <p:cNvSpPr/>
          <p:nvPr/>
        </p:nvSpPr>
        <p:spPr>
          <a:xfrm>
            <a:off x="4773168" y="2359152"/>
            <a:ext cx="54864" cy="1170432"/>
          </a:xfrm>
          <a:prstGeom prst="rect">
            <a:avLst/>
          </a:prstGeom>
          <a:solidFill>
            <a:srgbClr val="7C3AED"/>
          </a:solidFill>
          <a:ln w="12700">
            <a:solidFill>
              <a:srgbClr val="7C3AED"/>
            </a:solidFill>
            <a:prstDash val="solid"/>
          </a:ln>
        </p:spPr>
      </p:sp>
      <p:sp>
        <p:nvSpPr>
          <p:cNvPr id="28" name="Text 26"/>
          <p:cNvSpPr/>
          <p:nvPr/>
        </p:nvSpPr>
        <p:spPr>
          <a:xfrm>
            <a:off x="4937760" y="2414016"/>
            <a:ext cx="2286000" cy="237744"/>
          </a:xfrm>
          <a:prstGeom prst="rect">
            <a:avLst/>
          </a:prstGeom>
          <a:noFill/>
          <a:ln/>
        </p:spPr>
        <p:txBody>
          <a:bodyPr wrap="square"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E2E — Mobile</a:t>
            </a:r>
            <a:endParaRPr lang="en-US" sz="1100" dirty="0"/>
          </a:p>
        </p:txBody>
      </p:sp>
      <p:sp>
        <p:nvSpPr>
          <p:cNvPr id="29" name="Shape 27"/>
          <p:cNvSpPr/>
          <p:nvPr/>
        </p:nvSpPr>
        <p:spPr>
          <a:xfrm>
            <a:off x="7845552" y="2414016"/>
            <a:ext cx="1005840" cy="201168"/>
          </a:xfrm>
          <a:prstGeom prst="roundRect">
            <a:avLst>
              <a:gd name="adj" fmla="val 36364"/>
            </a:avLst>
          </a:prstGeom>
          <a:solidFill>
            <a:srgbClr val="7C3AED"/>
          </a:solidFill>
          <a:ln w="12700">
            <a:solidFill>
              <a:srgbClr val="7C3AED"/>
            </a:solidFill>
            <a:prstDash val="solid"/>
          </a:ln>
        </p:spPr>
      </p:sp>
      <p:sp>
        <p:nvSpPr>
          <p:cNvPr id="30" name="Text 28"/>
          <p:cNvSpPr/>
          <p:nvPr/>
        </p:nvSpPr>
        <p:spPr>
          <a:xfrm>
            <a:off x="7845552" y="2414016"/>
            <a:ext cx="1005840"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Appium</a:t>
            </a:r>
            <a:endParaRPr lang="en-US" sz="800" dirty="0"/>
          </a:p>
        </p:txBody>
      </p:sp>
      <p:sp>
        <p:nvSpPr>
          <p:cNvPr id="31" name="Text 29"/>
          <p:cNvSpPr/>
          <p:nvPr/>
        </p:nvSpPr>
        <p:spPr>
          <a:xfrm>
            <a:off x="4937760" y="2670048"/>
            <a:ext cx="3886200" cy="18288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 QA  ·  📅 Wk 6</a:t>
            </a:r>
            <a:endParaRPr lang="en-US" sz="750" dirty="0"/>
          </a:p>
        </p:txBody>
      </p:sp>
      <p:sp>
        <p:nvSpPr>
          <p:cNvPr id="32" name="Text 30"/>
          <p:cNvSpPr/>
          <p:nvPr/>
        </p:nvSpPr>
        <p:spPr>
          <a:xfrm>
            <a:off x="4937760" y="2871216"/>
            <a:ext cx="3886200" cy="603504"/>
          </a:xfrm>
          <a:prstGeom prst="rect">
            <a:avLst/>
          </a:prstGeom>
          <a:noFill/>
          <a:ln/>
        </p:spPr>
        <p:txBody>
          <a:bodyPr wrap="square" rtlCol="0" anchor="t"/>
          <a:lstStyle/>
          <a:p>
            <a:pPr indent="0" marL="0">
              <a:buNone/>
            </a:pPr>
            <a:r>
              <a:rPr lang="en-US" sz="800" dirty="0">
                <a:solidFill>
                  <a:srgbClr val="1A1A2E"/>
                </a:solidFill>
                <a:latin typeface="Calibri" pitchFamily="34" charset="0"/>
                <a:ea typeface="Calibri" pitchFamily="34" charset="-122"/>
                <a:cs typeface="Calibri" pitchFamily="34" charset="-120"/>
              </a:rPr>
              <a:t>iOS Simulator (iPhone 15 Pro) + Android Emulator (Pixel 7). Flows: login, member directory, prayer, video stream, Twilio call. Real Capacitor native APIs tested.</a:t>
            </a:r>
            <a:endParaRPr lang="en-US" sz="800" dirty="0"/>
          </a:p>
        </p:txBody>
      </p:sp>
      <p:sp>
        <p:nvSpPr>
          <p:cNvPr id="33" name="Shape 31"/>
          <p:cNvSpPr/>
          <p:nvPr/>
        </p:nvSpPr>
        <p:spPr>
          <a:xfrm>
            <a:off x="457200" y="3602736"/>
            <a:ext cx="4160520" cy="1170432"/>
          </a:xfrm>
          <a:prstGeom prst="rect">
            <a:avLst/>
          </a:prstGeom>
          <a:solidFill>
            <a:srgbClr val="FEE2E2"/>
          </a:solidFill>
          <a:ln w="12700">
            <a:solidFill>
              <a:srgbClr val="DC2626"/>
            </a:solidFill>
            <a:prstDash val="solid"/>
          </a:ln>
          <a:effectLst>
            <a:outerShdw sx="100000" sy="100000" kx="0" ky="0" algn="bl" rotWithShape="0" blurRad="76200" dist="38100" dir="8100000">
              <a:srgbClr val="000000">
                <a:alpha val="9000"/>
              </a:srgbClr>
            </a:outerShdw>
          </a:effectLst>
        </p:spPr>
      </p:sp>
      <p:sp>
        <p:nvSpPr>
          <p:cNvPr id="34" name="Shape 32"/>
          <p:cNvSpPr/>
          <p:nvPr/>
        </p:nvSpPr>
        <p:spPr>
          <a:xfrm>
            <a:off x="457200" y="3602736"/>
            <a:ext cx="54864" cy="1170432"/>
          </a:xfrm>
          <a:prstGeom prst="rect">
            <a:avLst/>
          </a:prstGeom>
          <a:solidFill>
            <a:srgbClr val="DC2626"/>
          </a:solidFill>
          <a:ln w="12700">
            <a:solidFill>
              <a:srgbClr val="DC2626"/>
            </a:solidFill>
            <a:prstDash val="solid"/>
          </a:ln>
        </p:spPr>
      </p:sp>
      <p:sp>
        <p:nvSpPr>
          <p:cNvPr id="35" name="Text 33"/>
          <p:cNvSpPr/>
          <p:nvPr/>
        </p:nvSpPr>
        <p:spPr>
          <a:xfrm>
            <a:off x="621792" y="3657600"/>
            <a:ext cx="2286000" cy="237744"/>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Performance</a:t>
            </a:r>
            <a:endParaRPr lang="en-US" sz="1100" dirty="0"/>
          </a:p>
        </p:txBody>
      </p:sp>
      <p:sp>
        <p:nvSpPr>
          <p:cNvPr id="36" name="Shape 34"/>
          <p:cNvSpPr/>
          <p:nvPr/>
        </p:nvSpPr>
        <p:spPr>
          <a:xfrm>
            <a:off x="3529584" y="3657600"/>
            <a:ext cx="1005840" cy="201168"/>
          </a:xfrm>
          <a:prstGeom prst="roundRect">
            <a:avLst>
              <a:gd name="adj" fmla="val 36364"/>
            </a:avLst>
          </a:prstGeom>
          <a:solidFill>
            <a:srgbClr val="DC2626"/>
          </a:solidFill>
          <a:ln w="12700">
            <a:solidFill>
              <a:srgbClr val="DC2626"/>
            </a:solidFill>
            <a:prstDash val="solid"/>
          </a:ln>
        </p:spPr>
      </p:sp>
      <p:sp>
        <p:nvSpPr>
          <p:cNvPr id="37" name="Text 35"/>
          <p:cNvSpPr/>
          <p:nvPr/>
        </p:nvSpPr>
        <p:spPr>
          <a:xfrm>
            <a:off x="3529584" y="3657600"/>
            <a:ext cx="1005840"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k6</a:t>
            </a:r>
            <a:endParaRPr lang="en-US" sz="800" dirty="0"/>
          </a:p>
        </p:txBody>
      </p:sp>
      <p:sp>
        <p:nvSpPr>
          <p:cNvPr id="38" name="Text 36"/>
          <p:cNvSpPr/>
          <p:nvPr/>
        </p:nvSpPr>
        <p:spPr>
          <a:xfrm>
            <a:off x="621792" y="3913632"/>
            <a:ext cx="3886200" cy="18288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 DevOps + QA  ·  📅 Wk 6</a:t>
            </a:r>
            <a:endParaRPr lang="en-US" sz="750" dirty="0"/>
          </a:p>
        </p:txBody>
      </p:sp>
      <p:sp>
        <p:nvSpPr>
          <p:cNvPr id="39" name="Text 37"/>
          <p:cNvSpPr/>
          <p:nvPr/>
        </p:nvSpPr>
        <p:spPr>
          <a:xfrm>
            <a:off x="621792" y="4114800"/>
            <a:ext cx="3886200" cy="603504"/>
          </a:xfrm>
          <a:prstGeom prst="rect">
            <a:avLst/>
          </a:prstGeom>
          <a:noFill/>
          <a:ln/>
        </p:spPr>
        <p:txBody>
          <a:bodyPr wrap="square" rtlCol="0" anchor="t"/>
          <a:lstStyle/>
          <a:p>
            <a:pPr indent="0" marL="0">
              <a:buNone/>
            </a:pPr>
            <a:r>
              <a:rPr lang="en-US" sz="800" dirty="0">
                <a:solidFill>
                  <a:srgbClr val="1A1A2E"/>
                </a:solidFill>
                <a:latin typeface="Calibri" pitchFamily="34" charset="0"/>
                <a:ea typeface="Calibri" pitchFamily="34" charset="-122"/>
                <a:cs typeface="Calibri" pitchFamily="34" charset="-120"/>
              </a:rPr>
              <a:t>500 concurrent users. API response p95 &lt; 200ms target. Video CloudFront initial load &lt; 2s. RDS connection pool saturation tested at 1,000 VUs.</a:t>
            </a:r>
            <a:endParaRPr lang="en-US" sz="800" dirty="0"/>
          </a:p>
        </p:txBody>
      </p:sp>
      <p:sp>
        <p:nvSpPr>
          <p:cNvPr id="40" name="Shape 38"/>
          <p:cNvSpPr/>
          <p:nvPr/>
        </p:nvSpPr>
        <p:spPr>
          <a:xfrm>
            <a:off x="4773168" y="3602736"/>
            <a:ext cx="4160520" cy="1170432"/>
          </a:xfrm>
          <a:prstGeom prst="rect">
            <a:avLst/>
          </a:prstGeom>
          <a:solidFill>
            <a:srgbClr val="F9FAFB"/>
          </a:solidFill>
          <a:ln w="12700">
            <a:solidFill>
              <a:srgbClr val="374151"/>
            </a:solidFill>
            <a:prstDash val="solid"/>
          </a:ln>
          <a:effectLst>
            <a:outerShdw sx="100000" sy="100000" kx="0" ky="0" algn="bl" rotWithShape="0" blurRad="76200" dist="38100" dir="8100000">
              <a:srgbClr val="000000">
                <a:alpha val="9000"/>
              </a:srgbClr>
            </a:outerShdw>
          </a:effectLst>
        </p:spPr>
      </p:sp>
      <p:sp>
        <p:nvSpPr>
          <p:cNvPr id="41" name="Shape 39"/>
          <p:cNvSpPr/>
          <p:nvPr/>
        </p:nvSpPr>
        <p:spPr>
          <a:xfrm>
            <a:off x="4773168" y="3602736"/>
            <a:ext cx="54864" cy="1170432"/>
          </a:xfrm>
          <a:prstGeom prst="rect">
            <a:avLst/>
          </a:prstGeom>
          <a:solidFill>
            <a:srgbClr val="374151"/>
          </a:solidFill>
          <a:ln w="12700">
            <a:solidFill>
              <a:srgbClr val="374151"/>
            </a:solidFill>
            <a:prstDash val="solid"/>
          </a:ln>
        </p:spPr>
      </p:sp>
      <p:sp>
        <p:nvSpPr>
          <p:cNvPr id="42" name="Text 40"/>
          <p:cNvSpPr/>
          <p:nvPr/>
        </p:nvSpPr>
        <p:spPr>
          <a:xfrm>
            <a:off x="4937760" y="3657600"/>
            <a:ext cx="2286000" cy="237744"/>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Security</a:t>
            </a:r>
            <a:endParaRPr lang="en-US" sz="1100" dirty="0"/>
          </a:p>
        </p:txBody>
      </p:sp>
      <p:sp>
        <p:nvSpPr>
          <p:cNvPr id="43" name="Shape 41"/>
          <p:cNvSpPr/>
          <p:nvPr/>
        </p:nvSpPr>
        <p:spPr>
          <a:xfrm>
            <a:off x="7845552" y="3657600"/>
            <a:ext cx="1005840" cy="201168"/>
          </a:xfrm>
          <a:prstGeom prst="roundRect">
            <a:avLst>
              <a:gd name="adj" fmla="val 36364"/>
            </a:avLst>
          </a:prstGeom>
          <a:solidFill>
            <a:srgbClr val="374151"/>
          </a:solidFill>
          <a:ln w="12700">
            <a:solidFill>
              <a:srgbClr val="374151"/>
            </a:solidFill>
            <a:prstDash val="solid"/>
          </a:ln>
        </p:spPr>
      </p:sp>
      <p:sp>
        <p:nvSpPr>
          <p:cNvPr id="44" name="Text 42"/>
          <p:cNvSpPr/>
          <p:nvPr/>
        </p:nvSpPr>
        <p:spPr>
          <a:xfrm>
            <a:off x="7845552" y="3657600"/>
            <a:ext cx="1005840"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OWASP + Pentest</a:t>
            </a:r>
            <a:endParaRPr lang="en-US" sz="800" dirty="0"/>
          </a:p>
        </p:txBody>
      </p:sp>
      <p:sp>
        <p:nvSpPr>
          <p:cNvPr id="45" name="Text 43"/>
          <p:cNvSpPr/>
          <p:nvPr/>
        </p:nvSpPr>
        <p:spPr>
          <a:xfrm>
            <a:off x="4937760" y="3913632"/>
            <a:ext cx="3886200" cy="18288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 Security Consultant  ·  📅 Wk 6</a:t>
            </a:r>
            <a:endParaRPr lang="en-US" sz="750" dirty="0"/>
          </a:p>
        </p:txBody>
      </p:sp>
      <p:sp>
        <p:nvSpPr>
          <p:cNvPr id="46" name="Text 44"/>
          <p:cNvSpPr/>
          <p:nvPr/>
        </p:nvSpPr>
        <p:spPr>
          <a:xfrm>
            <a:off x="4937760" y="4114800"/>
            <a:ext cx="3886200" cy="603504"/>
          </a:xfrm>
          <a:prstGeom prst="rect">
            <a:avLst/>
          </a:prstGeom>
          <a:noFill/>
          <a:ln/>
        </p:spPr>
        <p:txBody>
          <a:bodyPr wrap="square" rtlCol="0" anchor="t"/>
          <a:lstStyle/>
          <a:p>
            <a:pPr indent="0" marL="0">
              <a:buNone/>
            </a:pPr>
            <a:r>
              <a:rPr lang="en-US" sz="800" dirty="0">
                <a:solidFill>
                  <a:srgbClr val="1A1A2E"/>
                </a:solidFill>
                <a:latin typeface="Calibri" pitchFamily="34" charset="0"/>
                <a:ea typeface="Calibri" pitchFamily="34" charset="-122"/>
                <a:cs typeface="Calibri" pitchFamily="34" charset="-120"/>
              </a:rPr>
              <a:t>OWASP Mobile Top 10 audit. JWT expiry + rotation verified. SQL injection impossible (EF Core parameterised queries). S3 bucket policies audited. Penetration test report delivered.</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GO-LIVE READINESS</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Infrastructure &amp; Pre-Launch Checklist</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Shape 3"/>
          <p:cNvSpPr/>
          <p:nvPr/>
        </p:nvSpPr>
        <p:spPr>
          <a:xfrm>
            <a:off x="457200" y="1069848"/>
            <a:ext cx="4160520" cy="256032"/>
          </a:xfrm>
          <a:prstGeom prst="rect">
            <a:avLst/>
          </a:prstGeom>
          <a:solidFill>
            <a:srgbClr val="1B2F6E"/>
          </a:solidFill>
          <a:ln w="12700">
            <a:solidFill>
              <a:srgbClr val="1B2F6E"/>
            </a:solidFill>
            <a:prstDash val="solid"/>
          </a:ln>
        </p:spPr>
      </p:sp>
      <p:sp>
        <p:nvSpPr>
          <p:cNvPr id="6" name="Text 4"/>
          <p:cNvSpPr/>
          <p:nvPr/>
        </p:nvSpPr>
        <p:spPr>
          <a:xfrm>
            <a:off x="475488" y="1088136"/>
            <a:ext cx="4123944"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Infrastructure Setup (Week 9)</a:t>
            </a:r>
            <a:endParaRPr lang="en-US" sz="900" dirty="0"/>
          </a:p>
        </p:txBody>
      </p:sp>
      <p:sp>
        <p:nvSpPr>
          <p:cNvPr id="7" name="Shape 5"/>
          <p:cNvSpPr/>
          <p:nvPr/>
        </p:nvSpPr>
        <p:spPr>
          <a:xfrm>
            <a:off x="457200" y="1344168"/>
            <a:ext cx="4160520" cy="237744"/>
          </a:xfrm>
          <a:prstGeom prst="rect">
            <a:avLst/>
          </a:prstGeom>
          <a:solidFill>
            <a:srgbClr val="FFFFFF"/>
          </a:solidFill>
          <a:ln w="5080">
            <a:solidFill>
              <a:srgbClr val="E2E8F0"/>
            </a:solidFill>
            <a:prstDash val="solid"/>
          </a:ln>
        </p:spPr>
      </p:sp>
      <p:sp>
        <p:nvSpPr>
          <p:cNvPr id="8" name="Text 6"/>
          <p:cNvSpPr/>
          <p:nvPr/>
        </p:nvSpPr>
        <p:spPr>
          <a:xfrm>
            <a:off x="512064" y="1380744"/>
            <a:ext cx="4041648" cy="182880"/>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  AWS RDS PostgreSQL 16 Multi-AZ cluster provisioned in prod region</a:t>
            </a:r>
            <a:endParaRPr lang="en-US" sz="750" dirty="0"/>
          </a:p>
        </p:txBody>
      </p:sp>
      <p:sp>
        <p:nvSpPr>
          <p:cNvPr id="9" name="Shape 7"/>
          <p:cNvSpPr/>
          <p:nvPr/>
        </p:nvSpPr>
        <p:spPr>
          <a:xfrm>
            <a:off x="457200" y="1581912"/>
            <a:ext cx="4160520" cy="237744"/>
          </a:xfrm>
          <a:prstGeom prst="rect">
            <a:avLst/>
          </a:prstGeom>
          <a:solidFill>
            <a:srgbClr val="F8F9FC"/>
          </a:solidFill>
          <a:ln w="5080">
            <a:solidFill>
              <a:srgbClr val="E2E8F0"/>
            </a:solidFill>
            <a:prstDash val="solid"/>
          </a:ln>
        </p:spPr>
      </p:sp>
      <p:sp>
        <p:nvSpPr>
          <p:cNvPr id="10" name="Text 8"/>
          <p:cNvSpPr/>
          <p:nvPr/>
        </p:nvSpPr>
        <p:spPr>
          <a:xfrm>
            <a:off x="512064" y="1618488"/>
            <a:ext cx="4041648" cy="182880"/>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  RDS security group: ECS task CIDR only (no public endpoint)</a:t>
            </a:r>
            <a:endParaRPr lang="en-US" sz="750" dirty="0"/>
          </a:p>
        </p:txBody>
      </p:sp>
      <p:sp>
        <p:nvSpPr>
          <p:cNvPr id="11" name="Shape 9"/>
          <p:cNvSpPr/>
          <p:nvPr/>
        </p:nvSpPr>
        <p:spPr>
          <a:xfrm>
            <a:off x="457200" y="1819656"/>
            <a:ext cx="4160520" cy="237744"/>
          </a:xfrm>
          <a:prstGeom prst="rect">
            <a:avLst/>
          </a:prstGeom>
          <a:solidFill>
            <a:srgbClr val="FFFFFF"/>
          </a:solidFill>
          <a:ln w="5080">
            <a:solidFill>
              <a:srgbClr val="E2E8F0"/>
            </a:solidFill>
            <a:prstDash val="solid"/>
          </a:ln>
        </p:spPr>
      </p:sp>
      <p:sp>
        <p:nvSpPr>
          <p:cNvPr id="12" name="Text 10"/>
          <p:cNvSpPr/>
          <p:nvPr/>
        </p:nvSpPr>
        <p:spPr>
          <a:xfrm>
            <a:off x="512064" y="1856232"/>
            <a:ext cx="4041648" cy="182880"/>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  ECS Fargate task definition: .NET 8 container, 2 vCPU / 4GB RAM</a:t>
            </a:r>
            <a:endParaRPr lang="en-US" sz="750" dirty="0"/>
          </a:p>
        </p:txBody>
      </p:sp>
      <p:sp>
        <p:nvSpPr>
          <p:cNvPr id="13" name="Shape 11"/>
          <p:cNvSpPr/>
          <p:nvPr/>
        </p:nvSpPr>
        <p:spPr>
          <a:xfrm>
            <a:off x="457200" y="2057400"/>
            <a:ext cx="4160520" cy="237744"/>
          </a:xfrm>
          <a:prstGeom prst="rect">
            <a:avLst/>
          </a:prstGeom>
          <a:solidFill>
            <a:srgbClr val="F8F9FC"/>
          </a:solidFill>
          <a:ln w="5080">
            <a:solidFill>
              <a:srgbClr val="E2E8F0"/>
            </a:solidFill>
            <a:prstDash val="solid"/>
          </a:ln>
        </p:spPr>
      </p:sp>
      <p:sp>
        <p:nvSpPr>
          <p:cNvPr id="14" name="Text 12"/>
          <p:cNvSpPr/>
          <p:nvPr/>
        </p:nvSpPr>
        <p:spPr>
          <a:xfrm>
            <a:off x="512064" y="2093976"/>
            <a:ext cx="4041648" cy="182880"/>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  Auto-scaling policy: target CPU 70%, min 1 task, max 10 tasks</a:t>
            </a:r>
            <a:endParaRPr lang="en-US" sz="750" dirty="0"/>
          </a:p>
        </p:txBody>
      </p:sp>
      <p:sp>
        <p:nvSpPr>
          <p:cNvPr id="15" name="Shape 13"/>
          <p:cNvSpPr/>
          <p:nvPr/>
        </p:nvSpPr>
        <p:spPr>
          <a:xfrm>
            <a:off x="457200" y="2295144"/>
            <a:ext cx="4160520" cy="237744"/>
          </a:xfrm>
          <a:prstGeom prst="rect">
            <a:avLst/>
          </a:prstGeom>
          <a:solidFill>
            <a:srgbClr val="FFFFFF"/>
          </a:solidFill>
          <a:ln w="5080">
            <a:solidFill>
              <a:srgbClr val="E2E8F0"/>
            </a:solidFill>
            <a:prstDash val="solid"/>
          </a:ln>
        </p:spPr>
      </p:sp>
      <p:sp>
        <p:nvSpPr>
          <p:cNvPr id="16" name="Text 14"/>
          <p:cNvSpPr/>
          <p:nvPr/>
        </p:nvSpPr>
        <p:spPr>
          <a:xfrm>
            <a:off x="512064" y="2331720"/>
            <a:ext cx="4041648" cy="182880"/>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  CloudWatch alarms: CPU &gt;80%, error rate &gt;1%, p99 latency &gt;500ms</a:t>
            </a:r>
            <a:endParaRPr lang="en-US" sz="750" dirty="0"/>
          </a:p>
        </p:txBody>
      </p:sp>
      <p:sp>
        <p:nvSpPr>
          <p:cNvPr id="17" name="Shape 15"/>
          <p:cNvSpPr/>
          <p:nvPr/>
        </p:nvSpPr>
        <p:spPr>
          <a:xfrm>
            <a:off x="457200" y="2532888"/>
            <a:ext cx="4160520" cy="237744"/>
          </a:xfrm>
          <a:prstGeom prst="rect">
            <a:avLst/>
          </a:prstGeom>
          <a:solidFill>
            <a:srgbClr val="F8F9FC"/>
          </a:solidFill>
          <a:ln w="5080">
            <a:solidFill>
              <a:srgbClr val="E2E8F0"/>
            </a:solidFill>
            <a:prstDash val="solid"/>
          </a:ln>
        </p:spPr>
      </p:sp>
      <p:sp>
        <p:nvSpPr>
          <p:cNvPr id="18" name="Text 16"/>
          <p:cNvSpPr/>
          <p:nvPr/>
        </p:nvSpPr>
        <p:spPr>
          <a:xfrm>
            <a:off x="512064" y="2569464"/>
            <a:ext cx="4041648" cy="182880"/>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  AWS S3 bucket — private + CloudFront distribution with signed URLs</a:t>
            </a:r>
            <a:endParaRPr lang="en-US" sz="750" dirty="0"/>
          </a:p>
        </p:txBody>
      </p:sp>
      <p:sp>
        <p:nvSpPr>
          <p:cNvPr id="19" name="Shape 17"/>
          <p:cNvSpPr/>
          <p:nvPr/>
        </p:nvSpPr>
        <p:spPr>
          <a:xfrm>
            <a:off x="457200" y="2770632"/>
            <a:ext cx="4160520" cy="237744"/>
          </a:xfrm>
          <a:prstGeom prst="rect">
            <a:avLst/>
          </a:prstGeom>
          <a:solidFill>
            <a:srgbClr val="FFFFFF"/>
          </a:solidFill>
          <a:ln w="5080">
            <a:solidFill>
              <a:srgbClr val="E2E8F0"/>
            </a:solidFill>
            <a:prstDash val="solid"/>
          </a:ln>
        </p:spPr>
      </p:sp>
      <p:sp>
        <p:nvSpPr>
          <p:cNvPr id="20" name="Text 18"/>
          <p:cNvSpPr/>
          <p:nvPr/>
        </p:nvSpPr>
        <p:spPr>
          <a:xfrm>
            <a:off x="512064" y="2807208"/>
            <a:ext cx="4041648" cy="182880"/>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  SSL certificate (ACM) + custom domain configured on ALB</a:t>
            </a:r>
            <a:endParaRPr lang="en-US" sz="750" dirty="0"/>
          </a:p>
        </p:txBody>
      </p:sp>
      <p:sp>
        <p:nvSpPr>
          <p:cNvPr id="21" name="Shape 19"/>
          <p:cNvSpPr/>
          <p:nvPr/>
        </p:nvSpPr>
        <p:spPr>
          <a:xfrm>
            <a:off x="457200" y="3008376"/>
            <a:ext cx="4160520" cy="237744"/>
          </a:xfrm>
          <a:prstGeom prst="rect">
            <a:avLst/>
          </a:prstGeom>
          <a:solidFill>
            <a:srgbClr val="F8F9FC"/>
          </a:solidFill>
          <a:ln w="5080">
            <a:solidFill>
              <a:srgbClr val="E2E8F0"/>
            </a:solidFill>
            <a:prstDash val="solid"/>
          </a:ln>
        </p:spPr>
      </p:sp>
      <p:sp>
        <p:nvSpPr>
          <p:cNvPr id="22" name="Text 20"/>
          <p:cNvSpPr/>
          <p:nvPr/>
        </p:nvSpPr>
        <p:spPr>
          <a:xfrm>
            <a:off x="512064" y="3044952"/>
            <a:ext cx="4041648" cy="182880"/>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  GitHub Actions CI/CD pipeline: PR → build → test → ECS deploy</a:t>
            </a:r>
            <a:endParaRPr lang="en-US" sz="750" dirty="0"/>
          </a:p>
        </p:txBody>
      </p:sp>
      <p:sp>
        <p:nvSpPr>
          <p:cNvPr id="23" name="Shape 21"/>
          <p:cNvSpPr/>
          <p:nvPr/>
        </p:nvSpPr>
        <p:spPr>
          <a:xfrm>
            <a:off x="457200" y="3246120"/>
            <a:ext cx="4160520" cy="237744"/>
          </a:xfrm>
          <a:prstGeom prst="rect">
            <a:avLst/>
          </a:prstGeom>
          <a:solidFill>
            <a:srgbClr val="FFFFFF"/>
          </a:solidFill>
          <a:ln w="5080">
            <a:solidFill>
              <a:srgbClr val="E2E8F0"/>
            </a:solidFill>
            <a:prstDash val="solid"/>
          </a:ln>
        </p:spPr>
      </p:sp>
      <p:sp>
        <p:nvSpPr>
          <p:cNvPr id="24" name="Text 22"/>
          <p:cNvSpPr/>
          <p:nvPr/>
        </p:nvSpPr>
        <p:spPr>
          <a:xfrm>
            <a:off x="512064" y="3282696"/>
            <a:ext cx="4041648" cy="182880"/>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  Firebase Auth production project — production app credentials</a:t>
            </a:r>
            <a:endParaRPr lang="en-US" sz="750" dirty="0"/>
          </a:p>
        </p:txBody>
      </p:sp>
      <p:sp>
        <p:nvSpPr>
          <p:cNvPr id="25" name="Shape 23"/>
          <p:cNvSpPr/>
          <p:nvPr/>
        </p:nvSpPr>
        <p:spPr>
          <a:xfrm>
            <a:off x="457200" y="3483864"/>
            <a:ext cx="4160520" cy="237744"/>
          </a:xfrm>
          <a:prstGeom prst="rect">
            <a:avLst/>
          </a:prstGeom>
          <a:solidFill>
            <a:srgbClr val="F8F9FC"/>
          </a:solidFill>
          <a:ln w="5080">
            <a:solidFill>
              <a:srgbClr val="E2E8F0"/>
            </a:solidFill>
            <a:prstDash val="solid"/>
          </a:ln>
        </p:spPr>
      </p:sp>
      <p:sp>
        <p:nvSpPr>
          <p:cNvPr id="26" name="Text 24"/>
          <p:cNvSpPr/>
          <p:nvPr/>
        </p:nvSpPr>
        <p:spPr>
          <a:xfrm>
            <a:off x="512064" y="3520440"/>
            <a:ext cx="4041648" cy="182880"/>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  Twilio production account — voice + SMS phone numbers activated</a:t>
            </a:r>
            <a:endParaRPr lang="en-US" sz="750" dirty="0"/>
          </a:p>
        </p:txBody>
      </p:sp>
      <p:sp>
        <p:nvSpPr>
          <p:cNvPr id="27" name="Shape 25"/>
          <p:cNvSpPr/>
          <p:nvPr/>
        </p:nvSpPr>
        <p:spPr>
          <a:xfrm>
            <a:off x="457200" y="3721608"/>
            <a:ext cx="4160520" cy="237744"/>
          </a:xfrm>
          <a:prstGeom prst="rect">
            <a:avLst/>
          </a:prstGeom>
          <a:solidFill>
            <a:srgbClr val="FFFFFF"/>
          </a:solidFill>
          <a:ln w="5080">
            <a:solidFill>
              <a:srgbClr val="E2E8F0"/>
            </a:solidFill>
            <a:prstDash val="solid"/>
          </a:ln>
        </p:spPr>
      </p:sp>
      <p:sp>
        <p:nvSpPr>
          <p:cNvPr id="28" name="Text 26"/>
          <p:cNvSpPr/>
          <p:nvPr/>
        </p:nvSpPr>
        <p:spPr>
          <a:xfrm>
            <a:off x="512064" y="3758184"/>
            <a:ext cx="4041648" cy="182880"/>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  Firebase FCM production credentials + iOS APNs certificate</a:t>
            </a:r>
            <a:endParaRPr lang="en-US" sz="750" dirty="0"/>
          </a:p>
        </p:txBody>
      </p:sp>
      <p:sp>
        <p:nvSpPr>
          <p:cNvPr id="29" name="Shape 27"/>
          <p:cNvSpPr/>
          <p:nvPr/>
        </p:nvSpPr>
        <p:spPr>
          <a:xfrm>
            <a:off x="457200" y="3959352"/>
            <a:ext cx="4160520" cy="237744"/>
          </a:xfrm>
          <a:prstGeom prst="rect">
            <a:avLst/>
          </a:prstGeom>
          <a:solidFill>
            <a:srgbClr val="F8F9FC"/>
          </a:solidFill>
          <a:ln w="5080">
            <a:solidFill>
              <a:srgbClr val="E2E8F0"/>
            </a:solidFill>
            <a:prstDash val="solid"/>
          </a:ln>
        </p:spPr>
      </p:sp>
      <p:sp>
        <p:nvSpPr>
          <p:cNvPr id="30" name="Text 28"/>
          <p:cNvSpPr/>
          <p:nvPr/>
        </p:nvSpPr>
        <p:spPr>
          <a:xfrm>
            <a:off x="512064" y="3995928"/>
            <a:ext cx="4041648" cy="182880"/>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  ECS task IAM role: S3 read/write, SSM Parameter Store, CloudWatch</a:t>
            </a:r>
            <a:endParaRPr lang="en-US" sz="750" dirty="0"/>
          </a:p>
        </p:txBody>
      </p:sp>
      <p:sp>
        <p:nvSpPr>
          <p:cNvPr id="31" name="Shape 29"/>
          <p:cNvSpPr/>
          <p:nvPr/>
        </p:nvSpPr>
        <p:spPr>
          <a:xfrm>
            <a:off x="457200" y="4197096"/>
            <a:ext cx="4160520" cy="237744"/>
          </a:xfrm>
          <a:prstGeom prst="rect">
            <a:avLst/>
          </a:prstGeom>
          <a:solidFill>
            <a:srgbClr val="FFFFFF"/>
          </a:solidFill>
          <a:ln w="5080">
            <a:solidFill>
              <a:srgbClr val="E2E8F0"/>
            </a:solidFill>
            <a:prstDash val="solid"/>
          </a:ln>
        </p:spPr>
      </p:sp>
      <p:sp>
        <p:nvSpPr>
          <p:cNvPr id="32" name="Text 30"/>
          <p:cNvSpPr/>
          <p:nvPr/>
        </p:nvSpPr>
        <p:spPr>
          <a:xfrm>
            <a:off x="512064" y="4233672"/>
            <a:ext cx="4041648" cy="182880"/>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  AWS WAF rules on ALB — rate limiting 1,000 req/min per IP</a:t>
            </a:r>
            <a:endParaRPr lang="en-US" sz="750" dirty="0"/>
          </a:p>
        </p:txBody>
      </p:sp>
      <p:sp>
        <p:nvSpPr>
          <p:cNvPr id="33" name="Shape 31"/>
          <p:cNvSpPr/>
          <p:nvPr/>
        </p:nvSpPr>
        <p:spPr>
          <a:xfrm>
            <a:off x="457200" y="4434840"/>
            <a:ext cx="4160520" cy="237744"/>
          </a:xfrm>
          <a:prstGeom prst="rect">
            <a:avLst/>
          </a:prstGeom>
          <a:solidFill>
            <a:srgbClr val="F8F9FC"/>
          </a:solidFill>
          <a:ln w="5080">
            <a:solidFill>
              <a:srgbClr val="E2E8F0"/>
            </a:solidFill>
            <a:prstDash val="solid"/>
          </a:ln>
        </p:spPr>
      </p:sp>
      <p:sp>
        <p:nvSpPr>
          <p:cNvPr id="34" name="Text 32"/>
          <p:cNvSpPr/>
          <p:nvPr/>
        </p:nvSpPr>
        <p:spPr>
          <a:xfrm>
            <a:off x="512064" y="4471416"/>
            <a:ext cx="4041648" cy="182880"/>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  Secrets in AWS SSM Parameter Store (no env vars in code)</a:t>
            </a:r>
            <a:endParaRPr lang="en-US" sz="750" dirty="0"/>
          </a:p>
        </p:txBody>
      </p:sp>
      <p:sp>
        <p:nvSpPr>
          <p:cNvPr id="35" name="Shape 33"/>
          <p:cNvSpPr/>
          <p:nvPr/>
        </p:nvSpPr>
        <p:spPr>
          <a:xfrm>
            <a:off x="4754880" y="1069848"/>
            <a:ext cx="4160520" cy="256032"/>
          </a:xfrm>
          <a:prstGeom prst="rect">
            <a:avLst/>
          </a:prstGeom>
          <a:solidFill>
            <a:srgbClr val="10B981"/>
          </a:solidFill>
          <a:ln w="12700">
            <a:solidFill>
              <a:srgbClr val="10B981"/>
            </a:solidFill>
            <a:prstDash val="solid"/>
          </a:ln>
        </p:spPr>
      </p:sp>
      <p:sp>
        <p:nvSpPr>
          <p:cNvPr id="36" name="Text 34"/>
          <p:cNvSpPr/>
          <p:nvPr/>
        </p:nvSpPr>
        <p:spPr>
          <a:xfrm>
            <a:off x="4773168" y="1088136"/>
            <a:ext cx="4123944"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Pre-Launch Checklist (35+ items)</a:t>
            </a:r>
            <a:endParaRPr lang="en-US" sz="900" dirty="0"/>
          </a:p>
        </p:txBody>
      </p:sp>
      <p:sp>
        <p:nvSpPr>
          <p:cNvPr id="37" name="Shape 35"/>
          <p:cNvSpPr/>
          <p:nvPr/>
        </p:nvSpPr>
        <p:spPr>
          <a:xfrm>
            <a:off x="4754880" y="1344168"/>
            <a:ext cx="4160520" cy="208483"/>
          </a:xfrm>
          <a:prstGeom prst="rect">
            <a:avLst/>
          </a:prstGeom>
          <a:solidFill>
            <a:srgbClr val="FFFFFF"/>
          </a:solidFill>
          <a:ln w="3810">
            <a:solidFill>
              <a:srgbClr val="E2E8F0"/>
            </a:solidFill>
            <a:prstDash val="solid"/>
          </a:ln>
        </p:spPr>
      </p:sp>
      <p:sp>
        <p:nvSpPr>
          <p:cNvPr id="38" name="Text 36"/>
          <p:cNvSpPr/>
          <p:nvPr/>
        </p:nvSpPr>
        <p:spPr>
          <a:xfrm>
            <a:off x="4809744" y="1371600"/>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All 14 REST API endpoints return expected responses</a:t>
            </a:r>
            <a:endParaRPr lang="en-US" sz="700" dirty="0"/>
          </a:p>
        </p:txBody>
      </p:sp>
      <p:sp>
        <p:nvSpPr>
          <p:cNvPr id="39" name="Shape 37"/>
          <p:cNvSpPr/>
          <p:nvPr/>
        </p:nvSpPr>
        <p:spPr>
          <a:xfrm>
            <a:off x="4754880" y="1552651"/>
            <a:ext cx="4160520" cy="208483"/>
          </a:xfrm>
          <a:prstGeom prst="rect">
            <a:avLst/>
          </a:prstGeom>
          <a:solidFill>
            <a:srgbClr val="F0FDF4"/>
          </a:solidFill>
          <a:ln w="3810">
            <a:solidFill>
              <a:srgbClr val="E2E8F0"/>
            </a:solidFill>
            <a:prstDash val="solid"/>
          </a:ln>
        </p:spPr>
      </p:sp>
      <p:sp>
        <p:nvSpPr>
          <p:cNvPr id="40" name="Text 38"/>
          <p:cNvSpPr/>
          <p:nvPr/>
        </p:nvSpPr>
        <p:spPr>
          <a:xfrm>
            <a:off x="4809744" y="1580083"/>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Playwright E2E suite passes in headless CI (100% pass rate)</a:t>
            </a:r>
            <a:endParaRPr lang="en-US" sz="700" dirty="0"/>
          </a:p>
        </p:txBody>
      </p:sp>
      <p:sp>
        <p:nvSpPr>
          <p:cNvPr id="41" name="Shape 39"/>
          <p:cNvSpPr/>
          <p:nvPr/>
        </p:nvSpPr>
        <p:spPr>
          <a:xfrm>
            <a:off x="4754880" y="1761134"/>
            <a:ext cx="4160520" cy="208483"/>
          </a:xfrm>
          <a:prstGeom prst="rect">
            <a:avLst/>
          </a:prstGeom>
          <a:solidFill>
            <a:srgbClr val="FFFFFF"/>
          </a:solidFill>
          <a:ln w="3810">
            <a:solidFill>
              <a:srgbClr val="E2E8F0"/>
            </a:solidFill>
            <a:prstDash val="solid"/>
          </a:ln>
        </p:spPr>
      </p:sp>
      <p:sp>
        <p:nvSpPr>
          <p:cNvPr id="42" name="Text 40"/>
          <p:cNvSpPr/>
          <p:nvPr/>
        </p:nvSpPr>
        <p:spPr>
          <a:xfrm>
            <a:off x="4809744" y="1788566"/>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Appium E2E passes on iOS Simulator + Android Emulator</a:t>
            </a:r>
            <a:endParaRPr lang="en-US" sz="700" dirty="0"/>
          </a:p>
        </p:txBody>
      </p:sp>
      <p:sp>
        <p:nvSpPr>
          <p:cNvPr id="43" name="Shape 41"/>
          <p:cNvSpPr/>
          <p:nvPr/>
        </p:nvSpPr>
        <p:spPr>
          <a:xfrm>
            <a:off x="4754880" y="1969618"/>
            <a:ext cx="4160520" cy="208483"/>
          </a:xfrm>
          <a:prstGeom prst="rect">
            <a:avLst/>
          </a:prstGeom>
          <a:solidFill>
            <a:srgbClr val="F0FDF4"/>
          </a:solidFill>
          <a:ln w="3810">
            <a:solidFill>
              <a:srgbClr val="E2E8F0"/>
            </a:solidFill>
            <a:prstDash val="solid"/>
          </a:ln>
        </p:spPr>
      </p:sp>
      <p:sp>
        <p:nvSpPr>
          <p:cNvPr id="44" name="Text 42"/>
          <p:cNvSpPr/>
          <p:nvPr/>
        </p:nvSpPr>
        <p:spPr>
          <a:xfrm>
            <a:off x="4809744" y="1997050"/>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Video streaming: first frame &lt; 2s via CloudFront CDN</a:t>
            </a:r>
            <a:endParaRPr lang="en-US" sz="700" dirty="0"/>
          </a:p>
        </p:txBody>
      </p:sp>
      <p:sp>
        <p:nvSpPr>
          <p:cNvPr id="45" name="Shape 43"/>
          <p:cNvSpPr/>
          <p:nvPr/>
        </p:nvSpPr>
        <p:spPr>
          <a:xfrm>
            <a:off x="4754880" y="2178101"/>
            <a:ext cx="4160520" cy="208483"/>
          </a:xfrm>
          <a:prstGeom prst="rect">
            <a:avLst/>
          </a:prstGeom>
          <a:solidFill>
            <a:srgbClr val="FFFFFF"/>
          </a:solidFill>
          <a:ln w="3810">
            <a:solidFill>
              <a:srgbClr val="E2E8F0"/>
            </a:solidFill>
            <a:prstDash val="solid"/>
          </a:ln>
        </p:spPr>
      </p:sp>
      <p:sp>
        <p:nvSpPr>
          <p:cNvPr id="46" name="Text 44"/>
          <p:cNvSpPr/>
          <p:nvPr/>
        </p:nvSpPr>
        <p:spPr>
          <a:xfrm>
            <a:off x="4809744" y="2205533"/>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Push notification delivered in &lt; 5s on physical device</a:t>
            </a:r>
            <a:endParaRPr lang="en-US" sz="700" dirty="0"/>
          </a:p>
        </p:txBody>
      </p:sp>
      <p:sp>
        <p:nvSpPr>
          <p:cNvPr id="47" name="Shape 45"/>
          <p:cNvSpPr/>
          <p:nvPr/>
        </p:nvSpPr>
        <p:spPr>
          <a:xfrm>
            <a:off x="4754880" y="2386584"/>
            <a:ext cx="4160520" cy="208483"/>
          </a:xfrm>
          <a:prstGeom prst="rect">
            <a:avLst/>
          </a:prstGeom>
          <a:solidFill>
            <a:srgbClr val="F0FDF4"/>
          </a:solidFill>
          <a:ln w="3810">
            <a:solidFill>
              <a:srgbClr val="E2E8F0"/>
            </a:solidFill>
            <a:prstDash val="solid"/>
          </a:ln>
        </p:spPr>
      </p:sp>
      <p:sp>
        <p:nvSpPr>
          <p:cNvPr id="48" name="Text 46"/>
          <p:cNvSpPr/>
          <p:nvPr/>
        </p:nvSpPr>
        <p:spPr>
          <a:xfrm>
            <a:off x="4809744" y="2414016"/>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Twilio VoIP call connects in &lt; 3s (staging → prod)</a:t>
            </a:r>
            <a:endParaRPr lang="en-US" sz="700" dirty="0"/>
          </a:p>
        </p:txBody>
      </p:sp>
      <p:sp>
        <p:nvSpPr>
          <p:cNvPr id="49" name="Shape 47"/>
          <p:cNvSpPr/>
          <p:nvPr/>
        </p:nvSpPr>
        <p:spPr>
          <a:xfrm>
            <a:off x="4754880" y="2595067"/>
            <a:ext cx="4160520" cy="208483"/>
          </a:xfrm>
          <a:prstGeom prst="rect">
            <a:avLst/>
          </a:prstGeom>
          <a:solidFill>
            <a:srgbClr val="FFFFFF"/>
          </a:solidFill>
          <a:ln w="3810">
            <a:solidFill>
              <a:srgbClr val="E2E8F0"/>
            </a:solidFill>
            <a:prstDash val="solid"/>
          </a:ln>
        </p:spPr>
      </p:sp>
      <p:sp>
        <p:nvSpPr>
          <p:cNvPr id="50" name="Text 48"/>
          <p:cNvSpPr/>
          <p:nvPr/>
        </p:nvSpPr>
        <p:spPr>
          <a:xfrm>
            <a:off x="4809744" y="2622499"/>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JWT token expiry + refresh flow verified</a:t>
            </a:r>
            <a:endParaRPr lang="en-US" sz="700" dirty="0"/>
          </a:p>
        </p:txBody>
      </p:sp>
      <p:sp>
        <p:nvSpPr>
          <p:cNvPr id="51" name="Shape 49"/>
          <p:cNvSpPr/>
          <p:nvPr/>
        </p:nvSpPr>
        <p:spPr>
          <a:xfrm>
            <a:off x="4754880" y="2803550"/>
            <a:ext cx="4160520" cy="208483"/>
          </a:xfrm>
          <a:prstGeom prst="rect">
            <a:avLst/>
          </a:prstGeom>
          <a:solidFill>
            <a:srgbClr val="F0FDF4"/>
          </a:solidFill>
          <a:ln w="3810">
            <a:solidFill>
              <a:srgbClr val="E2E8F0"/>
            </a:solidFill>
            <a:prstDash val="solid"/>
          </a:ln>
        </p:spPr>
      </p:sp>
      <p:sp>
        <p:nvSpPr>
          <p:cNvPr id="52" name="Text 50"/>
          <p:cNvSpPr/>
          <p:nvPr/>
        </p:nvSpPr>
        <p:spPr>
          <a:xfrm>
            <a:off x="4809744" y="2830982"/>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PostgreSQL RDS failover tested (Multi-AZ switchover)</a:t>
            </a:r>
            <a:endParaRPr lang="en-US" sz="700" dirty="0"/>
          </a:p>
        </p:txBody>
      </p:sp>
      <p:sp>
        <p:nvSpPr>
          <p:cNvPr id="53" name="Shape 51"/>
          <p:cNvSpPr/>
          <p:nvPr/>
        </p:nvSpPr>
        <p:spPr>
          <a:xfrm>
            <a:off x="4754880" y="3012034"/>
            <a:ext cx="4160520" cy="208483"/>
          </a:xfrm>
          <a:prstGeom prst="rect">
            <a:avLst/>
          </a:prstGeom>
          <a:solidFill>
            <a:srgbClr val="FFFFFF"/>
          </a:solidFill>
          <a:ln w="3810">
            <a:solidFill>
              <a:srgbClr val="E2E8F0"/>
            </a:solidFill>
            <a:prstDash val="solid"/>
          </a:ln>
        </p:spPr>
      </p:sp>
      <p:sp>
        <p:nvSpPr>
          <p:cNvPr id="54" name="Text 52"/>
          <p:cNvSpPr/>
          <p:nvPr/>
        </p:nvSpPr>
        <p:spPr>
          <a:xfrm>
            <a:off x="4809744" y="3039466"/>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OWASP Mobile Top 10 — zero critical findings</a:t>
            </a:r>
            <a:endParaRPr lang="en-US" sz="700" dirty="0"/>
          </a:p>
        </p:txBody>
      </p:sp>
      <p:sp>
        <p:nvSpPr>
          <p:cNvPr id="55" name="Shape 53"/>
          <p:cNvSpPr/>
          <p:nvPr/>
        </p:nvSpPr>
        <p:spPr>
          <a:xfrm>
            <a:off x="4754880" y="3220517"/>
            <a:ext cx="4160520" cy="208483"/>
          </a:xfrm>
          <a:prstGeom prst="rect">
            <a:avLst/>
          </a:prstGeom>
          <a:solidFill>
            <a:srgbClr val="F0FDF4"/>
          </a:solidFill>
          <a:ln w="3810">
            <a:solidFill>
              <a:srgbClr val="E2E8F0"/>
            </a:solidFill>
            <a:prstDash val="solid"/>
          </a:ln>
        </p:spPr>
      </p:sp>
      <p:sp>
        <p:nvSpPr>
          <p:cNvPr id="56" name="Text 54"/>
          <p:cNvSpPr/>
          <p:nvPr/>
        </p:nvSpPr>
        <p:spPr>
          <a:xfrm>
            <a:off x="4809744" y="3247949"/>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Privacy policy + terms accepted at onboarding</a:t>
            </a:r>
            <a:endParaRPr lang="en-US" sz="700" dirty="0"/>
          </a:p>
        </p:txBody>
      </p:sp>
      <p:sp>
        <p:nvSpPr>
          <p:cNvPr id="57" name="Shape 55"/>
          <p:cNvSpPr/>
          <p:nvPr/>
        </p:nvSpPr>
        <p:spPr>
          <a:xfrm>
            <a:off x="4754880" y="3429000"/>
            <a:ext cx="4160520" cy="208483"/>
          </a:xfrm>
          <a:prstGeom prst="rect">
            <a:avLst/>
          </a:prstGeom>
          <a:solidFill>
            <a:srgbClr val="FFFFFF"/>
          </a:solidFill>
          <a:ln w="3810">
            <a:solidFill>
              <a:srgbClr val="E2E8F0"/>
            </a:solidFill>
            <a:prstDash val="solid"/>
          </a:ln>
        </p:spPr>
      </p:sp>
      <p:sp>
        <p:nvSpPr>
          <p:cNvPr id="58" name="Text 56"/>
          <p:cNvSpPr/>
          <p:nvPr/>
        </p:nvSpPr>
        <p:spPr>
          <a:xfrm>
            <a:off x="4809744" y="3456432"/>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App Store screenshots + metadata approved</a:t>
            </a:r>
            <a:endParaRPr lang="en-US" sz="700" dirty="0"/>
          </a:p>
        </p:txBody>
      </p:sp>
      <p:sp>
        <p:nvSpPr>
          <p:cNvPr id="59" name="Shape 57"/>
          <p:cNvSpPr/>
          <p:nvPr/>
        </p:nvSpPr>
        <p:spPr>
          <a:xfrm>
            <a:off x="4754880" y="3637483"/>
            <a:ext cx="4160520" cy="208483"/>
          </a:xfrm>
          <a:prstGeom prst="rect">
            <a:avLst/>
          </a:prstGeom>
          <a:solidFill>
            <a:srgbClr val="F0FDF4"/>
          </a:solidFill>
          <a:ln w="3810">
            <a:solidFill>
              <a:srgbClr val="E2E8F0"/>
            </a:solidFill>
            <a:prstDash val="solid"/>
          </a:ln>
        </p:spPr>
      </p:sp>
      <p:sp>
        <p:nvSpPr>
          <p:cNvPr id="60" name="Text 58"/>
          <p:cNvSpPr/>
          <p:nvPr/>
        </p:nvSpPr>
        <p:spPr>
          <a:xfrm>
            <a:off x="4809744" y="3664915"/>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Play Store listing + content rating submitted</a:t>
            </a:r>
            <a:endParaRPr lang="en-US" sz="700" dirty="0"/>
          </a:p>
        </p:txBody>
      </p:sp>
      <p:sp>
        <p:nvSpPr>
          <p:cNvPr id="61" name="Shape 59"/>
          <p:cNvSpPr/>
          <p:nvPr/>
        </p:nvSpPr>
        <p:spPr>
          <a:xfrm>
            <a:off x="4754880" y="3845966"/>
            <a:ext cx="4160520" cy="208483"/>
          </a:xfrm>
          <a:prstGeom prst="rect">
            <a:avLst/>
          </a:prstGeom>
          <a:solidFill>
            <a:srgbClr val="FFFFFF"/>
          </a:solidFill>
          <a:ln w="3810">
            <a:solidFill>
              <a:srgbClr val="E2E8F0"/>
            </a:solidFill>
            <a:prstDash val="solid"/>
          </a:ln>
        </p:spPr>
      </p:sp>
      <p:sp>
        <p:nvSpPr>
          <p:cNvPr id="62" name="Text 60"/>
          <p:cNvSpPr/>
          <p:nvPr/>
        </p:nvSpPr>
        <p:spPr>
          <a:xfrm>
            <a:off x="4809744" y="3873398"/>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ANM UAT participants — acceptance form signed</a:t>
            </a:r>
            <a:endParaRPr lang="en-US" sz="700" dirty="0"/>
          </a:p>
        </p:txBody>
      </p:sp>
      <p:sp>
        <p:nvSpPr>
          <p:cNvPr id="63" name="Shape 61"/>
          <p:cNvSpPr/>
          <p:nvPr/>
        </p:nvSpPr>
        <p:spPr>
          <a:xfrm>
            <a:off x="4754880" y="4054450"/>
            <a:ext cx="4160520" cy="208483"/>
          </a:xfrm>
          <a:prstGeom prst="rect">
            <a:avLst/>
          </a:prstGeom>
          <a:solidFill>
            <a:srgbClr val="F0FDF4"/>
          </a:solidFill>
          <a:ln w="3810">
            <a:solidFill>
              <a:srgbClr val="E2E8F0"/>
            </a:solidFill>
            <a:prstDash val="solid"/>
          </a:ln>
        </p:spPr>
      </p:sp>
      <p:sp>
        <p:nvSpPr>
          <p:cNvPr id="64" name="Text 62"/>
          <p:cNvSpPr/>
          <p:nvPr/>
        </p:nvSpPr>
        <p:spPr>
          <a:xfrm>
            <a:off x="4809744" y="4081882"/>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DNS/domain records propagated globally</a:t>
            </a:r>
            <a:endParaRPr lang="en-US" sz="700" dirty="0"/>
          </a:p>
        </p:txBody>
      </p:sp>
      <p:sp>
        <p:nvSpPr>
          <p:cNvPr id="65" name="Shape 63"/>
          <p:cNvSpPr/>
          <p:nvPr/>
        </p:nvSpPr>
        <p:spPr>
          <a:xfrm>
            <a:off x="4754880" y="4262933"/>
            <a:ext cx="4160520" cy="208483"/>
          </a:xfrm>
          <a:prstGeom prst="rect">
            <a:avLst/>
          </a:prstGeom>
          <a:solidFill>
            <a:srgbClr val="FFFFFF"/>
          </a:solidFill>
          <a:ln w="3810">
            <a:solidFill>
              <a:srgbClr val="E2E8F0"/>
            </a:solidFill>
            <a:prstDash val="solid"/>
          </a:ln>
        </p:spPr>
      </p:sp>
      <p:sp>
        <p:nvSpPr>
          <p:cNvPr id="66" name="Text 64"/>
          <p:cNvSpPr/>
          <p:nvPr/>
        </p:nvSpPr>
        <p:spPr>
          <a:xfrm>
            <a:off x="4809744" y="4290365"/>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Rollback procedure documented and tested</a:t>
            </a:r>
            <a:endParaRPr lang="en-US" sz="700" dirty="0"/>
          </a:p>
        </p:txBody>
      </p:sp>
      <p:sp>
        <p:nvSpPr>
          <p:cNvPr id="67" name="Shape 65"/>
          <p:cNvSpPr/>
          <p:nvPr/>
        </p:nvSpPr>
        <p:spPr>
          <a:xfrm>
            <a:off x="4754880" y="4471416"/>
            <a:ext cx="4160520" cy="208483"/>
          </a:xfrm>
          <a:prstGeom prst="rect">
            <a:avLst/>
          </a:prstGeom>
          <a:solidFill>
            <a:srgbClr val="F0FDF4"/>
          </a:solidFill>
          <a:ln w="3810">
            <a:solidFill>
              <a:srgbClr val="E2E8F0"/>
            </a:solidFill>
            <a:prstDash val="solid"/>
          </a:ln>
        </p:spPr>
      </p:sp>
      <p:sp>
        <p:nvSpPr>
          <p:cNvPr id="68" name="Text 66"/>
          <p:cNvSpPr/>
          <p:nvPr/>
        </p:nvSpPr>
        <p:spPr>
          <a:xfrm>
            <a:off x="4809744" y="4498848"/>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Admin team trained on backend portal</a:t>
            </a:r>
            <a:endParaRPr lang="en-US" sz="700" dirty="0"/>
          </a:p>
        </p:txBody>
      </p:sp>
      <p:sp>
        <p:nvSpPr>
          <p:cNvPr id="69" name="Shape 67"/>
          <p:cNvSpPr/>
          <p:nvPr/>
        </p:nvSpPr>
        <p:spPr>
          <a:xfrm>
            <a:off x="4754880" y="4679899"/>
            <a:ext cx="4160520" cy="208483"/>
          </a:xfrm>
          <a:prstGeom prst="rect">
            <a:avLst/>
          </a:prstGeom>
          <a:solidFill>
            <a:srgbClr val="FFFFFF"/>
          </a:solidFill>
          <a:ln w="3810">
            <a:solidFill>
              <a:srgbClr val="E2E8F0"/>
            </a:solidFill>
            <a:prstDash val="solid"/>
          </a:ln>
        </p:spPr>
      </p:sp>
      <p:sp>
        <p:nvSpPr>
          <p:cNvPr id="70" name="Text 68"/>
          <p:cNvSpPr/>
          <p:nvPr/>
        </p:nvSpPr>
        <p:spPr>
          <a:xfrm>
            <a:off x="4809744" y="4707331"/>
            <a:ext cx="4041648" cy="164592"/>
          </a:xfrm>
          <a:prstGeom prst="rect">
            <a:avLst/>
          </a:prstGeom>
          <a:noFill/>
          <a:ln/>
        </p:spPr>
        <p:txBody>
          <a:bodyPr wrap="square" rtlCol="0" anchor="ctr"/>
          <a:lstStyle/>
          <a:p>
            <a:pPr indent="0" marL="0">
              <a:buNone/>
            </a:pPr>
            <a:r>
              <a:rPr lang="en-US" sz="700" dirty="0">
                <a:solidFill>
                  <a:srgbClr val="1A1A2E"/>
                </a:solidFill>
                <a:latin typeface="Calibri" pitchFamily="34" charset="0"/>
                <a:ea typeface="Calibri" pitchFamily="34" charset="-122"/>
                <a:cs typeface="Calibri" pitchFamily="34" charset="-120"/>
              </a:rPr>
              <a:t>✅ Source code + deploy docs delivered to ANM</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COMMUNICATION</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Communication &amp; Reporting Plan</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Shape 3"/>
          <p:cNvSpPr/>
          <p:nvPr/>
        </p:nvSpPr>
        <p:spPr>
          <a:xfrm>
            <a:off x="457200" y="1115568"/>
            <a:ext cx="8458200" cy="859536"/>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6" name="Shape 4"/>
          <p:cNvSpPr/>
          <p:nvPr/>
        </p:nvSpPr>
        <p:spPr>
          <a:xfrm>
            <a:off x="457200" y="1115568"/>
            <a:ext cx="1097280" cy="859536"/>
          </a:xfrm>
          <a:prstGeom prst="rect">
            <a:avLst/>
          </a:prstGeom>
          <a:solidFill>
            <a:srgbClr val="1B2F6E"/>
          </a:solidFill>
          <a:ln w="12700">
            <a:solidFill>
              <a:srgbClr val="1B2F6E"/>
            </a:solidFill>
            <a:prstDash val="solid"/>
          </a:ln>
        </p:spPr>
      </p:sp>
      <p:sp>
        <p:nvSpPr>
          <p:cNvPr id="7" name="Text 5"/>
          <p:cNvSpPr/>
          <p:nvPr/>
        </p:nvSpPr>
        <p:spPr>
          <a:xfrm>
            <a:off x="457200" y="1261872"/>
            <a:ext cx="1097280" cy="274320"/>
          </a:xfrm>
          <a:prstGeom prst="rect">
            <a:avLst/>
          </a:prstGeom>
          <a:noFill/>
          <a:ln/>
        </p:spPr>
        <p:txBody>
          <a:bodyPr wrap="square" rtlCol="0" anchor="ctr"/>
          <a:lstStyle/>
          <a:p>
            <a:pPr algn="ctr" indent="0" marL="0">
              <a:buNone/>
            </a:pPr>
            <a:r>
              <a:rPr lang="en-US" sz="1400" b="1" dirty="0">
                <a:solidFill>
                  <a:srgbClr val="F0A500"/>
                </a:solidFill>
                <a:latin typeface="Calibri" pitchFamily="34" charset="0"/>
                <a:ea typeface="Calibri" pitchFamily="34" charset="-122"/>
                <a:cs typeface="Calibri" pitchFamily="34" charset="-120"/>
              </a:rPr>
              <a:t>Daily</a:t>
            </a:r>
            <a:endParaRPr lang="en-US" sz="1400" dirty="0"/>
          </a:p>
        </p:txBody>
      </p:sp>
      <p:sp>
        <p:nvSpPr>
          <p:cNvPr id="8" name="Text 6"/>
          <p:cNvSpPr/>
          <p:nvPr/>
        </p:nvSpPr>
        <p:spPr>
          <a:xfrm>
            <a:off x="457200" y="1591056"/>
            <a:ext cx="1097280" cy="201168"/>
          </a:xfrm>
          <a:prstGeom prst="rect">
            <a:avLst/>
          </a:prstGeom>
          <a:noFill/>
          <a:ln/>
        </p:spPr>
        <p:txBody>
          <a:bodyPr wrap="square" rtlCol="0" anchor="ctr"/>
          <a:lstStyle/>
          <a:p>
            <a:pPr algn="ctr" indent="0" marL="0">
              <a:buNone/>
            </a:pPr>
            <a:r>
              <a:rPr lang="en-US" sz="750" dirty="0">
                <a:solidFill>
                  <a:srgbClr val="000000"/>
                </a:solidFill>
                <a:latin typeface="Calibri" pitchFamily="34" charset="0"/>
                <a:ea typeface="Calibri" pitchFamily="34" charset="-122"/>
                <a:cs typeface="Calibri" pitchFamily="34" charset="-120"/>
              </a:rPr>
              <a:t>Standup</a:t>
            </a:r>
            <a:endParaRPr lang="en-US" sz="750" dirty="0"/>
          </a:p>
        </p:txBody>
      </p:sp>
      <p:sp>
        <p:nvSpPr>
          <p:cNvPr id="9" name="Text 7"/>
          <p:cNvSpPr/>
          <p:nvPr/>
        </p:nvSpPr>
        <p:spPr>
          <a:xfrm>
            <a:off x="1645920" y="1170432"/>
            <a:ext cx="2194560" cy="237744"/>
          </a:xfrm>
          <a:prstGeom prst="rect">
            <a:avLst/>
          </a:prstGeom>
          <a:noFill/>
          <a:ln/>
        </p:spPr>
        <p:txBody>
          <a:bodyPr wrap="square" rtlCol="0" anchor="ctr"/>
          <a:lstStyle/>
          <a:p>
            <a:pPr indent="0" marL="0">
              <a:buNone/>
            </a:pPr>
            <a:r>
              <a:rPr lang="en-US" sz="950" b="1" dirty="0">
                <a:solidFill>
                  <a:srgbClr val="1B2F6E"/>
                </a:solidFill>
                <a:latin typeface="Calibri" pitchFamily="34" charset="0"/>
                <a:ea typeface="Calibri" pitchFamily="34" charset="-122"/>
                <a:cs typeface="Calibri" pitchFamily="34" charset="-120"/>
              </a:rPr>
              <a:t>Slack / Teams</a:t>
            </a:r>
            <a:endParaRPr lang="en-US" sz="950" dirty="0"/>
          </a:p>
        </p:txBody>
      </p:sp>
      <p:sp>
        <p:nvSpPr>
          <p:cNvPr id="10" name="Shape 8"/>
          <p:cNvSpPr/>
          <p:nvPr/>
        </p:nvSpPr>
        <p:spPr>
          <a:xfrm>
            <a:off x="1645920" y="1426464"/>
            <a:ext cx="1463040" cy="182880"/>
          </a:xfrm>
          <a:prstGeom prst="roundRect">
            <a:avLst>
              <a:gd name="adj" fmla="val 40000"/>
            </a:avLst>
          </a:prstGeom>
          <a:solidFill>
            <a:srgbClr val="243D8C"/>
          </a:solidFill>
          <a:ln w="12700">
            <a:solidFill>
              <a:srgbClr val="243D8C"/>
            </a:solidFill>
            <a:prstDash val="solid"/>
          </a:ln>
        </p:spPr>
      </p:sp>
      <p:sp>
        <p:nvSpPr>
          <p:cNvPr id="11" name="Text 9"/>
          <p:cNvSpPr/>
          <p:nvPr/>
        </p:nvSpPr>
        <p:spPr>
          <a:xfrm>
            <a:off x="1645920" y="1426464"/>
            <a:ext cx="1463040" cy="18288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Dev Team</a:t>
            </a:r>
            <a:endParaRPr lang="en-US" sz="800" dirty="0"/>
          </a:p>
        </p:txBody>
      </p:sp>
      <p:sp>
        <p:nvSpPr>
          <p:cNvPr id="12" name="Text 10"/>
          <p:cNvSpPr/>
          <p:nvPr/>
        </p:nvSpPr>
        <p:spPr>
          <a:xfrm>
            <a:off x="3931920" y="1225296"/>
            <a:ext cx="4846320" cy="6400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15-min async standup: yesterday / today / blockers. PM reviews blockers and escalates within 2 hours.</a:t>
            </a:r>
            <a:endParaRPr lang="en-US" sz="900" dirty="0"/>
          </a:p>
        </p:txBody>
      </p:sp>
      <p:sp>
        <p:nvSpPr>
          <p:cNvPr id="13" name="Shape 11"/>
          <p:cNvSpPr/>
          <p:nvPr/>
        </p:nvSpPr>
        <p:spPr>
          <a:xfrm>
            <a:off x="3840480" y="1243584"/>
            <a:ext cx="0" cy="603504"/>
          </a:xfrm>
          <a:prstGeom prst="line">
            <a:avLst/>
          </a:prstGeom>
          <a:noFill/>
          <a:ln w="12700">
            <a:solidFill>
              <a:srgbClr val="E2E8F0"/>
            </a:solidFill>
            <a:prstDash val="solid"/>
          </a:ln>
        </p:spPr>
      </p:sp>
      <p:sp>
        <p:nvSpPr>
          <p:cNvPr id="14" name="Shape 12"/>
          <p:cNvSpPr/>
          <p:nvPr/>
        </p:nvSpPr>
        <p:spPr>
          <a:xfrm>
            <a:off x="457200" y="2048256"/>
            <a:ext cx="8458200" cy="859536"/>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15" name="Shape 13"/>
          <p:cNvSpPr/>
          <p:nvPr/>
        </p:nvSpPr>
        <p:spPr>
          <a:xfrm>
            <a:off x="457200" y="2048256"/>
            <a:ext cx="1097280" cy="859536"/>
          </a:xfrm>
          <a:prstGeom prst="rect">
            <a:avLst/>
          </a:prstGeom>
          <a:solidFill>
            <a:srgbClr val="1B2F6E"/>
          </a:solidFill>
          <a:ln w="12700">
            <a:solidFill>
              <a:srgbClr val="1B2F6E"/>
            </a:solidFill>
            <a:prstDash val="solid"/>
          </a:ln>
        </p:spPr>
      </p:sp>
      <p:sp>
        <p:nvSpPr>
          <p:cNvPr id="16" name="Text 14"/>
          <p:cNvSpPr/>
          <p:nvPr/>
        </p:nvSpPr>
        <p:spPr>
          <a:xfrm>
            <a:off x="457200" y="2194560"/>
            <a:ext cx="1097280" cy="274320"/>
          </a:xfrm>
          <a:prstGeom prst="rect">
            <a:avLst/>
          </a:prstGeom>
          <a:noFill/>
          <a:ln/>
        </p:spPr>
        <p:txBody>
          <a:bodyPr wrap="square" rtlCol="0" anchor="ctr"/>
          <a:lstStyle/>
          <a:p>
            <a:pPr algn="ctr" indent="0" marL="0">
              <a:buNone/>
            </a:pPr>
            <a:r>
              <a:rPr lang="en-US" sz="1400" b="1" dirty="0">
                <a:solidFill>
                  <a:srgbClr val="F0A500"/>
                </a:solidFill>
                <a:latin typeface="Calibri" pitchFamily="34" charset="0"/>
                <a:ea typeface="Calibri" pitchFamily="34" charset="-122"/>
                <a:cs typeface="Calibri" pitchFamily="34" charset="-120"/>
              </a:rPr>
              <a:t>Weekly</a:t>
            </a:r>
            <a:endParaRPr lang="en-US" sz="1400" dirty="0"/>
          </a:p>
        </p:txBody>
      </p:sp>
      <p:sp>
        <p:nvSpPr>
          <p:cNvPr id="17" name="Text 15"/>
          <p:cNvSpPr/>
          <p:nvPr/>
        </p:nvSpPr>
        <p:spPr>
          <a:xfrm>
            <a:off x="457200" y="2523744"/>
            <a:ext cx="1097280" cy="201168"/>
          </a:xfrm>
          <a:prstGeom prst="rect">
            <a:avLst/>
          </a:prstGeom>
          <a:noFill/>
          <a:ln/>
        </p:spPr>
        <p:txBody>
          <a:bodyPr wrap="square" rtlCol="0" anchor="ctr"/>
          <a:lstStyle/>
          <a:p>
            <a:pPr algn="ctr" indent="0" marL="0">
              <a:buNone/>
            </a:pPr>
            <a:r>
              <a:rPr lang="en-US" sz="750" dirty="0">
                <a:solidFill>
                  <a:srgbClr val="000000"/>
                </a:solidFill>
                <a:latin typeface="Calibri" pitchFamily="34" charset="0"/>
                <a:ea typeface="Calibri" pitchFamily="34" charset="-122"/>
                <a:cs typeface="Calibri" pitchFamily="34" charset="-120"/>
              </a:rPr>
              <a:t>Demo + Update</a:t>
            </a:r>
            <a:endParaRPr lang="en-US" sz="750" dirty="0"/>
          </a:p>
        </p:txBody>
      </p:sp>
      <p:sp>
        <p:nvSpPr>
          <p:cNvPr id="18" name="Text 16"/>
          <p:cNvSpPr/>
          <p:nvPr/>
        </p:nvSpPr>
        <p:spPr>
          <a:xfrm>
            <a:off x="1645920" y="2103120"/>
            <a:ext cx="2194560" cy="237744"/>
          </a:xfrm>
          <a:prstGeom prst="rect">
            <a:avLst/>
          </a:prstGeom>
          <a:noFill/>
          <a:ln/>
        </p:spPr>
        <p:txBody>
          <a:bodyPr wrap="square" rtlCol="0" anchor="ctr"/>
          <a:lstStyle/>
          <a:p>
            <a:pPr indent="0" marL="0">
              <a:buNone/>
            </a:pPr>
            <a:r>
              <a:rPr lang="en-US" sz="950" b="1" dirty="0">
                <a:solidFill>
                  <a:srgbClr val="1B2F6E"/>
                </a:solidFill>
                <a:latin typeface="Calibri" pitchFamily="34" charset="0"/>
                <a:ea typeface="Calibri" pitchFamily="34" charset="-122"/>
                <a:cs typeface="Calibri" pitchFamily="34" charset="-120"/>
              </a:rPr>
              <a:t>Video Call + Deck</a:t>
            </a:r>
            <a:endParaRPr lang="en-US" sz="950" dirty="0"/>
          </a:p>
        </p:txBody>
      </p:sp>
      <p:sp>
        <p:nvSpPr>
          <p:cNvPr id="19" name="Shape 17"/>
          <p:cNvSpPr/>
          <p:nvPr/>
        </p:nvSpPr>
        <p:spPr>
          <a:xfrm>
            <a:off x="1645920" y="2359152"/>
            <a:ext cx="1463040" cy="182880"/>
          </a:xfrm>
          <a:prstGeom prst="roundRect">
            <a:avLst>
              <a:gd name="adj" fmla="val 40000"/>
            </a:avLst>
          </a:prstGeom>
          <a:solidFill>
            <a:srgbClr val="243D8C"/>
          </a:solidFill>
          <a:ln w="12700">
            <a:solidFill>
              <a:srgbClr val="243D8C"/>
            </a:solidFill>
            <a:prstDash val="solid"/>
          </a:ln>
        </p:spPr>
      </p:sp>
      <p:sp>
        <p:nvSpPr>
          <p:cNvPr id="20" name="Text 18"/>
          <p:cNvSpPr/>
          <p:nvPr/>
        </p:nvSpPr>
        <p:spPr>
          <a:xfrm>
            <a:off x="1645920" y="2359152"/>
            <a:ext cx="1463040" cy="18288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ANM Stakeholders</a:t>
            </a:r>
            <a:endParaRPr lang="en-US" sz="800" dirty="0"/>
          </a:p>
        </p:txBody>
      </p:sp>
      <p:sp>
        <p:nvSpPr>
          <p:cNvPr id="21" name="Text 19"/>
          <p:cNvSpPr/>
          <p:nvPr/>
        </p:nvSpPr>
        <p:spPr>
          <a:xfrm>
            <a:off x="3931920" y="2157984"/>
            <a:ext cx="4846320" cy="6400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30-min live demo of features built that week. Risk update. Next week preview. Recorded and shared.</a:t>
            </a:r>
            <a:endParaRPr lang="en-US" sz="900" dirty="0"/>
          </a:p>
        </p:txBody>
      </p:sp>
      <p:sp>
        <p:nvSpPr>
          <p:cNvPr id="22" name="Shape 20"/>
          <p:cNvSpPr/>
          <p:nvPr/>
        </p:nvSpPr>
        <p:spPr>
          <a:xfrm>
            <a:off x="3840480" y="2176272"/>
            <a:ext cx="0" cy="603504"/>
          </a:xfrm>
          <a:prstGeom prst="line">
            <a:avLst/>
          </a:prstGeom>
          <a:noFill/>
          <a:ln w="12700">
            <a:solidFill>
              <a:srgbClr val="E2E8F0"/>
            </a:solidFill>
            <a:prstDash val="solid"/>
          </a:ln>
        </p:spPr>
      </p:sp>
      <p:sp>
        <p:nvSpPr>
          <p:cNvPr id="23" name="Shape 21"/>
          <p:cNvSpPr/>
          <p:nvPr/>
        </p:nvSpPr>
        <p:spPr>
          <a:xfrm>
            <a:off x="457200" y="2980944"/>
            <a:ext cx="8458200" cy="859536"/>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24" name="Shape 22"/>
          <p:cNvSpPr/>
          <p:nvPr/>
        </p:nvSpPr>
        <p:spPr>
          <a:xfrm>
            <a:off x="457200" y="2980944"/>
            <a:ext cx="1097280" cy="859536"/>
          </a:xfrm>
          <a:prstGeom prst="rect">
            <a:avLst/>
          </a:prstGeom>
          <a:solidFill>
            <a:srgbClr val="1B2F6E"/>
          </a:solidFill>
          <a:ln w="12700">
            <a:solidFill>
              <a:srgbClr val="1B2F6E"/>
            </a:solidFill>
            <a:prstDash val="solid"/>
          </a:ln>
        </p:spPr>
      </p:sp>
      <p:sp>
        <p:nvSpPr>
          <p:cNvPr id="25" name="Text 23"/>
          <p:cNvSpPr/>
          <p:nvPr/>
        </p:nvSpPr>
        <p:spPr>
          <a:xfrm>
            <a:off x="457200" y="3127248"/>
            <a:ext cx="1097280" cy="274320"/>
          </a:xfrm>
          <a:prstGeom prst="rect">
            <a:avLst/>
          </a:prstGeom>
          <a:noFill/>
          <a:ln/>
        </p:spPr>
        <p:txBody>
          <a:bodyPr wrap="square" rtlCol="0" anchor="ctr"/>
          <a:lstStyle/>
          <a:p>
            <a:pPr algn="ctr" indent="0" marL="0">
              <a:buNone/>
            </a:pPr>
            <a:r>
              <a:rPr lang="en-US" sz="1400" b="1" dirty="0">
                <a:solidFill>
                  <a:srgbClr val="F0A500"/>
                </a:solidFill>
                <a:latin typeface="Calibri" pitchFamily="34" charset="0"/>
                <a:ea typeface="Calibri" pitchFamily="34" charset="-122"/>
                <a:cs typeface="Calibri" pitchFamily="34" charset="-120"/>
              </a:rPr>
              <a:t>End of Sprint</a:t>
            </a:r>
            <a:endParaRPr lang="en-US" sz="1400" dirty="0"/>
          </a:p>
        </p:txBody>
      </p:sp>
      <p:sp>
        <p:nvSpPr>
          <p:cNvPr id="26" name="Text 24"/>
          <p:cNvSpPr/>
          <p:nvPr/>
        </p:nvSpPr>
        <p:spPr>
          <a:xfrm>
            <a:off x="457200" y="3456432"/>
            <a:ext cx="1097280" cy="201168"/>
          </a:xfrm>
          <a:prstGeom prst="rect">
            <a:avLst/>
          </a:prstGeom>
          <a:noFill/>
          <a:ln/>
        </p:spPr>
        <p:txBody>
          <a:bodyPr wrap="square" rtlCol="0" anchor="ctr"/>
          <a:lstStyle/>
          <a:p>
            <a:pPr algn="ctr" indent="0" marL="0">
              <a:buNone/>
            </a:pPr>
            <a:r>
              <a:rPr lang="en-US" sz="750" dirty="0">
                <a:solidFill>
                  <a:srgbClr val="000000"/>
                </a:solidFill>
                <a:latin typeface="Calibri" pitchFamily="34" charset="0"/>
                <a:ea typeface="Calibri" pitchFamily="34" charset="-122"/>
                <a:cs typeface="Calibri" pitchFamily="34" charset="-120"/>
              </a:rPr>
              <a:t>Sign-Off Review</a:t>
            </a:r>
            <a:endParaRPr lang="en-US" sz="750" dirty="0"/>
          </a:p>
        </p:txBody>
      </p:sp>
      <p:sp>
        <p:nvSpPr>
          <p:cNvPr id="27" name="Text 25"/>
          <p:cNvSpPr/>
          <p:nvPr/>
        </p:nvSpPr>
        <p:spPr>
          <a:xfrm>
            <a:off x="1645920" y="3035808"/>
            <a:ext cx="2194560" cy="237744"/>
          </a:xfrm>
          <a:prstGeom prst="rect">
            <a:avLst/>
          </a:prstGeom>
          <a:noFill/>
          <a:ln/>
        </p:spPr>
        <p:txBody>
          <a:bodyPr wrap="square" rtlCol="0" anchor="ctr"/>
          <a:lstStyle/>
          <a:p>
            <a:pPr indent="0" marL="0">
              <a:buNone/>
            </a:pPr>
            <a:r>
              <a:rPr lang="en-US" sz="950" b="1" dirty="0">
                <a:solidFill>
                  <a:srgbClr val="1B2F6E"/>
                </a:solidFill>
                <a:latin typeface="Calibri" pitchFamily="34" charset="0"/>
                <a:ea typeface="Calibri" pitchFamily="34" charset="-122"/>
                <a:cs typeface="Calibri" pitchFamily="34" charset="-120"/>
              </a:rPr>
              <a:t>Video Call</a:t>
            </a:r>
            <a:endParaRPr lang="en-US" sz="950" dirty="0"/>
          </a:p>
        </p:txBody>
      </p:sp>
      <p:sp>
        <p:nvSpPr>
          <p:cNvPr id="28" name="Shape 26"/>
          <p:cNvSpPr/>
          <p:nvPr/>
        </p:nvSpPr>
        <p:spPr>
          <a:xfrm>
            <a:off x="1645920" y="3291840"/>
            <a:ext cx="1463040" cy="182880"/>
          </a:xfrm>
          <a:prstGeom prst="roundRect">
            <a:avLst>
              <a:gd name="adj" fmla="val 40000"/>
            </a:avLst>
          </a:prstGeom>
          <a:solidFill>
            <a:srgbClr val="243D8C"/>
          </a:solidFill>
          <a:ln w="12700">
            <a:solidFill>
              <a:srgbClr val="243D8C"/>
            </a:solidFill>
            <a:prstDash val="solid"/>
          </a:ln>
        </p:spPr>
      </p:sp>
      <p:sp>
        <p:nvSpPr>
          <p:cNvPr id="29" name="Text 27"/>
          <p:cNvSpPr/>
          <p:nvPr/>
        </p:nvSpPr>
        <p:spPr>
          <a:xfrm>
            <a:off x="1645920" y="3291840"/>
            <a:ext cx="1463040" cy="18288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ANM Leadership</a:t>
            </a:r>
            <a:endParaRPr lang="en-US" sz="800" dirty="0"/>
          </a:p>
        </p:txBody>
      </p:sp>
      <p:sp>
        <p:nvSpPr>
          <p:cNvPr id="30" name="Text 28"/>
          <p:cNvSpPr/>
          <p:nvPr/>
        </p:nvSpPr>
        <p:spPr>
          <a:xfrm>
            <a:off x="3931920" y="3090672"/>
            <a:ext cx="4846320" cy="6400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Formal walkthrough of deliverables vs sprint goal. Sign-off form issued. Decisions documented.</a:t>
            </a:r>
            <a:endParaRPr lang="en-US" sz="900" dirty="0"/>
          </a:p>
        </p:txBody>
      </p:sp>
      <p:sp>
        <p:nvSpPr>
          <p:cNvPr id="31" name="Shape 29"/>
          <p:cNvSpPr/>
          <p:nvPr/>
        </p:nvSpPr>
        <p:spPr>
          <a:xfrm>
            <a:off x="3840480" y="3108960"/>
            <a:ext cx="0" cy="603504"/>
          </a:xfrm>
          <a:prstGeom prst="line">
            <a:avLst/>
          </a:prstGeom>
          <a:noFill/>
          <a:ln w="12700">
            <a:solidFill>
              <a:srgbClr val="E2E8F0"/>
            </a:solidFill>
            <a:prstDash val="solid"/>
          </a:ln>
        </p:spPr>
      </p:sp>
      <p:sp>
        <p:nvSpPr>
          <p:cNvPr id="32" name="Shape 30"/>
          <p:cNvSpPr/>
          <p:nvPr/>
        </p:nvSpPr>
        <p:spPr>
          <a:xfrm>
            <a:off x="457200" y="3913632"/>
            <a:ext cx="8458200" cy="859536"/>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33" name="Shape 31"/>
          <p:cNvSpPr/>
          <p:nvPr/>
        </p:nvSpPr>
        <p:spPr>
          <a:xfrm>
            <a:off x="457200" y="3913632"/>
            <a:ext cx="1097280" cy="859536"/>
          </a:xfrm>
          <a:prstGeom prst="rect">
            <a:avLst/>
          </a:prstGeom>
          <a:solidFill>
            <a:srgbClr val="1B2F6E"/>
          </a:solidFill>
          <a:ln w="12700">
            <a:solidFill>
              <a:srgbClr val="1B2F6E"/>
            </a:solidFill>
            <a:prstDash val="solid"/>
          </a:ln>
        </p:spPr>
      </p:sp>
      <p:sp>
        <p:nvSpPr>
          <p:cNvPr id="34" name="Text 32"/>
          <p:cNvSpPr/>
          <p:nvPr/>
        </p:nvSpPr>
        <p:spPr>
          <a:xfrm>
            <a:off x="457200" y="4059936"/>
            <a:ext cx="1097280" cy="274320"/>
          </a:xfrm>
          <a:prstGeom prst="rect">
            <a:avLst/>
          </a:prstGeom>
          <a:noFill/>
          <a:ln/>
        </p:spPr>
        <p:txBody>
          <a:bodyPr wrap="square" rtlCol="0" anchor="ctr"/>
          <a:lstStyle/>
          <a:p>
            <a:pPr algn="ctr" indent="0" marL="0">
              <a:buNone/>
            </a:pPr>
            <a:r>
              <a:rPr lang="en-US" sz="1400" b="1" dirty="0">
                <a:solidFill>
                  <a:srgbClr val="F0A500"/>
                </a:solidFill>
                <a:latin typeface="Calibri" pitchFamily="34" charset="0"/>
                <a:ea typeface="Calibri" pitchFamily="34" charset="-122"/>
                <a:cs typeface="Calibri" pitchFamily="34" charset="-120"/>
              </a:rPr>
              <a:t>Ad-Hoc</a:t>
            </a:r>
            <a:endParaRPr lang="en-US" sz="1400" dirty="0"/>
          </a:p>
        </p:txBody>
      </p:sp>
      <p:sp>
        <p:nvSpPr>
          <p:cNvPr id="35" name="Text 33"/>
          <p:cNvSpPr/>
          <p:nvPr/>
        </p:nvSpPr>
        <p:spPr>
          <a:xfrm>
            <a:off x="457200" y="4389120"/>
            <a:ext cx="1097280" cy="201168"/>
          </a:xfrm>
          <a:prstGeom prst="rect">
            <a:avLst/>
          </a:prstGeom>
          <a:noFill/>
          <a:ln/>
        </p:spPr>
        <p:txBody>
          <a:bodyPr wrap="square" rtlCol="0" anchor="ctr"/>
          <a:lstStyle/>
          <a:p>
            <a:pPr algn="ctr" indent="0" marL="0">
              <a:buNone/>
            </a:pPr>
            <a:r>
              <a:rPr lang="en-US" sz="750" dirty="0">
                <a:solidFill>
                  <a:srgbClr val="000000"/>
                </a:solidFill>
                <a:latin typeface="Calibri" pitchFamily="34" charset="0"/>
                <a:ea typeface="Calibri" pitchFamily="34" charset="-122"/>
                <a:cs typeface="Calibri" pitchFamily="34" charset="-120"/>
              </a:rPr>
              <a:t>Escalations</a:t>
            </a:r>
            <a:endParaRPr lang="en-US" sz="750" dirty="0"/>
          </a:p>
        </p:txBody>
      </p:sp>
      <p:sp>
        <p:nvSpPr>
          <p:cNvPr id="36" name="Text 34"/>
          <p:cNvSpPr/>
          <p:nvPr/>
        </p:nvSpPr>
        <p:spPr>
          <a:xfrm>
            <a:off x="1645920" y="3968496"/>
            <a:ext cx="2194560" cy="237744"/>
          </a:xfrm>
          <a:prstGeom prst="rect">
            <a:avLst/>
          </a:prstGeom>
          <a:noFill/>
          <a:ln/>
        </p:spPr>
        <p:txBody>
          <a:bodyPr wrap="square" rtlCol="0" anchor="ctr"/>
          <a:lstStyle/>
          <a:p>
            <a:pPr indent="0" marL="0">
              <a:buNone/>
            </a:pPr>
            <a:r>
              <a:rPr lang="en-US" sz="950" b="1" dirty="0">
                <a:solidFill>
                  <a:srgbClr val="1B2F6E"/>
                </a:solidFill>
                <a:latin typeface="Calibri" pitchFamily="34" charset="0"/>
                <a:ea typeface="Calibri" pitchFamily="34" charset="-122"/>
                <a:cs typeface="Calibri" pitchFamily="34" charset="-120"/>
              </a:rPr>
              <a:t>WhatsApp / Email</a:t>
            </a:r>
            <a:endParaRPr lang="en-US" sz="950" dirty="0"/>
          </a:p>
        </p:txBody>
      </p:sp>
      <p:sp>
        <p:nvSpPr>
          <p:cNvPr id="37" name="Shape 35"/>
          <p:cNvSpPr/>
          <p:nvPr/>
        </p:nvSpPr>
        <p:spPr>
          <a:xfrm>
            <a:off x="1645920" y="4224528"/>
            <a:ext cx="1463040" cy="182880"/>
          </a:xfrm>
          <a:prstGeom prst="roundRect">
            <a:avLst>
              <a:gd name="adj" fmla="val 40000"/>
            </a:avLst>
          </a:prstGeom>
          <a:solidFill>
            <a:srgbClr val="243D8C"/>
          </a:solidFill>
          <a:ln w="12700">
            <a:solidFill>
              <a:srgbClr val="243D8C"/>
            </a:solidFill>
            <a:prstDash val="solid"/>
          </a:ln>
        </p:spPr>
      </p:sp>
      <p:sp>
        <p:nvSpPr>
          <p:cNvPr id="38" name="Text 36"/>
          <p:cNvSpPr/>
          <p:nvPr/>
        </p:nvSpPr>
        <p:spPr>
          <a:xfrm>
            <a:off x="1645920" y="4224528"/>
            <a:ext cx="1463040" cy="18288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PM ↔ ANM Lead</a:t>
            </a:r>
            <a:endParaRPr lang="en-US" sz="800" dirty="0"/>
          </a:p>
        </p:txBody>
      </p:sp>
      <p:sp>
        <p:nvSpPr>
          <p:cNvPr id="39" name="Text 37"/>
          <p:cNvSpPr/>
          <p:nvPr/>
        </p:nvSpPr>
        <p:spPr>
          <a:xfrm>
            <a:off x="3931920" y="4023360"/>
            <a:ext cx="4846320" cy="6400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Critical blockers, scope change requests, and timeline impacts communicated within 1 hour of discovery.</a:t>
            </a:r>
            <a:endParaRPr lang="en-US" sz="900" dirty="0"/>
          </a:p>
        </p:txBody>
      </p:sp>
      <p:sp>
        <p:nvSpPr>
          <p:cNvPr id="40" name="Shape 38"/>
          <p:cNvSpPr/>
          <p:nvPr/>
        </p:nvSpPr>
        <p:spPr>
          <a:xfrm>
            <a:off x="3840480" y="4041648"/>
            <a:ext cx="0" cy="603504"/>
          </a:xfrm>
          <a:prstGeom prst="line">
            <a:avLst/>
          </a:prstGeom>
          <a:noFill/>
          <a:ln w="12700">
            <a:solidFill>
              <a:srgbClr val="E2E8F0"/>
            </a:solidFill>
            <a:prstDash val="solid"/>
          </a:ln>
        </p:spPr>
      </p:sp>
      <p:sp>
        <p:nvSpPr>
          <p:cNvPr id="41" name="Shape 39"/>
          <p:cNvSpPr/>
          <p:nvPr/>
        </p:nvSpPr>
        <p:spPr>
          <a:xfrm>
            <a:off x="457200" y="4828032"/>
            <a:ext cx="8458200" cy="182880"/>
          </a:xfrm>
          <a:prstGeom prst="rect">
            <a:avLst/>
          </a:prstGeom>
          <a:solidFill>
            <a:srgbClr val="F1F5F9"/>
          </a:solidFill>
          <a:ln w="12700">
            <a:solidFill>
              <a:srgbClr val="E2E8F0"/>
            </a:solidFill>
            <a:prstDash val="solid"/>
          </a:ln>
        </p:spPr>
      </p:sp>
      <p:sp>
        <p:nvSpPr>
          <p:cNvPr id="42" name="Text 40"/>
          <p:cNvSpPr/>
          <p:nvPr/>
        </p:nvSpPr>
        <p:spPr>
          <a:xfrm>
            <a:off x="548640" y="4832604"/>
            <a:ext cx="8321040" cy="164592"/>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  All decisions and scope changes require written confirmation. No verbal approvals accepted for scope or timeline changes.</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F0A500"/>
                </a:solidFill>
                <a:latin typeface="Calibri" pitchFamily="34" charset="0"/>
                <a:ea typeface="Calibri" pitchFamily="34" charset="-122"/>
                <a:cs typeface="Calibri" pitchFamily="34" charset="-120"/>
              </a:rPr>
              <a:t>CHANGE MANAGEMENT</a:t>
            </a:r>
            <a:endParaRPr lang="en-US" sz="900" dirty="0"/>
          </a:p>
        </p:txBody>
      </p:sp>
      <p:sp>
        <p:nvSpPr>
          <p:cNvPr id="3" name="Text 1"/>
          <p:cNvSpPr/>
          <p:nvPr/>
        </p:nvSpPr>
        <p:spPr>
          <a:xfrm>
            <a:off x="457200" y="475488"/>
            <a:ext cx="8229600" cy="502920"/>
          </a:xfrm>
          <a:prstGeom prst="rect">
            <a:avLst/>
          </a:prstGeom>
          <a:noFill/>
          <a:ln/>
        </p:spPr>
        <p:txBody>
          <a:bodyPr wrap="square" rtlCol="0" anchor="ctr"/>
          <a:lstStyle/>
          <a:p>
            <a:pPr indent="0" marL="0">
              <a:buNone/>
            </a:pPr>
            <a:r>
              <a:rPr lang="en-US" sz="2900" b="1" dirty="0">
                <a:solidFill>
                  <a:srgbClr val="1B2F6E"/>
                </a:solidFill>
                <a:latin typeface="Calibri" pitchFamily="34" charset="0"/>
                <a:ea typeface="Calibri" pitchFamily="34" charset="-122"/>
                <a:cs typeface="Calibri" pitchFamily="34" charset="-120"/>
              </a:rPr>
              <a:t>Change Request &amp; Scope Management</a:t>
            </a:r>
            <a:endParaRPr lang="en-US" sz="2900" dirty="0"/>
          </a:p>
        </p:txBody>
      </p:sp>
      <p:sp>
        <p:nvSpPr>
          <p:cNvPr id="4" name="Shape 2"/>
          <p:cNvSpPr/>
          <p:nvPr/>
        </p:nvSpPr>
        <p:spPr>
          <a:xfrm>
            <a:off x="457200" y="987552"/>
            <a:ext cx="8229600" cy="0"/>
          </a:xfrm>
          <a:prstGeom prst="line">
            <a:avLst/>
          </a:prstGeom>
          <a:noFill/>
          <a:ln w="25400">
            <a:solidFill>
              <a:srgbClr val="F0A500"/>
            </a:solidFill>
            <a:prstDash val="solid"/>
          </a:ln>
        </p:spPr>
      </p:sp>
      <p:sp>
        <p:nvSpPr>
          <p:cNvPr id="5" name="Text 3"/>
          <p:cNvSpPr/>
          <p:nvPr/>
        </p:nvSpPr>
        <p:spPr>
          <a:xfrm>
            <a:off x="457200" y="1051560"/>
            <a:ext cx="8229600" cy="237744"/>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Scope changes after Week 2 sign-off require a formal Change Request. This protects both ANM and the delivery team from scope creep.</a:t>
            </a:r>
            <a:endParaRPr lang="en-US" sz="1000" dirty="0"/>
          </a:p>
        </p:txBody>
      </p:sp>
      <p:sp>
        <p:nvSpPr>
          <p:cNvPr id="6" name="Shape 4"/>
          <p:cNvSpPr/>
          <p:nvPr/>
        </p:nvSpPr>
        <p:spPr>
          <a:xfrm>
            <a:off x="384048" y="1371600"/>
            <a:ext cx="1627632" cy="2560320"/>
          </a:xfrm>
          <a:prstGeom prst="rect">
            <a:avLst/>
          </a:prstGeom>
          <a:solidFill>
            <a:srgbClr val="EFF6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7" name="Shape 5"/>
          <p:cNvSpPr/>
          <p:nvPr/>
        </p:nvSpPr>
        <p:spPr>
          <a:xfrm>
            <a:off x="877824" y="1408176"/>
            <a:ext cx="640080" cy="640080"/>
          </a:xfrm>
          <a:prstGeom prst="ellipse">
            <a:avLst/>
          </a:prstGeom>
          <a:solidFill>
            <a:srgbClr val="1B2F6E"/>
          </a:solidFill>
          <a:ln w="12700">
            <a:solidFill>
              <a:srgbClr val="1B2F6E"/>
            </a:solidFill>
            <a:prstDash val="solid"/>
          </a:ln>
        </p:spPr>
      </p:sp>
      <p:sp>
        <p:nvSpPr>
          <p:cNvPr id="8" name="Text 6"/>
          <p:cNvSpPr/>
          <p:nvPr/>
        </p:nvSpPr>
        <p:spPr>
          <a:xfrm>
            <a:off x="877824" y="1417320"/>
            <a:ext cx="640080" cy="621792"/>
          </a:xfrm>
          <a:prstGeom prst="rect">
            <a:avLst/>
          </a:prstGeom>
          <a:noFill/>
          <a:ln/>
        </p:spPr>
        <p:txBody>
          <a:bodyPr wrap="square" rtlCol="0" anchor="ctr"/>
          <a:lstStyle/>
          <a:p>
            <a:pPr algn="ctr" indent="0" marL="0">
              <a:buNone/>
            </a:pPr>
            <a:r>
              <a:rPr lang="en-US" sz="1800" b="1" dirty="0">
                <a:solidFill>
                  <a:srgbClr val="F0A500"/>
                </a:solidFill>
                <a:latin typeface="Calibri" pitchFamily="34" charset="0"/>
                <a:ea typeface="Calibri" pitchFamily="34" charset="-122"/>
                <a:cs typeface="Calibri" pitchFamily="34" charset="-120"/>
              </a:rPr>
              <a:t>01</a:t>
            </a:r>
            <a:endParaRPr lang="en-US" sz="1800" dirty="0"/>
          </a:p>
        </p:txBody>
      </p:sp>
      <p:sp>
        <p:nvSpPr>
          <p:cNvPr id="9" name="Text 7"/>
          <p:cNvSpPr/>
          <p:nvPr/>
        </p:nvSpPr>
        <p:spPr>
          <a:xfrm>
            <a:off x="457200" y="2121408"/>
            <a:ext cx="1481328" cy="329184"/>
          </a:xfrm>
          <a:prstGeom prst="rect">
            <a:avLst/>
          </a:prstGeom>
          <a:noFill/>
          <a:ln/>
        </p:spPr>
        <p:txBody>
          <a:bodyPr wrap="square" rtlCol="0" anchor="ctr"/>
          <a:lstStyle/>
          <a:p>
            <a:pPr algn="ctr" indent="0" marL="0">
              <a:buNone/>
            </a:pPr>
            <a:r>
              <a:rPr lang="en-US" sz="1000" b="1" dirty="0">
                <a:solidFill>
                  <a:srgbClr val="1B2F6E"/>
                </a:solidFill>
                <a:latin typeface="Calibri" pitchFamily="34" charset="0"/>
                <a:ea typeface="Calibri" pitchFamily="34" charset="-122"/>
                <a:cs typeface="Calibri" pitchFamily="34" charset="-120"/>
              </a:rPr>
              <a:t>Request Raised</a:t>
            </a:r>
            <a:endParaRPr lang="en-US" sz="1000" dirty="0"/>
          </a:p>
        </p:txBody>
      </p:sp>
      <p:sp>
        <p:nvSpPr>
          <p:cNvPr id="10" name="Shape 8"/>
          <p:cNvSpPr/>
          <p:nvPr/>
        </p:nvSpPr>
        <p:spPr>
          <a:xfrm>
            <a:off x="512064" y="3895344"/>
            <a:ext cx="1371600" cy="201168"/>
          </a:xfrm>
          <a:prstGeom prst="roundRect">
            <a:avLst>
              <a:gd name="adj" fmla="val 36364"/>
            </a:avLst>
          </a:prstGeom>
          <a:solidFill>
            <a:srgbClr val="243D8C"/>
          </a:solidFill>
          <a:ln w="12700">
            <a:solidFill>
              <a:srgbClr val="243D8C"/>
            </a:solidFill>
            <a:prstDash val="solid"/>
          </a:ln>
        </p:spPr>
      </p:sp>
      <p:sp>
        <p:nvSpPr>
          <p:cNvPr id="11" name="Text 9"/>
          <p:cNvSpPr/>
          <p:nvPr/>
        </p:nvSpPr>
        <p:spPr>
          <a:xfrm>
            <a:off x="512064" y="3895344"/>
            <a:ext cx="1371600"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ANM Lead</a:t>
            </a:r>
            <a:endParaRPr lang="en-US" sz="800" dirty="0"/>
          </a:p>
        </p:txBody>
      </p:sp>
      <p:sp>
        <p:nvSpPr>
          <p:cNvPr id="12" name="Text 10"/>
          <p:cNvSpPr/>
          <p:nvPr/>
        </p:nvSpPr>
        <p:spPr>
          <a:xfrm>
            <a:off x="475488" y="4169664"/>
            <a:ext cx="1444752" cy="1005840"/>
          </a:xfrm>
          <a:prstGeom prst="rect">
            <a:avLst/>
          </a:prstGeom>
          <a:noFill/>
          <a:ln/>
        </p:spPr>
        <p:txBody>
          <a:bodyPr wrap="square" rtlCol="0" anchor="t"/>
          <a:lstStyle/>
          <a:p>
            <a:pPr indent="0" marL="0">
              <a:buNone/>
            </a:pPr>
            <a:r>
              <a:rPr lang="en-US" sz="750" dirty="0">
                <a:solidFill>
                  <a:srgbClr val="64748B"/>
                </a:solidFill>
                <a:latin typeface="Calibri" pitchFamily="34" charset="0"/>
                <a:ea typeface="Calibri" pitchFamily="34" charset="-122"/>
                <a:cs typeface="Calibri" pitchFamily="34" charset="-120"/>
              </a:rPr>
              <a:t>ANM raises request via email or Slack to PM with description of change and business justification.</a:t>
            </a:r>
            <a:endParaRPr lang="en-US" sz="750" dirty="0"/>
          </a:p>
        </p:txBody>
      </p:sp>
      <p:sp>
        <p:nvSpPr>
          <p:cNvPr id="13" name="Text 11"/>
          <p:cNvSpPr/>
          <p:nvPr/>
        </p:nvSpPr>
        <p:spPr>
          <a:xfrm>
            <a:off x="2011680" y="1664208"/>
            <a:ext cx="91440" cy="329184"/>
          </a:xfrm>
          <a:prstGeom prst="rect">
            <a:avLst/>
          </a:prstGeom>
          <a:noFill/>
          <a:ln/>
        </p:spPr>
        <p:txBody>
          <a:bodyPr wrap="square" rtlCol="0" anchor="ctr"/>
          <a:lstStyle/>
          <a:p>
            <a:pPr algn="ctr" indent="0" marL="0">
              <a:buNone/>
            </a:pPr>
            <a:r>
              <a:rPr lang="en-US" sz="1400" dirty="0">
                <a:solidFill>
                  <a:srgbClr val="F0A500"/>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2103120" y="1371600"/>
            <a:ext cx="1627632" cy="2560320"/>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15" name="Shape 13"/>
          <p:cNvSpPr/>
          <p:nvPr/>
        </p:nvSpPr>
        <p:spPr>
          <a:xfrm>
            <a:off x="2596896" y="1408176"/>
            <a:ext cx="640080" cy="640080"/>
          </a:xfrm>
          <a:prstGeom prst="ellipse">
            <a:avLst/>
          </a:prstGeom>
          <a:solidFill>
            <a:srgbClr val="1B2F6E"/>
          </a:solidFill>
          <a:ln w="12700">
            <a:solidFill>
              <a:srgbClr val="1B2F6E"/>
            </a:solidFill>
            <a:prstDash val="solid"/>
          </a:ln>
        </p:spPr>
      </p:sp>
      <p:sp>
        <p:nvSpPr>
          <p:cNvPr id="16" name="Text 14"/>
          <p:cNvSpPr/>
          <p:nvPr/>
        </p:nvSpPr>
        <p:spPr>
          <a:xfrm>
            <a:off x="2596896" y="1417320"/>
            <a:ext cx="640080" cy="621792"/>
          </a:xfrm>
          <a:prstGeom prst="rect">
            <a:avLst/>
          </a:prstGeom>
          <a:noFill/>
          <a:ln/>
        </p:spPr>
        <p:txBody>
          <a:bodyPr wrap="square" rtlCol="0" anchor="ctr"/>
          <a:lstStyle/>
          <a:p>
            <a:pPr algn="ctr" indent="0" marL="0">
              <a:buNone/>
            </a:pPr>
            <a:r>
              <a:rPr lang="en-US" sz="1800" b="1" dirty="0">
                <a:solidFill>
                  <a:srgbClr val="F0A500"/>
                </a:solidFill>
                <a:latin typeface="Calibri" pitchFamily="34" charset="0"/>
                <a:ea typeface="Calibri" pitchFamily="34" charset="-122"/>
                <a:cs typeface="Calibri" pitchFamily="34" charset="-120"/>
              </a:rPr>
              <a:t>02</a:t>
            </a:r>
            <a:endParaRPr lang="en-US" sz="1800" dirty="0"/>
          </a:p>
        </p:txBody>
      </p:sp>
      <p:sp>
        <p:nvSpPr>
          <p:cNvPr id="17" name="Text 15"/>
          <p:cNvSpPr/>
          <p:nvPr/>
        </p:nvSpPr>
        <p:spPr>
          <a:xfrm>
            <a:off x="2176272" y="2121408"/>
            <a:ext cx="1481328" cy="329184"/>
          </a:xfrm>
          <a:prstGeom prst="rect">
            <a:avLst/>
          </a:prstGeom>
          <a:noFill/>
          <a:ln/>
        </p:spPr>
        <p:txBody>
          <a:bodyPr wrap="square" rtlCol="0" anchor="ctr"/>
          <a:lstStyle/>
          <a:p>
            <a:pPr algn="ctr" indent="0" marL="0">
              <a:buNone/>
            </a:pPr>
            <a:r>
              <a:rPr lang="en-US" sz="1000" b="1" dirty="0">
                <a:solidFill>
                  <a:srgbClr val="1B2F6E"/>
                </a:solidFill>
                <a:latin typeface="Calibri" pitchFamily="34" charset="0"/>
                <a:ea typeface="Calibri" pitchFamily="34" charset="-122"/>
                <a:cs typeface="Calibri" pitchFamily="34" charset="-120"/>
              </a:rPr>
              <a:t>Impact Analysis</a:t>
            </a:r>
            <a:endParaRPr lang="en-US" sz="1000" dirty="0"/>
          </a:p>
        </p:txBody>
      </p:sp>
      <p:sp>
        <p:nvSpPr>
          <p:cNvPr id="18" name="Shape 16"/>
          <p:cNvSpPr/>
          <p:nvPr/>
        </p:nvSpPr>
        <p:spPr>
          <a:xfrm>
            <a:off x="2231136" y="3895344"/>
            <a:ext cx="1371600" cy="201168"/>
          </a:xfrm>
          <a:prstGeom prst="roundRect">
            <a:avLst>
              <a:gd name="adj" fmla="val 36364"/>
            </a:avLst>
          </a:prstGeom>
          <a:solidFill>
            <a:srgbClr val="243D8C"/>
          </a:solidFill>
          <a:ln w="12700">
            <a:solidFill>
              <a:srgbClr val="243D8C"/>
            </a:solidFill>
            <a:prstDash val="solid"/>
          </a:ln>
        </p:spPr>
      </p:sp>
      <p:sp>
        <p:nvSpPr>
          <p:cNvPr id="19" name="Text 17"/>
          <p:cNvSpPr/>
          <p:nvPr/>
        </p:nvSpPr>
        <p:spPr>
          <a:xfrm>
            <a:off x="2231136" y="3895344"/>
            <a:ext cx="1371600"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PM + Architect</a:t>
            </a:r>
            <a:endParaRPr lang="en-US" sz="800" dirty="0"/>
          </a:p>
        </p:txBody>
      </p:sp>
      <p:sp>
        <p:nvSpPr>
          <p:cNvPr id="20" name="Text 18"/>
          <p:cNvSpPr/>
          <p:nvPr/>
        </p:nvSpPr>
        <p:spPr>
          <a:xfrm>
            <a:off x="2194560" y="4169664"/>
            <a:ext cx="1444752" cy="1005840"/>
          </a:xfrm>
          <a:prstGeom prst="rect">
            <a:avLst/>
          </a:prstGeom>
          <a:noFill/>
          <a:ln/>
        </p:spPr>
        <p:txBody>
          <a:bodyPr wrap="square" rtlCol="0" anchor="t"/>
          <a:lstStyle/>
          <a:p>
            <a:pPr indent="0" marL="0">
              <a:buNone/>
            </a:pPr>
            <a:r>
              <a:rPr lang="en-US" sz="750" dirty="0">
                <a:solidFill>
                  <a:srgbClr val="64748B"/>
                </a:solidFill>
                <a:latin typeface="Calibri" pitchFamily="34" charset="0"/>
                <a:ea typeface="Calibri" pitchFamily="34" charset="-122"/>
                <a:cs typeface="Calibri" pitchFamily="34" charset="-120"/>
              </a:rPr>
              <a:t>PM and Architect assess timeline impact, cost delta, and technical effort within 48 hours.</a:t>
            </a:r>
            <a:endParaRPr lang="en-US" sz="750" dirty="0"/>
          </a:p>
        </p:txBody>
      </p:sp>
      <p:sp>
        <p:nvSpPr>
          <p:cNvPr id="21" name="Text 19"/>
          <p:cNvSpPr/>
          <p:nvPr/>
        </p:nvSpPr>
        <p:spPr>
          <a:xfrm>
            <a:off x="3730752" y="1664208"/>
            <a:ext cx="91440" cy="329184"/>
          </a:xfrm>
          <a:prstGeom prst="rect">
            <a:avLst/>
          </a:prstGeom>
          <a:noFill/>
          <a:ln/>
        </p:spPr>
        <p:txBody>
          <a:bodyPr wrap="square" rtlCol="0" anchor="ctr"/>
          <a:lstStyle/>
          <a:p>
            <a:pPr algn="ctr" indent="0" marL="0">
              <a:buNone/>
            </a:pPr>
            <a:r>
              <a:rPr lang="en-US" sz="1400" dirty="0">
                <a:solidFill>
                  <a:srgbClr val="F0A500"/>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3822192" y="1371600"/>
            <a:ext cx="1627632" cy="2560320"/>
          </a:xfrm>
          <a:prstGeom prst="rect">
            <a:avLst/>
          </a:prstGeom>
          <a:solidFill>
            <a:srgbClr val="EFF6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23" name="Shape 21"/>
          <p:cNvSpPr/>
          <p:nvPr/>
        </p:nvSpPr>
        <p:spPr>
          <a:xfrm>
            <a:off x="4315968" y="1408176"/>
            <a:ext cx="640080" cy="640080"/>
          </a:xfrm>
          <a:prstGeom prst="ellipse">
            <a:avLst/>
          </a:prstGeom>
          <a:solidFill>
            <a:srgbClr val="1B2F6E"/>
          </a:solidFill>
          <a:ln w="12700">
            <a:solidFill>
              <a:srgbClr val="1B2F6E"/>
            </a:solidFill>
            <a:prstDash val="solid"/>
          </a:ln>
        </p:spPr>
      </p:sp>
      <p:sp>
        <p:nvSpPr>
          <p:cNvPr id="24" name="Text 22"/>
          <p:cNvSpPr/>
          <p:nvPr/>
        </p:nvSpPr>
        <p:spPr>
          <a:xfrm>
            <a:off x="4315968" y="1417320"/>
            <a:ext cx="640080" cy="621792"/>
          </a:xfrm>
          <a:prstGeom prst="rect">
            <a:avLst/>
          </a:prstGeom>
          <a:noFill/>
          <a:ln/>
        </p:spPr>
        <p:txBody>
          <a:bodyPr wrap="square" rtlCol="0" anchor="ctr"/>
          <a:lstStyle/>
          <a:p>
            <a:pPr algn="ctr" indent="0" marL="0">
              <a:buNone/>
            </a:pPr>
            <a:r>
              <a:rPr lang="en-US" sz="1800" b="1" dirty="0">
                <a:solidFill>
                  <a:srgbClr val="F0A500"/>
                </a:solidFill>
                <a:latin typeface="Calibri" pitchFamily="34" charset="0"/>
                <a:ea typeface="Calibri" pitchFamily="34" charset="-122"/>
                <a:cs typeface="Calibri" pitchFamily="34" charset="-120"/>
              </a:rPr>
              <a:t>03</a:t>
            </a:r>
            <a:endParaRPr lang="en-US" sz="1800" dirty="0"/>
          </a:p>
        </p:txBody>
      </p:sp>
      <p:sp>
        <p:nvSpPr>
          <p:cNvPr id="25" name="Text 23"/>
          <p:cNvSpPr/>
          <p:nvPr/>
        </p:nvSpPr>
        <p:spPr>
          <a:xfrm>
            <a:off x="3895344" y="2121408"/>
            <a:ext cx="1481328" cy="329184"/>
          </a:xfrm>
          <a:prstGeom prst="rect">
            <a:avLst/>
          </a:prstGeom>
          <a:noFill/>
          <a:ln/>
        </p:spPr>
        <p:txBody>
          <a:bodyPr wrap="square" rtlCol="0" anchor="ctr"/>
          <a:lstStyle/>
          <a:p>
            <a:pPr algn="ctr" indent="0" marL="0">
              <a:buNone/>
            </a:pPr>
            <a:r>
              <a:rPr lang="en-US" sz="1000" b="1" dirty="0">
                <a:solidFill>
                  <a:srgbClr val="1B2F6E"/>
                </a:solidFill>
                <a:latin typeface="Calibri" pitchFamily="34" charset="0"/>
                <a:ea typeface="Calibri" pitchFamily="34" charset="-122"/>
                <a:cs typeface="Calibri" pitchFamily="34" charset="-120"/>
              </a:rPr>
              <a:t>CR Document</a:t>
            </a:r>
            <a:endParaRPr lang="en-US" sz="1000" dirty="0"/>
          </a:p>
        </p:txBody>
      </p:sp>
      <p:sp>
        <p:nvSpPr>
          <p:cNvPr id="26" name="Shape 24"/>
          <p:cNvSpPr/>
          <p:nvPr/>
        </p:nvSpPr>
        <p:spPr>
          <a:xfrm>
            <a:off x="3950208" y="3895344"/>
            <a:ext cx="1371600" cy="201168"/>
          </a:xfrm>
          <a:prstGeom prst="roundRect">
            <a:avLst>
              <a:gd name="adj" fmla="val 36364"/>
            </a:avLst>
          </a:prstGeom>
          <a:solidFill>
            <a:srgbClr val="243D8C"/>
          </a:solidFill>
          <a:ln w="12700">
            <a:solidFill>
              <a:srgbClr val="243D8C"/>
            </a:solidFill>
            <a:prstDash val="solid"/>
          </a:ln>
        </p:spPr>
      </p:sp>
      <p:sp>
        <p:nvSpPr>
          <p:cNvPr id="27" name="Text 25"/>
          <p:cNvSpPr/>
          <p:nvPr/>
        </p:nvSpPr>
        <p:spPr>
          <a:xfrm>
            <a:off x="3950208" y="3895344"/>
            <a:ext cx="1371600"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PM</a:t>
            </a:r>
            <a:endParaRPr lang="en-US" sz="800" dirty="0"/>
          </a:p>
        </p:txBody>
      </p:sp>
      <p:sp>
        <p:nvSpPr>
          <p:cNvPr id="28" name="Text 26"/>
          <p:cNvSpPr/>
          <p:nvPr/>
        </p:nvSpPr>
        <p:spPr>
          <a:xfrm>
            <a:off x="3913632" y="4169664"/>
            <a:ext cx="1444752" cy="1005840"/>
          </a:xfrm>
          <a:prstGeom prst="rect">
            <a:avLst/>
          </a:prstGeom>
          <a:noFill/>
          <a:ln/>
        </p:spPr>
        <p:txBody>
          <a:bodyPr wrap="square" rtlCol="0" anchor="t"/>
          <a:lstStyle/>
          <a:p>
            <a:pPr indent="0" marL="0">
              <a:buNone/>
            </a:pPr>
            <a:r>
              <a:rPr lang="en-US" sz="750" dirty="0">
                <a:solidFill>
                  <a:srgbClr val="64748B"/>
                </a:solidFill>
                <a:latin typeface="Calibri" pitchFamily="34" charset="0"/>
                <a:ea typeface="Calibri" pitchFamily="34" charset="-122"/>
                <a:cs typeface="Calibri" pitchFamily="34" charset="-120"/>
              </a:rPr>
              <a:t>PM issues formal CR document: change description, effort, cost impact, revised timeline.</a:t>
            </a:r>
            <a:endParaRPr lang="en-US" sz="750" dirty="0"/>
          </a:p>
        </p:txBody>
      </p:sp>
      <p:sp>
        <p:nvSpPr>
          <p:cNvPr id="29" name="Text 27"/>
          <p:cNvSpPr/>
          <p:nvPr/>
        </p:nvSpPr>
        <p:spPr>
          <a:xfrm>
            <a:off x="5449824" y="1664208"/>
            <a:ext cx="91440" cy="329184"/>
          </a:xfrm>
          <a:prstGeom prst="rect">
            <a:avLst/>
          </a:prstGeom>
          <a:noFill/>
          <a:ln/>
        </p:spPr>
        <p:txBody>
          <a:bodyPr wrap="square" rtlCol="0" anchor="ctr"/>
          <a:lstStyle/>
          <a:p>
            <a:pPr algn="ctr" indent="0" marL="0">
              <a:buNone/>
            </a:pPr>
            <a:r>
              <a:rPr lang="en-US" sz="1400" dirty="0">
                <a:solidFill>
                  <a:srgbClr val="F0A500"/>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5541264" y="1371600"/>
            <a:ext cx="1627632" cy="2560320"/>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31" name="Shape 29"/>
          <p:cNvSpPr/>
          <p:nvPr/>
        </p:nvSpPr>
        <p:spPr>
          <a:xfrm>
            <a:off x="6035040" y="1408176"/>
            <a:ext cx="640080" cy="640080"/>
          </a:xfrm>
          <a:prstGeom prst="ellipse">
            <a:avLst/>
          </a:prstGeom>
          <a:solidFill>
            <a:srgbClr val="1B2F6E"/>
          </a:solidFill>
          <a:ln w="12700">
            <a:solidFill>
              <a:srgbClr val="1B2F6E"/>
            </a:solidFill>
            <a:prstDash val="solid"/>
          </a:ln>
        </p:spPr>
      </p:sp>
      <p:sp>
        <p:nvSpPr>
          <p:cNvPr id="32" name="Text 30"/>
          <p:cNvSpPr/>
          <p:nvPr/>
        </p:nvSpPr>
        <p:spPr>
          <a:xfrm>
            <a:off x="6035040" y="1417320"/>
            <a:ext cx="640080" cy="621792"/>
          </a:xfrm>
          <a:prstGeom prst="rect">
            <a:avLst/>
          </a:prstGeom>
          <a:noFill/>
          <a:ln/>
        </p:spPr>
        <p:txBody>
          <a:bodyPr wrap="square" rtlCol="0" anchor="ctr"/>
          <a:lstStyle/>
          <a:p>
            <a:pPr algn="ctr" indent="0" marL="0">
              <a:buNone/>
            </a:pPr>
            <a:r>
              <a:rPr lang="en-US" sz="1800" b="1" dirty="0">
                <a:solidFill>
                  <a:srgbClr val="F0A500"/>
                </a:solidFill>
                <a:latin typeface="Calibri" pitchFamily="34" charset="0"/>
                <a:ea typeface="Calibri" pitchFamily="34" charset="-122"/>
                <a:cs typeface="Calibri" pitchFamily="34" charset="-120"/>
              </a:rPr>
              <a:t>04</a:t>
            </a:r>
            <a:endParaRPr lang="en-US" sz="1800" dirty="0"/>
          </a:p>
        </p:txBody>
      </p:sp>
      <p:sp>
        <p:nvSpPr>
          <p:cNvPr id="33" name="Text 31"/>
          <p:cNvSpPr/>
          <p:nvPr/>
        </p:nvSpPr>
        <p:spPr>
          <a:xfrm>
            <a:off x="5614416" y="2121408"/>
            <a:ext cx="1481328" cy="329184"/>
          </a:xfrm>
          <a:prstGeom prst="rect">
            <a:avLst/>
          </a:prstGeom>
          <a:noFill/>
          <a:ln/>
        </p:spPr>
        <p:txBody>
          <a:bodyPr wrap="square" rtlCol="0" anchor="ctr"/>
          <a:lstStyle/>
          <a:p>
            <a:pPr algn="ctr" indent="0" marL="0">
              <a:buNone/>
            </a:pPr>
            <a:r>
              <a:rPr lang="en-US" sz="1000" b="1" dirty="0">
                <a:solidFill>
                  <a:srgbClr val="1B2F6E"/>
                </a:solidFill>
                <a:latin typeface="Calibri" pitchFamily="34" charset="0"/>
                <a:ea typeface="Calibri" pitchFamily="34" charset="-122"/>
                <a:cs typeface="Calibri" pitchFamily="34" charset="-120"/>
              </a:rPr>
              <a:t>ANM Approval</a:t>
            </a:r>
            <a:endParaRPr lang="en-US" sz="1000" dirty="0"/>
          </a:p>
        </p:txBody>
      </p:sp>
      <p:sp>
        <p:nvSpPr>
          <p:cNvPr id="34" name="Shape 32"/>
          <p:cNvSpPr/>
          <p:nvPr/>
        </p:nvSpPr>
        <p:spPr>
          <a:xfrm>
            <a:off x="5669280" y="3895344"/>
            <a:ext cx="1371600" cy="201168"/>
          </a:xfrm>
          <a:prstGeom prst="roundRect">
            <a:avLst>
              <a:gd name="adj" fmla="val 36364"/>
            </a:avLst>
          </a:prstGeom>
          <a:solidFill>
            <a:srgbClr val="243D8C"/>
          </a:solidFill>
          <a:ln w="12700">
            <a:solidFill>
              <a:srgbClr val="243D8C"/>
            </a:solidFill>
            <a:prstDash val="solid"/>
          </a:ln>
        </p:spPr>
      </p:sp>
      <p:sp>
        <p:nvSpPr>
          <p:cNvPr id="35" name="Text 33"/>
          <p:cNvSpPr/>
          <p:nvPr/>
        </p:nvSpPr>
        <p:spPr>
          <a:xfrm>
            <a:off x="5669280" y="3895344"/>
            <a:ext cx="1371600"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ANM Lead</a:t>
            </a:r>
            <a:endParaRPr lang="en-US" sz="800" dirty="0"/>
          </a:p>
        </p:txBody>
      </p:sp>
      <p:sp>
        <p:nvSpPr>
          <p:cNvPr id="36" name="Text 34"/>
          <p:cNvSpPr/>
          <p:nvPr/>
        </p:nvSpPr>
        <p:spPr>
          <a:xfrm>
            <a:off x="5632704" y="4169664"/>
            <a:ext cx="1444752" cy="1005840"/>
          </a:xfrm>
          <a:prstGeom prst="rect">
            <a:avLst/>
          </a:prstGeom>
          <a:noFill/>
          <a:ln/>
        </p:spPr>
        <p:txBody>
          <a:bodyPr wrap="square" rtlCol="0" anchor="t"/>
          <a:lstStyle/>
          <a:p>
            <a:pPr indent="0" marL="0">
              <a:buNone/>
            </a:pPr>
            <a:r>
              <a:rPr lang="en-US" sz="750" dirty="0">
                <a:solidFill>
                  <a:srgbClr val="64748B"/>
                </a:solidFill>
                <a:latin typeface="Calibri" pitchFamily="34" charset="0"/>
                <a:ea typeface="Calibri" pitchFamily="34" charset="-122"/>
                <a:cs typeface="Calibri" pitchFamily="34" charset="-120"/>
              </a:rPr>
              <a:t>ANM Lead signs CR document. No work begins until written approval is received.</a:t>
            </a:r>
            <a:endParaRPr lang="en-US" sz="750" dirty="0"/>
          </a:p>
        </p:txBody>
      </p:sp>
      <p:sp>
        <p:nvSpPr>
          <p:cNvPr id="37" name="Text 35"/>
          <p:cNvSpPr/>
          <p:nvPr/>
        </p:nvSpPr>
        <p:spPr>
          <a:xfrm>
            <a:off x="7168896" y="1664208"/>
            <a:ext cx="91440" cy="329184"/>
          </a:xfrm>
          <a:prstGeom prst="rect">
            <a:avLst/>
          </a:prstGeom>
          <a:noFill/>
          <a:ln/>
        </p:spPr>
        <p:txBody>
          <a:bodyPr wrap="square" rtlCol="0" anchor="ctr"/>
          <a:lstStyle/>
          <a:p>
            <a:pPr algn="ctr" indent="0" marL="0">
              <a:buNone/>
            </a:pPr>
            <a:r>
              <a:rPr lang="en-US" sz="1400" dirty="0">
                <a:solidFill>
                  <a:srgbClr val="F0A500"/>
                </a:solidFill>
                <a:latin typeface="Calibri" pitchFamily="34" charset="0"/>
                <a:ea typeface="Calibri" pitchFamily="34" charset="-122"/>
                <a:cs typeface="Calibri" pitchFamily="34" charset="-120"/>
              </a:rPr>
              <a:t>→</a:t>
            </a:r>
            <a:endParaRPr lang="en-US" sz="1400" dirty="0"/>
          </a:p>
        </p:txBody>
      </p:sp>
      <p:sp>
        <p:nvSpPr>
          <p:cNvPr id="38" name="Shape 36"/>
          <p:cNvSpPr/>
          <p:nvPr/>
        </p:nvSpPr>
        <p:spPr>
          <a:xfrm>
            <a:off x="7260336" y="1371600"/>
            <a:ext cx="1627632" cy="2560320"/>
          </a:xfrm>
          <a:prstGeom prst="rect">
            <a:avLst/>
          </a:prstGeom>
          <a:solidFill>
            <a:srgbClr val="EFF6FF"/>
          </a:solidFill>
          <a:ln w="12700">
            <a:solidFill>
              <a:srgbClr val="E2E8F0"/>
            </a:solidFill>
            <a:prstDash val="solid"/>
          </a:ln>
          <a:effectLst>
            <a:outerShdw sx="100000" sy="100000" kx="0" ky="0" algn="bl" rotWithShape="0" blurRad="76200" dist="38100" dir="8100000">
              <a:srgbClr val="000000">
                <a:alpha val="9000"/>
              </a:srgbClr>
            </a:outerShdw>
          </a:effectLst>
        </p:spPr>
      </p:sp>
      <p:sp>
        <p:nvSpPr>
          <p:cNvPr id="39" name="Shape 37"/>
          <p:cNvSpPr/>
          <p:nvPr/>
        </p:nvSpPr>
        <p:spPr>
          <a:xfrm>
            <a:off x="7754112" y="1408176"/>
            <a:ext cx="640080" cy="640080"/>
          </a:xfrm>
          <a:prstGeom prst="ellipse">
            <a:avLst/>
          </a:prstGeom>
          <a:solidFill>
            <a:srgbClr val="1B2F6E"/>
          </a:solidFill>
          <a:ln w="12700">
            <a:solidFill>
              <a:srgbClr val="1B2F6E"/>
            </a:solidFill>
            <a:prstDash val="solid"/>
          </a:ln>
        </p:spPr>
      </p:sp>
      <p:sp>
        <p:nvSpPr>
          <p:cNvPr id="40" name="Text 38"/>
          <p:cNvSpPr/>
          <p:nvPr/>
        </p:nvSpPr>
        <p:spPr>
          <a:xfrm>
            <a:off x="7754112" y="1417320"/>
            <a:ext cx="640080" cy="621792"/>
          </a:xfrm>
          <a:prstGeom prst="rect">
            <a:avLst/>
          </a:prstGeom>
          <a:noFill/>
          <a:ln/>
        </p:spPr>
        <p:txBody>
          <a:bodyPr wrap="square" rtlCol="0" anchor="ctr"/>
          <a:lstStyle/>
          <a:p>
            <a:pPr algn="ctr" indent="0" marL="0">
              <a:buNone/>
            </a:pPr>
            <a:r>
              <a:rPr lang="en-US" sz="1800" b="1" dirty="0">
                <a:solidFill>
                  <a:srgbClr val="F0A500"/>
                </a:solidFill>
                <a:latin typeface="Calibri" pitchFamily="34" charset="0"/>
                <a:ea typeface="Calibri" pitchFamily="34" charset="-122"/>
                <a:cs typeface="Calibri" pitchFamily="34" charset="-120"/>
              </a:rPr>
              <a:t>05</a:t>
            </a:r>
            <a:endParaRPr lang="en-US" sz="1800" dirty="0"/>
          </a:p>
        </p:txBody>
      </p:sp>
      <p:sp>
        <p:nvSpPr>
          <p:cNvPr id="41" name="Text 39"/>
          <p:cNvSpPr/>
          <p:nvPr/>
        </p:nvSpPr>
        <p:spPr>
          <a:xfrm>
            <a:off x="7333488" y="2121408"/>
            <a:ext cx="1481328" cy="329184"/>
          </a:xfrm>
          <a:prstGeom prst="rect">
            <a:avLst/>
          </a:prstGeom>
          <a:noFill/>
          <a:ln/>
        </p:spPr>
        <p:txBody>
          <a:bodyPr wrap="square" rtlCol="0" anchor="ctr"/>
          <a:lstStyle/>
          <a:p>
            <a:pPr algn="ctr" indent="0" marL="0">
              <a:buNone/>
            </a:pPr>
            <a:r>
              <a:rPr lang="en-US" sz="1000" b="1" dirty="0">
                <a:solidFill>
                  <a:srgbClr val="1B2F6E"/>
                </a:solidFill>
                <a:latin typeface="Calibri" pitchFamily="34" charset="0"/>
                <a:ea typeface="Calibri" pitchFamily="34" charset="-122"/>
                <a:cs typeface="Calibri" pitchFamily="34" charset="-120"/>
              </a:rPr>
              <a:t>Sprint Backlog Update</a:t>
            </a:r>
            <a:endParaRPr lang="en-US" sz="1000" dirty="0"/>
          </a:p>
        </p:txBody>
      </p:sp>
      <p:sp>
        <p:nvSpPr>
          <p:cNvPr id="42" name="Shape 40"/>
          <p:cNvSpPr/>
          <p:nvPr/>
        </p:nvSpPr>
        <p:spPr>
          <a:xfrm>
            <a:off x="7388352" y="3895344"/>
            <a:ext cx="1371600" cy="201168"/>
          </a:xfrm>
          <a:prstGeom prst="roundRect">
            <a:avLst>
              <a:gd name="adj" fmla="val 36364"/>
            </a:avLst>
          </a:prstGeom>
          <a:solidFill>
            <a:srgbClr val="243D8C"/>
          </a:solidFill>
          <a:ln w="12700">
            <a:solidFill>
              <a:srgbClr val="243D8C"/>
            </a:solidFill>
            <a:prstDash val="solid"/>
          </a:ln>
        </p:spPr>
      </p:sp>
      <p:sp>
        <p:nvSpPr>
          <p:cNvPr id="43" name="Text 41"/>
          <p:cNvSpPr/>
          <p:nvPr/>
        </p:nvSpPr>
        <p:spPr>
          <a:xfrm>
            <a:off x="7388352" y="3895344"/>
            <a:ext cx="1371600" cy="20116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PM + Team</a:t>
            </a:r>
            <a:endParaRPr lang="en-US" sz="800" dirty="0"/>
          </a:p>
        </p:txBody>
      </p:sp>
      <p:sp>
        <p:nvSpPr>
          <p:cNvPr id="44" name="Text 42"/>
          <p:cNvSpPr/>
          <p:nvPr/>
        </p:nvSpPr>
        <p:spPr>
          <a:xfrm>
            <a:off x="7351776" y="4169664"/>
            <a:ext cx="1444752" cy="1005840"/>
          </a:xfrm>
          <a:prstGeom prst="rect">
            <a:avLst/>
          </a:prstGeom>
          <a:noFill/>
          <a:ln/>
        </p:spPr>
        <p:txBody>
          <a:bodyPr wrap="square" rtlCol="0" anchor="t"/>
          <a:lstStyle/>
          <a:p>
            <a:pPr indent="0" marL="0">
              <a:buNone/>
            </a:pPr>
            <a:r>
              <a:rPr lang="en-US" sz="750" dirty="0">
                <a:solidFill>
                  <a:srgbClr val="64748B"/>
                </a:solidFill>
                <a:latin typeface="Calibri" pitchFamily="34" charset="0"/>
                <a:ea typeface="Calibri" pitchFamily="34" charset="-122"/>
                <a:cs typeface="Calibri" pitchFamily="34" charset="-120"/>
              </a:rPr>
              <a:t>CR is added to next sprint or Phase 2 backlog. Timeline adjusted accordingly.</a:t>
            </a:r>
            <a:endParaRPr lang="en-US" sz="750" dirty="0"/>
          </a:p>
        </p:txBody>
      </p:sp>
      <p:sp>
        <p:nvSpPr>
          <p:cNvPr id="45" name="Shape 43"/>
          <p:cNvSpPr/>
          <p:nvPr/>
        </p:nvSpPr>
        <p:spPr>
          <a:xfrm>
            <a:off x="457200" y="4160520"/>
            <a:ext cx="2651760" cy="658368"/>
          </a:xfrm>
          <a:prstGeom prst="rect">
            <a:avLst/>
          </a:prstGeom>
          <a:solidFill>
            <a:srgbClr val="1B2F6E"/>
          </a:solidFill>
          <a:ln w="12700">
            <a:solidFill>
              <a:srgbClr val="1B2F6E"/>
            </a:solidFill>
            <a:prstDash val="solid"/>
          </a:ln>
        </p:spPr>
      </p:sp>
      <p:sp>
        <p:nvSpPr>
          <p:cNvPr id="46" name="Text 44"/>
          <p:cNvSpPr/>
          <p:nvPr/>
        </p:nvSpPr>
        <p:spPr>
          <a:xfrm>
            <a:off x="548640" y="4215384"/>
            <a:ext cx="2468880" cy="237744"/>
          </a:xfrm>
          <a:prstGeom prst="rect">
            <a:avLst/>
          </a:prstGeom>
          <a:noFill/>
          <a:ln/>
        </p:spPr>
        <p:txBody>
          <a:bodyPr wrap="square" rtlCol="0" anchor="ctr"/>
          <a:lstStyle/>
          <a:p>
            <a:pPr indent="0" marL="0">
              <a:buNone/>
            </a:pPr>
            <a:r>
              <a:rPr lang="en-US" sz="900" b="1" dirty="0">
                <a:solidFill>
                  <a:srgbClr val="F0A500"/>
                </a:solidFill>
                <a:latin typeface="Calibri" pitchFamily="34" charset="0"/>
                <a:ea typeface="Calibri" pitchFamily="34" charset="-122"/>
                <a:cs typeface="Calibri" pitchFamily="34" charset="-120"/>
              </a:rPr>
              <a:t>🔒  Locked Scope</a:t>
            </a:r>
            <a:endParaRPr lang="en-US" sz="900" dirty="0"/>
          </a:p>
        </p:txBody>
      </p:sp>
      <p:sp>
        <p:nvSpPr>
          <p:cNvPr id="47" name="Text 45"/>
          <p:cNvSpPr/>
          <p:nvPr/>
        </p:nvSpPr>
        <p:spPr>
          <a:xfrm>
            <a:off x="548640" y="4453128"/>
            <a:ext cx="2468880" cy="310896"/>
          </a:xfrm>
          <a:prstGeom prst="rect">
            <a:avLst/>
          </a:prstGeom>
          <a:noFill/>
          <a:ln/>
        </p:spPr>
        <p:txBody>
          <a:bodyPr wrap="square" rtlCol="0" anchor="ctr"/>
          <a:lstStyle/>
          <a:p>
            <a:pPr indent="0" marL="0">
              <a:buNone/>
            </a:pPr>
            <a:r>
              <a:rPr lang="en-US" sz="750" dirty="0">
                <a:solidFill>
                  <a:srgbClr val="000000"/>
                </a:solidFill>
                <a:latin typeface="Calibri" pitchFamily="34" charset="0"/>
                <a:ea typeface="Calibri" pitchFamily="34" charset="-122"/>
                <a:cs typeface="Calibri" pitchFamily="34" charset="-120"/>
              </a:rPr>
              <a:t>Weeks 1–10 scope is locked after Gate 1 sign-off. New requests go to Phase 2.</a:t>
            </a:r>
            <a:endParaRPr lang="en-US" sz="750" dirty="0"/>
          </a:p>
        </p:txBody>
      </p:sp>
      <p:sp>
        <p:nvSpPr>
          <p:cNvPr id="48" name="Shape 46"/>
          <p:cNvSpPr/>
          <p:nvPr/>
        </p:nvSpPr>
        <p:spPr>
          <a:xfrm>
            <a:off x="3273552" y="4160520"/>
            <a:ext cx="2651760" cy="658368"/>
          </a:xfrm>
          <a:prstGeom prst="rect">
            <a:avLst/>
          </a:prstGeom>
          <a:solidFill>
            <a:srgbClr val="1B2F6E"/>
          </a:solidFill>
          <a:ln w="12700">
            <a:solidFill>
              <a:srgbClr val="1B2F6E"/>
            </a:solidFill>
            <a:prstDash val="solid"/>
          </a:ln>
        </p:spPr>
      </p:sp>
      <p:sp>
        <p:nvSpPr>
          <p:cNvPr id="49" name="Text 47"/>
          <p:cNvSpPr/>
          <p:nvPr/>
        </p:nvSpPr>
        <p:spPr>
          <a:xfrm>
            <a:off x="3364992" y="4215384"/>
            <a:ext cx="2468880" cy="237744"/>
          </a:xfrm>
          <a:prstGeom prst="rect">
            <a:avLst/>
          </a:prstGeom>
          <a:noFill/>
          <a:ln/>
        </p:spPr>
        <p:txBody>
          <a:bodyPr wrap="square" rtlCol="0" anchor="ctr"/>
          <a:lstStyle/>
          <a:p>
            <a:pPr indent="0" marL="0">
              <a:buNone/>
            </a:pPr>
            <a:r>
              <a:rPr lang="en-US" sz="900" b="1" dirty="0">
                <a:solidFill>
                  <a:srgbClr val="F0A500"/>
                </a:solidFill>
                <a:latin typeface="Calibri" pitchFamily="34" charset="0"/>
                <a:ea typeface="Calibri" pitchFamily="34" charset="-122"/>
                <a:cs typeface="Calibri" pitchFamily="34" charset="-120"/>
              </a:rPr>
              <a:t>⏱️  48h Response</a:t>
            </a:r>
            <a:endParaRPr lang="en-US" sz="900" dirty="0"/>
          </a:p>
        </p:txBody>
      </p:sp>
      <p:sp>
        <p:nvSpPr>
          <p:cNvPr id="50" name="Text 48"/>
          <p:cNvSpPr/>
          <p:nvPr/>
        </p:nvSpPr>
        <p:spPr>
          <a:xfrm>
            <a:off x="3364992" y="4453128"/>
            <a:ext cx="2468880" cy="310896"/>
          </a:xfrm>
          <a:prstGeom prst="rect">
            <a:avLst/>
          </a:prstGeom>
          <a:noFill/>
          <a:ln/>
        </p:spPr>
        <p:txBody>
          <a:bodyPr wrap="square" rtlCol="0" anchor="ctr"/>
          <a:lstStyle/>
          <a:p>
            <a:pPr indent="0" marL="0">
              <a:buNone/>
            </a:pPr>
            <a:r>
              <a:rPr lang="en-US" sz="750" dirty="0">
                <a:solidFill>
                  <a:srgbClr val="000000"/>
                </a:solidFill>
                <a:latin typeface="Calibri" pitchFamily="34" charset="0"/>
                <a:ea typeface="Calibri" pitchFamily="34" charset="-122"/>
                <a:cs typeface="Calibri" pitchFamily="34" charset="-120"/>
              </a:rPr>
              <a:t>All CRs acknowledged within 48 hours with preliminary impact statement.</a:t>
            </a:r>
            <a:endParaRPr lang="en-US" sz="750" dirty="0"/>
          </a:p>
        </p:txBody>
      </p:sp>
      <p:sp>
        <p:nvSpPr>
          <p:cNvPr id="51" name="Shape 49"/>
          <p:cNvSpPr/>
          <p:nvPr/>
        </p:nvSpPr>
        <p:spPr>
          <a:xfrm>
            <a:off x="6089904" y="4160520"/>
            <a:ext cx="2651760" cy="658368"/>
          </a:xfrm>
          <a:prstGeom prst="rect">
            <a:avLst/>
          </a:prstGeom>
          <a:solidFill>
            <a:srgbClr val="1B2F6E"/>
          </a:solidFill>
          <a:ln w="12700">
            <a:solidFill>
              <a:srgbClr val="1B2F6E"/>
            </a:solidFill>
            <a:prstDash val="solid"/>
          </a:ln>
        </p:spPr>
      </p:sp>
      <p:sp>
        <p:nvSpPr>
          <p:cNvPr id="52" name="Text 50"/>
          <p:cNvSpPr/>
          <p:nvPr/>
        </p:nvSpPr>
        <p:spPr>
          <a:xfrm>
            <a:off x="6181344" y="4215384"/>
            <a:ext cx="2468880" cy="237744"/>
          </a:xfrm>
          <a:prstGeom prst="rect">
            <a:avLst/>
          </a:prstGeom>
          <a:noFill/>
          <a:ln/>
        </p:spPr>
        <p:txBody>
          <a:bodyPr wrap="square" rtlCol="0" anchor="ctr"/>
          <a:lstStyle/>
          <a:p>
            <a:pPr indent="0" marL="0">
              <a:buNone/>
            </a:pPr>
            <a:r>
              <a:rPr lang="en-US" sz="900" b="1" dirty="0">
                <a:solidFill>
                  <a:srgbClr val="F0A500"/>
                </a:solidFill>
                <a:latin typeface="Calibri" pitchFamily="34" charset="0"/>
                <a:ea typeface="Calibri" pitchFamily="34" charset="-122"/>
                <a:cs typeface="Calibri" pitchFamily="34" charset="-120"/>
              </a:rPr>
              <a:t>📋  Backlog First</a:t>
            </a:r>
            <a:endParaRPr lang="en-US" sz="900" dirty="0"/>
          </a:p>
        </p:txBody>
      </p:sp>
      <p:sp>
        <p:nvSpPr>
          <p:cNvPr id="53" name="Text 51"/>
          <p:cNvSpPr/>
          <p:nvPr/>
        </p:nvSpPr>
        <p:spPr>
          <a:xfrm>
            <a:off x="6181344" y="4453128"/>
            <a:ext cx="2468880" cy="310896"/>
          </a:xfrm>
          <a:prstGeom prst="rect">
            <a:avLst/>
          </a:prstGeom>
          <a:noFill/>
          <a:ln/>
        </p:spPr>
        <p:txBody>
          <a:bodyPr wrap="square" rtlCol="0" anchor="ctr"/>
          <a:lstStyle/>
          <a:p>
            <a:pPr indent="0" marL="0">
              <a:buNone/>
            </a:pPr>
            <a:r>
              <a:rPr lang="en-US" sz="750" dirty="0">
                <a:solidFill>
                  <a:srgbClr val="000000"/>
                </a:solidFill>
                <a:latin typeface="Calibri" pitchFamily="34" charset="0"/>
                <a:ea typeface="Calibri" pitchFamily="34" charset="-122"/>
                <a:cs typeface="Calibri" pitchFamily="34" charset="-120"/>
              </a:rPr>
              <a:t>All non-critical CRs added to Phase 2 backlog to preserve 10-week commitment.</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F6E"/>
        </a:solidFill>
      </p:bgPr>
    </p:bg>
    <p:spTree>
      <p:nvGrpSpPr>
        <p:cNvPr id="1" name=""/>
        <p:cNvGrpSpPr/>
        <p:nvPr/>
      </p:nvGrpSpPr>
      <p:grpSpPr>
        <a:xfrm>
          <a:off x="0" y="0"/>
          <a:ext cx="0" cy="0"/>
          <a:chOff x="0" y="0"/>
          <a:chExt cx="0" cy="0"/>
        </a:xfrm>
      </p:grpSpPr>
      <p:sp>
        <p:nvSpPr>
          <p:cNvPr id="2" name="Shape 0"/>
          <p:cNvSpPr/>
          <p:nvPr/>
        </p:nvSpPr>
        <p:spPr>
          <a:xfrm>
            <a:off x="6858000" y="-731520"/>
            <a:ext cx="3200400" cy="3200400"/>
          </a:xfrm>
          <a:prstGeom prst="ellipse">
            <a:avLst/>
          </a:prstGeom>
          <a:solidFill>
            <a:srgbClr val="243D8C">
              <a:alpha val="35000"/>
            </a:srgbClr>
          </a:solidFill>
          <a:ln w="12700">
            <a:solidFill>
              <a:srgbClr val="243D8C">
                <a:alpha val="35000"/>
              </a:srgbClr>
            </a:solidFill>
            <a:prstDash val="solid"/>
          </a:ln>
        </p:spPr>
      </p:sp>
      <p:sp>
        <p:nvSpPr>
          <p:cNvPr id="3" name="Shape 1"/>
          <p:cNvSpPr/>
          <p:nvPr/>
        </p:nvSpPr>
        <p:spPr>
          <a:xfrm>
            <a:off x="-731520" y="3200400"/>
            <a:ext cx="2743200" cy="2743200"/>
          </a:xfrm>
          <a:prstGeom prst="ellipse">
            <a:avLst/>
          </a:prstGeom>
          <a:solidFill>
            <a:srgbClr val="243D8C">
              <a:alpha val="30000"/>
            </a:srgbClr>
          </a:solidFill>
          <a:ln w="12700">
            <a:solidFill>
              <a:srgbClr val="243D8C">
                <a:alpha val="30000"/>
              </a:srgbClr>
            </a:solidFill>
            <a:prstDash val="solid"/>
          </a:ln>
        </p:spPr>
      </p:sp>
      <p:sp>
        <p:nvSpPr>
          <p:cNvPr id="4" name="Text 2"/>
          <p:cNvSpPr/>
          <p:nvPr/>
        </p:nvSpPr>
        <p:spPr>
          <a:xfrm>
            <a:off x="731520" y="640080"/>
            <a:ext cx="7680960" cy="64008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10 Weeks. Framework-Accelerated. Yours.</a:t>
            </a:r>
            <a:endParaRPr lang="en-US" sz="3400" dirty="0"/>
          </a:p>
        </p:txBody>
      </p:sp>
      <p:sp>
        <p:nvSpPr>
          <p:cNvPr id="5" name="Text 3"/>
          <p:cNvSpPr/>
          <p:nvPr/>
        </p:nvSpPr>
        <p:spPr>
          <a:xfrm>
            <a:off x="1097280" y="1280160"/>
            <a:ext cx="6949440" cy="365760"/>
          </a:xfrm>
          <a:prstGeom prst="rect">
            <a:avLst/>
          </a:prstGeom>
          <a:noFill/>
          <a:ln/>
        </p:spPr>
        <p:txBody>
          <a:bodyPr wrap="square" rtlCol="0" anchor="ctr"/>
          <a:lstStyle/>
          <a:p>
            <a:pPr algn="ctr" indent="0" marL="0">
              <a:buNone/>
            </a:pPr>
            <a:r>
              <a:rPr lang="en-US" sz="1400" dirty="0">
                <a:solidFill>
                  <a:srgbClr val="F0A500"/>
                </a:solidFill>
                <a:latin typeface="Calibri" pitchFamily="34" charset="0"/>
                <a:ea typeface="Calibri" pitchFamily="34" charset="-122"/>
                <a:cs typeface="Calibri" pitchFamily="34" charset="-120"/>
              </a:rPr>
              <a:t>Built on Proprietary .NET 8 + PostgreSQL + Ionic/Capacitor Framework</a:t>
            </a:r>
            <a:endParaRPr lang="en-US" sz="1400" dirty="0"/>
          </a:p>
        </p:txBody>
      </p:sp>
      <p:sp>
        <p:nvSpPr>
          <p:cNvPr id="6" name="Shape 4"/>
          <p:cNvSpPr/>
          <p:nvPr/>
        </p:nvSpPr>
        <p:spPr>
          <a:xfrm>
            <a:off x="3474720" y="1755648"/>
            <a:ext cx="2194560" cy="54864"/>
          </a:xfrm>
          <a:prstGeom prst="rect">
            <a:avLst/>
          </a:prstGeom>
          <a:solidFill>
            <a:srgbClr val="F0A500"/>
          </a:solidFill>
          <a:ln w="12700">
            <a:solidFill>
              <a:srgbClr val="F0A500"/>
            </a:solidFill>
            <a:prstDash val="solid"/>
          </a:ln>
        </p:spPr>
      </p:sp>
      <p:sp>
        <p:nvSpPr>
          <p:cNvPr id="7" name="Text 5"/>
          <p:cNvSpPr/>
          <p:nvPr/>
        </p:nvSpPr>
        <p:spPr>
          <a:xfrm>
            <a:off x="914400" y="1901952"/>
            <a:ext cx="7315200" cy="640080"/>
          </a:xfrm>
          <a:prstGeom prst="rect">
            <a:avLst/>
          </a:prstGeom>
          <a:noFill/>
          <a:ln/>
        </p:spPr>
        <p:txBody>
          <a:bodyPr wrap="square" rtlCol="0" anchor="ctr"/>
          <a:lstStyle/>
          <a:p>
            <a:pPr algn="ctr" indent="0" marL="0">
              <a:buNone/>
            </a:pPr>
            <a:r>
              <a:rPr lang="en-US" sz="1050" dirty="0">
                <a:solidFill>
                  <a:srgbClr val="000000"/>
                </a:solidFill>
                <a:latin typeface="Calibri" pitchFamily="34" charset="0"/>
                <a:ea typeface="Calibri" pitchFamily="34" charset="-122"/>
                <a:cs typeface="Calibri" pitchFamily="34" charset="-120"/>
              </a:rPr>
              <a:t>This plan represents our commitment to deliver ANM's community platform with precision, transparency, and zero scope surprises. Every milestone is tracked, every gate is signed off, and every line of code belongs to ANM on day one.</a:t>
            </a:r>
            <a:endParaRPr lang="en-US" sz="1050" dirty="0"/>
          </a:p>
        </p:txBody>
      </p:sp>
      <p:sp>
        <p:nvSpPr>
          <p:cNvPr id="8" name="Shape 6"/>
          <p:cNvSpPr/>
          <p:nvPr/>
        </p:nvSpPr>
        <p:spPr>
          <a:xfrm>
            <a:off x="566928" y="2670048"/>
            <a:ext cx="1901952" cy="841248"/>
          </a:xfrm>
          <a:prstGeom prst="rect">
            <a:avLst/>
          </a:prstGeom>
          <a:solidFill>
            <a:srgbClr val="000000"/>
          </a:solidFill>
          <a:ln w="12700">
            <a:solidFill>
              <a:srgbClr val="000000"/>
            </a:solidFill>
            <a:prstDash val="solid"/>
          </a:ln>
        </p:spPr>
      </p:sp>
      <p:sp>
        <p:nvSpPr>
          <p:cNvPr id="9" name="Text 7"/>
          <p:cNvSpPr/>
          <p:nvPr/>
        </p:nvSpPr>
        <p:spPr>
          <a:xfrm>
            <a:off x="566928" y="2724912"/>
            <a:ext cx="1901952" cy="402336"/>
          </a:xfrm>
          <a:prstGeom prst="rect">
            <a:avLst/>
          </a:prstGeom>
          <a:noFill/>
          <a:ln/>
        </p:spPr>
        <p:txBody>
          <a:bodyPr wrap="square" rtlCol="0" anchor="ctr"/>
          <a:lstStyle/>
          <a:p>
            <a:pPr algn="ctr" indent="0" marL="0">
              <a:buNone/>
            </a:pPr>
            <a:r>
              <a:rPr lang="en-US" sz="2800" b="1" dirty="0">
                <a:solidFill>
                  <a:srgbClr val="F0A500"/>
                </a:solidFill>
                <a:latin typeface="Calibri" pitchFamily="34" charset="0"/>
                <a:ea typeface="Calibri" pitchFamily="34" charset="-122"/>
                <a:cs typeface="Calibri" pitchFamily="34" charset="-120"/>
              </a:rPr>
              <a:t>20</a:t>
            </a:r>
            <a:endParaRPr lang="en-US" sz="2800" dirty="0"/>
          </a:p>
        </p:txBody>
      </p:sp>
      <p:sp>
        <p:nvSpPr>
          <p:cNvPr id="10" name="Text 8"/>
          <p:cNvSpPr/>
          <p:nvPr/>
        </p:nvSpPr>
        <p:spPr>
          <a:xfrm>
            <a:off x="566928" y="3145536"/>
            <a:ext cx="1901952" cy="274320"/>
          </a:xfrm>
          <a:prstGeom prst="rect">
            <a:avLst/>
          </a:prstGeom>
          <a:noFill/>
          <a:ln/>
        </p:spPr>
        <p:txBody>
          <a:bodyPr wrap="square" rtlCol="0" anchor="ctr"/>
          <a:lstStyle/>
          <a:p>
            <a:pPr algn="ctr" indent="0" marL="0">
              <a:buNone/>
            </a:pPr>
            <a:r>
              <a:rPr lang="en-US" sz="850" dirty="0">
                <a:solidFill>
                  <a:srgbClr val="000000"/>
                </a:solidFill>
                <a:latin typeface="Calibri" pitchFamily="34" charset="0"/>
                <a:ea typeface="Calibri" pitchFamily="34" charset="-122"/>
                <a:cs typeface="Calibri" pitchFamily="34" charset="-120"/>
              </a:rPr>
              <a:t>Milestones Tracked</a:t>
            </a:r>
            <a:endParaRPr lang="en-US" sz="850" dirty="0"/>
          </a:p>
        </p:txBody>
      </p:sp>
      <p:sp>
        <p:nvSpPr>
          <p:cNvPr id="11" name="Shape 9"/>
          <p:cNvSpPr/>
          <p:nvPr/>
        </p:nvSpPr>
        <p:spPr>
          <a:xfrm>
            <a:off x="2596896" y="2670048"/>
            <a:ext cx="1901952" cy="841248"/>
          </a:xfrm>
          <a:prstGeom prst="rect">
            <a:avLst/>
          </a:prstGeom>
          <a:solidFill>
            <a:srgbClr val="000000"/>
          </a:solidFill>
          <a:ln w="12700">
            <a:solidFill>
              <a:srgbClr val="000000"/>
            </a:solidFill>
            <a:prstDash val="solid"/>
          </a:ln>
        </p:spPr>
      </p:sp>
      <p:sp>
        <p:nvSpPr>
          <p:cNvPr id="12" name="Text 10"/>
          <p:cNvSpPr/>
          <p:nvPr/>
        </p:nvSpPr>
        <p:spPr>
          <a:xfrm>
            <a:off x="2596896" y="2724912"/>
            <a:ext cx="1901952" cy="402336"/>
          </a:xfrm>
          <a:prstGeom prst="rect">
            <a:avLst/>
          </a:prstGeom>
          <a:noFill/>
          <a:ln/>
        </p:spPr>
        <p:txBody>
          <a:bodyPr wrap="square" rtlCol="0" anchor="ctr"/>
          <a:lstStyle/>
          <a:p>
            <a:pPr algn="ctr" indent="0" marL="0">
              <a:buNone/>
            </a:pPr>
            <a:r>
              <a:rPr lang="en-US" sz="2800" b="1" dirty="0">
                <a:solidFill>
                  <a:srgbClr val="F0A500"/>
                </a:solidFill>
                <a:latin typeface="Calibri" pitchFamily="34" charset="0"/>
                <a:ea typeface="Calibri" pitchFamily="34" charset="-122"/>
                <a:cs typeface="Calibri" pitchFamily="34" charset="-120"/>
              </a:rPr>
              <a:t>130+</a:t>
            </a:r>
            <a:endParaRPr lang="en-US" sz="2800" dirty="0"/>
          </a:p>
        </p:txBody>
      </p:sp>
      <p:sp>
        <p:nvSpPr>
          <p:cNvPr id="13" name="Text 11"/>
          <p:cNvSpPr/>
          <p:nvPr/>
        </p:nvSpPr>
        <p:spPr>
          <a:xfrm>
            <a:off x="2596896" y="3145536"/>
            <a:ext cx="1901952" cy="274320"/>
          </a:xfrm>
          <a:prstGeom prst="rect">
            <a:avLst/>
          </a:prstGeom>
          <a:noFill/>
          <a:ln/>
        </p:spPr>
        <p:txBody>
          <a:bodyPr wrap="square" rtlCol="0" anchor="ctr"/>
          <a:lstStyle/>
          <a:p>
            <a:pPr algn="ctr" indent="0" marL="0">
              <a:buNone/>
            </a:pPr>
            <a:r>
              <a:rPr lang="en-US" sz="850" dirty="0">
                <a:solidFill>
                  <a:srgbClr val="000000"/>
                </a:solidFill>
                <a:latin typeface="Calibri" pitchFamily="34" charset="0"/>
                <a:ea typeface="Calibri" pitchFamily="34" charset="-122"/>
                <a:cs typeface="Calibri" pitchFamily="34" charset="-120"/>
              </a:rPr>
              <a:t>Story Points Planned</a:t>
            </a:r>
            <a:endParaRPr lang="en-US" sz="850" dirty="0"/>
          </a:p>
        </p:txBody>
      </p:sp>
      <p:sp>
        <p:nvSpPr>
          <p:cNvPr id="14" name="Shape 12"/>
          <p:cNvSpPr/>
          <p:nvPr/>
        </p:nvSpPr>
        <p:spPr>
          <a:xfrm>
            <a:off x="4626864" y="2670048"/>
            <a:ext cx="1901952" cy="841248"/>
          </a:xfrm>
          <a:prstGeom prst="rect">
            <a:avLst/>
          </a:prstGeom>
          <a:solidFill>
            <a:srgbClr val="000000"/>
          </a:solidFill>
          <a:ln w="12700">
            <a:solidFill>
              <a:srgbClr val="000000"/>
            </a:solidFill>
            <a:prstDash val="solid"/>
          </a:ln>
        </p:spPr>
      </p:sp>
      <p:sp>
        <p:nvSpPr>
          <p:cNvPr id="15" name="Text 13"/>
          <p:cNvSpPr/>
          <p:nvPr/>
        </p:nvSpPr>
        <p:spPr>
          <a:xfrm>
            <a:off x="4626864" y="2724912"/>
            <a:ext cx="1901952" cy="402336"/>
          </a:xfrm>
          <a:prstGeom prst="rect">
            <a:avLst/>
          </a:prstGeom>
          <a:noFill/>
          <a:ln/>
        </p:spPr>
        <p:txBody>
          <a:bodyPr wrap="square" rtlCol="0" anchor="ctr"/>
          <a:lstStyle/>
          <a:p>
            <a:pPr algn="ctr" indent="0" marL="0">
              <a:buNone/>
            </a:pPr>
            <a:r>
              <a:rPr lang="en-US" sz="2800" b="1" dirty="0">
                <a:solidFill>
                  <a:srgbClr val="F0A500"/>
                </a:solidFill>
                <a:latin typeface="Calibri" pitchFamily="34" charset="0"/>
                <a:ea typeface="Calibri" pitchFamily="34" charset="-122"/>
                <a:cs typeface="Calibri" pitchFamily="34" charset="-120"/>
              </a:rPr>
              <a:t>35+</a:t>
            </a:r>
            <a:endParaRPr lang="en-US" sz="2800" dirty="0"/>
          </a:p>
        </p:txBody>
      </p:sp>
      <p:sp>
        <p:nvSpPr>
          <p:cNvPr id="16" name="Text 14"/>
          <p:cNvSpPr/>
          <p:nvPr/>
        </p:nvSpPr>
        <p:spPr>
          <a:xfrm>
            <a:off x="4626864" y="3145536"/>
            <a:ext cx="1901952" cy="274320"/>
          </a:xfrm>
          <a:prstGeom prst="rect">
            <a:avLst/>
          </a:prstGeom>
          <a:noFill/>
          <a:ln/>
        </p:spPr>
        <p:txBody>
          <a:bodyPr wrap="square" rtlCol="0" anchor="ctr"/>
          <a:lstStyle/>
          <a:p>
            <a:pPr algn="ctr" indent="0" marL="0">
              <a:buNone/>
            </a:pPr>
            <a:r>
              <a:rPr lang="en-US" sz="850" dirty="0">
                <a:solidFill>
                  <a:srgbClr val="000000"/>
                </a:solidFill>
                <a:latin typeface="Calibri" pitchFamily="34" charset="0"/>
                <a:ea typeface="Calibri" pitchFamily="34" charset="-122"/>
                <a:cs typeface="Calibri" pitchFamily="34" charset="-120"/>
              </a:rPr>
              <a:t>Go-Live Checklist Items</a:t>
            </a:r>
            <a:endParaRPr lang="en-US" sz="850" dirty="0"/>
          </a:p>
        </p:txBody>
      </p:sp>
      <p:sp>
        <p:nvSpPr>
          <p:cNvPr id="17" name="Shape 15"/>
          <p:cNvSpPr/>
          <p:nvPr/>
        </p:nvSpPr>
        <p:spPr>
          <a:xfrm>
            <a:off x="6656832" y="2670048"/>
            <a:ext cx="1901952" cy="841248"/>
          </a:xfrm>
          <a:prstGeom prst="rect">
            <a:avLst/>
          </a:prstGeom>
          <a:solidFill>
            <a:srgbClr val="000000"/>
          </a:solidFill>
          <a:ln w="12700">
            <a:solidFill>
              <a:srgbClr val="000000"/>
            </a:solidFill>
            <a:prstDash val="solid"/>
          </a:ln>
        </p:spPr>
      </p:sp>
      <p:sp>
        <p:nvSpPr>
          <p:cNvPr id="18" name="Text 16"/>
          <p:cNvSpPr/>
          <p:nvPr/>
        </p:nvSpPr>
        <p:spPr>
          <a:xfrm>
            <a:off x="6656832" y="2724912"/>
            <a:ext cx="1901952" cy="402336"/>
          </a:xfrm>
          <a:prstGeom prst="rect">
            <a:avLst/>
          </a:prstGeom>
          <a:noFill/>
          <a:ln/>
        </p:spPr>
        <p:txBody>
          <a:bodyPr wrap="square" rtlCol="0" anchor="ctr"/>
          <a:lstStyle/>
          <a:p>
            <a:pPr algn="ctr" indent="0" marL="0">
              <a:buNone/>
            </a:pPr>
            <a:r>
              <a:rPr lang="en-US" sz="2800" b="1" dirty="0">
                <a:solidFill>
                  <a:srgbClr val="F0A500"/>
                </a:solidFill>
                <a:latin typeface="Calibri" pitchFamily="34" charset="0"/>
                <a:ea typeface="Calibri" pitchFamily="34" charset="-122"/>
                <a:cs typeface="Calibri" pitchFamily="34" charset="-120"/>
              </a:rPr>
              <a:t>10 Wks</a:t>
            </a:r>
            <a:endParaRPr lang="en-US" sz="2800" dirty="0"/>
          </a:p>
        </p:txBody>
      </p:sp>
      <p:sp>
        <p:nvSpPr>
          <p:cNvPr id="19" name="Text 17"/>
          <p:cNvSpPr/>
          <p:nvPr/>
        </p:nvSpPr>
        <p:spPr>
          <a:xfrm>
            <a:off x="6656832" y="3145536"/>
            <a:ext cx="1901952" cy="274320"/>
          </a:xfrm>
          <a:prstGeom prst="rect">
            <a:avLst/>
          </a:prstGeom>
          <a:noFill/>
          <a:ln/>
        </p:spPr>
        <p:txBody>
          <a:bodyPr wrap="square" rtlCol="0" anchor="ctr"/>
          <a:lstStyle/>
          <a:p>
            <a:pPr algn="ctr" indent="0" marL="0">
              <a:buNone/>
            </a:pPr>
            <a:r>
              <a:rPr lang="en-US" sz="850" dirty="0">
                <a:solidFill>
                  <a:srgbClr val="000000"/>
                </a:solidFill>
                <a:latin typeface="Calibri" pitchFamily="34" charset="0"/>
                <a:ea typeface="Calibri" pitchFamily="34" charset="-122"/>
                <a:cs typeface="Calibri" pitchFamily="34" charset="-120"/>
              </a:rPr>
              <a:t>To App Store Launch</a:t>
            </a:r>
            <a:endParaRPr lang="en-US" sz="850" dirty="0"/>
          </a:p>
        </p:txBody>
      </p:sp>
      <p:sp>
        <p:nvSpPr>
          <p:cNvPr id="20" name="Shape 18"/>
          <p:cNvSpPr/>
          <p:nvPr/>
        </p:nvSpPr>
        <p:spPr>
          <a:xfrm>
            <a:off x="566928" y="3730752"/>
            <a:ext cx="2514600" cy="822960"/>
          </a:xfrm>
          <a:prstGeom prst="rect">
            <a:avLst/>
          </a:prstGeom>
          <a:solidFill>
            <a:srgbClr val="F0A500"/>
          </a:solidFill>
          <a:ln w="12700">
            <a:solidFill>
              <a:srgbClr val="F0A500"/>
            </a:solidFill>
            <a:prstDash val="solid"/>
          </a:ln>
        </p:spPr>
      </p:sp>
      <p:sp>
        <p:nvSpPr>
          <p:cNvPr id="21" name="Text 19"/>
          <p:cNvSpPr/>
          <p:nvPr/>
        </p:nvSpPr>
        <p:spPr>
          <a:xfrm>
            <a:off x="566928" y="3785616"/>
            <a:ext cx="2514600" cy="292608"/>
          </a:xfrm>
          <a:prstGeom prst="rect">
            <a:avLst/>
          </a:prstGeom>
          <a:noFill/>
          <a:ln/>
        </p:spPr>
        <p:txBody>
          <a:bodyPr wrap="square" rtlCol="0" anchor="ctr"/>
          <a:lstStyle/>
          <a:p>
            <a:pPr algn="ctr" indent="0" marL="0">
              <a:buNone/>
            </a:pPr>
            <a:r>
              <a:rPr lang="en-US" sz="900" b="1" dirty="0">
                <a:solidFill>
                  <a:srgbClr val="1B2F6E"/>
                </a:solidFill>
                <a:latin typeface="Calibri" pitchFamily="34" charset="0"/>
                <a:ea typeface="Calibri" pitchFamily="34" charset="-122"/>
                <a:cs typeface="Calibri" pitchFamily="34" charset="-120"/>
              </a:rPr>
              <a:t>📅  Schedule Discovery Call</a:t>
            </a:r>
            <a:endParaRPr lang="en-US" sz="900" dirty="0"/>
          </a:p>
        </p:txBody>
      </p:sp>
      <p:sp>
        <p:nvSpPr>
          <p:cNvPr id="22" name="Text 20"/>
          <p:cNvSpPr/>
          <p:nvPr/>
        </p:nvSpPr>
        <p:spPr>
          <a:xfrm>
            <a:off x="566928" y="4096512"/>
            <a:ext cx="2514600" cy="219456"/>
          </a:xfrm>
          <a:prstGeom prst="rect">
            <a:avLst/>
          </a:prstGeom>
          <a:noFill/>
          <a:ln/>
        </p:spPr>
        <p:txBody>
          <a:bodyPr wrap="square" rtlCol="0" anchor="ctr"/>
          <a:lstStyle/>
          <a:p>
            <a:pPr algn="ctr" indent="0" marL="0">
              <a:buNone/>
            </a:pPr>
            <a:r>
              <a:rPr lang="en-US" sz="800" dirty="0">
                <a:solidFill>
                  <a:srgbClr val="3A2800"/>
                </a:solidFill>
                <a:latin typeface="Calibri" pitchFamily="34" charset="0"/>
                <a:ea typeface="Calibri" pitchFamily="34" charset="-122"/>
                <a:cs typeface="Calibri" pitchFamily="34" charset="-120"/>
              </a:rPr>
              <a:t>30 mins with ANM leadership</a:t>
            </a:r>
            <a:endParaRPr lang="en-US" sz="800" dirty="0"/>
          </a:p>
        </p:txBody>
      </p:sp>
      <p:sp>
        <p:nvSpPr>
          <p:cNvPr id="23" name="Shape 21"/>
          <p:cNvSpPr/>
          <p:nvPr/>
        </p:nvSpPr>
        <p:spPr>
          <a:xfrm>
            <a:off x="3291840" y="3730752"/>
            <a:ext cx="2514600" cy="822960"/>
          </a:xfrm>
          <a:prstGeom prst="rect">
            <a:avLst/>
          </a:prstGeom>
          <a:solidFill>
            <a:srgbClr val="000000"/>
          </a:solidFill>
          <a:ln w="12700">
            <a:solidFill>
              <a:srgbClr val="000000"/>
            </a:solidFill>
            <a:prstDash val="solid"/>
          </a:ln>
        </p:spPr>
      </p:sp>
      <p:sp>
        <p:nvSpPr>
          <p:cNvPr id="24" name="Text 22"/>
          <p:cNvSpPr/>
          <p:nvPr/>
        </p:nvSpPr>
        <p:spPr>
          <a:xfrm>
            <a:off x="3291840" y="3785616"/>
            <a:ext cx="251460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Sign &amp; Kickoff</a:t>
            </a:r>
            <a:endParaRPr lang="en-US" sz="900" dirty="0"/>
          </a:p>
        </p:txBody>
      </p:sp>
      <p:sp>
        <p:nvSpPr>
          <p:cNvPr id="25" name="Text 23"/>
          <p:cNvSpPr/>
          <p:nvPr/>
        </p:nvSpPr>
        <p:spPr>
          <a:xfrm>
            <a:off x="3291840" y="4096512"/>
            <a:ext cx="2514600" cy="219456"/>
          </a:xfrm>
          <a:prstGeom prst="rect">
            <a:avLst/>
          </a:prstGeom>
          <a:noFill/>
          <a:ln/>
        </p:spPr>
        <p:txBody>
          <a:bodyPr wrap="square" rtlCol="0" anchor="ctr"/>
          <a:lstStyle/>
          <a:p>
            <a:pPr algn="ctr" indent="0" marL="0">
              <a:buNone/>
            </a:pPr>
            <a:r>
              <a:rPr lang="en-US" sz="800" dirty="0">
                <a:solidFill>
                  <a:srgbClr val="000000"/>
                </a:solidFill>
                <a:latin typeface="Calibri" pitchFamily="34" charset="0"/>
                <a:ea typeface="Calibri" pitchFamily="34" charset="-122"/>
                <a:cs typeface="Calibri" pitchFamily="34" charset="-120"/>
              </a:rPr>
              <a:t>30% deposit starts Week 1</a:t>
            </a:r>
            <a:endParaRPr lang="en-US" sz="800" dirty="0"/>
          </a:p>
        </p:txBody>
      </p:sp>
      <p:sp>
        <p:nvSpPr>
          <p:cNvPr id="26" name="Shape 24"/>
          <p:cNvSpPr/>
          <p:nvPr/>
        </p:nvSpPr>
        <p:spPr>
          <a:xfrm>
            <a:off x="6016752" y="3730752"/>
            <a:ext cx="2514600" cy="822960"/>
          </a:xfrm>
          <a:prstGeom prst="rect">
            <a:avLst/>
          </a:prstGeom>
          <a:solidFill>
            <a:srgbClr val="000000"/>
          </a:solidFill>
          <a:ln w="12700">
            <a:solidFill>
              <a:srgbClr val="000000"/>
            </a:solidFill>
            <a:prstDash val="solid"/>
          </a:ln>
        </p:spPr>
      </p:sp>
      <p:sp>
        <p:nvSpPr>
          <p:cNvPr id="27" name="Text 25"/>
          <p:cNvSpPr/>
          <p:nvPr/>
        </p:nvSpPr>
        <p:spPr>
          <a:xfrm>
            <a:off x="6016752" y="3785616"/>
            <a:ext cx="251460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Ask Any Question</a:t>
            </a:r>
            <a:endParaRPr lang="en-US" sz="900" dirty="0"/>
          </a:p>
        </p:txBody>
      </p:sp>
      <p:sp>
        <p:nvSpPr>
          <p:cNvPr id="28" name="Text 26"/>
          <p:cNvSpPr/>
          <p:nvPr/>
        </p:nvSpPr>
        <p:spPr>
          <a:xfrm>
            <a:off x="6016752" y="4096512"/>
            <a:ext cx="2514600" cy="219456"/>
          </a:xfrm>
          <a:prstGeom prst="rect">
            <a:avLst/>
          </a:prstGeom>
          <a:noFill/>
          <a:ln/>
        </p:spPr>
        <p:txBody>
          <a:bodyPr wrap="square" rtlCol="0" anchor="ctr"/>
          <a:lstStyle/>
          <a:p>
            <a:pPr algn="ctr" indent="0" marL="0">
              <a:buNone/>
            </a:pPr>
            <a:r>
              <a:rPr lang="en-US" sz="800" dirty="0">
                <a:solidFill>
                  <a:srgbClr val="000000"/>
                </a:solidFill>
                <a:latin typeface="Calibri" pitchFamily="34" charset="0"/>
                <a:ea typeface="Calibri" pitchFamily="34" charset="-122"/>
                <a:cs typeface="Calibri" pitchFamily="34" charset="-120"/>
              </a:rPr>
              <a:t>hello@yourstudio.com</a:t>
            </a:r>
            <a:endParaRPr lang="en-US" sz="800" dirty="0"/>
          </a:p>
        </p:txBody>
      </p:sp>
      <p:sp>
        <p:nvSpPr>
          <p:cNvPr id="29" name="Shape 27"/>
          <p:cNvSpPr/>
          <p:nvPr/>
        </p:nvSpPr>
        <p:spPr>
          <a:xfrm>
            <a:off x="0" y="4983480"/>
            <a:ext cx="9144000" cy="160020"/>
          </a:xfrm>
          <a:prstGeom prst="rect">
            <a:avLst/>
          </a:prstGeom>
          <a:solidFill>
            <a:srgbClr val="F0A500"/>
          </a:solidFill>
          <a:ln/>
        </p:spPr>
      </p:sp>
      <p:sp>
        <p:nvSpPr>
          <p:cNvPr id="30" name="Text 28"/>
          <p:cNvSpPr/>
          <p:nvPr/>
        </p:nvSpPr>
        <p:spPr>
          <a:xfrm>
            <a:off x="0" y="4992624"/>
            <a:ext cx="9144000" cy="128016"/>
          </a:xfrm>
          <a:prstGeom prst="rect">
            <a:avLst/>
          </a:prstGeom>
          <a:noFill/>
          <a:ln/>
        </p:spPr>
        <p:txBody>
          <a:bodyPr wrap="square" rtlCol="0" anchor="ctr"/>
          <a:lstStyle/>
          <a:p>
            <a:pPr algn="ctr" indent="0" marL="0">
              <a:buNone/>
            </a:pPr>
            <a:r>
              <a:rPr lang="en-US" sz="700" dirty="0">
                <a:solidFill>
                  <a:srgbClr val="1B2F6E"/>
                </a:solidFill>
                <a:latin typeface="Calibri" pitchFamily="34" charset="0"/>
                <a:ea typeface="Calibri" pitchFamily="34" charset="-122"/>
                <a:cs typeface="Calibri" pitchFamily="34" charset="-120"/>
              </a:rPr>
              <a:t>ANM Community App — Milestone &amp; Implementation Plan · Powered by Proprietary .NET 8 Framework · Confidential</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ANM Community App — Milestone &amp; Implementation Plan</dc:title>
  <dc:subject>PptxGenJS Presentation</dc:subject>
  <dc:creator>Solution Development Team</dc:creator>
  <cp:lastModifiedBy>Solution Development Team</cp:lastModifiedBy>
  <cp:revision>1</cp:revision>
  <dcterms:created xsi:type="dcterms:W3CDTF">2026-06-14T10:40:26Z</dcterms:created>
  <dcterms:modified xsi:type="dcterms:W3CDTF">2026-06-14T10:40:26Z</dcterms:modified>
</cp:coreProperties>
</file>