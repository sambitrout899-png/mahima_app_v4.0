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463040" cy="1463040"/>
          </a:xfrm>
          <a:prstGeom prst="ellipse">
            <a:avLst/>
          </a:prstGeom>
          <a:solidFill>
            <a:srgbClr val="0D9488">
              <a:alpha val="7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</a:rPr>
              <a:t>CRYPTA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28600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0D9488"/>
                </a:solidFill>
              </a:rPr>
              <a:t>COVERT  REALTIME  YOKED  PASTORAL  TRUST  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0" y="2331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Secure · Encrypted · Stealth-Ready Messaging for Pastors in High-Risk Environments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End-to-End Proposal — Implementation, Platform &amp; AMC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Built on Mahima App V4.0  |  Delta Analysis Included  |  INR Commercials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Prepared for Jai Masih Ministry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What This Proposal Covers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complete blueprint — from threat to solution to commercials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The Threat Landscape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85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Why pastors are uniquely vulnerable &amp; what attackers exploit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8892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62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Introducing CRYPTA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Architecture, unique features, and AI enrichment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867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7-Layer Security 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1970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E2E encryption, stealth mode, panic wipe &amp; more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78308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78308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783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Admin Console &amp; Mgmt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185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Web dashboard, pastor profiles, audit trail, RBAC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78892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78892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88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862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Delta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exists in Mahima V4.0 vs. what needs to be built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794760"/>
            <a:ext cx="4160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9476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947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867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Commercials (INR)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1970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Implementation, platform costs &amp; AMC with 50% margin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</a:rPr>
              <a:t>THE THREAT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Pastors in high-risk zones face systematic, technology-assisted persecution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2128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Phone Gallery Raids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Law enforcement confiscates phones and scans photo galleries for evidence of prayer meetings, Bible studies, and baptisms to build conversion cases.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2128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Chat Screenshot Evidence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WhatsApp chats are extracted via physical access or cloud backup. Group names, member lists, and messages are used as legal evidence in FIR filings.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2128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Informer-Assisted Stings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Moles inside congregations secretly capture media and forward to hostile actors. A single compromised member can expose an entire network.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The danger is REAL. Pastors need a purpose-built tool — not a consumer app — to stay protected.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PROBLEM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Why WhatsApp &amp; Standard Apps Fail Pastors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Consumer messaging apps were never built for life-threatening operational security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Files saved to Gallery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photo/video lands in device gallery — instant evidence on confiscation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Cloud backups exploitable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iCloud/Google Drive backups expose entire chat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No remote wipe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61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authority can erase data from a pastor's phone remotely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487168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Metadata leaks identity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761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Contact lists, group names, timestamps reveal ministry networks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36976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No decoy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5112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 opens to full data — hostile actors see everything immediately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36976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No admin kill-switch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5112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Head office cannot disable the app for a compromised field pastor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986784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Screen-capture unprotected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261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Screenshots of sensitive content trivially shared as evidence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86784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No AI-aided threat detection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261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system warns when a contact pattern suggests a sting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INTRODUCING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FFFFFF"/>
                </a:solidFill>
              </a:rPr>
              <a:t>CRYPTA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9E0B"/>
                </a:solidFill>
              </a:rPr>
              <a:t>The world's first pastoral-hardened secure messaging platform.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30428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042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Signal-Protocol E2E Encryption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30428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3042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Zero Local File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07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One-Tap Panic Wipe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0720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07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Stealth / Decoy 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Field Safety Assistant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31012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3101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Admin Kill-Switch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1304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13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Auto-Expiring Messages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81304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13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SOS Duress Alerts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159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 Protective Security Layers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315968"/>
            <a:ext cx="4114800" cy="402336"/>
          </a:xfrm>
          <a:prstGeom prst="rect">
            <a:avLst/>
          </a:prstGeom>
          <a:solidFill>
            <a:srgbClr val="1628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3159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Web Admin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SECURITY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7-Layer Protection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Defence-in-depth — no single point of failure can expose a pastor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84124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55648"/>
            <a:ext cx="548640" cy="402336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792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Signal Protocol E2E Encryption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Double Ratchet + X25519 ECDH. Zero-knowledge server — we cannot read your messages.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548640" cy="402336"/>
          </a:xfrm>
          <a:prstGeom prst="rect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Biometric + PIN App 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2311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Fingerprint / Face ID + time-out auto-lock. PIN entry required after 3 failed attempts.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84124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33472"/>
            <a:ext cx="548640" cy="402336"/>
          </a:xfrm>
          <a:prstGeom prst="rect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334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670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Zero Local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 previewed ephemerally in secure viewer. No write to gallery. DRM-level rendering.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72384"/>
            <a:ext cx="548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723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108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Screen Capture Prevention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Android FLAG_SECURE + iOS overlay blocking. Screenshots appear blank to attacker.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84124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11296"/>
            <a:ext cx="5486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112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5478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Stealth / Decoy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547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Fake calculator or utility UI hides app contents. Panic gesture activates wipe or decoy.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50208"/>
            <a:ext cx="54864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50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3986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Server-Side Panic Kill-Switch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9867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 or pastor triggers remote kill — app becomes permanently unusable, data purged.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389120"/>
            <a:ext cx="841248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389120"/>
            <a:ext cx="5486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891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" y="44256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AI Threat &amp; Anomaly Detection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44256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 monitors behaviour patterns, suspicious logins, contact anomalies, sends instant alerts.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FEATURE DEEP DIVE — LAYERS 1 &amp;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E2E Encryption &amp; Zero Local Storage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Server sees only ciphertext. Device stores nothing.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1148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Encryption 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Signal Protocol — Double Ratchet Algorithm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X25519 ECDH key exchange per session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AES-256-GCM for message body encryption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Per-message ephemeral keys — no key reuse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9359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Forward secrecy: past sessions unbreakable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867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Server stores only encrypted ciphertext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2336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187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server-side decryption capability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5537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507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Key pairs stored in device secure enclave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719072"/>
            <a:ext cx="41148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Zero Local Storage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3134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Media streamed — never written to disk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6334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Secure in-memory renderer (DRM-class)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9535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Android MediaProjection API blocked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2735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Ephemeral file token expires in 60 sec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935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Cache encrypted with session-scoped key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913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3867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On logout: all cached data destroyed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233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4187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File attachments: server-only, no download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5537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4507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Received images: view-once mode default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FEATURE DEEP DIVE — LAYERS 5 &amp;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Stealth Mode &amp; Panic Wipe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When lives are at stake, the app must disappear — instantly.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023360" cy="3246120"/>
          </a:xfrm>
          <a:prstGeom prst="rect">
            <a:avLst/>
          </a:prstGeom>
          <a:solidFill>
            <a:srgbClr val="1628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19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Stealth / Decoy Mode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94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App appears as 'Smart Calculator Pro' on home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14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Enter PIN -&gt; opens to innocent calculator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8346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Enter secret code -&gt; reveals CRYPTA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154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Wrong attempt by hostile party -&gt; decoy data shown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4747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App icon, name and splash screen replaceable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7947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Admin can push a 'rename' command remotely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114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Different app appearance after trigger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4805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434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Supports multiple stealth personas per role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627632"/>
            <a:ext cx="4023360" cy="3246120"/>
          </a:xfrm>
          <a:prstGeom prst="rect">
            <a:avLst/>
          </a:prstGeom>
          <a:solidFill>
            <a:srgbClr val="1E153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719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Panic Wipe System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194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1-tap emergency wipe from pastor's phone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514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Admin console remote wipe from head office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80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8346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Auto-wipe on N failed PIN attempts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154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Scheduled silent wipe (e.g., every 7 days)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04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4747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Geo-trigger: enters hostile zone -&gt; auto-wipe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840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7947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Wipe destroys: keys, contacts, messages, media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4114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App becomes a blank dummy after wipe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4805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434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Wipe event logged (tamper-proof) on server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FEATURE DEEP DIVE — LAYER 7 / AI ENRICHMENT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CRYPTA AI: PastorBot+ Field Safety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Built on existing PastorBot foundation — enriched with active threat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5176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OpenAI / Ollama / Groq (configurable, self-hosted)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719072"/>
            <a:ext cx="265176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Threat pattern analysis on every message event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719072"/>
            <a:ext cx="265176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Zero Cloud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Can run fully on-premise for maximum privacy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0358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Sting Detector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analyses new contact behaviour, message timing, and content to flag potential informer stings before engagement.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30358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Geo-Risk Advisor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32735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area risk scoring. Warns pastor when entering a zone flagged by other field workers or news sources.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69417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Safe Language Coach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Suggests coded, neutral language for sensitive topics to reduce incriminating content in messages.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369417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Anomaly Alerts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9319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Unusual login location, new device, rapid message deletion — AI triggers immediate admin notification.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3525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Pastoral Guidance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90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Existing PastorBot upgraded with field safety knowledge — advises on legal rights and how to act safely.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4315968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0" y="43525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Legal Shield Drafter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4590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Generates standard legal protection statements and formats for pastors to carry in the field.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FEATURE DEEP DIVE — EMERGENCY &amp; TEMPORAL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SOS System &amp; Auto-Expiring Messages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Active safety for pastors plus time-limited evidence reduction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690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40690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SOS &amp; Duress Alert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04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Shake-to-SOS: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Rapid device shake triggers silent SOS to 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42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Volume Panic: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47672" y="2642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Volume up x3 sends emergency alert with GPS coords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Duress PIN: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47672" y="2980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Different PIN shows decoy data AND alerts 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319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Network SOS: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47672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SOS pushed to admin console + designated contacts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69417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Offline SOS: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47672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Pre-queued SMS SOS when no internet is available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3250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995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Check-in System: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47672" y="3995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Pastor marks safe at intervals; missed = auto-alert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7083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Pastor Tracker: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47672" y="4334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Optional: head office views last-known location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719072"/>
            <a:ext cx="40690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719072"/>
            <a:ext cx="406908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719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Auto-Expiring Messages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3408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23042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View-Once: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3042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Message destroys itself after first read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67919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642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TTL Timer: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26426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Set: 1 hour / 1 day / 7 days / 30 days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175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2980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Server Purge: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29809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Server also purges at TTL — no server residue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3558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3319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Group TTL: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3319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sets policy TTL for entire group chats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6941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Forced Delete: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3657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can recall &amp; purge any message globally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4032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995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Proof of Delete: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Deletion certificate logged in audit trail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43708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4334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</a:rPr>
              <a:t>Scrub Mode: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2200" y="43342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Wipe all messages older than N days on schedule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ADMIN CONSOLE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Web Control Panel &amp; Real-Time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Complete operational visibility and command for head office administrators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922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Live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KPIs: active sessions, message volume, alerts triggered, pastor check-in status, system health.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7922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Field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04825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Visual map of pastor locations (opt-in), last-seen status, SOS pins, and geo-fenced risk zones.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96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Pastor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5292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profile CRUD, role assignments, status (active/suspended/danger), and communication history.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542032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542032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596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Access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85292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Granular RBAC — who can see what, message whom, and access which admin functions. Time-limited access.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46704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015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Alert Centre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6576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Incoming SOS alerts, AI-flagged anomalies, missed check-ins, and system warnings in a unified feed.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346704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46704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4015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Remote Wipe Console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36576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Select one or many pastors -&gt; initiate remote wipe or app disable. Requires dual-admin confirmation.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151376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151376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2062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Audit Trail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46227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action logged with actor, timestamp, IP, device fingerprint. Tamper-proof, exportable to PDF.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151376"/>
            <a:ext cx="41605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4151376"/>
            <a:ext cx="475488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2062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Broadcast Hub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446227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Send encrypted one-to-many alerts, prayer updates, and safety advisories to all or filtered groups.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PASTOR DATA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Comprehensive Pastor Profile &amp; Security Tier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Ministry-grade identity management with data sensitivity controls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2336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Pastor Profile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494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Full identity: Name, Code, Photo (encrypted)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8775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511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Ministry zone / district / region assignment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852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Security tier: Green / Amber / Red / 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9125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154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Emergency contacts (encrypted, admin-only)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Device fingerprints &amp; trusted devices list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7581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Aadhaar / ID references (encrypted at rest)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9651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599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Baptism &amp; ministry history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39826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361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Assigned groups, channels &amp; broadcast lists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700016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Last-check-in + SOS history log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19072"/>
            <a:ext cx="402336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Security Tier Classification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286000"/>
            <a:ext cx="10058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GREEN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0644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Low risk. Standard access. No special restrictions.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10058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443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AMBER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6440" y="2944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Elevated risk. Geo-alerts enabled. Check-in required daily.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02736"/>
            <a:ext cx="10058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6027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06440" y="36027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Active threat. Limited contacts. Auto-delete 24h. Admin notified.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261104"/>
            <a:ext cx="10058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2611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06440" y="42611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Imminent danger. Admin remote-controls session. Panic mode always 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41648"/>
            <a:ext cx="3840480" cy="804672"/>
          </a:xfrm>
          <a:prstGeom prst="rect">
            <a:avLst/>
          </a:prstGeom>
          <a:solidFill>
            <a:srgbClr val="DBEAFE"/>
          </a:solidFill>
          <a:ln w="9525">
            <a:solidFill>
              <a:srgbClr val="1C35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330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557"/>
                </a:solidFill>
              </a:rPr>
              <a:t>RBAC Roles: SuperAdmin · RegionAdmin · FieldSupervisor · PastorSelf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3557"/>
                </a:solidFill>
              </a:rPr>
              <a:t>Sensitive fields (Aadhaar, phone, location) require dual-admin approval to view.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GOVERNANCE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Tamper-Proof Audit Trail &amp; Legal Compliance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Every admin action, wipe, and access event is immutably logged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338328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128016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Captured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Retention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Login / Logout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User, device, IP, location, timestamp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365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Message Sent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ChatId, SenderHash (no content), size, TTL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90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File Access Attempt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Resource, actor, outcome (allowed/denied)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365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Admin Config Change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Field changed, old/new value, dual-auth ref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Forever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Remote Wipe Triggered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Initiator, target pastor, reason, confirmation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Forever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SOS Alert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Pastor, GPS coords, timestamp, 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Forever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Permission Change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Role, grantor, grantee, scope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Forever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AI Alert Fired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Alert type, confidence, actor, disposition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180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DBEAFE"/>
          </a:solidFill>
          <a:ln w="9525">
            <a:solidFill>
              <a:srgbClr val="1C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557"/>
                </a:solidFill>
              </a:rPr>
              <a:t>Audit logs are append-only (no delete API). Export to PDF or CSV. Integration with SIEM systems available.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TECHNOLOGY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Built on proven Mahima V4.0 stack — enhanced for adversarial environments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75488"/>
          </a:xfrm>
          <a:prstGeom prst="rect">
            <a:avLst/>
          </a:prstGeom>
          <a:solidFill>
            <a:srgbClr val="1D4E6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612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React + Capacitor (Android/iOS) · Signal Protocol JS · Biometric API · FLAG_SECURE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475488"/>
          </a:xfrm>
          <a:prstGeom prst="rect">
            <a:avLst/>
          </a:prstGeom>
          <a:solidFill>
            <a:srgbClr val="1D4E6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ADMIN WEB CONSOLE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7099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React SPA · Role-gated routes · Real-time SignalR · Chart.js dashboards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475488"/>
          </a:xfrm>
          <a:prstGeom prst="rect">
            <a:avLst/>
          </a:prstGeom>
          <a:solidFill>
            <a:srgbClr val="0D6B6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585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ASP.NET Core 8 Web API · JWT Bearer · Rate Limiting · IP Whitelisting · WAF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75488"/>
          </a:xfrm>
          <a:prstGeom prst="rect">
            <a:avLst/>
          </a:prstGeom>
          <a:solidFill>
            <a:srgbClr val="0D6B6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072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REAL-TIME 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80720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SignalR (WebSockets) · Presence tracking · Group channels · Push Notifications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8412480" cy="475488"/>
          </a:xfrm>
          <a:prstGeom prst="rect">
            <a:avLst/>
          </a:prstGeom>
          <a:solidFill>
            <a:srgbClr val="4B268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558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35584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OpenAI-Compatible LLM (Ollama/Groq/GPT-4o) · Vision API · Threat Pattern Models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475488"/>
          </a:xfrm>
          <a:prstGeom prst="rect">
            <a:avLst/>
          </a:prstGeom>
          <a:solidFill>
            <a:srgbClr val="1C3557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9044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PostgreSQL (EF Core 8) · Encrypted columns (AES-256) · Append-only audit tables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531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INFRA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4531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AWS (ECS / RDS / S3 / CloudFront / WAF) · OR Azure / Self-Hosted · Let's Encrypt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BASELINE ASSESSMENT — MAHIMA APP V4.0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What's Already Built in Mahima V4.0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Audit of existing messaging, auth &amp; AI features — reduces delta effort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Chat Model (1:1 + Group)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73552" y="179222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3552" y="1792224"/>
            <a:ext cx="128016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70%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Chat, ChatMember, IChatService, basic CRUD + soft delete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SignalR Real-time Hub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06654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2066544"/>
            <a:ext cx="128016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0116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70%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1500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useChatConnection, presence, group join/leave, auto-reconnect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Message Model &amp; CRUD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73552" y="234086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2340864"/>
            <a:ext cx="128016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286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70%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Message, MessageRead, ContentType, delete-for-all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User Block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261518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2615184"/>
            <a:ext cx="146304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560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80%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UserBlock model, BlockChatUserAsync, UnblockChatUserAsync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JWT Auth + Role System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73552" y="288950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2889504"/>
            <a:ext cx="137160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75%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JwtTokenService, Role, RolePermission, RBAC claims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AuditLog Model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73552" y="316382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3163824"/>
            <a:ext cx="73152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40%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AuditLog with ActorId, Action, EntityType — needs expansion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383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Attachment / S3 Uploads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73552" y="343814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3438144"/>
            <a:ext cx="100584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55%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1500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AttachmentsController, S3Key, multi-attachment DTOs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PastorBot AI (OpenAI-compat)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73552" y="371246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3712464"/>
            <a:ext cx="109728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657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60%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1500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PastorBotController, OpenAiCompatibleLlmProvider, vision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User Model (Pastor fields)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98678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73552" y="3986784"/>
            <a:ext cx="11887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9319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65%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15000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IsPastor, AadharNumber, BaptismDate, EmergencyContact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206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Admin Controllers (partial)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73552" y="426110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3552" y="4261104"/>
            <a:ext cx="54864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206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30%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71500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AdminLandingController — full dashboard missing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480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E2E Encryption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73552" y="453542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4480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0%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715000" y="4480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NOT BUILT — messages stored as plain text in PostgreSQL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65760" y="4754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Remote Wipe / Panic Mode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73552" y="4809744"/>
            <a:ext cx="182880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4754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0%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715000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NOT BUILT — no kill-switch mechanism of any kind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DELTA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Gap Analysis: New Features Required for CRYPTA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Features scored by complexity and month estimation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64208"/>
          <a:ext cx="8595360" cy="329184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2880360"/>
                <a:gridCol w="914400"/>
                <a:gridCol w="457200"/>
              </a:tblGrid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 / Module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in V4.0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Delta Work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Signal Protocol E2E Encryption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Full implementation (Signal JS + server key mgmt)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5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Zero Local Storage / Secure Viewer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DRM viewer, block gallery write, cache encryption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Biometric + PIN App Lock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Capacitor Biometrics plugin + timeout policy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 month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Screen Capture Prevention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Android FLAG_SECURE, iOS overlay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0.5m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Standalone CRYPTA App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Embedded in Mahima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New app project, branding, stealth persona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1.5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P1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Remote Wipe / Panic Kill-Switch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Server-side disable + client wipe protocol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Stealth / Decoy Mode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Decoy UI, secret PIN routing, remote rename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Auto-Expiring Messages (TTL)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TTL field, server purge job, forced delete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 month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SOS &amp; Duress Alert System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Shake/volume triggers, GPS, SMS fallback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Geofencing &amp; Location Alerts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Zone management, entry/exit triggers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1.5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P2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Full Admin Console &amp; Dashboard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30% partial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React admin SPA, charts, maps, wipe console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3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Pastor Mgmt + Security Tiers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IsPastor flag only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Full profile module, tier system, RBAC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1.5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Expanded Audit Trail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40% partial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Append-only, tamper-proof, export, SIEM hook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 month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AI Safety (PastorBot+)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60% partial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Threat model, geo-risk, safe language, alerts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Certificate Pinning + MFA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Not built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SSL pin, TOTP-based 2FA, trusted device mgmt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1.5 months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93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3557"/>
                          </a:solidFill>
                        </a:rPr>
                        <a:t>Security Audit + Pen Test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Not done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External pen test, OWASP Top 10 remediation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 month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3557"/>
                          </a:solidFill>
                        </a:rPr>
                        <a:t>P4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4-Phase Delivery Plan (12 Months)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Prioritised for maximum security impact — working app by end of Phase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1993392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19072"/>
            <a:ext cx="1993392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C4DE"/>
                </a:solidFill>
              </a:rPr>
              <a:t>Months 1-5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100584" cy="10058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505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Standalone CRYPTA app build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944368"/>
            <a:ext cx="100584" cy="10058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9077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E2E Signal Protocol encryption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100584" cy="10058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3649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Zero local storage + secure viewer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3858768"/>
            <a:ext cx="100584" cy="10058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8221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Biometric + PIN lock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4315968"/>
            <a:ext cx="100584" cy="10058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2793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Screen capture prevention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1719072"/>
            <a:ext cx="1993392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1719072"/>
            <a:ext cx="199339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7373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19933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C4DE"/>
                </a:solidFill>
              </a:rPr>
              <a:t>Months 6-8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78608" y="24871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4505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Stealth / Decoy mode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78608" y="29443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29077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Panic Wipe (pastor + admin)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78608" y="34015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33649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Auto-expiring messages (TTL)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78608" y="38587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38221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SOS &amp; Duress alert system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78608" y="4315968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24912" y="42793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Geofencing &amp; location alerts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1719072"/>
            <a:ext cx="1993392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1719072"/>
            <a:ext cx="199339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7373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17720" y="19933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Command &amp; Intelligence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C4DE"/>
                </a:solidFill>
              </a:rPr>
              <a:t>Months 9-11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27448" y="24871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4505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Full admin console + dashboard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27448" y="29443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29077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Pastor management + tiers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27448" y="34015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3649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Expanded audit trail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38587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8221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PastorBot+ field safety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27448" y="43159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42793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MFA + certificate pinning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66560" y="1719072"/>
            <a:ext cx="1993392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66560" y="1719072"/>
            <a:ext cx="1993392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17373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66560" y="19933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Harden &amp; Launch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6656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C4DE"/>
                </a:solidFill>
              </a:rPr>
              <a:t>Month 12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76288" y="248716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2592" y="24505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External pen test (OWASP)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76288" y="294436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29077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Security audit &amp; remediation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76288" y="340156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33649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Load &amp; performance testing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76288" y="385876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22592" y="38221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UAT with pilot pastors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76288" y="431596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22592" y="427939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Go-live + team training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TEAM 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Recommended India Delivery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Specialist roles for security-hardened mobile + web platform build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8595360" cy="3337560"/>
        </p:xfrm>
        <a:graphic>
          <a:graphicData uri="http://schemas.openxmlformats.org/drawingml/2006/table">
            <a:tbl>
              <a:tblPr/>
              <a:tblGrid>
                <a:gridCol w="2560320"/>
                <a:gridCol w="411480"/>
                <a:gridCol w="3108960"/>
                <a:gridCol w="1325880"/>
                <a:gridCol w="118872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Skills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Tech Lead / Architect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Security arch, ASP.NET, Signal Protocol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Rs.1,20,000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Rs.1,20,000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Sr. Full-Stack Dev (Backend)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C# .NET 8, PostgreSQL, E2E crypto, SignalR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Rs.1,80,000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Sr. Mobile Dev (Capacitor)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React + Capacitor, Android/iOS, biometrics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Mid Full-Stack Dev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React, .NET, admin console, REST APIs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Rs.65,000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Rs.1,30,000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DevOps / Security Engineer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AWS/Azure, WAF, CI/CD, pen-test tooling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QA / Security Tester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OWASP, API testing, mobile QA, Burp Suite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Rs.55,000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Rs.55,000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UI/UX Designer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Mobile UX, stealth persona design, dashboards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Rs.65,000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Rs.32,500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Project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Agile delivery, client reporting, risk mgmt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Rs.90,000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Rs.45,000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MONTHLY TEAM 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Rs.6,42,500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COMMERCIALS -- IMPLEMENTATION COST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One-Time Implementation Cost (INR)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12-month delivery · India team · 50% margin applied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8595360" cy="2651760"/>
        </p:xfrm>
        <a:graphic>
          <a:graphicData uri="http://schemas.openxmlformats.org/drawingml/2006/table">
            <a:tbl>
              <a:tblPr/>
              <a:tblGrid>
                <a:gridCol w="2514600"/>
                <a:gridCol w="1005840"/>
                <a:gridCol w="1143000"/>
                <a:gridCol w="1554480"/>
                <a:gridCol w="1188720"/>
                <a:gridCol w="11887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 (FTEs)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Margin (50%)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Billable (INR)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P1 - Security Foundation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5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8.0 FTEs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Rs.32,12,500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Rs.16,06,250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Rs.48,18,750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P2 - Active Protection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8.0 FTEs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Rs.19,27,500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Rs.9,63,750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Rs.28,91,250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P3 - Command &amp;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8.0 FTEs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Rs.19,27,500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Rs.9,63,750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Rs.28,91,250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557"/>
                          </a:solidFill>
                        </a:rPr>
                        <a:t>P4 - Harden &amp; 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4.5 FTEs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Rs.4,12,500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Rs.2,06,250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Rs.6,18,750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IMPLEMENTATION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</a:rPr>
                        <a:t>Rs.74,80,000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Rs.37,40,000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Rs.1,12,20,000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526280"/>
            <a:ext cx="859536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1C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5720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557"/>
                </a:solidFill>
              </a:rPr>
              <a:t>Notes: Base cost = team rates x duration. Margin = 50% on base. Monthly team cost = Rs.6,42,500.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3557"/>
                </a:solidFill>
              </a:rPr>
              <a:t>Payment: 30% on signing, 20% each at Phase 1/2/3 completion, 10% on go-live.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3557"/>
                </a:solidFill>
              </a:rPr>
              <a:t>Pricing excludes platform/infrastructure costs (see next slide).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COMMERCIALS -- PLATFORM &amp; AMC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</a:rPr>
              <a:t>Annual Platform Costs &amp; AMC (INR)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Recurring annual costs after go-live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41148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19072"/>
            <a:ext cx="41148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4650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 / Infrastructure (Annual)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AWS / Azure Hosting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Rs.3,60,000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WAF + DDoS Protection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2596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Rs.1,80,000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9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Monitoring &amp; Alerts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Rs.1,20,000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/ LLM 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Rs.1,20,000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SMS / OTP (Twilio)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Rs.72,000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SSL Certificates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Rs.12,000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 Store Fees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Rs.12,000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352544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52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Subtotal (Base)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Rs.7,76,000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50% Margin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4645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Rs.3,88,000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937760"/>
            <a:ext cx="4114800" cy="274320"/>
          </a:xfrm>
          <a:prstGeom prst="rect">
            <a:avLst/>
          </a:prstGeom>
          <a:solidFill>
            <a:srgbClr val="1C355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TOTAL PLATFORM (Annual)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4937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Rs.11,64,000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1719072"/>
            <a:ext cx="41148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719072"/>
            <a:ext cx="411480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74650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Maintenance Contract (AMC)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304288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Sr. Dev (Bug Fixes)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7240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Rs.90,000 x 12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596896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Mid Dev (Enhancements)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772400" y="2596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Rs.65,000 x 12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2889504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DevOps (Infra + Security)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7240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Rs.45,000 x 12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3182112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QA / Security Testing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7240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Rs.27,500 x 12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3474720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Support Manager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724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Rs.22,500 x 12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9160" y="3767328"/>
            <a:ext cx="41148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Base Annual Labour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7240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Rs.30,00,000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09160" y="4059936"/>
            <a:ext cx="41148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059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50% Margin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72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Rs.15,00,000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09160" y="4352544"/>
            <a:ext cx="4114800" cy="274320"/>
          </a:xfrm>
          <a:prstGeom prst="rect">
            <a:avLst/>
          </a:prstGeom>
          <a:solidFill>
            <a:srgbClr val="1C355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TOTAL AMC (Annual)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72400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Rs.45,00,000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INVESTMENT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Total Cost of Ownership -- INR (with 50% Margin)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920240"/>
        </p:xfrm>
        <a:graphic>
          <a:graphicData uri="http://schemas.openxmlformats.org/drawingml/2006/table">
            <a:tbl>
              <a:tblPr/>
              <a:tblGrid>
                <a:gridCol w="41148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 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1 (INR)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2+ Annual (INR)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One-Time 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Rs.1,12,20,000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--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Annual Platform Costs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Rs.11,64,000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Rs.11,64,000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Annual AMC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Rs.45,00,000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Rs.45,00,000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Rs.1,68,84,000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Rs.56,64,000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1920240" cy="1097280"/>
          </a:xfrm>
          <a:prstGeom prst="rect">
            <a:avLst/>
          </a:prstGeom>
          <a:solidFill>
            <a:srgbClr val="1628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Rs.1.68 Cr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Total Year 1 Investment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3429000"/>
            <a:ext cx="1920240" cy="1097280"/>
          </a:xfrm>
          <a:prstGeom prst="rect">
            <a:avLst/>
          </a:prstGeom>
          <a:solidFill>
            <a:srgbClr val="1628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Rs.56.6 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5603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Annual Year 2+ Running Cost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3429000"/>
            <a:ext cx="1920240" cy="1097280"/>
          </a:xfrm>
          <a:prstGeom prst="rect">
            <a:avLst/>
          </a:prstGeom>
          <a:solidFill>
            <a:srgbClr val="1628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12 Months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634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Delivery Timeline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3429000"/>
            <a:ext cx="1920240" cy="1097280"/>
          </a:xfrm>
          <a:prstGeom prst="rect">
            <a:avLst/>
          </a:prstGeom>
          <a:solidFill>
            <a:srgbClr val="1628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8 FTEs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Peak Team Size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From Proposal to Production -- 5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Proposal Review Meeting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179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Walk through scope, features, and commercials with all stakeholders. Address questions and agree on scope boundaries.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92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SOW Finalisation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037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Sign Statement of Work. Lock Phase 1 scope and payment milestone schedule.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5786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Mobilisation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895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Assign Tech Lead + team. Set up dev environment, repo, and CI/CD pipeline.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Kickoff Sprint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5753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2-week sprint planning. First deliverable: CRYPTA skeleton app with encryption POC.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950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Steering Cadence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2611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Monthly progress demos + burn-down reviews. Admin console demo at Month 9.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45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C3557"/>
                </a:solidFill>
              </a:rPr>
              <a:t>CRYPTA  --  Protecting Those Who Protect the Flock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CRYPTA – Secure Pastoral Communications Platform</dc:title>
  <dc:subject>PptxGenJS Presentation</dc:subject>
  <dc:creator>Mahima Technology Team</dc:creator>
  <cp:lastModifiedBy>Mahima Technology Team</cp:lastModifiedBy>
  <cp:revision>1</cp:revision>
  <dcterms:created xsi:type="dcterms:W3CDTF">2026-06-15T07:49:11Z</dcterms:created>
  <dcterms:modified xsi:type="dcterms:W3CDTF">2026-06-15T07:49:11Z</dcterms:modified>
</cp:coreProperties>
</file>