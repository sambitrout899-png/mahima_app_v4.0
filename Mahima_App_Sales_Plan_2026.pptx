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Subscriptions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</c:v>
                </c:pt>
                <c:pt idx="1">
                  <c:v>520000</c:v>
                </c:pt>
                <c:pt idx="2">
                  <c:v>1800000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On-Premise Licenses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45000</c:v>
                </c:pt>
                <c:pt idx="1">
                  <c:v>140000</c:v>
                </c:pt>
                <c:pt idx="2">
                  <c:v>480000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Support &amp; Services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15000</c:v>
                </c:pt>
                <c:pt idx="1">
                  <c:v>60000</c:v>
                </c:pt>
                <c:pt idx="2">
                  <c:v>120000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deck by briefly positioning Mahima as a full-stack ChMS built from the ground up for modern churches — on any device, anywhere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12% penetration figure — this is the white space. Most churches globally still rely on spreadsheets, WhatsApp groups, or paper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SaaS model is the primary revenue driver long-term. On-Premise is for larger established churches with compliance requirements or data sovereignty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is the sweet spot. Position Enterprise for denominational HQs. Always quote annual support alongside the license — it adds 18% recurring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at $79/month is the target conversion plan. Free plan is the top-of-funnel hook. Enterprise is handled by sales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Center is the main competitor in the US. Mahima wins on price, on-premise option, and AI features. In emerging markets there are no credible competitors at this price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specific ask: 'Can we schedule a 30-minute demo this week?' or 'Would you like me to set up your free account right now?'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560320"/>
            <a:ext cx="5029200" cy="5029200"/>
          </a:xfrm>
          <a:prstGeom prst="oval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oval">
            <a:avLst/>
          </a:prstGeom>
          <a:solidFill>
            <a:srgbClr val="3ECF8E">
              <a:alpha val="12000"/>
            </a:srgbClr>
          </a:solidFill>
          <a:ln w="12700">
            <a:solidFill>
              <a:srgbClr val="3ECF8E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CF8E"/>
                </a:solidFill>
              </a:rPr>
              <a:t>GLOBAL SALES PLAN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Mahima</a:t>
            </a:r>
            <a:pPr algn="l" indent="0" marL="0">
              <a:buNone/>
            </a:pPr>
            <a:r>
              <a:rPr lang="en-US" sz="5800" b="1" dirty="0">
                <a:solidFill>
                  <a:srgbClr val="3ECF8E"/>
                </a:solidFill>
              </a:rPr>
              <a:t> App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A4C7"/>
                </a:solidFill>
              </a:rPr>
              <a:t>Church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B3"/>
                </a:solidFill>
              </a:rPr>
              <a:t>On-Premise &amp; SaaS Deployment  ·  Global Churches &amp; Ministries  ·  ASP.NET Core +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D3875"/>
          </a:solidFill>
          <a:ln w="12700">
            <a:solidFill>
              <a:srgbClr val="2D38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34670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41+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3375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D3875"/>
          </a:solidFill>
          <a:ln w="12700">
            <a:solidFill>
              <a:srgbClr val="2D38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334670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SaaS Ready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375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D3875"/>
          </a:solidFill>
          <a:ln w="12700">
            <a:solidFill>
              <a:srgbClr val="2D38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34670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Scale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TODAY'S 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Market Opportunity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Global church management market &amp; TAM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Product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756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Mahima App modules &amp; capabilities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05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496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Deployment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On-Premise vs SaaS — when to sell which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18104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Pricing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392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Licensing tiers, subscription plans, add-ons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76472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813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Target Segments &amp; ICP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Who we sell to and how to find them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1179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Go-to-Market &amp; Channels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417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Sales motion, partners, and sales channels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8013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847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0756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Where Mahima wins vs alternatives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5973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05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2496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Revenue Projections &amp; KPIs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3-year targets and success metrics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118104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3154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90-Day Action Plan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392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Immediate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$1.7B+ Global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C7"/>
                </a:solidFill>
              </a:rPr>
              <a:t>The global Church Management Software market is projected to reach $1.7B+ by 2028, driven by digitisation of faith communities worldwide.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916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CF8E"/>
                </a:solidFill>
              </a:rPr>
              <a:t>2.4B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Christians globally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6916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CF8E"/>
                </a:solidFill>
              </a:rPr>
              <a:t>500K+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0" y="2377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Organized churches worldwide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916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CF8E"/>
                </a:solidFill>
              </a:rPr>
              <a:t>&lt; 12%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09160" y="2377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Using any digital ChMS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6002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6916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CF8E"/>
                </a:solidFill>
              </a:rPr>
              <a:t>$1.7B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Market size by 2028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Geographies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164592" cy="164592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Sub-Saharan Africa: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429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Fastest growing church population. Low digital penetration.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64592" cy="164592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United States: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7398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36,000+ mega-churches. High willingness to pay for ChMS.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05656"/>
            <a:ext cx="164592" cy="164592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South &amp; Southeast Asia: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4050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Rapidly growing diaspora communities. Mobile-first audience.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16552"/>
            <a:ext cx="164592" cy="164592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Latin America: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43616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Pentecostal growth driving demand for digital tools.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27448"/>
            <a:ext cx="164592" cy="164592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Europe &amp; UK: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6725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C7"/>
                </a:solidFill>
              </a:rPr>
              <a:t>Established denominations seeking modernisation.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PRODUCT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Everything a Church Needs, in One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Mahima App is a complete Church Management System built on enterprise-grade technology — ASP.NET Core 8, PostgreSQL, React, and Capacitor Android — designed for ministries of all sizes worldwide.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ASP.NET Core 8 Web API (44+ controllers)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PostgreSQL with EF Core migrations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596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React (Vite) + Capacitor Android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SignalR real-time messaging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JWT auth + Google SSO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QuestPDF for certificates &amp;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124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Members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profile &amp; enrichment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105156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1124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Teams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Positions &amp; assignments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34656" y="105156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26096" y="112471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Chat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+ mobile push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35915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Tasks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6864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Hierarchical task mgmt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228600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44768" y="235915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Accounting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08192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Double-entry + PDF reports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34656" y="228600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26096" y="235915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Payroll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Payslips &amp; payroll runs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52044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35935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PastorBot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26864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Multi-language AI assistant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53328" y="352044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44768" y="35935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Baptism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08192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Workflow + certificate PDF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34656" y="3520440"/>
            <a:ext cx="1389888" cy="1078992"/>
          </a:xfrm>
          <a:prstGeom prst="roundRect">
            <a:avLst>
              <a:gd name="adj" fmla="val 678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26096" y="359359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Analytics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41+ Modules Across 8 Functional Areas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1704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795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People &amp; Teams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Member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Enriched Profiles (15 fields)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Teams &amp; Positions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Attendance Tracking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10972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704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795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Communication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51176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Real-Time Chat (SignalR)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1176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Group &amp; DM Messaging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5117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Bulk SMS (Twilio)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1176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In-App Email Client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62856" y="10972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36008" y="11704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11795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Pastoral Care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72584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Prayer Requests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2584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Counselling Workflow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2584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Baptism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2584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Marriage Applications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84264" y="10972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1704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1795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93992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Double-Entry Accounting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93992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Payroll &amp; Payslips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93992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Expense Management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3992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Financial PDF Reports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3192" y="29992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0083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Intelligence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Analytics 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Custom Report Builder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9768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PastorBot AI (Multi-lang)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Ministry Automation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41448" y="29260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14600" y="29992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30083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Platform Services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51176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File &amp; Attachment Mgmt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51176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Google Drive Integration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51176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Audit Trail &amp; Security Log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51176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Mobile Push Notifications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62856" y="29260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36008" y="29992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36008" y="30083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Content &amp; Ministry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72584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Sermon / Book Library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72584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Task Management (Sub-tasks)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72584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Daily Routines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72584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CMS Landing Page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84264" y="2926080"/>
            <a:ext cx="19659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57416" y="2999232"/>
            <a:ext cx="1819656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57416" y="30083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Multi-Tenancy (SaaS)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93992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Tenant Isolation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9399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Module Licensing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93992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Subscription Plans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9399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▸  Razorpay Payments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DEPLOYMENT MODELS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Two Ways to Deliver Mahima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931920" cy="3794760"/>
          </a:xfrm>
          <a:prstGeom prst="roundRect">
            <a:avLst>
              <a:gd name="adj" fmla="val 1928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ON-PREMISE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Self-Hosted · Full Control · Single Church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CF8E"/>
                </a:solidFill>
              </a:rPr>
              <a:t>✓  Deployed on church's own servers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0370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CF8E"/>
                </a:solidFill>
              </a:rPr>
              <a:t>✓  One-time license fee + annual support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CF8E"/>
                </a:solidFill>
              </a:rPr>
              <a:t>✓  Full data sovereignty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CF8E"/>
                </a:solidFill>
              </a:rPr>
              <a:t>✓  Custom domain &amp; branding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1912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✓  No monthly recurring cost after year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✓  Suitable for large/enterprise churches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4962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✓  IT team required for maintenance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1788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✓  Offline capability when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078992"/>
            <a:ext cx="3931920" cy="3794760"/>
          </a:xfrm>
          <a:prstGeom prst="roundRect">
            <a:avLst>
              <a:gd name="adj" fmla="val 1928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7899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52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SAAS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5910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Cloud-Hosted · Multi-Tenant · Recurring Revenue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19019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✓  Hosted on our cloud infrastructure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23113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✓  Monthly / annual subscription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5603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✓  Zero maintenance for the church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88950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✓  Instant onboarding — live in minutes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2186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✓  Module-based licensing (per feature)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5478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✓  Scales from small to mega churches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8770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✓  Built-in Razorpay payment integration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42062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✓  Automatic updates &amp; backups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33672" y="2514600"/>
            <a:ext cx="676656" cy="676656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2578608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ON-PREMISE 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Churches That Need Full Ownership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Data Sovereignty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" y="214884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All member data, financials, and communications stay on the church's own servers — critical for governments with data localisation laws.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One-Time Investment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214884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Pay once, own forever. No ongoing subscription dependency. Annual support contract optional for updates and patches.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242E6A"/>
          </a:solidFill>
          <a:ln w="12700">
            <a:solidFill>
              <a:srgbClr val="242E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Custom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45936" y="214884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Direct database access enables deep integration with existing church ERP, accounting systems, or government compliance databases.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Ideal Customer Profile — On-Premise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▸  Churches with 500+ active members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950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▸  Denominational headquarters managing multiple branches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242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▸  Churches in countries with strict data residency laws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▸  Ministries with existing IT staff or MSP partner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950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4C7"/>
                </a:solidFill>
              </a:rPr>
              <a:t>▸  Churches receiving government grants with audit requirements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PRICING — ON-PREMISE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On-Premise License Pricing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179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C63FF"/>
                </a:solidFill>
              </a:rPr>
              <a:t>$2,500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one-time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Up to 200 members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2615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Members &amp; Teams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Attendance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Task Management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Basic Chat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Prayer Requests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Email support, 1-year updates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109728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987552"/>
            <a:ext cx="1783080" cy="256032"/>
          </a:xfrm>
          <a:prstGeom prst="roundRect">
            <a:avLst>
              <a:gd name="adj" fmla="val 35714"/>
            </a:avLst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9966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MOST POPULAR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4408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15179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CF8E"/>
                </a:solidFill>
              </a:rPr>
              <a:t>$6,500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64408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FF"/>
                </a:solidFill>
              </a:rPr>
              <a:t>one-time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CF8E"/>
                </a:solidFill>
              </a:rPr>
              <a:t>Up to 1,000 members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615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All Starter modules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Accounting &amp; Payroll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Counselling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Baptism &amp; Marriage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PastorBot 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0B8FF"/>
                </a:solidFill>
              </a:rPr>
              <a:t>Priority support, 2-year updates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25896" y="109728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17336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17336" y="15179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C63FF"/>
                </a:solidFill>
              </a:rPr>
              <a:t>Custom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117336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contact 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Unlimited members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0488" y="2615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All Professional modules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90488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Multi-branch management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0488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Custom integrations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90488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Analytics &amp; Reports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90488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White-labelling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17336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Dedicated support, SLA, unlimited updates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Annual Support &amp; Maintenance (optional): 18% of license fee / year — includes all updates, security patches, and priority support.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SAAS 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Fastest Way to Modernise Any Church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435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61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Zero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77393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Onboard a church in minutes. No servers, no IT team, no infrastructure costs.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111556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2435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261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Pay-Per-Feature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6704" y="177393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Churches activate only the modules they need. Start free, upgrade as they grow.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11556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435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261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Always Up-to-Date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77393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church gets new features and security patches automatically. No maintenance windows.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077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Scale Infinitely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" y="341985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From a 50-member house church to a 10,000-member mega church — same platform, different plan.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276148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28416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CF8E"/>
          </a:solidFill>
          <a:ln w="12700">
            <a:solidFill>
              <a:srgbClr val="0AC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29077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Built-in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46704" y="341985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Razorpay-powered subscription billing. Accept tithes and donations digitally through the app.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761488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29077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Multi-Tenant Ready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341985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Denominational networks can onboard hundreds of churches under one platform umbrella.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PRICING — SAAS SUBSCRIPTION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SaaS Subscription Plans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029968" cy="370332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</a:rPr>
              <a:t>$0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forever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Members (up to 50)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Basic Attendance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Prayer Requests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Announcements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440740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4165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 Started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078992"/>
            <a:ext cx="2029968" cy="3703320"/>
          </a:xfrm>
          <a:prstGeom prst="roundRect">
            <a:avLst>
              <a:gd name="adj" fmla="val 3604"/>
            </a:avLst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07899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1155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151790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$29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468880" y="212140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 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32888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Up to 300 members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3288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Teams &amp; Tasks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3288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Chat Messaging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32888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Resource Library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32888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Counselling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24328" y="440740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44165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Trial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078992"/>
            <a:ext cx="2029968" cy="3703320"/>
          </a:xfrm>
          <a:prstGeom prst="roundRect">
            <a:avLst>
              <a:gd name="adj" fmla="val 3604"/>
            </a:avLst>
          </a:prstGeom>
          <a:solidFill>
            <a:srgbClr val="F5F4FF"/>
          </a:solidFill>
          <a:ln w="12700">
            <a:solidFill>
              <a:srgbClr val="F5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7899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1155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151790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</a:rPr>
              <a:t>$79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617720" y="212140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 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Unlimited members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8172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Accounting &amp; Payroll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8172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Analytics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81728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PastorBot AI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81728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Custom Reports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Baptism &amp; Marriage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440740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4165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1078992"/>
            <a:ext cx="2029968" cy="370332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20840" y="1078992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11155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151790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B5E"/>
                </a:solidFill>
              </a:rPr>
              <a:t>Custom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6766560" y="212140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 month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30568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Multi-branch / tenants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3056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White-label branding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3056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Dedicated infra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30568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SLA guarantee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30568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Priority onboarding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22008" y="440740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22008" y="44165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Contact Sales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Add-on modules available à-la-carte from $9/month. Annual billing = 2 months free.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TARGET SEGMENTS &amp; ICP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Who We Sell 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Growing Community Churches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Size: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8988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100–1,000 members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Model: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89888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SaaS / Essential–Professional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Pain: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89888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Outgrowing WhatsApp &amp; spreadsheets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Opportunity: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89888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High volume, fast conversion, low ACV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9728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338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Mega Churches &amp; Denominational HQ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Size: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2472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1,000–50,000+ members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0328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Model: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24728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On-Premise / SaaS Enterprise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0328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Pain: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24728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Need data control &amp; custom workflows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0328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Opportunity: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24728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High ACV, long sales cycle, flagship reference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54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Diaspora &amp; Missionary Churches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Size: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89888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50–500 members, global reach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" y="3758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Model: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89888" y="3758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SaaS / Free–Essential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Pain: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89888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Scattered members, multi-language needs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Opportunity: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89888" y="4361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Viral growth through networks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01752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01752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054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Church Networks &amp; Bible Colleges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0328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Size: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24728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10–200 affiliated churches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10328" y="3758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Model: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24728" y="3758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SaaS Multi-Tenant / Enterprise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0328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Pain: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24728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Centralised reporting &amp; oversight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10328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Opportunity: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24728" y="4361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Platform lock-in across entire network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GO-TO-MARKET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3-Phase Market Entry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798064" cy="3566160"/>
          </a:xfrm>
          <a:prstGeom prst="roundRect">
            <a:avLst>
              <a:gd name="adj" fmla="val 2614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170432"/>
            <a:ext cx="786384" cy="786384"/>
          </a:xfrm>
          <a:prstGeom prst="oval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25296"/>
            <a:ext cx="786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F8E"/>
                </a:solidFill>
              </a:rPr>
              <a:t>Seed (Months 1–3)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1401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Launch free tier — zero friction onboarding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76148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Target 50 pilot churches across 3 regions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Build case studies from early adopters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45643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Church tech blogger &amp; YouTube partnerships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80390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Attend 2 major denominational conferences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2615184" cy="274320"/>
          </a:xfrm>
          <a:prstGeom prst="roundRect">
            <a:avLst>
              <a:gd name="adj" fmla="val 26667"/>
            </a:avLst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325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Goal: 50 active churches, 10 paid conversions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115568"/>
            <a:ext cx="2798064" cy="3566160"/>
          </a:xfrm>
          <a:prstGeom prst="roundRect">
            <a:avLst>
              <a:gd name="adj" fmla="val 2614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24528" y="1170432"/>
            <a:ext cx="786384" cy="786384"/>
          </a:xfrm>
          <a:prstGeom prst="oval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225296"/>
            <a:ext cx="786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10128" y="202996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Grow (Months 4–9)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241401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Activate referral programme — 1 month free per referral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276148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Partner with 5 church planting networks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31089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Launch SaaS Professional with AI upsell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8416" y="345643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YouTube &amp; podcast content strategy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380390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First On-Premise enterprise closures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4315968"/>
            <a:ext cx="2615184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4325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Goal: 200 paid churches, $15K MRR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1115568"/>
            <a:ext cx="2798064" cy="3566160"/>
          </a:xfrm>
          <a:prstGeom prst="roundRect">
            <a:avLst>
              <a:gd name="adj" fmla="val 2614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68896" y="1170432"/>
            <a:ext cx="786384" cy="786384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1225296"/>
            <a:ext cx="786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54496" y="202996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Scale (Months 10–18)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241401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Reseller network in US, UK, Nigeria, Brazil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72784" y="276148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Denominational HQ enterprise deals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72784" y="31089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API marketplace for third-party integrations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72784" y="345643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Localised versions (Spanish, French, Swahili)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72784" y="380390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4C7"/>
                </a:solidFill>
              </a:rPr>
              <a:t>▸  Series A fundraise conversation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4496" y="4315968"/>
            <a:ext cx="2615184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4325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Goal: 1,000 churches, $80K MRR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SALES CHANNELS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How We Reach Churches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29968" cy="356616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Self-Service / PLG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40%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revenue target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Free tier as top-of-funnel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6974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In-app upgrade prompts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0175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Automated email nurture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337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Video tutorials &amp; docs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097280"/>
            <a:ext cx="2029968" cy="356616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09728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1247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Inside Sales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C63FF"/>
                </a:solidFill>
              </a:rPr>
              <a:t>30%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514600" y="208483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revenue target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78608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Inbound trial → paid conversion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78608" y="26974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Qualify via church size &amp; needs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30175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Demo-to-close in &lt; 2 weeks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3337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Professional &amp; Enterprise 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1097280"/>
            <a:ext cx="2029968" cy="356616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09728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247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 / Resellers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</a:rPr>
              <a:t>20%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663440" y="208483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revenue target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27448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Church tech consultants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27448" y="26974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Regional denominational offices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27448" y="30175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Christian bookstore chains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27448" y="3337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20–30% reseller margin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1097280"/>
            <a:ext cx="2029968" cy="3566160"/>
          </a:xfrm>
          <a:prstGeom prst="roundRect">
            <a:avLst>
              <a:gd name="adj" fmla="val 360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109728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1247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/ Direct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150876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706"/>
                </a:solidFill>
              </a:rPr>
              <a:t>10%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6812280" y="208483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revenue target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76288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Denominational HQ deals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76288" y="26974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Multi-site church networks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76288" y="30175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On-Premise deployment focus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76288" y="3337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▸  6–12 month sales cycle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681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Marketing Channels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YouTube / Podcast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39112" y="46634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66544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LinkedIn Ads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58184" y="46634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5616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Conference Sponsorships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77256" y="46634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04688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Church Tech Forums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96328" y="4663440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SEO / Content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Where Mahima App Wins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417320"/>
                <a:gridCol w="1874520"/>
                <a:gridCol w="1600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/ Capability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Mahima App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Planning Center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Church Community Builder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Elvanto / Tithely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Pricing (starting)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$0 free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$14/mo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$40/mo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$50/mo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On-Premise deployment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AI Pastoral Assistant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Built-in Accounting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Real-time Chat (SignalR)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Baptism &amp; Marriage Mgmt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Multi-Tenant / SaaS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Android Mobile App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Custom Report Builder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Global / Multi-Language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C63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English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English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Mahima App's Unique Differentiators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" y="47274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PastorBot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39112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47274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On-Premise option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58184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6472" y="47274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Accounting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77256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95544" y="47274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 pricing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196328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4616" y="47274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Global languages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REVENUE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3-Year Revenue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C63FF"/>
                </a:solidFill>
              </a:rPr>
              <a:t>$180K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1 ARR target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7899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15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C63FF"/>
                </a:solidFill>
              </a:rPr>
              <a:t>$720K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2 ARR 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78992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15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CF8E"/>
                </a:solidFill>
              </a:rPr>
              <a:t>$2.4M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B8FF"/>
                </a:solidFill>
              </a:rPr>
              <a:t>Year 3 ARR target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224028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89788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Key Assumptions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26060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SaaS avg. $59/church/month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29535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On-Premise avg. $5,000/deal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97880" y="33009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5% monthly churn (SaaS)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6484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15% reseller commissions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995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Y2: Reseller network live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4343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▸  Y3: US &amp; Africa markets mature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CUSTOMER SUCCESS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Onboarding &amp; Retention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170432"/>
            <a:ext cx="548640" cy="548640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Sign 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Day 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3192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Church admin registers. Free tier active immediately. Welcome email + video walk-through.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64792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67128" y="1170432"/>
            <a:ext cx="548640" cy="548640"/>
          </a:xfrm>
          <a:prstGeom prst="oval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9656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Setup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9656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Day 1–3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37944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Guided setup: add members, configure teams, enable modules. PastorBot greets all members.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9544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170432"/>
            <a:ext cx="548640" cy="54864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64408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Adopt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Week 1–4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Usage milestones trigger in-app upgrade prompts. CS team contacts at day 14.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54296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56632" y="1170432"/>
            <a:ext cx="548640" cy="54864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9160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Upgrade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Month 1–2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27448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Conversion to paid plan. Unlock Accounting, Payroll, AI. ROI calculator shared.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99048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01384" y="1170432"/>
            <a:ext cx="548640" cy="548640"/>
          </a:xfrm>
          <a:prstGeom prst="oval">
            <a:avLst/>
          </a:prstGeom>
          <a:solidFill>
            <a:srgbClr val="0ACF8E"/>
          </a:solidFill>
          <a:ln w="12700">
            <a:solidFill>
              <a:srgbClr val="0AC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53912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CF8E"/>
                </a:solidFill>
              </a:rPr>
              <a:t>Expand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Month 3–6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2200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Add-on modules. Invite branch churches. Network effect begins.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115568"/>
            <a:ext cx="1353312" cy="36118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46136" y="1170432"/>
            <a:ext cx="548640" cy="548640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6136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98664" y="17922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Advocate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9866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Month 6+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16952" y="2340864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Referral programme activated. Case study published. Conference speaking opportunities.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Target Metrics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690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&lt; 48h  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98448" y="47365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FF"/>
                </a:solidFill>
              </a:rPr>
              <a:t>Time to first value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68880" y="46817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6312" y="4690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&lt; 5%  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447288" y="47365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FF"/>
                </a:solidFill>
              </a:rPr>
              <a:t>Monthly churn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46817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4690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&gt; 40%  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96128" y="47365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FF"/>
                </a:solidFill>
              </a:rPr>
              <a:t>Free→Paid conversion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46817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4690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CF8E"/>
                </a:solidFill>
              </a:rPr>
              <a:t>&gt; 120%  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744968" y="47365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B8FF"/>
                </a:solidFill>
              </a:rPr>
              <a:t>Net Revenue Retention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ACTION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90-Day Sales Playbook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70078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1. Finalise pricing &amp; sales collateral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57984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19456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2. Launch free tier on mahima.app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688336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3. Reach out to 100 church admins on LinkedIn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145536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8211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4. Set up CRM (HubSpot / Pipedrive)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6758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5. Record 3 product demo videos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13308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16966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6. Submit to 3 church software directories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1078992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10789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PIPELINE BUILD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19272" y="166420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170078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1. 10 live demo calls with qualified leads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9272" y="2157984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19456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2. Close first 5 paying SaaS customers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9272" y="265176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2688336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3. Partner with 2 church planting networks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9272" y="3145536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318211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4. Publish 2 customer case studies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19272" y="3639312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6758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5. Launch referral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19272" y="413308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416966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6. First On-Premise scoping conversation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35624" y="1078992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10789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 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27064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</a:rPr>
              <a:t>ACCELERATION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27064" y="166420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170078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1. 25 active paying churches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27064" y="2157984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19456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2. First enterprise On-Premise deal closed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27064" y="265176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2688336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3. Reseller agreement with regional partner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27064" y="3145536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318211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4. Attend 1 church technology conference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27064" y="3639312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36758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5. Hire first dedicated CS rep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27064" y="4133088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169664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6. Review &amp; refine ICP based on data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PARTNERSHIP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Ecosystem Partners That Multiply Revenue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Denominational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59105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Partner with denominational headquarters to onboard all affiliated churches at once. Single enterprise deal = 50–500 churches.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23774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Highest leverage. One deal, massive reach.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7832" y="111556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20700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25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Church Planting Networks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59105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New churches need ChMS from day one. Partner with planting networks to be the recommended platform for every new church they launch.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→ Captive audience at the start of church lifecycle.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35624" y="111556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20700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225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Christian MSPs / IT Firms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5352" y="159105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Faith-based IT service providers who set up technology for churches. They become certified Mahima On-Premise resellers.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45352" y="23774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→ Direct pipeline into enterprise on-premise sales.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Bible Colleges &amp; Seminaries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34930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Students are tomorrow's pastors. Offer free SaaS to all enrolled Bible colleges. Graduate students carry Mahima to their churches.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" y="4279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→ Long-term brand loyalty, zero CAC growth engine.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30175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310896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Giving &amp; Donor Platforms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4930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Integrate with existing giving platforms (Tithe.ly, Pushpay, PhonePe) to add value and earn integration referral fees.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4279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→ Feature complement — not a competitor.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35624" y="30175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310896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Christian Media &amp; Events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45352" y="34930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4C7"/>
                </a:solidFill>
              </a:rPr>
              <a:t>Sponsor church leadership conferences. Partner with Christian radio, podcast, and YouTube influencers for sponsored content.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42793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→ Lowest CAC channel for growing community churches.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</a:rPr>
              <a:t>KPIS &amp; SUCCESS METRICS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How We Measure Success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743200" cy="370332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ACQUISITION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Metric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0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Y1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Y2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15768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Y3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" y="1847088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Monthly Signups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5856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400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88336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1,000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2505456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60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Free→Paid Conversion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58568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88336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40%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" y="3163824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186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CAC (SaaS)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$120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58568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$80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88336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$50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" y="3822192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770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Time to First Value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0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&lt; 48h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58568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&lt; 24h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88336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&lt; 12h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1078992"/>
            <a:ext cx="2743200" cy="370332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7832" y="107899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REVENUE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00984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Metric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36592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Y1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93792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Y2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23560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Y3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64408" y="1847088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MRR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36592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$15K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$60K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96128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$200K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64408" y="2505456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9272" y="2560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ARR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36592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$180K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66360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$720K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96128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$2.4M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64408" y="3163824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2186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ARPU (SaaS)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36592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$45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66360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$59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96128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$72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64408" y="3822192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9272" y="38770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On-Prem Revenue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36592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$45K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166360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$140K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96128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$480K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35624" y="1078992"/>
            <a:ext cx="2743200" cy="3703320"/>
          </a:xfrm>
          <a:prstGeom prst="roundRect">
            <a:avLst>
              <a:gd name="adj" fmla="val 2667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35624" y="107899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1344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RETENTION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08776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Metric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644384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Y1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101584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Y2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531352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Y3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172200" y="1847088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27064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Monthly Churn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644384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&lt; 8%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074152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&lt; 5%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0" y="19751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&lt; 3%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72200" y="2505456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27064" y="2560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NPS Score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644384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40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074152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55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503920" y="26334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65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172200" y="3163824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27064" y="32186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Net Revenue Retention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644384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105%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074152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115%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03920" y="32918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125%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172200" y="3822192"/>
            <a:ext cx="2670048" cy="585216"/>
          </a:xfrm>
          <a:prstGeom prst="roundRect">
            <a:avLst>
              <a:gd name="adj" fmla="val 12500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27064" y="38770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Support CSAT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644384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80%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074152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88%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03920" y="3950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&gt; 92%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5486400" cy="5486400"/>
          </a:xfrm>
          <a:prstGeom prst="oval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oval">
            <a:avLst/>
          </a:prstGeom>
          <a:solidFill>
            <a:srgbClr val="3ECF8E">
              <a:alpha val="12000"/>
            </a:srgbClr>
          </a:solidFill>
          <a:ln w="12700">
            <a:solidFill>
              <a:srgbClr val="3ECF8E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Ready to Transform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CF8E"/>
                </a:solidFill>
              </a:rPr>
              <a:t>Your Ministry?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4C7"/>
                </a:solidFill>
              </a:rPr>
              <a:t>Mahima App — the complete Church Management System for the global church.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BA4C7"/>
                </a:solidFill>
              </a:rPr>
              <a:t>On-Premise for control. SaaS for speed. AI for connection.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29992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0175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Free Trial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29992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0175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Book a Demo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9992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0175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Contact 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4C7"/>
                </a:solidFill>
              </a:rPr>
              <a:t>Website: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F8E"/>
                </a:solidFill>
              </a:rPr>
              <a:t>mahima.app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4C7"/>
                </a:solidFill>
              </a:rPr>
              <a:t>Email: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F8E"/>
                </a:solidFill>
              </a:rPr>
              <a:t>sales@mahima.app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4C7"/>
                </a:solidFill>
              </a:rPr>
              <a:t>LinkedIn: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51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F8E"/>
                </a:solidFill>
              </a:rPr>
              <a:t>linkedin.com/company/mahima-app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4736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B7A"/>
                </a:solidFill>
              </a:rPr>
              <a:t>Mahima App — Version 4.0  ·  Single-Tenancy &amp; Multi-Tenant SaaS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Mahima App – Global Sales Plan 2026</dc:title>
  <dc:subject>Church Management System – On-Premise &amp; SaaS</dc:subject>
  <dc:creator>Mahima App Sales Team</dc:creator>
  <cp:lastModifiedBy>Mahima App Sales Team</cp:lastModifiedBy>
  <cp:revision>1</cp:revision>
  <dcterms:created xsi:type="dcterms:W3CDTF">2026-06-25T09:10:10Z</dcterms:created>
  <dcterms:modified xsi:type="dcterms:W3CDTF">2026-06-25T09:10:10Z</dcterms:modified>
</cp:coreProperties>
</file>