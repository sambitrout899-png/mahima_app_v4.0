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43D8C">
              <a:alpha val="30000"/>
            </a:srgbClr>
          </a:solidFill>
          <a:ln w="12700">
            <a:solidFill>
              <a:srgbClr val="243D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43D8C">
              <a:alpha val="25000"/>
            </a:srgbClr>
          </a:solidFill>
          <a:ln w="12700">
            <a:solidFill>
              <a:srgbClr val="243D8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029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2C4499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PROPOSAL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4023360" y="2377440"/>
            <a:ext cx="109728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cross-platform mobile application built on our proprietary enterprise framework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members, sharing spiritual resources, and facilitating prayer at community scale.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Organisation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Dev Team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+ PostgreSQL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39496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088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992624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ANM Community App Proposal — Powered by Proprietary .NET 8 Framework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6362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6362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18745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5681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5681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22677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000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000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2295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266090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26883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0540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3639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3639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447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2958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" y="38404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2277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2277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" y="3867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.NET 8 + PostgreSQL + Ionic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" y="42336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1596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1596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117043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17043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48072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48072" y="148132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156362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56362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48072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48072" y="18745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195681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195681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48072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48072" y="22677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235000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35000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48072" y="2295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48072" y="266090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2743200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743200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48072" y="26883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48072" y="30540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313639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13639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48072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Pricing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148072" y="3447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352958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352958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48072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148072" y="38404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00600" y="392277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392277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48072" y="3867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148072" y="42336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431596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00600" y="431596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48072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world-class ANM Community App built on our battle-tested proprietary enterprise framework — proven in production across multiple community platforms. Delivered in 10 weeks with 20+ modules pre-built.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Delivery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33472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(iOS+Android+Web)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9744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09744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Modules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86016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86016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86016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📱</a:t>
            </a:r>
            <a:endParaRPr lang="en-US" sz="756" dirty="0"/>
          </a:p>
        </p:txBody>
      </p:sp>
      <p:sp>
        <p:nvSpPr>
          <p:cNvPr id="21" name="Text 19"/>
          <p:cNvSpPr/>
          <p:nvPr/>
        </p:nvSpPr>
        <p:spPr>
          <a:xfrm>
            <a:off x="548640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Native-Quality 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Ionic/Capacitor delivers true-native iOS, Android, AND web admin from one codebase. No compromises.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0440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🔒</a:t>
            </a:r>
            <a:endParaRPr lang="en-US" sz="756" dirty="0"/>
          </a:p>
        </p:txBody>
      </p:sp>
      <p:sp>
        <p:nvSpPr>
          <p:cNvPr id="26" name="Text 24"/>
          <p:cNvSpPr/>
          <p:nvPr/>
        </p:nvSpPr>
        <p:spPr>
          <a:xfrm>
            <a:off x="3447288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47288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JWT Bearer tokens, AES-256 at rest, HTTPS/TLS in transit — built into our framework.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4496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♿</a:t>
            </a:r>
            <a:endParaRPr lang="en-US" sz="756" dirty="0"/>
          </a:p>
        </p:txBody>
      </p:sp>
      <p:sp>
        <p:nvSpPr>
          <p:cNvPr id="31" name="Text 29"/>
          <p:cNvSpPr/>
          <p:nvPr/>
        </p:nvSpPr>
        <p:spPr>
          <a:xfrm>
            <a:off x="6345936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First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compliant. VoiceOver &amp; TalkBack support. Large fonts, high contrast.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☁️</a:t>
            </a:r>
            <a:endParaRPr lang="en-US" sz="756" dirty="0"/>
          </a:p>
        </p:txBody>
      </p:sp>
      <p:sp>
        <p:nvSpPr>
          <p:cNvPr id="36" name="Text 34"/>
          <p:cNvSpPr/>
          <p:nvPr/>
        </p:nvSpPr>
        <p:spPr>
          <a:xfrm>
            <a:off x="548640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8 on ECS Fargate — auto-scaling, 99.9% SLA, CloudFront CDN for media globally.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20440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0" name="Text 38"/>
          <p:cNvSpPr/>
          <p:nvPr/>
        </p:nvSpPr>
        <p:spPr>
          <a:xfrm>
            <a:off x="352044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⚡</a:t>
            </a:r>
            <a:endParaRPr lang="en-US" sz="756" dirty="0"/>
          </a:p>
        </p:txBody>
      </p:sp>
      <p:sp>
        <p:nvSpPr>
          <p:cNvPr id="41" name="Text 39"/>
          <p:cNvSpPr/>
          <p:nvPr/>
        </p:nvSpPr>
        <p:spPr>
          <a:xfrm>
            <a:off x="3447288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Accelerated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47288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proprietary .NET 8 community framework has 20+ modules pre-built. You get more features in 10 weeks than competitors deliver in 16+.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19088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🤝</a:t>
            </a:r>
            <a:endParaRPr lang="en-US" sz="756" dirty="0"/>
          </a:p>
        </p:txBody>
      </p:sp>
      <p:sp>
        <p:nvSpPr>
          <p:cNvPr id="46" name="Text 44"/>
          <p:cNvSpPr/>
          <p:nvPr/>
        </p:nvSpPr>
        <p:spPr>
          <a:xfrm>
            <a:off x="6345936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45936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demos. You see real progress every 7 days, not just a final delivery.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challenges the ANM App must solve: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Fragmentation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lack a unified channel. Communication is scattered across personal contacts and informal WhatsApp groups with no searchable directory or history log.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38988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89888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527048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&amp; Support Coordination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1810512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prayer requests is done informally — needs get missed. No mechanism for leaders to log follow-ups or view a member's care history in one place.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Resource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5295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Sermons are shared via links in group chats, creating a poor discovery experience with no searchable archive for members wanting to revisit content.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1089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08960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246120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Diversity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5295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must serve all age groups and varying tech literacy — demanding a clean, minimal UI that is intuitive for a 70-year-old and a 25-year-old equally.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457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The ANM App is a community care platform — not just a directory. It needs to feel warm, trustworthy, and simple enough for every member.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0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native-quality cross-platform mobile app on React + Ionic/Capacitor, powered by our proprietary ASP.NET Core .NET 8 API and a PostgreSQL 16 relational database — built on AWS and delivered in 10 weeks.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02336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+ Android App + Web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Ionic/Capacitor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4023360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Firebase Auth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Gateway · JWT Bearer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4023360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18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8 Services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REST API · SignalR · ECS Fargate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367588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023360" cy="585216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AWS S3 + Twilio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041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Multi-AZ · Media · Voice + SMS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60704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60704"/>
            <a:ext cx="4160520" cy="34747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6984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149047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14904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16+ &amp; Android 12+ via React + Ionic/Capacitor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865376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9202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1920240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8 (C#) · ECS Fargate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23500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350008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on AWS RDS (Multi-AZ)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724912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7797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2779776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JWT Bearer tokens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20954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209544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CDN (video streaming)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584448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639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Calls/SMS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363931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VoIP + SMS · MailKit SMTP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40690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4069080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(containerised .NET 8)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443984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4988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80760" y="4498848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 to App Store &amp; Play Store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416052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 — MVP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609344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with quick-access tiles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8013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8105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1984248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list with role badges &amp; filters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1762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8541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1854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359152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call/message/pray actions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55117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6032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2734056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notes log with timestamps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352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9352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3108960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browse, respond, track status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30098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10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310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3483864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feed with CloudFront streaming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8503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6850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3858768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chat via Twilio with read receipts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05079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5993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0599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Calling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" y="4233672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calls without sharing phone numbers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" y="442569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3484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44348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4608576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biometric login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1060704"/>
            <a:ext cx="4160520" cy="329184"/>
          </a:xfrm>
          <a:prstGeom prst="rect">
            <a:avLst/>
          </a:prstGeom>
          <a:solidFill>
            <a:srgbClr val="243D8C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06984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 — Future Enhancements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435608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43560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93792" y="14904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93792" y="168249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alerts for prayer requests &amp; videos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1947672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947672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193792" y="2002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/ Forums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93792" y="2194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Multi-member channels by ministry team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459736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459736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193792" y="2514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93792" y="2706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support for 3+ languages with RTL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971800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9718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193792" y="3026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93792" y="321868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React portal for administrators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3483864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483864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193792" y="35387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93792" y="37307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RSVP-enabled church events with iCal export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3995928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399592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193792" y="40507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193792" y="42428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engagement &amp; content metrics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 — Key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design · Bottom navigation · 44pt touch targets · WCAG 2.1 AA contrast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36192"/>
            <a:ext cx="1353312" cy="42062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8463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274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Dashboard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8483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1536192"/>
            <a:ext cx="1353312" cy="420624"/>
          </a:xfrm>
          <a:prstGeom prst="rect">
            <a:avLst/>
          </a:prstGeom>
          <a:solidFill>
            <a:srgbClr val="243D8C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Directory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2199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199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199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199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199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8259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1635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5010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9339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Members Directory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2219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8620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86200" y="1536192"/>
            <a:ext cx="1353312" cy="420624"/>
          </a:xfrm>
          <a:prstGeom prst="rect">
            <a:avLst/>
          </a:prstGeom>
          <a:solidFill>
            <a:srgbClr val="28518A"/>
          </a:solidFill>
          <a:ln w="12700">
            <a:solidFill>
              <a:srgbClr val="2851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95935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5935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5935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5935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5935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935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8620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1995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5371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8746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3075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Member Detail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55955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2356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23560" y="1536192"/>
            <a:ext cx="1353312" cy="420624"/>
          </a:xfrm>
          <a:prstGeom prst="rect">
            <a:avLst/>
          </a:prstGeom>
          <a:solidFill>
            <a:srgbClr val="1E6B5A"/>
          </a:solidFill>
          <a:ln w="12700">
            <a:solidFill>
              <a:srgbClr val="1E6B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2356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69671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9671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9671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9671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9671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9671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2356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2356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95731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9107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62482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6811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Prayer Requests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9691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6092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7240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60920" y="1536192"/>
            <a:ext cx="1353312" cy="420624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6092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743407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3407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3407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3407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3407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3407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6092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6092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69467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02843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36218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20547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Video Library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Final high-fidelity Figma designs delivered in Phase 1 (Week 2) for stakeholder sign-off before development begins.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0010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 App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Ionic/Capacitor · iOS 16+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9758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415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 App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3415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Ionic/Capacitor · Android 12+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19506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63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Web Admin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3163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Phase 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06240" y="19019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19110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8458200" cy="78638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665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AUTH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0010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AWS API Gateway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667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SSL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9758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415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Firebase Auth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415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JWT Bearer · Biometric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9506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163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Load Balancer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163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· Auto-Scale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06240" y="28163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28254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57200" y="2944368"/>
            <a:ext cx="8458200" cy="78638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80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ASP.NET Core .NET 8 (C#) · ECS Fargate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2578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Member API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235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21742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399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 API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5399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90906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563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Sermon API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4563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0070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727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 API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3727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9234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2891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Notify API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2891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06240" y="37307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0" y="37398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57200" y="3858768"/>
            <a:ext cx="845820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895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EXTERNAL SERVICES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2578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 16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6235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21742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5399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AWS S3 + CDN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25399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90906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4563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Twilio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94563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SMS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60070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3727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Firebase FCM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3727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29234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2891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CloudWatch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32891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31089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264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4264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Ionic + Capacitor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142646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True-native iOS, Android &amp; Web from one React codebase · 60fps · Capacitor native APIs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2821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State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17282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TanStack Query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17720" y="172821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global state + server-state caching · replaces Redux complexity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93392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299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94560" y="2029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8 (C#)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02996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Statically typed · built-in DI · CQRS-ready · 2–5× faster than Node.js (TechEmpower benchmarks)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95144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3172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ORM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94560" y="23317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 + Npgsql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23317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migrations · LINQ queries · automatic audit trails · zero SQL injection risk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96896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3347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Database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94560" y="26334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on AWS RDS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63347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compliance · relational integrity · complex analytics · JSON columns · Multi-AZ HA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898648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3522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94560" y="29352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JWT Bearer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293522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Google OAuth · biometric · secure token rotation · .NET middleware integration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3697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Media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94560" y="3236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CDN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323697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scalable · global CDN for sermon video streaming · presigned URLs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502152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5387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Comms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94560" y="35387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VoIP + SMS + MailKit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353872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calling · bulk SMS · automated emails · no phone number sharing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803904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84048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Infra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94560" y="384048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ECS Fargate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17720" y="384048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 · auto-scaling · zero server management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105656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4223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94560" y="41422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17720" y="414223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iOS &amp; Android · topic targeting · notification history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407408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44398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194560" y="4443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Playwright + Appium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17720" y="444398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API integration · E2E web · mobile automation testing suite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709160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74573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CI/CD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194560" y="47457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EAS Build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17720" y="474573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gates → test → .NET publish → Capacitor build → App Store / Play Store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.NET 8 + PostgreSQL + Ionic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worth answering directly: why not Node.js/Express, MongoDB, and React Native?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845820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16736"/>
            <a:ext cx="54864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ASP.NET Core .NET 8  vs  Node.js / Express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609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Performance: .NET 8 ranks #1–3 in TechEmpower benchmarks — 2–5× faster than Node.js/Express for JSON throughput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8836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Type safety: C# compiler catches bugs before they reach production. Node.js/Express fails at runtime.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Built-in DI, middleware, health checks, OpenAPI — production-grade architecture without extra glue packages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609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Security: JWT middleware, HTTPS redirection, data-protection APIs built into the framework — not optional plugins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8836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Enterprise adoption: .NET 8 is backed by Microsoft with long-term support — larger talent pool for future team growth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45820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54864" cy="1170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151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 16 (RDS)  vs  MongoDB Atlas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852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ACID compliance: member data and pastoral notes are never partially written. MongoDB can have partial failures.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1272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Relational integrity: foreign keys ensure prayer requests can never reference deleted users — impossible in MongoDB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Complex reporting: SQL excels at attendance analytics, prayer trends, and member engagement queries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2852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Best of both: PostgreSQL JSONB columns support flexible/nested data where needed — no MongoDB needed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31272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Cost: AWS RDS PostgreSQL is 30–40% cheaper than a production MongoDB Atlas M10 for equivalent performance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8458200" cy="11704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03904"/>
            <a:ext cx="54864" cy="11704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58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React + Ionic/Capacitor  vs  React Native/Expo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0965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Single codebase: iOS + Android + Web Admin portal — React Native cannot ship a web admin without extra effort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4370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Capacitor bridges: true native APIs (camera, push, biometrics) without React Native's bridge overhead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645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Web tech native: any npm package works in Ionic — no Metro bundler compatibility issues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40965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Our framework: Mahima V4.0 is already built on Ionic/Capacitor and tested in production across multiple platforms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4370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Faster builds: Capacitor EAS pipeline is simpler — no Expo SDK conflicts or OTA update approval delays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791456"/>
            <a:ext cx="8458200" cy="21945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Bottom line: .NET 8 + PostgreSQL + Ionic is the enterprise-standard combination. Node.js/MongoDB suits prototypes. We build systems designed to scale safely for years.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PostgreSQL 16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481328"/>
            <a:ext cx="255117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PK, name VARCHAR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UNIQUE, phone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0352" y="2139696"/>
            <a:ext cx="255117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role, firebase_uid UNIQUE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is_active, created_at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73552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PrayerRequests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46704" y="1481328"/>
            <a:ext cx="2551176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PK, user_id FK→Users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46704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description, status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46704" y="2139696"/>
            <a:ext cx="2551176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is_anonymous BOOL, pray_count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46704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created_at, updated_at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9904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Sermons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1481328"/>
            <a:ext cx="2551176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PK, title, description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63056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category, s3_url, thumbnail_url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63056" y="2139696"/>
            <a:ext cx="2551176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uploaded_by FK→Users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duration_sec, view_count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072384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072384"/>
            <a:ext cx="411480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1181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CounsellingSessions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3474720"/>
            <a:ext cx="3968496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350215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PK, member_id FK→Users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0352" y="3803904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" y="383133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 TEXT, session_type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" y="4133088"/>
            <a:ext cx="3968496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" y="416052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leader_id FK→Users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0352" y="4462272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448970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session_date, created_at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072384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072384"/>
            <a:ext cx="411480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1181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Messages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28032" y="3474720"/>
            <a:ext cx="3968496" cy="29260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82896" y="350215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PK, from_id FK→Users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28032" y="3803904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383133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to_id FK→Users, content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28032" y="4133088"/>
            <a:ext cx="3968496" cy="29260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416052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msg_type, 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28032" y="4462272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82896" y="448970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sent_at, read_at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773168"/>
            <a:ext cx="8458200" cy="2286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7823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Indexes:  Users.email (UNIQUE) · Users.firebase_uid (UNIQUE) · PrayerRequests.status · CounsellingSessions.member_id · Messages.from_id+to_id (composite)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· JSON responses · JWT Bearer auth on all endpoints (except /auth/*) · Base: https://api.anm.org/v1  ·  Built on ASP.NET Core .NET 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845820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4592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4592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16367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/auth/register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22192" y="163677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19472" y="16367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member with Firebase UID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56232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9280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89280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15568" y="18836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22192" y="188366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19472" y="18836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Firebase token for app JWT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3969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13969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15568" y="21305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22192" y="213055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19472" y="2130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members (paginated, searchable, filterable)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350008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38658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38658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15568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22192" y="237744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9472" y="23774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member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596896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2633472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633472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15568" y="2624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22192" y="262432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self/admin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9472" y="26243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member profile fields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2843784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288036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88036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15568" y="28712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/members/:id/history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22192" y="287121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leader+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871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pastoral notes for a member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090672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312724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12724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15568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/members/:id/history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22192" y="311810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leader+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919472" y="3118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note to member history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3337560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337413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7413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15568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822192" y="336499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19472" y="33649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prayer request feed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3584448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362102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62102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15568" y="36118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22192" y="361188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9472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prayer request (anon supported)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3831336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" y="3867912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3867912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15568" y="3858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/prayer-requests/:id/pray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822192" y="385876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919472" y="38587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pray response &amp; increment count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078224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" y="411480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411480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15568" y="41056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/sermons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822192" y="410565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919472" y="4105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 list with category filter &amp; pagination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325112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" y="436168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36168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15568" y="4352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/sermons/:id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22192" y="435254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919472" y="4352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 details + signed CloudFront URL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" y="4572000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" y="460857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460857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115568" y="4599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/messages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822192" y="459943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919472" y="459943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direct message via Twilio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818888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2920" y="485546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485546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115568" y="4846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/calls/token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822192" y="48463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919472" y="48463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Twilio Voice access token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structured phases · Weekly demos · UAT window before launch · Framework advantage: 10 weeks (vs 14–16 for greenfield .NET 8 build)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572768" cy="3730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16736"/>
            <a:ext cx="1572768" cy="768096"/>
          </a:xfrm>
          <a:prstGeom prst="rect">
            <a:avLst/>
          </a:prstGeom>
          <a:solidFill>
            <a:srgbClr val="1B2F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Config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workshops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ANM branding &amp; UI config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schema &amp; API contract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modules mapped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env setup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design sign-off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2996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1316736"/>
            <a:ext cx="1572768" cy="3730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316736"/>
            <a:ext cx="1572768" cy="768096"/>
          </a:xfrm>
          <a:prstGeom prst="rect">
            <a:avLst/>
          </a:prstGeom>
          <a:solidFill>
            <a:srgbClr val="065F4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4884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+ onboarding flow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directory &amp; detail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4028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history notes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4028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Prayer requests module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library + CDN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4028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ANM-specific branding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2160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1316736"/>
            <a:ext cx="1572768" cy="3730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1316736"/>
            <a:ext cx="1572768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192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Messaging (Twilio Chat)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192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VoIP calling (Twilio)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3192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backend APIs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notifications (FCM)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3192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linking &amp; nav polish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3192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tuning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1324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32120" y="1316736"/>
            <a:ext cx="1572768" cy="373075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2120" y="1316736"/>
            <a:ext cx="1572768" cy="768096"/>
          </a:xfrm>
          <a:prstGeom prst="rect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3212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UAT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Launch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3212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2356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xUnit + Playwright tests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2356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Appium mobile E2E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2356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security check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2356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UAT with ANM team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2356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Store submission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2356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🚀 Go-live!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0488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23760" y="1316736"/>
            <a:ext cx="1572768" cy="3730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1316736"/>
            <a:ext cx="1572768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BONUS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2376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2376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1520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30-day free support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1520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monitoring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fixes included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1520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training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1520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 planning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1520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Handover docs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4773168"/>
            <a:ext cx="8458200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79145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Key Milestone: Week 6 — Full MVP feature-complete   |   Week 9 — UAT signed off + Store submissions   |   🚀 Live in 10 weeks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senior-heavy team structured to minimise communication overhead while maximising quality and speed.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385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Stakeholder comms · Risk tracking · Weekly reports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7919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brand config · Design system · Figma prototypes · Accessibility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×2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Ionic/Capacitor · Capacitor native APIs · Firebase Auth integration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037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7687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7687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8 · PostgreSQL/EF Core 8 · AWS ECS · S3 pipeline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3385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AWS RDS/ECS · CloudWatch monitoring · Security hardening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0604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8269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7919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7919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· Playwright + Appium E2E · Performance benchmarks · UAT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3153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82803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Consultant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Mobile Top 10 · Penetration testing · Data privacy audit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0372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8037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037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7687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7687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oversight · Architecture decisions · Code review · Scalability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🔬</a:t>
            </a:r>
            <a:endParaRPr lang="en-US" sz="864" dirty="0"/>
          </a:p>
        </p:txBody>
      </p:sp>
      <p:sp>
        <p:nvSpPr>
          <p:cNvPr id="8" name="Shape 6"/>
          <p:cNvSpPr/>
          <p:nvPr/>
        </p:nvSpPr>
        <p:spPr>
          <a:xfrm>
            <a:off x="1737360" y="1261872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2710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code coverage on all ASP.NET Core service-layer business logic. Runs on every commit via GitHub Actions CI pipeline.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38144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🔗</a:t>
            </a:r>
            <a:endParaRPr lang="en-US" sz="864" dirty="0"/>
          </a:p>
        </p:txBody>
      </p:sp>
      <p:sp>
        <p:nvSpPr>
          <p:cNvPr id="15" name="Shape 13"/>
          <p:cNvSpPr/>
          <p:nvPr/>
        </p:nvSpPr>
        <p:spPr>
          <a:xfrm>
            <a:off x="4553712" y="1261872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2710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Testcontainers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64992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tested against a Dockerised PostgreSQL test database with real data scenarios — positive and negative.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📲</a:t>
            </a:r>
            <a:endParaRPr lang="en-US" sz="864" dirty="0"/>
          </a:p>
        </p:txBody>
      </p:sp>
      <p:sp>
        <p:nvSpPr>
          <p:cNvPr id="22" name="Shape 20"/>
          <p:cNvSpPr/>
          <p:nvPr/>
        </p:nvSpPr>
        <p:spPr>
          <a:xfrm>
            <a:off x="7370064" y="1261872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12710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Appium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81344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journeys on iOS Simulator and Android Emulator: login → find member → call → submit prayer request.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⚡</a:t>
            </a:r>
            <a:endParaRPr lang="en-US" sz="864" dirty="0"/>
          </a:p>
        </p:txBody>
      </p:sp>
      <p:sp>
        <p:nvSpPr>
          <p:cNvPr id="29" name="Shape 27"/>
          <p:cNvSpPr/>
          <p:nvPr/>
        </p:nvSpPr>
        <p:spPr>
          <a:xfrm>
            <a:off x="1737360" y="3145536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154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simulating 500 concurrent users. Video streaming benchmarked at &lt;2s initial load via CloudFront CDN.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73552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38144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5" name="Text 33"/>
          <p:cNvSpPr/>
          <p:nvPr/>
        </p:nvSpPr>
        <p:spPr>
          <a:xfrm>
            <a:off x="3438144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♿</a:t>
            </a:r>
            <a:endParaRPr lang="en-US" sz="864" dirty="0"/>
          </a:p>
        </p:txBody>
      </p:sp>
      <p:sp>
        <p:nvSpPr>
          <p:cNvPr id="36" name="Shape 34"/>
          <p:cNvSpPr/>
          <p:nvPr/>
        </p:nvSpPr>
        <p:spPr>
          <a:xfrm>
            <a:off x="4553712" y="3145536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3154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axe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64992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64992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(iOS) and TalkBack (Android) audit. Colour contrast verified. WCAG 2.1 AA compliance target.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9904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🛡️</a:t>
            </a:r>
            <a:endParaRPr lang="en-US" sz="864" dirty="0"/>
          </a:p>
        </p:txBody>
      </p:sp>
      <p:sp>
        <p:nvSpPr>
          <p:cNvPr id="43" name="Shape 41"/>
          <p:cNvSpPr/>
          <p:nvPr/>
        </p:nvSpPr>
        <p:spPr>
          <a:xfrm>
            <a:off x="7370064" y="3145536"/>
            <a:ext cx="123444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3154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81344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81344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Mobile Top 10 review. JWT expiry &amp; refresh validation. Full penetration test before go-live.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Pricing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Fixed-scope packages · All prices in INR · Full source code ownership on final payment · 10-week delivery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7132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96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weeks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28600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25328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48716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 &amp; Detail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688336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 (basic)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8640" y="29352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889504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31363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090672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29184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builds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8640" y="3538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49300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bug warranty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73552" y="1316736"/>
            <a:ext cx="274320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1316736"/>
            <a:ext cx="2743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552" y="1371600"/>
            <a:ext cx="2743200" cy="71323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1426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Standard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73552" y="1645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₹38L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273552" y="19568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weeks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64992" y="22402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2194560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64992" y="24414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239572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(Twilio)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64992" y="264261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11296" y="2596896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Calling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64992" y="28437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2798064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 &amp; Notes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64992" y="30449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1296" y="2999232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media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64992" y="32461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3200400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64992" y="34472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340156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hypercare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089904" y="146304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9904" y="1463040"/>
            <a:ext cx="2651760" cy="7132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14996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089904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₹48L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089904" y="20299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weeks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81344" y="23317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228600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81344" y="25328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48716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81344" y="27340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688336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/ Forums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81344" y="29352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2889504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(3 langs)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81344" y="31363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3090672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Dashboard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81344" y="33375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3291840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 + RSVP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181344" y="3538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349300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support SLA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7200" y="3730752"/>
            <a:ext cx="5029200" cy="20116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" y="3758184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Annual Maintenance Contract (AMC) — Post Go-Live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3931920"/>
            <a:ext cx="1609344" cy="1042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3931920"/>
            <a:ext cx="1609344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950208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57200" y="4114800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₹15,000/mo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0352" y="4315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fixes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0352" y="4517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compatibility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30352" y="47183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health check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157984" y="3931920"/>
            <a:ext cx="1609344" cy="10424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57984" y="3931920"/>
            <a:ext cx="1609344" cy="34747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57984" y="3950208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157984" y="4114800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₹25,000/mo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231136" y="4315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+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231136" y="4517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Minor enhancements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2231136" y="47183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SLA: 4-hr response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858768" y="3931920"/>
            <a:ext cx="1609344" cy="104241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58768" y="3931920"/>
            <a:ext cx="1609344" cy="3474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58768" y="3950208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858768" y="4114800"/>
            <a:ext cx="16093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₹40,000/mo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931920" y="4315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+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931920" y="4517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feature dev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3931920" y="47183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support mgr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669280" y="3730752"/>
            <a:ext cx="324612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24144" y="3758184"/>
            <a:ext cx="3154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Estimated Monthly Platform Costs (client-borne)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760720" y="398678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PostgreSQL 16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156448" y="398678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₹18,500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760720" y="413308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156448" y="413308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₹12,000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5760720" y="427939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CDN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8156448" y="427939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760720" y="442569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+ ALB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156448" y="442569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5760720" y="457200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+ SMS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156448" y="457200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₹4,825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5760720" y="471830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156448" y="471830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5760720" y="486460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 + Google Play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8156448" y="486460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₹8,299 /yr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5760720" y="5029200"/>
            <a:ext cx="3063240" cy="9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760720" y="5056632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est. infra/month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156448" y="505663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~₹44,825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Rejection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49961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08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05072" y="149961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1508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14081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adherence to Apple/Google guidelines · TestFlight UAT · 1-week buffer in timeline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38528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025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08483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093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05072" y="208483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2093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74336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scope doc · Formal change request process · Phase 2 backlog established upfront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23744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877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Downtime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267004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679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05072" y="267004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2679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74336" y="2578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&amp; Firebase have 99.95%+ SLAs · App remains usable during outage (members, videos, prayer)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72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/ GDPR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17520" y="3255264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3264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005072" y="3255264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3264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74336" y="31638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at onboarding · AES-256 at rest (PostgreSQL) · TLS 1.3 in transit · Soft-delete on request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694176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384048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8496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05072" y="384048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05072" y="38496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74336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20-member UAT pilot · Leadership champions programme · Simple 3-step onboarding · Anonymous prayer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279392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3434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Under Load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17520" y="442569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4434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005072" y="442569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4434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974336" y="43342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auto-scaling · CloudFront CDN offloads video · k6 load test to 500 concurrent users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🏆</a:t>
            </a:r>
            <a:endParaRPr lang="en-US" sz="864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App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delivered faith-based apps for 500–5,000 member organisations. We know what makes community platforms succeed.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73552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🤝</a:t>
            </a:r>
            <a:endParaRPr lang="en-US" sz="864" dirty="0"/>
          </a:p>
        </p:txBody>
      </p:sp>
      <p:sp>
        <p:nvSpPr>
          <p:cNvPr id="15" name="Text 13"/>
          <p:cNvSpPr/>
          <p:nvPr/>
        </p:nvSpPr>
        <p:spPr>
          <a:xfrm>
            <a:off x="3364992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Partnership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4992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 = you see real progress every 7 days. No surprises at delivery. Your stakeholders stay aligned throughout.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📐</a:t>
            </a:r>
            <a:endParaRPr lang="en-US" sz="864" dirty="0"/>
          </a:p>
        </p:txBody>
      </p:sp>
      <p:sp>
        <p:nvSpPr>
          <p:cNvPr id="21" name="Text 19"/>
          <p:cNvSpPr/>
          <p:nvPr/>
        </p:nvSpPr>
        <p:spPr>
          <a:xfrm>
            <a:off x="6181344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expertise designing for all age groups. A 65-year-old and a 25-year-old will both feel at home in the ANM App.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🔓</a:t>
            </a:r>
            <a:endParaRPr lang="en-US" sz="864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Ownership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everything. Code, databases, and AWS infra transferred on final payment. No vendor lock-in, ever.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73552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6432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⚡</a:t>
            </a:r>
            <a:endParaRPr lang="en-US" sz="864" dirty="0"/>
          </a:p>
        </p:txBody>
      </p:sp>
      <p:sp>
        <p:nvSpPr>
          <p:cNvPr id="33" name="Text 31"/>
          <p:cNvSpPr/>
          <p:nvPr/>
        </p:nvSpPr>
        <p:spPr>
          <a:xfrm>
            <a:off x="3364992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Framework Advantage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64992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build from scratch — our .NET 8 community framework has 20+ modules pre-built. Faster delivery, lower risk, more features on day one.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9904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🏗️</a:t>
            </a:r>
            <a:endParaRPr lang="en-US" sz="864" dirty="0"/>
          </a:p>
        </p:txBody>
      </p:sp>
      <p:sp>
        <p:nvSpPr>
          <p:cNvPr id="39" name="Text 37"/>
          <p:cNvSpPr/>
          <p:nvPr/>
        </p:nvSpPr>
        <p:spPr>
          <a:xfrm>
            <a:off x="6181344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Not Prototype-Grade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81344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+ PostgreSQL is what banks, hospitals, and enterprise apps run on. Node.js/Express suits startups. We build platforms designed to scale safely for years.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43D8C">
              <a:alpha val="30000"/>
            </a:srgbClr>
          </a:solidFill>
          <a:ln w="12700">
            <a:solidFill>
              <a:srgbClr val="243D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243D8C">
              <a:alpha val="25000"/>
            </a:srgbClr>
          </a:solidFill>
          <a:ln w="12700">
            <a:solidFill>
              <a:srgbClr val="243D8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Something Meaningful Together?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566160" y="1737360"/>
            <a:ext cx="20116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our proprietary .NET 8 enterprise framework — the ANM Community App will be delivered in 10 weeks, fully owned by ANM, and built to scale with your community's vision.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2514600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Discovery Call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 with ANM leadership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5146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hello@yourstudio.com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16752" y="2697480"/>
            <a:ext cx="25146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16752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Get Started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16752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deposit to kick off Week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Weeks to Launch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78608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iOS + Android + Web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Source Code Ownership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21424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Uptime SLA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992624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ANM Organisation  ·  June 2025  ·  Powered by Proprietary .NET 8 Framework  ·  Private &amp;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 Community App — Proposal (Powered by Proprietary .NET 8 Framework)</dc:title>
  <dc:subject>PptxGenJS Presentation</dc:subject>
  <dc:creator>Solution Development Team</dc:creator>
  <cp:lastModifiedBy>Solution Development Team</cp:lastModifiedBy>
  <cp:revision>1</cp:revision>
  <dcterms:created xsi:type="dcterms:W3CDTF">2026-06-14T10:40:25Z</dcterms:created>
  <dcterms:modified xsi:type="dcterms:W3CDTF">2026-06-14T10:40:25Z</dcterms:modified>
</cp:coreProperties>
</file>